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charts/chart3.xml" ContentType="application/vnd.openxmlformats-officedocument.drawingml.chart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charts/chart4.xml" ContentType="application/vnd.openxmlformats-officedocument.drawingml.chart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1" r:id="rId2"/>
    <p:sldMasterId id="2147483906" r:id="rId3"/>
  </p:sldMasterIdLst>
  <p:notesMasterIdLst>
    <p:notesMasterId r:id="rId42"/>
  </p:notesMasterIdLst>
  <p:handoutMasterIdLst>
    <p:handoutMasterId r:id="rId43"/>
  </p:handoutMasterIdLst>
  <p:sldIdLst>
    <p:sldId id="2145706592" r:id="rId4"/>
    <p:sldId id="2145706649" r:id="rId5"/>
    <p:sldId id="2145706600" r:id="rId6"/>
    <p:sldId id="2145706638" r:id="rId7"/>
    <p:sldId id="2145706634" r:id="rId8"/>
    <p:sldId id="2145706647" r:id="rId9"/>
    <p:sldId id="2145706655" r:id="rId10"/>
    <p:sldId id="2145706619" r:id="rId11"/>
    <p:sldId id="2145706637" r:id="rId12"/>
    <p:sldId id="2145706628" r:id="rId13"/>
    <p:sldId id="2145706601" r:id="rId14"/>
    <p:sldId id="2145706654" r:id="rId15"/>
    <p:sldId id="2145706656" r:id="rId16"/>
    <p:sldId id="2145706599" r:id="rId17"/>
    <p:sldId id="2145706608" r:id="rId18"/>
    <p:sldId id="2145706609" r:id="rId19"/>
    <p:sldId id="2145706644" r:id="rId20"/>
    <p:sldId id="2145706635" r:id="rId21"/>
    <p:sldId id="2145706636" r:id="rId22"/>
    <p:sldId id="2145706639" r:id="rId23"/>
    <p:sldId id="2145706640" r:id="rId24"/>
    <p:sldId id="2145706620" r:id="rId25"/>
    <p:sldId id="2145706621" r:id="rId26"/>
    <p:sldId id="2145706622" r:id="rId27"/>
    <p:sldId id="2145706648" r:id="rId28"/>
    <p:sldId id="2141411577" r:id="rId29"/>
    <p:sldId id="2145706641" r:id="rId30"/>
    <p:sldId id="2145706581" r:id="rId31"/>
    <p:sldId id="2145706577" r:id="rId32"/>
    <p:sldId id="2145706567" r:id="rId33"/>
    <p:sldId id="2145706582" r:id="rId34"/>
    <p:sldId id="2145706591" r:id="rId35"/>
    <p:sldId id="2145706590" r:id="rId36"/>
    <p:sldId id="2145706586" r:id="rId37"/>
    <p:sldId id="2145706587" r:id="rId38"/>
    <p:sldId id="2145706588" r:id="rId39"/>
    <p:sldId id="2145706589" r:id="rId40"/>
    <p:sldId id="2145706633" r:id="rId41"/>
  </p:sldIdLst>
  <p:sldSz cx="12192000" cy="6858000"/>
  <p:notesSz cx="6858000" cy="92964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221F"/>
    <a:srgbClr val="191919"/>
    <a:srgbClr val="D4524F"/>
    <a:srgbClr val="C92723"/>
    <a:srgbClr val="5E5E5E"/>
    <a:srgbClr val="DDE4EB"/>
    <a:srgbClr val="B2B2B2"/>
    <a:srgbClr val="EBEFF3"/>
    <a:srgbClr val="FFFFFF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0" autoAdjust="0"/>
    <p:restoredTop sz="93792" autoAdjust="0"/>
  </p:normalViewPr>
  <p:slideViewPr>
    <p:cSldViewPr snapToGrid="0" snapToObjects="1">
      <p:cViewPr varScale="1">
        <p:scale>
          <a:sx n="67" d="100"/>
          <a:sy n="67" d="100"/>
        </p:scale>
        <p:origin x="62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08"/>
    </p:cViewPr>
  </p:sorterViewPr>
  <p:notesViewPr>
    <p:cSldViewPr snapToGrid="0" snapToObjects="1">
      <p:cViewPr>
        <p:scale>
          <a:sx n="75" d="100"/>
          <a:sy n="75" d="100"/>
        </p:scale>
        <p:origin x="2112" y="-7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387553041018388E-2"/>
          <c:y val="0.12745098039215685"/>
          <c:w val="0.96322489391796318"/>
          <c:h val="0.7450980392156862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EC4-486C-BDC5-FF1DE3DB5B9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EC4-486C-BDC5-FF1DE3DB5B90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85000</c:v>
                </c:pt>
                <c:pt idx="1">
                  <c:v>85000</c:v>
                </c:pt>
                <c:pt idx="2">
                  <c:v>85238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C4-486C-BDC5-FF1DE3DB5B90}"/>
            </c:ext>
          </c:extLst>
        </c:ser>
        <c:ser>
          <c:idx val="1"/>
          <c:order val="1"/>
          <c:spPr>
            <a:solidFill>
              <a:schemeClr val="accent1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C4-486C-BDC5-FF1DE3DB5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103700768"/>
        <c:axId val="1"/>
      </c:barChart>
      <c:catAx>
        <c:axId val="210370076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523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037007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47565543071161E-2"/>
          <c:y val="0.23423423423423423"/>
          <c:w val="0.96104868913857677"/>
          <c:h val="0.5315315315315315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9525" algn="ctr">
                <a:solidFill>
                  <a:schemeClr val="accent2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CFF-486F-8DD2-FFD79B18084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CFF-486F-8DD2-FFD79B18084D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5850</c:v>
                </c:pt>
                <c:pt idx="1">
                  <c:v>5850</c:v>
                </c:pt>
                <c:pt idx="2">
                  <c:v>6619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FF-486F-8DD2-FFD79B18084D}"/>
            </c:ext>
          </c:extLst>
        </c:ser>
        <c:ser>
          <c:idx val="1"/>
          <c:order val="1"/>
          <c:spPr>
            <a:solidFill>
              <a:schemeClr val="accent2"/>
            </a:solidFill>
            <a:ln w="9525" algn="ctr">
              <a:solidFill>
                <a:schemeClr val="tx1"/>
              </a:solidFill>
              <a:prstDash val="solid"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FF-486F-8DD2-FFD79B180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765029200"/>
        <c:axId val="1"/>
      </c:barChart>
      <c:catAx>
        <c:axId val="7650292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61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650292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5797101449275362E-2"/>
          <c:y val="2.5291828793774319E-2"/>
          <c:w val="0.88840579710144929"/>
          <c:h val="0.949416342412451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ED8-48CF-BBB1-6A4D96E4C3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D8-48CF-BBB1-6A4D96E4C3F2}"/>
            </c:ext>
          </c:extLst>
        </c:ser>
        <c:ser>
          <c:idx val="1"/>
          <c:order val="1"/>
          <c:spPr>
            <a:solidFill>
              <a:srgbClr val="E77673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ED8-48CF-BBB1-6A4D96E4C3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D8-48CF-BBB1-6A4D96E4C3F2}"/>
            </c:ext>
          </c:extLst>
        </c:ser>
        <c:ser>
          <c:idx val="2"/>
          <c:order val="2"/>
          <c:spPr>
            <a:solidFill>
              <a:schemeClr val="accent5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4.8638132295719845E-4"/>
                </c:manualLayout>
              </c:layout>
              <c:numFmt formatCode="#,##0;&quot;-&quot;#,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ED8-48CF-BBB1-6A4D96E4C3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ED8-48CF-BBB1-6A4D96E4C3F2}"/>
            </c:ext>
          </c:extLst>
        </c:ser>
        <c:ser>
          <c:idx val="3"/>
          <c:order val="3"/>
          <c:spPr>
            <a:solidFill>
              <a:srgbClr val="4D4D4D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D8-48CF-BBB1-6A4D96E4C3F2}"/>
            </c:ext>
          </c:extLst>
        </c:ser>
        <c:ser>
          <c:idx val="4"/>
          <c:order val="4"/>
          <c:spPr>
            <a:solidFill>
              <a:srgbClr val="7F7F7F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Sheet1!$A$5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ED8-48CF-BBB1-6A4D96E4C3F2}"/>
            </c:ext>
          </c:extLst>
        </c:ser>
        <c:ser>
          <c:idx val="5"/>
          <c:order val="5"/>
          <c:spPr>
            <a:solidFill>
              <a:srgbClr val="B3B3B3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Sheet1!$A$6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ED8-48CF-BBB1-6A4D96E4C3F2}"/>
            </c:ext>
          </c:extLst>
        </c:ser>
        <c:ser>
          <c:idx val="6"/>
          <c:order val="6"/>
          <c:spPr>
            <a:solidFill>
              <a:srgbClr val="D0D0D0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Sheet1!$A$7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ED8-48CF-BBB1-6A4D96E4C3F2}"/>
            </c:ext>
          </c:extLst>
        </c:ser>
        <c:ser>
          <c:idx val="7"/>
          <c:order val="7"/>
          <c:spPr>
            <a:solidFill>
              <a:srgbClr val="E6E6E6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Sheet1!$A$8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ED8-48CF-BBB1-6A4D96E4C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588778480"/>
        <c:axId val="1"/>
      </c:barChart>
      <c:catAx>
        <c:axId val="5887784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3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5887784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384137736381598E-3"/>
          <c:y val="6.5491183879093195E-2"/>
          <c:w val="0.98532317245272372"/>
          <c:h val="0.8690176322418136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A20E-4303-84ED-E2C4A79361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20E-4303-84ED-E2C4A793616A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839.40944881889845</c:v>
                </c:pt>
                <c:pt idx="1">
                  <c:v>839.40944881889845</c:v>
                </c:pt>
                <c:pt idx="2">
                  <c:v>1774.4094488188985</c:v>
                </c:pt>
                <c:pt idx="3">
                  <c:v>1274.4094488188985</c:v>
                </c:pt>
                <c:pt idx="4">
                  <c:v>1139.4094488188985</c:v>
                </c:pt>
                <c:pt idx="5">
                  <c:v>1139.4094488188985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303-84ED-E2C4A793616A}"/>
            </c:ext>
          </c:extLst>
        </c:ser>
        <c:ser>
          <c:idx val="1"/>
          <c:order val="1"/>
          <c:spPr>
            <a:solidFill>
              <a:schemeClr val="accent3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A20E-4303-84ED-E2C4A793616A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1">
                  <c:v>1035</c:v>
                </c:pt>
                <c:pt idx="2">
                  <c:v>100</c:v>
                </c:pt>
                <c:pt idx="3">
                  <c:v>500</c:v>
                </c:pt>
                <c:pt idx="4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0E-4303-84ED-E2C4A7936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121944847"/>
        <c:axId val="1"/>
      </c:barChart>
      <c:catAx>
        <c:axId val="21219448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74.409448818898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219448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259" y="0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12 October 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8831108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259" y="8831108"/>
            <a:ext cx="2972209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04159" tIns="46586" rIns="93174" bIns="46586" rtlCol="0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3174" tIns="46586" rIns="904159" bIns="46586" rtlCol="0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1DF34805-1F01-4BDA-A8CA-FCEA2B4BC8D0}" type="datetime3">
              <a:rPr lang="ru-RU" smtClean="0"/>
              <a:pPr/>
              <a:t>12/10/21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558800"/>
            <a:ext cx="5575300" cy="313690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3174" tIns="46586" rIns="93174" bIns="4658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2971800" cy="466433"/>
          </a:xfrm>
          <a:prstGeom prst="rect">
            <a:avLst/>
          </a:prstGeom>
        </p:spPr>
        <p:txBody>
          <a:bodyPr vert="horz" lIns="904159" tIns="46586" rIns="93174" bIns="46586" rtlCol="0" anchor="b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8"/>
            <a:ext cx="2971800" cy="466433"/>
          </a:xfrm>
          <a:prstGeom prst="rect">
            <a:avLst/>
          </a:prstGeom>
        </p:spPr>
        <p:txBody>
          <a:bodyPr vert="horz" lIns="93174" tIns="46586" rIns="904159" bIns="46586" rtlCol="0" anchor="b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713" y="4473716"/>
            <a:ext cx="5438575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62.xml"/><Relationship Id="rId7" Type="http://schemas.openxmlformats.org/officeDocument/2006/relationships/oleObject" Target="../embeddings/oleObject2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4.xml"/><Relationship Id="rId10" Type="http://schemas.openxmlformats.org/officeDocument/2006/relationships/image" Target="../media/image13.png"/><Relationship Id="rId4" Type="http://schemas.openxmlformats.org/officeDocument/2006/relationships/tags" Target="../tags/tag63.xml"/><Relationship Id="rId9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67.xml"/><Relationship Id="rId7" Type="http://schemas.openxmlformats.org/officeDocument/2006/relationships/oleObject" Target="../embeddings/oleObject3.bin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15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4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11.emf"/><Relationship Id="rId5" Type="http://schemas.openxmlformats.org/officeDocument/2006/relationships/tags" Target="../tags/tag74.xml"/><Relationship Id="rId10" Type="http://schemas.openxmlformats.org/officeDocument/2006/relationships/oleObject" Target="../embeddings/oleObject4.bin"/><Relationship Id="rId4" Type="http://schemas.openxmlformats.org/officeDocument/2006/relationships/tags" Target="../tags/tag73.xml"/><Relationship Id="rId9" Type="http://schemas.openxmlformats.org/officeDocument/2006/relationships/slideMaster" Target="../slideMasters/slideMaster1.xml"/><Relationship Id="rId1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microsoft.com/office/2007/relationships/hdphoto" Target="../media/hdphoto1.wdp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5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image" Target="../media/image11.emf"/><Relationship Id="rId5" Type="http://schemas.openxmlformats.org/officeDocument/2006/relationships/tags" Target="../tags/tag82.xml"/><Relationship Id="rId10" Type="http://schemas.openxmlformats.org/officeDocument/2006/relationships/oleObject" Target="../embeddings/oleObject5.bin"/><Relationship Id="rId4" Type="http://schemas.openxmlformats.org/officeDocument/2006/relationships/tags" Target="../tags/tag81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10" Type="http://schemas.openxmlformats.org/officeDocument/2006/relationships/image" Target="../media/image1.emf"/><Relationship Id="rId4" Type="http://schemas.openxmlformats.org/officeDocument/2006/relationships/tags" Target="../tags/tag89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9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9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../media/image2.png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1.emf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2.xml"/><Relationship Id="rId9" Type="http://schemas.openxmlformats.org/officeDocument/2006/relationships/tags" Target="../tags/tag10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image" Target="../media/image2.png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image" Target="../media/image1.emf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oleObject" Target="../embeddings/oleObject9.bin"/><Relationship Id="rId5" Type="http://schemas.openxmlformats.org/officeDocument/2006/relationships/tags" Target="../tags/tag11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image" Target="../media/image2.png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image" Target="../media/image1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12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0.xml"/><Relationship Id="rId9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image" Target="../media/image2.png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image" Target="../media/image16.emf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3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9.xml"/><Relationship Id="rId9" Type="http://schemas.openxmlformats.org/officeDocument/2006/relationships/tags" Target="../tags/tag13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image" Target="../media/image2.pn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image" Target="../media/image1.emf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13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46.xml"/><Relationship Id="rId7" Type="http://schemas.openxmlformats.org/officeDocument/2006/relationships/oleObject" Target="../embeddings/oleObject13.bin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51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56.xml"/><Relationship Id="rId7" Type="http://schemas.openxmlformats.org/officeDocument/2006/relationships/oleObject" Target="../embeddings/oleObject15.bin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9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219.xml"/><Relationship Id="rId7" Type="http://schemas.openxmlformats.org/officeDocument/2006/relationships/oleObject" Target="../embeddings/oleObject17.bin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1.xml"/><Relationship Id="rId10" Type="http://schemas.openxmlformats.org/officeDocument/2006/relationships/image" Target="../media/image13.png"/><Relationship Id="rId4" Type="http://schemas.openxmlformats.org/officeDocument/2006/relationships/tags" Target="../tags/tag220.xml"/><Relationship Id="rId9" Type="http://schemas.openxmlformats.org/officeDocument/2006/relationships/image" Target="../media/image1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224.xml"/><Relationship Id="rId7" Type="http://schemas.openxmlformats.org/officeDocument/2006/relationships/oleObject" Target="../embeddings/oleObject18.bin"/><Relationship Id="rId2" Type="http://schemas.openxmlformats.org/officeDocument/2006/relationships/tags" Target="../tags/tag223.xml"/><Relationship Id="rId1" Type="http://schemas.openxmlformats.org/officeDocument/2006/relationships/tags" Target="../tags/tag22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9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image" Target="../media/image15.png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image" Target="../media/image14.png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image" Target="../media/image11.emf"/><Relationship Id="rId5" Type="http://schemas.openxmlformats.org/officeDocument/2006/relationships/tags" Target="../tags/tag231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230.xml"/><Relationship Id="rId9" Type="http://schemas.openxmlformats.org/officeDocument/2006/relationships/slideMaster" Target="../slideMasters/slideMaster2.xml"/><Relationship Id="rId1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microsoft.com/office/2007/relationships/hdphoto" Target="../media/hdphoto1.wdp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12" Type="http://schemas.openxmlformats.org/officeDocument/2006/relationships/image" Target="../media/image15.png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image" Target="../media/image11.emf"/><Relationship Id="rId5" Type="http://schemas.openxmlformats.org/officeDocument/2006/relationships/tags" Target="../tags/tag239.xml"/><Relationship Id="rId10" Type="http://schemas.openxmlformats.org/officeDocument/2006/relationships/oleObject" Target="../embeddings/oleObject20.bin"/><Relationship Id="rId4" Type="http://schemas.openxmlformats.org/officeDocument/2006/relationships/tags" Target="../tags/tag238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10" Type="http://schemas.openxmlformats.org/officeDocument/2006/relationships/image" Target="../media/image1.emf"/><Relationship Id="rId4" Type="http://schemas.openxmlformats.org/officeDocument/2006/relationships/tags" Target="../tags/tag246.xml"/><Relationship Id="rId9" Type="http://schemas.openxmlformats.org/officeDocument/2006/relationships/oleObject" Target="../embeddings/oleObject21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25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9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63.xml"/><Relationship Id="rId13" Type="http://schemas.openxmlformats.org/officeDocument/2006/relationships/image" Target="../media/image2.png"/><Relationship Id="rId3" Type="http://schemas.openxmlformats.org/officeDocument/2006/relationships/tags" Target="../tags/tag258.xml"/><Relationship Id="rId7" Type="http://schemas.openxmlformats.org/officeDocument/2006/relationships/tags" Target="../tags/tag262.xml"/><Relationship Id="rId12" Type="http://schemas.openxmlformats.org/officeDocument/2006/relationships/image" Target="../media/image1.emf"/><Relationship Id="rId2" Type="http://schemas.openxmlformats.org/officeDocument/2006/relationships/tags" Target="../tags/tag257.xml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6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59.xml"/><Relationship Id="rId9" Type="http://schemas.openxmlformats.org/officeDocument/2006/relationships/tags" Target="../tags/tag264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2.xml"/><Relationship Id="rId13" Type="http://schemas.openxmlformats.org/officeDocument/2006/relationships/image" Target="../media/image2.png"/><Relationship Id="rId3" Type="http://schemas.openxmlformats.org/officeDocument/2006/relationships/tags" Target="../tags/tag267.xml"/><Relationship Id="rId7" Type="http://schemas.openxmlformats.org/officeDocument/2006/relationships/tags" Target="../tags/tag271.xml"/><Relationship Id="rId12" Type="http://schemas.openxmlformats.org/officeDocument/2006/relationships/image" Target="../media/image1.emf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tags" Target="../tags/tag270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26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68.xml"/><Relationship Id="rId9" Type="http://schemas.openxmlformats.org/officeDocument/2006/relationships/tags" Target="../tags/tag27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13" Type="http://schemas.openxmlformats.org/officeDocument/2006/relationships/image" Target="../media/image2.png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image" Target="../media/image1.emf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oleObject" Target="../embeddings/oleObject25.bin"/><Relationship Id="rId5" Type="http://schemas.openxmlformats.org/officeDocument/2006/relationships/tags" Target="../tags/tag27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77.xml"/><Relationship Id="rId9" Type="http://schemas.openxmlformats.org/officeDocument/2006/relationships/tags" Target="../tags/tag28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image" Target="../media/image2.png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image" Target="../media/image16.emf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oleObject" Target="../embeddings/oleObject26.bin"/><Relationship Id="rId5" Type="http://schemas.openxmlformats.org/officeDocument/2006/relationships/tags" Target="../tags/tag28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86.xml"/><Relationship Id="rId9" Type="http://schemas.openxmlformats.org/officeDocument/2006/relationships/tags" Target="../tags/tag29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image" Target="../media/image2.png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12" Type="http://schemas.openxmlformats.org/officeDocument/2006/relationships/image" Target="../media/image1.emf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oleObject" Target="../embeddings/oleObject27.bin"/><Relationship Id="rId5" Type="http://schemas.openxmlformats.org/officeDocument/2006/relationships/tags" Target="../tags/tag29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95.xml"/><Relationship Id="rId9" Type="http://schemas.openxmlformats.org/officeDocument/2006/relationships/tags" Target="../tags/tag300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03.xml"/><Relationship Id="rId7" Type="http://schemas.openxmlformats.org/officeDocument/2006/relationships/oleObject" Target="../embeddings/oleObject28.bin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9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08.xml"/><Relationship Id="rId7" Type="http://schemas.openxmlformats.org/officeDocument/2006/relationships/oleObject" Target="../embeddings/oleObject29.bin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9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13.xml"/><Relationship Id="rId7" Type="http://schemas.openxmlformats.org/officeDocument/2006/relationships/oleObject" Target="../embeddings/oleObject30.bin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15.xml"/><Relationship Id="rId4" Type="http://schemas.openxmlformats.org/officeDocument/2006/relationships/tags" Target="../tags/tag314.xml"/><Relationship Id="rId9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76.xml"/><Relationship Id="rId7" Type="http://schemas.openxmlformats.org/officeDocument/2006/relationships/oleObject" Target="../embeddings/oleObject32.bin"/><Relationship Id="rId2" Type="http://schemas.openxmlformats.org/officeDocument/2006/relationships/tags" Target="../tags/tag375.xml"/><Relationship Id="rId1" Type="http://schemas.openxmlformats.org/officeDocument/2006/relationships/tags" Target="../tags/tag37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78.xml"/><Relationship Id="rId10" Type="http://schemas.openxmlformats.org/officeDocument/2006/relationships/image" Target="../media/image13.png"/><Relationship Id="rId4" Type="http://schemas.openxmlformats.org/officeDocument/2006/relationships/tags" Target="../tags/tag377.xml"/><Relationship Id="rId9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81.xml"/><Relationship Id="rId7" Type="http://schemas.openxmlformats.org/officeDocument/2006/relationships/oleObject" Target="../embeddings/oleObject33.bin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9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91.xml"/><Relationship Id="rId13" Type="http://schemas.openxmlformats.org/officeDocument/2006/relationships/image" Target="../media/image15.png"/><Relationship Id="rId3" Type="http://schemas.openxmlformats.org/officeDocument/2006/relationships/tags" Target="../tags/tag386.xml"/><Relationship Id="rId7" Type="http://schemas.openxmlformats.org/officeDocument/2006/relationships/tags" Target="../tags/tag390.xml"/><Relationship Id="rId12" Type="http://schemas.openxmlformats.org/officeDocument/2006/relationships/image" Target="../media/image14.png"/><Relationship Id="rId2" Type="http://schemas.openxmlformats.org/officeDocument/2006/relationships/tags" Target="../tags/tag385.xml"/><Relationship Id="rId1" Type="http://schemas.openxmlformats.org/officeDocument/2006/relationships/tags" Target="../tags/tag384.xml"/><Relationship Id="rId6" Type="http://schemas.openxmlformats.org/officeDocument/2006/relationships/tags" Target="../tags/tag389.xml"/><Relationship Id="rId11" Type="http://schemas.openxmlformats.org/officeDocument/2006/relationships/image" Target="../media/image11.emf"/><Relationship Id="rId5" Type="http://schemas.openxmlformats.org/officeDocument/2006/relationships/tags" Target="../tags/tag388.xml"/><Relationship Id="rId10" Type="http://schemas.openxmlformats.org/officeDocument/2006/relationships/oleObject" Target="../embeddings/oleObject34.bin"/><Relationship Id="rId4" Type="http://schemas.openxmlformats.org/officeDocument/2006/relationships/tags" Target="../tags/tag387.xml"/><Relationship Id="rId9" Type="http://schemas.openxmlformats.org/officeDocument/2006/relationships/slideMaster" Target="../slideMasters/slideMaster3.xml"/><Relationship Id="rId14" Type="http://schemas.microsoft.com/office/2007/relationships/hdphoto" Target="../media/hdphoto1.wdp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99.xml"/><Relationship Id="rId13" Type="http://schemas.microsoft.com/office/2007/relationships/hdphoto" Target="../media/hdphoto1.wdp"/><Relationship Id="rId3" Type="http://schemas.openxmlformats.org/officeDocument/2006/relationships/tags" Target="../tags/tag394.xml"/><Relationship Id="rId7" Type="http://schemas.openxmlformats.org/officeDocument/2006/relationships/tags" Target="../tags/tag398.xml"/><Relationship Id="rId12" Type="http://schemas.openxmlformats.org/officeDocument/2006/relationships/image" Target="../media/image15.png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6" Type="http://schemas.openxmlformats.org/officeDocument/2006/relationships/tags" Target="../tags/tag397.xml"/><Relationship Id="rId11" Type="http://schemas.openxmlformats.org/officeDocument/2006/relationships/image" Target="../media/image11.emf"/><Relationship Id="rId5" Type="http://schemas.openxmlformats.org/officeDocument/2006/relationships/tags" Target="../tags/tag396.xml"/><Relationship Id="rId10" Type="http://schemas.openxmlformats.org/officeDocument/2006/relationships/oleObject" Target="../embeddings/oleObject35.bin"/><Relationship Id="rId4" Type="http://schemas.openxmlformats.org/officeDocument/2006/relationships/tags" Target="../tags/tag395.xml"/><Relationship Id="rId9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02.xml"/><Relationship Id="rId7" Type="http://schemas.openxmlformats.org/officeDocument/2006/relationships/tags" Target="../tags/tag406.xml"/><Relationship Id="rId2" Type="http://schemas.openxmlformats.org/officeDocument/2006/relationships/tags" Target="../tags/tag401.xml"/><Relationship Id="rId1" Type="http://schemas.openxmlformats.org/officeDocument/2006/relationships/tags" Target="../tags/tag400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10" Type="http://schemas.openxmlformats.org/officeDocument/2006/relationships/image" Target="../media/image1.emf"/><Relationship Id="rId4" Type="http://schemas.openxmlformats.org/officeDocument/2006/relationships/tags" Target="../tags/tag403.xml"/><Relationship Id="rId9" Type="http://schemas.openxmlformats.org/officeDocument/2006/relationships/oleObject" Target="../embeddings/oleObject36.bin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tags" Target="../tags/tag40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tags" Target="../tags/tag410.xml"/><Relationship Id="rId9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420.xml"/><Relationship Id="rId13" Type="http://schemas.openxmlformats.org/officeDocument/2006/relationships/image" Target="../media/image2.png"/><Relationship Id="rId3" Type="http://schemas.openxmlformats.org/officeDocument/2006/relationships/tags" Target="../tags/tag415.xml"/><Relationship Id="rId7" Type="http://schemas.openxmlformats.org/officeDocument/2006/relationships/tags" Target="../tags/tag419.xml"/><Relationship Id="rId12" Type="http://schemas.openxmlformats.org/officeDocument/2006/relationships/image" Target="../media/image1.emf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6" Type="http://schemas.openxmlformats.org/officeDocument/2006/relationships/tags" Target="../tags/tag418.xml"/><Relationship Id="rId11" Type="http://schemas.openxmlformats.org/officeDocument/2006/relationships/oleObject" Target="../embeddings/oleObject38.bin"/><Relationship Id="rId5" Type="http://schemas.openxmlformats.org/officeDocument/2006/relationships/tags" Target="../tags/tag417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16.xml"/><Relationship Id="rId9" Type="http://schemas.openxmlformats.org/officeDocument/2006/relationships/tags" Target="../tags/tag42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13" Type="http://schemas.openxmlformats.org/officeDocument/2006/relationships/image" Target="../media/image2.png"/><Relationship Id="rId3" Type="http://schemas.openxmlformats.org/officeDocument/2006/relationships/tags" Target="../tags/tag424.xml"/><Relationship Id="rId7" Type="http://schemas.openxmlformats.org/officeDocument/2006/relationships/tags" Target="../tags/tag428.xml"/><Relationship Id="rId12" Type="http://schemas.openxmlformats.org/officeDocument/2006/relationships/image" Target="../media/image1.emf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11" Type="http://schemas.openxmlformats.org/officeDocument/2006/relationships/oleObject" Target="../embeddings/oleObject39.bin"/><Relationship Id="rId5" Type="http://schemas.openxmlformats.org/officeDocument/2006/relationships/tags" Target="../tags/tag426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25.xml"/><Relationship Id="rId9" Type="http://schemas.openxmlformats.org/officeDocument/2006/relationships/tags" Target="../tags/tag430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438.xml"/><Relationship Id="rId13" Type="http://schemas.openxmlformats.org/officeDocument/2006/relationships/image" Target="../media/image2.png"/><Relationship Id="rId3" Type="http://schemas.openxmlformats.org/officeDocument/2006/relationships/tags" Target="../tags/tag433.xml"/><Relationship Id="rId7" Type="http://schemas.openxmlformats.org/officeDocument/2006/relationships/tags" Target="../tags/tag437.xml"/><Relationship Id="rId12" Type="http://schemas.openxmlformats.org/officeDocument/2006/relationships/image" Target="../media/image1.emf"/><Relationship Id="rId2" Type="http://schemas.openxmlformats.org/officeDocument/2006/relationships/tags" Target="../tags/tag432.xml"/><Relationship Id="rId1" Type="http://schemas.openxmlformats.org/officeDocument/2006/relationships/tags" Target="../tags/tag431.xml"/><Relationship Id="rId6" Type="http://schemas.openxmlformats.org/officeDocument/2006/relationships/tags" Target="../tags/tag436.xml"/><Relationship Id="rId11" Type="http://schemas.openxmlformats.org/officeDocument/2006/relationships/oleObject" Target="../embeddings/oleObject40.bin"/><Relationship Id="rId5" Type="http://schemas.openxmlformats.org/officeDocument/2006/relationships/tags" Target="../tags/tag43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34.xml"/><Relationship Id="rId9" Type="http://schemas.openxmlformats.org/officeDocument/2006/relationships/tags" Target="../tags/tag439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447.xml"/><Relationship Id="rId13" Type="http://schemas.openxmlformats.org/officeDocument/2006/relationships/image" Target="../media/image2.png"/><Relationship Id="rId3" Type="http://schemas.openxmlformats.org/officeDocument/2006/relationships/tags" Target="../tags/tag442.xml"/><Relationship Id="rId7" Type="http://schemas.openxmlformats.org/officeDocument/2006/relationships/tags" Target="../tags/tag446.xml"/><Relationship Id="rId12" Type="http://schemas.openxmlformats.org/officeDocument/2006/relationships/image" Target="../media/image16.emf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11" Type="http://schemas.openxmlformats.org/officeDocument/2006/relationships/oleObject" Target="../embeddings/oleObject41.bin"/><Relationship Id="rId5" Type="http://schemas.openxmlformats.org/officeDocument/2006/relationships/tags" Target="../tags/tag444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43.xml"/><Relationship Id="rId9" Type="http://schemas.openxmlformats.org/officeDocument/2006/relationships/tags" Target="../tags/tag448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13" Type="http://schemas.openxmlformats.org/officeDocument/2006/relationships/image" Target="../media/image2.png"/><Relationship Id="rId3" Type="http://schemas.openxmlformats.org/officeDocument/2006/relationships/tags" Target="../tags/tag451.xml"/><Relationship Id="rId7" Type="http://schemas.openxmlformats.org/officeDocument/2006/relationships/tags" Target="../tags/tag455.xml"/><Relationship Id="rId12" Type="http://schemas.openxmlformats.org/officeDocument/2006/relationships/image" Target="../media/image1.emf"/><Relationship Id="rId2" Type="http://schemas.openxmlformats.org/officeDocument/2006/relationships/tags" Target="../tags/tag450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11" Type="http://schemas.openxmlformats.org/officeDocument/2006/relationships/oleObject" Target="../embeddings/oleObject42.bin"/><Relationship Id="rId5" Type="http://schemas.openxmlformats.org/officeDocument/2006/relationships/tags" Target="../tags/tag453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52.xml"/><Relationship Id="rId9" Type="http://schemas.openxmlformats.org/officeDocument/2006/relationships/tags" Target="../tags/tag457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460.xml"/><Relationship Id="rId7" Type="http://schemas.openxmlformats.org/officeDocument/2006/relationships/oleObject" Target="../embeddings/oleObject43.bin"/><Relationship Id="rId2" Type="http://schemas.openxmlformats.org/officeDocument/2006/relationships/tags" Target="../tags/tag459.xml"/><Relationship Id="rId1" Type="http://schemas.openxmlformats.org/officeDocument/2006/relationships/tags" Target="../tags/tag45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9" Type="http://schemas.openxmlformats.org/officeDocument/2006/relationships/image" Target="../media/image2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465.xml"/><Relationship Id="rId7" Type="http://schemas.openxmlformats.org/officeDocument/2006/relationships/oleObject" Target="../embeddings/oleObject44.bin"/><Relationship Id="rId2" Type="http://schemas.openxmlformats.org/officeDocument/2006/relationships/tags" Target="../tags/tag464.xml"/><Relationship Id="rId1" Type="http://schemas.openxmlformats.org/officeDocument/2006/relationships/tags" Target="../tags/tag46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9" Type="http://schemas.openxmlformats.org/officeDocument/2006/relationships/image" Target="../media/image2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470.xml"/><Relationship Id="rId7" Type="http://schemas.openxmlformats.org/officeDocument/2006/relationships/oleObject" Target="../embeddings/oleObject45.bin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940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0" y="0"/>
            <a:ext cx="12192352" cy="685958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47687" y="6220656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827" y="4267773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8828" y="2762451"/>
            <a:ext cx="6493321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38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48828" y="583509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955" r="38972" b="14660"/>
          <a:stretch/>
        </p:blipFill>
        <p:spPr>
          <a:xfrm>
            <a:off x="7937944" y="3175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9772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491741" y="6062708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14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2491740" y="4003399"/>
            <a:ext cx="914552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2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0" y="2498077"/>
            <a:ext cx="9145524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987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91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44870" y="764072"/>
            <a:ext cx="4288207" cy="555015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5" y="2763906"/>
            <a:ext cx="4068479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7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6262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775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115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14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3"/>
            <a:ext cx="11082528" cy="978193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2814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373879" y="-960120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i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6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1675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3465576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7" y="6330793"/>
            <a:ext cx="34655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34655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1532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5713477" y="379477"/>
            <a:ext cx="6858000" cy="6099046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065776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506577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50657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50657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27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0BD8343-FD25-47CD-B118-5FCF3BF5452E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6582157" y="1248157"/>
            <a:ext cx="6858000" cy="4361687"/>
          </a:xfrm>
          <a:custGeom>
            <a:avLst/>
            <a:gdLst>
              <a:gd name="connsiteX0" fmla="*/ 6858000 w 6858000"/>
              <a:gd name="connsiteY0" fmla="*/ 457224 h 4361687"/>
              <a:gd name="connsiteX1" fmla="*/ 6858000 w 6858000"/>
              <a:gd name="connsiteY1" fmla="*/ 4361687 h 4361687"/>
              <a:gd name="connsiteX2" fmla="*/ 0 w 6858000"/>
              <a:gd name="connsiteY2" fmla="*/ 4361687 h 4361687"/>
              <a:gd name="connsiteX3" fmla="*/ 0 w 6858000"/>
              <a:gd name="connsiteY3" fmla="*/ 457224 h 4361687"/>
              <a:gd name="connsiteX4" fmla="*/ 457223 w 6858000"/>
              <a:gd name="connsiteY4" fmla="*/ 0 h 4361687"/>
              <a:gd name="connsiteX5" fmla="*/ 2525791 w 6858000"/>
              <a:gd name="connsiteY5" fmla="*/ 0 h 4361687"/>
              <a:gd name="connsiteX6" fmla="*/ 6857999 w 6858000"/>
              <a:gd name="connsiteY6" fmla="*/ 0 h 4361687"/>
              <a:gd name="connsiteX7" fmla="*/ 6857999 w 6858000"/>
              <a:gd name="connsiteY7" fmla="*/ 457220 h 43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7">
                <a:moveTo>
                  <a:pt x="6858000" y="457224"/>
                </a:moveTo>
                <a:lnTo>
                  <a:pt x="6858000" y="4361687"/>
                </a:lnTo>
                <a:lnTo>
                  <a:pt x="0" y="4361687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397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419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gradFill>
            <a:gsLst>
              <a:gs pos="85000">
                <a:schemeClr val="accent1">
                  <a:alpha val="34000"/>
                </a:schemeClr>
              </a:gs>
              <a:gs pos="0">
                <a:srgbClr val="DBE2E9">
                  <a:alpha val="71000"/>
                </a:srgbClr>
              </a:gs>
            </a:gsLst>
            <a:lin ang="5400000" scaled="1"/>
          </a:gra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428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7186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6279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5" y="651414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0" y="2791344"/>
            <a:ext cx="6988621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9EE8-1740-4BF1-B242-3EA3660C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66222-349E-484A-B33B-3A4AF5756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3947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8271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1" y="1"/>
            <a:ext cx="12192352" cy="6859589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47688" y="6220657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988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828" y="4267774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12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8829" y="3105983"/>
            <a:ext cx="6493321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2684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48829" y="583510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955" r="38972" b="14660"/>
          <a:stretch/>
        </p:blipFill>
        <p:spPr>
          <a:xfrm>
            <a:off x="7937945" y="3176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4012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63595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491742" y="6062709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988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2491741" y="4003400"/>
            <a:ext cx="9145524" cy="217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1412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1" y="2841609"/>
            <a:ext cx="9145524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51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7067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44870" y="764072"/>
            <a:ext cx="4288208" cy="5550154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82971"/>
            <a:ext cx="4068479" cy="23897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0843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16767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6231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200269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8" y="958598"/>
            <a:ext cx="110825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424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753927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3"/>
            <a:ext cx="11082528" cy="978194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466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097710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373879" y="-960118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i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1553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6" y="41598"/>
            <a:ext cx="2514601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7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8394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95380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5" y="3274834"/>
            <a:ext cx="3465577" cy="23897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1"/>
            <a:ext cx="34655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6" y="41598"/>
            <a:ext cx="3465577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8" y="6330793"/>
            <a:ext cx="346557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514143"/>
            <a:ext cx="346557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687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836664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5713477" y="379477"/>
            <a:ext cx="6858000" cy="6099047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7" y="226624"/>
            <a:ext cx="5065775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7" y="958598"/>
            <a:ext cx="5065775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7" y="6330793"/>
            <a:ext cx="50657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514143"/>
            <a:ext cx="50657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607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68939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84155C-4B2B-4514-8C24-2C0FD54F9DD0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6582157" y="1248156"/>
            <a:ext cx="6858000" cy="4361688"/>
          </a:xfrm>
          <a:custGeom>
            <a:avLst/>
            <a:gdLst>
              <a:gd name="connsiteX0" fmla="*/ 6858000 w 6858000"/>
              <a:gd name="connsiteY0" fmla="*/ 639028 h 4361688"/>
              <a:gd name="connsiteX1" fmla="*/ 6858000 w 6858000"/>
              <a:gd name="connsiteY1" fmla="*/ 4361688 h 4361688"/>
              <a:gd name="connsiteX2" fmla="*/ 0 w 6858000"/>
              <a:gd name="connsiteY2" fmla="*/ 4361688 h 4361688"/>
              <a:gd name="connsiteX3" fmla="*/ 0 w 6858000"/>
              <a:gd name="connsiteY3" fmla="*/ 639028 h 4361688"/>
              <a:gd name="connsiteX4" fmla="*/ 457223 w 6858000"/>
              <a:gd name="connsiteY4" fmla="*/ 0 h 4361688"/>
              <a:gd name="connsiteX5" fmla="*/ 2525791 w 6858000"/>
              <a:gd name="connsiteY5" fmla="*/ 0 h 4361688"/>
              <a:gd name="connsiteX6" fmla="*/ 6857999 w 6858000"/>
              <a:gd name="connsiteY6" fmla="*/ 0 h 4361688"/>
              <a:gd name="connsiteX7" fmla="*/ 6857999 w 6858000"/>
              <a:gd name="connsiteY7" fmla="*/ 639022 h 436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8">
                <a:moveTo>
                  <a:pt x="6858000" y="639028"/>
                </a:moveTo>
                <a:lnTo>
                  <a:pt x="6858000" y="4361688"/>
                </a:lnTo>
                <a:lnTo>
                  <a:pt x="0" y="4361688"/>
                </a:lnTo>
                <a:lnTo>
                  <a:pt x="0" y="639028"/>
                </a:lnTo>
                <a:cubicBezTo>
                  <a:pt x="0" y="286102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639022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8"/>
            <a:ext cx="69677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433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545380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noProof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8"/>
            <a:ext cx="7918704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1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588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29107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6939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18334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43775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21241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5" y="651414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1" y="2963111"/>
            <a:ext cx="6988621" cy="41301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2588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383265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1" y="1"/>
            <a:ext cx="12192352" cy="6859589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47688" y="6220657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988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828" y="4267774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12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8829" y="3105983"/>
            <a:ext cx="6493321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2684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48829" y="583510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955" r="38972" b="14660"/>
          <a:stretch/>
        </p:blipFill>
        <p:spPr>
          <a:xfrm>
            <a:off x="7937945" y="3176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396416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54163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491742" y="6062709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988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2491741" y="4003400"/>
            <a:ext cx="9145524" cy="2173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1412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1" y="2841609"/>
            <a:ext cx="9145524" cy="8260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195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37882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44870" y="764072"/>
            <a:ext cx="4288208" cy="5550154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982971"/>
            <a:ext cx="4068479" cy="23897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135805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5269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865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7" y="6514142"/>
            <a:ext cx="7277861" cy="8694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081444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51153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8" y="958598"/>
            <a:ext cx="110825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2515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006546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3"/>
            <a:ext cx="11082528" cy="978194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31296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565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43129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565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7315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536919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373879" y="-960118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i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1553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6" y="41598"/>
            <a:ext cx="2514601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7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823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42338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5" y="3274834"/>
            <a:ext cx="3465577" cy="23897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1"/>
            <a:ext cx="3465574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6" y="41598"/>
            <a:ext cx="3465577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8" y="6330793"/>
            <a:ext cx="346557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514143"/>
            <a:ext cx="346557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2902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20836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5713477" y="379477"/>
            <a:ext cx="6858000" cy="6099047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7" y="226624"/>
            <a:ext cx="5065775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7" y="958598"/>
            <a:ext cx="5065775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7" y="6330793"/>
            <a:ext cx="50657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7" y="6514143"/>
            <a:ext cx="50657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781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489363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84155C-4B2B-4514-8C24-2C0FD54F9DD0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6582157" y="1248156"/>
            <a:ext cx="6858000" cy="4361688"/>
          </a:xfrm>
          <a:custGeom>
            <a:avLst/>
            <a:gdLst>
              <a:gd name="connsiteX0" fmla="*/ 6858000 w 6858000"/>
              <a:gd name="connsiteY0" fmla="*/ 639028 h 4361688"/>
              <a:gd name="connsiteX1" fmla="*/ 6858000 w 6858000"/>
              <a:gd name="connsiteY1" fmla="*/ 4361688 h 4361688"/>
              <a:gd name="connsiteX2" fmla="*/ 0 w 6858000"/>
              <a:gd name="connsiteY2" fmla="*/ 4361688 h 4361688"/>
              <a:gd name="connsiteX3" fmla="*/ 0 w 6858000"/>
              <a:gd name="connsiteY3" fmla="*/ 639028 h 4361688"/>
              <a:gd name="connsiteX4" fmla="*/ 457223 w 6858000"/>
              <a:gd name="connsiteY4" fmla="*/ 0 h 4361688"/>
              <a:gd name="connsiteX5" fmla="*/ 2525791 w 6858000"/>
              <a:gd name="connsiteY5" fmla="*/ 0 h 4361688"/>
              <a:gd name="connsiteX6" fmla="*/ 6857999 w 6858000"/>
              <a:gd name="connsiteY6" fmla="*/ 0 h 4361688"/>
              <a:gd name="connsiteX7" fmla="*/ 6857999 w 6858000"/>
              <a:gd name="connsiteY7" fmla="*/ 639022 h 4361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8">
                <a:moveTo>
                  <a:pt x="6858000" y="639028"/>
                </a:moveTo>
                <a:lnTo>
                  <a:pt x="6858000" y="4361688"/>
                </a:lnTo>
                <a:lnTo>
                  <a:pt x="0" y="4361688"/>
                </a:lnTo>
                <a:lnTo>
                  <a:pt x="0" y="639028"/>
                </a:lnTo>
                <a:cubicBezTo>
                  <a:pt x="0" y="286102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639022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8"/>
            <a:ext cx="6967728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143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179570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sz="1271" dirty="0">
              <a:solidFill>
                <a:srgbClr val="F0F0F0"/>
              </a:solidFill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noProof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8"/>
            <a:ext cx="7918704" cy="17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13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3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1" cy="0"/>
          </a:xfrm>
          <a:prstGeom prst="line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7300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475448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50292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67547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4" y="6550306"/>
            <a:ext cx="325501" cy="869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431296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565" b="0" smtClean="0">
                <a:latin typeface="+mn-lt"/>
                <a:ea typeface="+mn-ea"/>
                <a:cs typeface="+mn-cs"/>
                <a:sym typeface="+mn-lt"/>
              </a:rPr>
              <a:pPr lvl="0" algn="r" defTabSz="431296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565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8"/>
            <a:ext cx="3843338" cy="8694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565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21116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983243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ru-RU" sz="2684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3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accent4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71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09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578" tIns="32289" rIns="64578" bIns="32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212"/>
              </a:spcBef>
              <a:spcAft>
                <a:spcPts val="212"/>
              </a:spcAft>
            </a:pPr>
            <a:endParaRPr lang="ru-RU" sz="113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8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5" y="651414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1" y="2963111"/>
            <a:ext cx="6988621" cy="41301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2684" dirty="0">
                <a:solidFill>
                  <a:schemeClr val="accent4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5739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11.xml"/><Relationship Id="rId21" Type="http://schemas.openxmlformats.org/officeDocument/2006/relationships/tags" Target="../tags/tag6.xml"/><Relationship Id="rId42" Type="http://schemas.openxmlformats.org/officeDocument/2006/relationships/tags" Target="../tags/tag27.xml"/><Relationship Id="rId47" Type="http://schemas.openxmlformats.org/officeDocument/2006/relationships/tags" Target="../tags/tag32.xml"/><Relationship Id="rId63" Type="http://schemas.openxmlformats.org/officeDocument/2006/relationships/tags" Target="../tags/tag48.xml"/><Relationship Id="rId68" Type="http://schemas.openxmlformats.org/officeDocument/2006/relationships/tags" Target="../tags/tag53.xml"/><Relationship Id="rId84" Type="http://schemas.openxmlformats.org/officeDocument/2006/relationships/image" Target="../media/image9.png"/><Relationship Id="rId16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7.xml"/><Relationship Id="rId37" Type="http://schemas.openxmlformats.org/officeDocument/2006/relationships/tags" Target="../tags/tag22.xml"/><Relationship Id="rId53" Type="http://schemas.openxmlformats.org/officeDocument/2006/relationships/tags" Target="../tags/tag38.xml"/><Relationship Id="rId58" Type="http://schemas.openxmlformats.org/officeDocument/2006/relationships/tags" Target="../tags/tag43.xml"/><Relationship Id="rId74" Type="http://schemas.openxmlformats.org/officeDocument/2006/relationships/tags" Target="../tags/tag59.xml"/><Relationship Id="rId79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9" Type="http://schemas.openxmlformats.org/officeDocument/2006/relationships/tags" Target="../tags/tag4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7.xml"/><Relationship Id="rId27" Type="http://schemas.openxmlformats.org/officeDocument/2006/relationships/tags" Target="../tags/tag12.xml"/><Relationship Id="rId30" Type="http://schemas.openxmlformats.org/officeDocument/2006/relationships/tags" Target="../tags/tag15.xml"/><Relationship Id="rId35" Type="http://schemas.openxmlformats.org/officeDocument/2006/relationships/tags" Target="../tags/tag20.xml"/><Relationship Id="rId43" Type="http://schemas.openxmlformats.org/officeDocument/2006/relationships/tags" Target="../tags/tag28.xml"/><Relationship Id="rId48" Type="http://schemas.openxmlformats.org/officeDocument/2006/relationships/tags" Target="../tags/tag33.xml"/><Relationship Id="rId56" Type="http://schemas.openxmlformats.org/officeDocument/2006/relationships/tags" Target="../tags/tag41.xml"/><Relationship Id="rId64" Type="http://schemas.openxmlformats.org/officeDocument/2006/relationships/tags" Target="../tags/tag49.xml"/><Relationship Id="rId69" Type="http://schemas.openxmlformats.org/officeDocument/2006/relationships/tags" Target="../tags/tag54.xml"/><Relationship Id="rId77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6.xml"/><Relationship Id="rId72" Type="http://schemas.openxmlformats.org/officeDocument/2006/relationships/tags" Target="../tags/tag57.xml"/><Relationship Id="rId80" Type="http://schemas.openxmlformats.org/officeDocument/2006/relationships/image" Target="../media/image5.png"/><Relationship Id="rId85" Type="http://schemas.openxmlformats.org/officeDocument/2006/relationships/image" Target="../media/image10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5" Type="http://schemas.openxmlformats.org/officeDocument/2006/relationships/tags" Target="../tags/tag10.xml"/><Relationship Id="rId33" Type="http://schemas.openxmlformats.org/officeDocument/2006/relationships/tags" Target="../tags/tag18.xml"/><Relationship Id="rId38" Type="http://schemas.openxmlformats.org/officeDocument/2006/relationships/tags" Target="../tags/tag23.xml"/><Relationship Id="rId46" Type="http://schemas.openxmlformats.org/officeDocument/2006/relationships/tags" Target="../tags/tag31.xml"/><Relationship Id="rId59" Type="http://schemas.openxmlformats.org/officeDocument/2006/relationships/tags" Target="../tags/tag44.xml"/><Relationship Id="rId67" Type="http://schemas.openxmlformats.org/officeDocument/2006/relationships/tags" Target="../tags/tag52.xml"/><Relationship Id="rId20" Type="http://schemas.openxmlformats.org/officeDocument/2006/relationships/tags" Target="../tags/tag5.xml"/><Relationship Id="rId41" Type="http://schemas.openxmlformats.org/officeDocument/2006/relationships/tags" Target="../tags/tag26.xml"/><Relationship Id="rId54" Type="http://schemas.openxmlformats.org/officeDocument/2006/relationships/tags" Target="../tags/tag39.xml"/><Relationship Id="rId62" Type="http://schemas.openxmlformats.org/officeDocument/2006/relationships/tags" Target="../tags/tag47.xml"/><Relationship Id="rId70" Type="http://schemas.openxmlformats.org/officeDocument/2006/relationships/tags" Target="../tags/tag55.xml"/><Relationship Id="rId75" Type="http://schemas.openxmlformats.org/officeDocument/2006/relationships/oleObject" Target="../embeddings/oleObject1.bin"/><Relationship Id="rId83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8.xml"/><Relationship Id="rId28" Type="http://schemas.openxmlformats.org/officeDocument/2006/relationships/tags" Target="../tags/tag13.xml"/><Relationship Id="rId36" Type="http://schemas.openxmlformats.org/officeDocument/2006/relationships/tags" Target="../tags/tag21.xml"/><Relationship Id="rId49" Type="http://schemas.openxmlformats.org/officeDocument/2006/relationships/tags" Target="../tags/tag34.xml"/><Relationship Id="rId57" Type="http://schemas.openxmlformats.org/officeDocument/2006/relationships/tags" Target="../tags/tag42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6.xml"/><Relationship Id="rId44" Type="http://schemas.openxmlformats.org/officeDocument/2006/relationships/tags" Target="../tags/tag29.xml"/><Relationship Id="rId52" Type="http://schemas.openxmlformats.org/officeDocument/2006/relationships/tags" Target="../tags/tag37.xml"/><Relationship Id="rId60" Type="http://schemas.openxmlformats.org/officeDocument/2006/relationships/tags" Target="../tags/tag45.xml"/><Relationship Id="rId65" Type="http://schemas.openxmlformats.org/officeDocument/2006/relationships/tags" Target="../tags/tag50.xml"/><Relationship Id="rId73" Type="http://schemas.openxmlformats.org/officeDocument/2006/relationships/tags" Target="../tags/tag58.xml"/><Relationship Id="rId78" Type="http://schemas.openxmlformats.org/officeDocument/2006/relationships/image" Target="../media/image3.png"/><Relationship Id="rId81" Type="http://schemas.openxmlformats.org/officeDocument/2006/relationships/image" Target="../media/image6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9" Type="http://schemas.openxmlformats.org/officeDocument/2006/relationships/tags" Target="../tags/tag24.xml"/><Relationship Id="rId34" Type="http://schemas.openxmlformats.org/officeDocument/2006/relationships/tags" Target="../tags/tag19.xml"/><Relationship Id="rId50" Type="http://schemas.openxmlformats.org/officeDocument/2006/relationships/tags" Target="../tags/tag35.xml"/><Relationship Id="rId55" Type="http://schemas.openxmlformats.org/officeDocument/2006/relationships/tags" Target="../tags/tag40.xml"/><Relationship Id="rId76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6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4.xml"/><Relationship Id="rId24" Type="http://schemas.openxmlformats.org/officeDocument/2006/relationships/tags" Target="../tags/tag9.xml"/><Relationship Id="rId40" Type="http://schemas.openxmlformats.org/officeDocument/2006/relationships/tags" Target="../tags/tag25.xml"/><Relationship Id="rId45" Type="http://schemas.openxmlformats.org/officeDocument/2006/relationships/tags" Target="../tags/tag30.xml"/><Relationship Id="rId66" Type="http://schemas.openxmlformats.org/officeDocument/2006/relationships/tags" Target="../tags/tag51.xml"/><Relationship Id="rId61" Type="http://schemas.openxmlformats.org/officeDocument/2006/relationships/tags" Target="../tags/tag46.xml"/><Relationship Id="rId82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tags" Target="../tags/tag169.xml"/><Relationship Id="rId21" Type="http://schemas.openxmlformats.org/officeDocument/2006/relationships/tags" Target="../tags/tag164.xml"/><Relationship Id="rId42" Type="http://schemas.openxmlformats.org/officeDocument/2006/relationships/tags" Target="../tags/tag185.xml"/><Relationship Id="rId47" Type="http://schemas.openxmlformats.org/officeDocument/2006/relationships/tags" Target="../tags/tag190.xml"/><Relationship Id="rId63" Type="http://schemas.openxmlformats.org/officeDocument/2006/relationships/tags" Target="../tags/tag206.xml"/><Relationship Id="rId68" Type="http://schemas.openxmlformats.org/officeDocument/2006/relationships/tags" Target="../tags/tag211.xml"/><Relationship Id="rId84" Type="http://schemas.openxmlformats.org/officeDocument/2006/relationships/image" Target="../media/image10.svg"/><Relationship Id="rId16" Type="http://schemas.openxmlformats.org/officeDocument/2006/relationships/tags" Target="../tags/tag159.xml"/><Relationship Id="rId11" Type="http://schemas.openxmlformats.org/officeDocument/2006/relationships/slideLayout" Target="../slideLayouts/slideLayout26.xml"/><Relationship Id="rId32" Type="http://schemas.openxmlformats.org/officeDocument/2006/relationships/tags" Target="../tags/tag175.xml"/><Relationship Id="rId37" Type="http://schemas.openxmlformats.org/officeDocument/2006/relationships/tags" Target="../tags/tag180.xml"/><Relationship Id="rId53" Type="http://schemas.openxmlformats.org/officeDocument/2006/relationships/tags" Target="../tags/tag196.xml"/><Relationship Id="rId58" Type="http://schemas.openxmlformats.org/officeDocument/2006/relationships/tags" Target="../tags/tag201.xml"/><Relationship Id="rId74" Type="http://schemas.openxmlformats.org/officeDocument/2006/relationships/oleObject" Target="../embeddings/oleObject16.bin"/><Relationship Id="rId79" Type="http://schemas.openxmlformats.org/officeDocument/2006/relationships/image" Target="../media/image6.svg"/><Relationship Id="rId5" Type="http://schemas.openxmlformats.org/officeDocument/2006/relationships/slideLayout" Target="../slideLayouts/slideLayout20.xml"/><Relationship Id="rId61" Type="http://schemas.openxmlformats.org/officeDocument/2006/relationships/tags" Target="../tags/tag204.xml"/><Relationship Id="rId82" Type="http://schemas.openxmlformats.org/officeDocument/2006/relationships/image" Target="../media/image17.png"/><Relationship Id="rId19" Type="http://schemas.openxmlformats.org/officeDocument/2006/relationships/tags" Target="../tags/tag162.xml"/><Relationship Id="rId14" Type="http://schemas.openxmlformats.org/officeDocument/2006/relationships/slideLayout" Target="../slideLayouts/slideLayout29.xml"/><Relationship Id="rId22" Type="http://schemas.openxmlformats.org/officeDocument/2006/relationships/tags" Target="../tags/tag165.xml"/><Relationship Id="rId27" Type="http://schemas.openxmlformats.org/officeDocument/2006/relationships/tags" Target="../tags/tag170.xml"/><Relationship Id="rId30" Type="http://schemas.openxmlformats.org/officeDocument/2006/relationships/tags" Target="../tags/tag173.xml"/><Relationship Id="rId35" Type="http://schemas.openxmlformats.org/officeDocument/2006/relationships/tags" Target="../tags/tag178.xml"/><Relationship Id="rId43" Type="http://schemas.openxmlformats.org/officeDocument/2006/relationships/tags" Target="../tags/tag186.xml"/><Relationship Id="rId48" Type="http://schemas.openxmlformats.org/officeDocument/2006/relationships/tags" Target="../tags/tag191.xml"/><Relationship Id="rId56" Type="http://schemas.openxmlformats.org/officeDocument/2006/relationships/tags" Target="../tags/tag199.xml"/><Relationship Id="rId64" Type="http://schemas.openxmlformats.org/officeDocument/2006/relationships/tags" Target="../tags/tag207.xml"/><Relationship Id="rId69" Type="http://schemas.openxmlformats.org/officeDocument/2006/relationships/tags" Target="../tags/tag212.xml"/><Relationship Id="rId77" Type="http://schemas.openxmlformats.org/officeDocument/2006/relationships/image" Target="../media/image4.svg"/><Relationship Id="rId8" Type="http://schemas.openxmlformats.org/officeDocument/2006/relationships/slideLayout" Target="../slideLayouts/slideLayout23.xml"/><Relationship Id="rId51" Type="http://schemas.openxmlformats.org/officeDocument/2006/relationships/tags" Target="../tags/tag194.xml"/><Relationship Id="rId72" Type="http://schemas.openxmlformats.org/officeDocument/2006/relationships/tags" Target="../tags/tag215.xml"/><Relationship Id="rId80" Type="http://schemas.openxmlformats.org/officeDocument/2006/relationships/image" Target="../media/image7.png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160.xml"/><Relationship Id="rId25" Type="http://schemas.openxmlformats.org/officeDocument/2006/relationships/tags" Target="../tags/tag168.xml"/><Relationship Id="rId33" Type="http://schemas.openxmlformats.org/officeDocument/2006/relationships/tags" Target="../tags/tag176.xml"/><Relationship Id="rId38" Type="http://schemas.openxmlformats.org/officeDocument/2006/relationships/tags" Target="../tags/tag181.xml"/><Relationship Id="rId46" Type="http://schemas.openxmlformats.org/officeDocument/2006/relationships/tags" Target="../tags/tag189.xml"/><Relationship Id="rId59" Type="http://schemas.openxmlformats.org/officeDocument/2006/relationships/tags" Target="../tags/tag202.xml"/><Relationship Id="rId67" Type="http://schemas.openxmlformats.org/officeDocument/2006/relationships/tags" Target="../tags/tag210.xml"/><Relationship Id="rId20" Type="http://schemas.openxmlformats.org/officeDocument/2006/relationships/tags" Target="../tags/tag163.xml"/><Relationship Id="rId41" Type="http://schemas.openxmlformats.org/officeDocument/2006/relationships/tags" Target="../tags/tag184.xml"/><Relationship Id="rId54" Type="http://schemas.openxmlformats.org/officeDocument/2006/relationships/tags" Target="../tags/tag197.xml"/><Relationship Id="rId62" Type="http://schemas.openxmlformats.org/officeDocument/2006/relationships/tags" Target="../tags/tag205.xml"/><Relationship Id="rId70" Type="http://schemas.openxmlformats.org/officeDocument/2006/relationships/tags" Target="../tags/tag213.xml"/><Relationship Id="rId75" Type="http://schemas.openxmlformats.org/officeDocument/2006/relationships/image" Target="../media/image1.emf"/><Relationship Id="rId83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23" Type="http://schemas.openxmlformats.org/officeDocument/2006/relationships/tags" Target="../tags/tag166.xml"/><Relationship Id="rId28" Type="http://schemas.openxmlformats.org/officeDocument/2006/relationships/tags" Target="../tags/tag171.xml"/><Relationship Id="rId36" Type="http://schemas.openxmlformats.org/officeDocument/2006/relationships/tags" Target="../tags/tag179.xml"/><Relationship Id="rId49" Type="http://schemas.openxmlformats.org/officeDocument/2006/relationships/tags" Target="../tags/tag192.xml"/><Relationship Id="rId57" Type="http://schemas.openxmlformats.org/officeDocument/2006/relationships/tags" Target="../tags/tag200.xml"/><Relationship Id="rId10" Type="http://schemas.openxmlformats.org/officeDocument/2006/relationships/slideLayout" Target="../slideLayouts/slideLayout25.xml"/><Relationship Id="rId31" Type="http://schemas.openxmlformats.org/officeDocument/2006/relationships/tags" Target="../tags/tag174.xml"/><Relationship Id="rId44" Type="http://schemas.openxmlformats.org/officeDocument/2006/relationships/tags" Target="../tags/tag187.xml"/><Relationship Id="rId52" Type="http://schemas.openxmlformats.org/officeDocument/2006/relationships/tags" Target="../tags/tag195.xml"/><Relationship Id="rId60" Type="http://schemas.openxmlformats.org/officeDocument/2006/relationships/tags" Target="../tags/tag203.xml"/><Relationship Id="rId65" Type="http://schemas.openxmlformats.org/officeDocument/2006/relationships/tags" Target="../tags/tag208.xml"/><Relationship Id="rId73" Type="http://schemas.openxmlformats.org/officeDocument/2006/relationships/tags" Target="../tags/tag216.xml"/><Relationship Id="rId78" Type="http://schemas.openxmlformats.org/officeDocument/2006/relationships/image" Target="../media/image5.png"/><Relationship Id="rId81" Type="http://schemas.openxmlformats.org/officeDocument/2006/relationships/image" Target="../media/image8.sv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8.xml"/><Relationship Id="rId18" Type="http://schemas.openxmlformats.org/officeDocument/2006/relationships/tags" Target="../tags/tag161.xml"/><Relationship Id="rId39" Type="http://schemas.openxmlformats.org/officeDocument/2006/relationships/tags" Target="../tags/tag182.xml"/><Relationship Id="rId34" Type="http://schemas.openxmlformats.org/officeDocument/2006/relationships/tags" Target="../tags/tag177.xml"/><Relationship Id="rId50" Type="http://schemas.openxmlformats.org/officeDocument/2006/relationships/tags" Target="../tags/tag193.xml"/><Relationship Id="rId55" Type="http://schemas.openxmlformats.org/officeDocument/2006/relationships/tags" Target="../tags/tag198.xml"/><Relationship Id="rId76" Type="http://schemas.openxmlformats.org/officeDocument/2006/relationships/image" Target="../media/image3.png"/><Relationship Id="rId7" Type="http://schemas.openxmlformats.org/officeDocument/2006/relationships/slideLayout" Target="../slideLayouts/slideLayout22.xml"/><Relationship Id="rId71" Type="http://schemas.openxmlformats.org/officeDocument/2006/relationships/tags" Target="../tags/tag214.xml"/><Relationship Id="rId2" Type="http://schemas.openxmlformats.org/officeDocument/2006/relationships/slideLayout" Target="../slideLayouts/slideLayout17.xml"/><Relationship Id="rId29" Type="http://schemas.openxmlformats.org/officeDocument/2006/relationships/tags" Target="../tags/tag172.xml"/><Relationship Id="rId24" Type="http://schemas.openxmlformats.org/officeDocument/2006/relationships/tags" Target="../tags/tag167.xml"/><Relationship Id="rId40" Type="http://schemas.openxmlformats.org/officeDocument/2006/relationships/tags" Target="../tags/tag183.xml"/><Relationship Id="rId45" Type="http://schemas.openxmlformats.org/officeDocument/2006/relationships/tags" Target="../tags/tag188.xml"/><Relationship Id="rId66" Type="http://schemas.openxmlformats.org/officeDocument/2006/relationships/tags" Target="../tags/tag209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tags" Target="../tags/tag326.xml"/><Relationship Id="rId21" Type="http://schemas.openxmlformats.org/officeDocument/2006/relationships/tags" Target="../tags/tag321.xml"/><Relationship Id="rId42" Type="http://schemas.openxmlformats.org/officeDocument/2006/relationships/tags" Target="../tags/tag342.xml"/><Relationship Id="rId47" Type="http://schemas.openxmlformats.org/officeDocument/2006/relationships/tags" Target="../tags/tag347.xml"/><Relationship Id="rId63" Type="http://schemas.openxmlformats.org/officeDocument/2006/relationships/tags" Target="../tags/tag363.xml"/><Relationship Id="rId68" Type="http://schemas.openxmlformats.org/officeDocument/2006/relationships/tags" Target="../tags/tag368.xml"/><Relationship Id="rId84" Type="http://schemas.openxmlformats.org/officeDocument/2006/relationships/image" Target="../media/image10.svg"/><Relationship Id="rId16" Type="http://schemas.openxmlformats.org/officeDocument/2006/relationships/tags" Target="../tags/tag316.xml"/><Relationship Id="rId11" Type="http://schemas.openxmlformats.org/officeDocument/2006/relationships/slideLayout" Target="../slideLayouts/slideLayout40.xml"/><Relationship Id="rId32" Type="http://schemas.openxmlformats.org/officeDocument/2006/relationships/tags" Target="../tags/tag332.xml"/><Relationship Id="rId37" Type="http://schemas.openxmlformats.org/officeDocument/2006/relationships/tags" Target="../tags/tag337.xml"/><Relationship Id="rId53" Type="http://schemas.openxmlformats.org/officeDocument/2006/relationships/tags" Target="../tags/tag353.xml"/><Relationship Id="rId58" Type="http://schemas.openxmlformats.org/officeDocument/2006/relationships/tags" Target="../tags/tag358.xml"/><Relationship Id="rId74" Type="http://schemas.openxmlformats.org/officeDocument/2006/relationships/oleObject" Target="../embeddings/oleObject31.bin"/><Relationship Id="rId79" Type="http://schemas.openxmlformats.org/officeDocument/2006/relationships/image" Target="../media/image6.svg"/><Relationship Id="rId5" Type="http://schemas.openxmlformats.org/officeDocument/2006/relationships/slideLayout" Target="../slideLayouts/slideLayout34.xml"/><Relationship Id="rId61" Type="http://schemas.openxmlformats.org/officeDocument/2006/relationships/tags" Target="../tags/tag361.xml"/><Relationship Id="rId82" Type="http://schemas.openxmlformats.org/officeDocument/2006/relationships/image" Target="../media/image17.png"/><Relationship Id="rId19" Type="http://schemas.openxmlformats.org/officeDocument/2006/relationships/tags" Target="../tags/tag319.xml"/><Relationship Id="rId14" Type="http://schemas.openxmlformats.org/officeDocument/2006/relationships/slideLayout" Target="../slideLayouts/slideLayout43.xml"/><Relationship Id="rId22" Type="http://schemas.openxmlformats.org/officeDocument/2006/relationships/tags" Target="../tags/tag322.xml"/><Relationship Id="rId27" Type="http://schemas.openxmlformats.org/officeDocument/2006/relationships/tags" Target="../tags/tag327.xml"/><Relationship Id="rId30" Type="http://schemas.openxmlformats.org/officeDocument/2006/relationships/tags" Target="../tags/tag330.xml"/><Relationship Id="rId35" Type="http://schemas.openxmlformats.org/officeDocument/2006/relationships/tags" Target="../tags/tag335.xml"/><Relationship Id="rId43" Type="http://schemas.openxmlformats.org/officeDocument/2006/relationships/tags" Target="../tags/tag343.xml"/><Relationship Id="rId48" Type="http://schemas.openxmlformats.org/officeDocument/2006/relationships/tags" Target="../tags/tag348.xml"/><Relationship Id="rId56" Type="http://schemas.openxmlformats.org/officeDocument/2006/relationships/tags" Target="../tags/tag356.xml"/><Relationship Id="rId64" Type="http://schemas.openxmlformats.org/officeDocument/2006/relationships/tags" Target="../tags/tag364.xml"/><Relationship Id="rId69" Type="http://schemas.openxmlformats.org/officeDocument/2006/relationships/tags" Target="../tags/tag369.xml"/><Relationship Id="rId77" Type="http://schemas.openxmlformats.org/officeDocument/2006/relationships/image" Target="../media/image4.svg"/><Relationship Id="rId8" Type="http://schemas.openxmlformats.org/officeDocument/2006/relationships/slideLayout" Target="../slideLayouts/slideLayout37.xml"/><Relationship Id="rId51" Type="http://schemas.openxmlformats.org/officeDocument/2006/relationships/tags" Target="../tags/tag351.xml"/><Relationship Id="rId72" Type="http://schemas.openxmlformats.org/officeDocument/2006/relationships/tags" Target="../tags/tag372.xml"/><Relationship Id="rId80" Type="http://schemas.openxmlformats.org/officeDocument/2006/relationships/image" Target="../media/image7.png"/><Relationship Id="rId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317.xml"/><Relationship Id="rId25" Type="http://schemas.openxmlformats.org/officeDocument/2006/relationships/tags" Target="../tags/tag325.xml"/><Relationship Id="rId33" Type="http://schemas.openxmlformats.org/officeDocument/2006/relationships/tags" Target="../tags/tag333.xml"/><Relationship Id="rId38" Type="http://schemas.openxmlformats.org/officeDocument/2006/relationships/tags" Target="../tags/tag338.xml"/><Relationship Id="rId46" Type="http://schemas.openxmlformats.org/officeDocument/2006/relationships/tags" Target="../tags/tag346.xml"/><Relationship Id="rId59" Type="http://schemas.openxmlformats.org/officeDocument/2006/relationships/tags" Target="../tags/tag359.xml"/><Relationship Id="rId67" Type="http://schemas.openxmlformats.org/officeDocument/2006/relationships/tags" Target="../tags/tag367.xml"/><Relationship Id="rId20" Type="http://schemas.openxmlformats.org/officeDocument/2006/relationships/tags" Target="../tags/tag320.xml"/><Relationship Id="rId41" Type="http://schemas.openxmlformats.org/officeDocument/2006/relationships/tags" Target="../tags/tag341.xml"/><Relationship Id="rId54" Type="http://schemas.openxmlformats.org/officeDocument/2006/relationships/tags" Target="../tags/tag354.xml"/><Relationship Id="rId62" Type="http://schemas.openxmlformats.org/officeDocument/2006/relationships/tags" Target="../tags/tag362.xml"/><Relationship Id="rId70" Type="http://schemas.openxmlformats.org/officeDocument/2006/relationships/tags" Target="../tags/tag370.xml"/><Relationship Id="rId75" Type="http://schemas.openxmlformats.org/officeDocument/2006/relationships/image" Target="../media/image1.emf"/><Relationship Id="rId83" Type="http://schemas.openxmlformats.org/officeDocument/2006/relationships/image" Target="../media/image18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5" Type="http://schemas.openxmlformats.org/officeDocument/2006/relationships/theme" Target="../theme/theme3.xml"/><Relationship Id="rId23" Type="http://schemas.openxmlformats.org/officeDocument/2006/relationships/tags" Target="../tags/tag323.xml"/><Relationship Id="rId28" Type="http://schemas.openxmlformats.org/officeDocument/2006/relationships/tags" Target="../tags/tag328.xml"/><Relationship Id="rId36" Type="http://schemas.openxmlformats.org/officeDocument/2006/relationships/tags" Target="../tags/tag336.xml"/><Relationship Id="rId49" Type="http://schemas.openxmlformats.org/officeDocument/2006/relationships/tags" Target="../tags/tag349.xml"/><Relationship Id="rId57" Type="http://schemas.openxmlformats.org/officeDocument/2006/relationships/tags" Target="../tags/tag357.xml"/><Relationship Id="rId10" Type="http://schemas.openxmlformats.org/officeDocument/2006/relationships/slideLayout" Target="../slideLayouts/slideLayout39.xml"/><Relationship Id="rId31" Type="http://schemas.openxmlformats.org/officeDocument/2006/relationships/tags" Target="../tags/tag331.xml"/><Relationship Id="rId44" Type="http://schemas.openxmlformats.org/officeDocument/2006/relationships/tags" Target="../tags/tag344.xml"/><Relationship Id="rId52" Type="http://schemas.openxmlformats.org/officeDocument/2006/relationships/tags" Target="../tags/tag352.xml"/><Relationship Id="rId60" Type="http://schemas.openxmlformats.org/officeDocument/2006/relationships/tags" Target="../tags/tag360.xml"/><Relationship Id="rId65" Type="http://schemas.openxmlformats.org/officeDocument/2006/relationships/tags" Target="../tags/tag365.xml"/><Relationship Id="rId73" Type="http://schemas.openxmlformats.org/officeDocument/2006/relationships/tags" Target="../tags/tag373.xml"/><Relationship Id="rId78" Type="http://schemas.openxmlformats.org/officeDocument/2006/relationships/image" Target="../media/image5.png"/><Relationship Id="rId81" Type="http://schemas.openxmlformats.org/officeDocument/2006/relationships/image" Target="../media/image8.sv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2.xml"/><Relationship Id="rId18" Type="http://schemas.openxmlformats.org/officeDocument/2006/relationships/tags" Target="../tags/tag318.xml"/><Relationship Id="rId39" Type="http://schemas.openxmlformats.org/officeDocument/2006/relationships/tags" Target="../tags/tag339.xml"/><Relationship Id="rId34" Type="http://schemas.openxmlformats.org/officeDocument/2006/relationships/tags" Target="../tags/tag334.xml"/><Relationship Id="rId50" Type="http://schemas.openxmlformats.org/officeDocument/2006/relationships/tags" Target="../tags/tag350.xml"/><Relationship Id="rId55" Type="http://schemas.openxmlformats.org/officeDocument/2006/relationships/tags" Target="../tags/tag355.xml"/><Relationship Id="rId76" Type="http://schemas.openxmlformats.org/officeDocument/2006/relationships/image" Target="../media/image3.png"/><Relationship Id="rId7" Type="http://schemas.openxmlformats.org/officeDocument/2006/relationships/slideLayout" Target="../slideLayouts/slideLayout36.xml"/><Relationship Id="rId71" Type="http://schemas.openxmlformats.org/officeDocument/2006/relationships/tags" Target="../tags/tag371.xml"/><Relationship Id="rId2" Type="http://schemas.openxmlformats.org/officeDocument/2006/relationships/slideLayout" Target="../slideLayouts/slideLayout31.xml"/><Relationship Id="rId29" Type="http://schemas.openxmlformats.org/officeDocument/2006/relationships/tags" Target="../tags/tag329.xml"/><Relationship Id="rId24" Type="http://schemas.openxmlformats.org/officeDocument/2006/relationships/tags" Target="../tags/tag324.xml"/><Relationship Id="rId40" Type="http://schemas.openxmlformats.org/officeDocument/2006/relationships/tags" Target="../tags/tag340.xml"/><Relationship Id="rId45" Type="http://schemas.openxmlformats.org/officeDocument/2006/relationships/tags" Target="../tags/tag345.xml"/><Relationship Id="rId66" Type="http://schemas.openxmlformats.org/officeDocument/2006/relationships/tags" Target="../tags/tag3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670089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5" imgW="413" imgH="416" progId="TCLayout.ActiveDocument.1">
                  <p:embed/>
                </p:oleObj>
              </mc:Choice>
              <mc:Fallback>
                <p:oleObj name="think-cell Slide" r:id="rId75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1C81C2BC-A44A-4526-B5B7-7D5162C5A35D}"/>
              </a:ext>
            </a:extLst>
          </p:cNvPr>
          <p:cNvSpPr/>
          <p:nvPr userDrawn="1">
            <p:custDataLst>
              <p:tags r:id="rId18"/>
            </p:custDataLst>
          </p:nvPr>
        </p:nvSpPr>
        <p:spPr bwMode="ltGray">
          <a:xfrm rot="16200000">
            <a:off x="5756936" y="422929"/>
            <a:ext cx="678140" cy="12191999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9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4" y="41597"/>
            <a:ext cx="108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3754105" y="21717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2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63534"/>
              <a:ext cx="7879080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63534"/>
              <a:ext cx="692810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63534"/>
              <a:ext cx="519988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63534"/>
              <a:ext cx="346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A7F425E-D0E1-478C-8946-0E478C0DC7A6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1219200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Google Shape;14;p2" descr="Google Shape;14;p2">
            <a:extLst>
              <a:ext uri="{FF2B5EF4-FFF2-40B4-BE49-F238E27FC236}">
                <a16:creationId xmlns:a16="http://schemas.microsoft.com/office/drawing/2014/main" id="{F969C0EA-A9B4-4338-A8E1-164D51B8B0EE}"/>
              </a:ext>
            </a:extLst>
          </p:cNvPr>
          <p:cNvPicPr>
            <a:picLocks noChangeAspect="1"/>
          </p:cNvPicPr>
          <p:nvPr userDrawn="1"/>
        </p:nvPicPr>
        <p:blipFill>
          <a:blip r:embed="rId77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8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8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8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204701" y="4207156"/>
            <a:ext cx="252000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607132" y="4207156"/>
            <a:ext cx="252000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009563" y="4207156"/>
            <a:ext cx="252000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411994" y="4207156"/>
            <a:ext cx="252000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1814426" y="4207156"/>
            <a:ext cx="252000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5" y="1331086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8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8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283581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1824089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2"/>
            </p:custDataLst>
          </p:nvPr>
        </p:nvSpPr>
        <p:spPr>
          <a:xfrm>
            <a:off x="2408978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3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3525112"/>
            <a:ext cx="396228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5"/>
            </p:custDataLst>
          </p:nvPr>
        </p:nvGrpSpPr>
        <p:grpSpPr>
          <a:xfrm>
            <a:off x="2302765" y="4111601"/>
            <a:ext cx="396228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3235224" y="5856330"/>
            <a:ext cx="396228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200697" y="1258151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8"/>
            </p:custDataLst>
          </p:nvPr>
        </p:nvSpPr>
        <p:spPr>
          <a:xfrm>
            <a:off x="3310075" y="1290724"/>
            <a:ext cx="246526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1765645"/>
            <a:ext cx="396228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40"/>
            </p:custDataLst>
          </p:nvPr>
        </p:nvGrpSpPr>
        <p:grpSpPr>
          <a:xfrm>
            <a:off x="3235224" y="2352134"/>
            <a:ext cx="396228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1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3563463"/>
            <a:ext cx="396228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4142332"/>
            <a:ext cx="396228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4"/>
            </p:custDataLst>
          </p:nvPr>
        </p:nvGrpSpPr>
        <p:grpSpPr>
          <a:xfrm>
            <a:off x="3235224" y="5269841"/>
            <a:ext cx="396228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5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3" y="5284579"/>
            <a:ext cx="396228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7"/>
            </p:custDataLst>
          </p:nvPr>
        </p:nvGrpSpPr>
        <p:grpSpPr>
          <a:xfrm>
            <a:off x="4167683" y="5871065"/>
            <a:ext cx="396228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8"/>
            </p:custDataLst>
          </p:nvPr>
        </p:nvSpPr>
        <p:spPr>
          <a:xfrm>
            <a:off x="3260099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3" y="1765645"/>
            <a:ext cx="396228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50"/>
            </p:custDataLst>
          </p:nvPr>
        </p:nvGrpSpPr>
        <p:grpSpPr>
          <a:xfrm>
            <a:off x="4167683" y="2352134"/>
            <a:ext cx="396228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8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8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8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8" y="1390066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19"/>
            <a:ext cx="396228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8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099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8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8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6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3525112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4111601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2938623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79"/>
            <a:ext cx="396228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8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1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2"/>
            </p:custDataLst>
          </p:nvPr>
        </p:nvSpPr>
        <p:spPr>
          <a:xfrm>
            <a:off x="7556500" y="1257300"/>
            <a:ext cx="2819400" cy="1187708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82880" tIns="182880" rIns="182880" bIns="18288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2814268"/>
            <a:ext cx="3026228" cy="1769715"/>
            <a:chOff x="1016000" y="1016000"/>
            <a:chExt cx="3026228" cy="176971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4"/>
            </p:custDataLst>
          </p:nvPr>
        </p:nvGrpSpPr>
        <p:grpSpPr>
          <a:xfrm>
            <a:off x="7556500" y="4704342"/>
            <a:ext cx="3026228" cy="1769715"/>
            <a:chOff x="1016000" y="1016000"/>
            <a:chExt cx="3026228" cy="1769715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60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2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4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6"/>
            </p:custDataLst>
          </p:nvPr>
        </p:nvGrpSpPr>
        <p:grpSpPr>
          <a:xfrm>
            <a:off x="11074401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8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8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1" y="3100182"/>
            <a:ext cx="139530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8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8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4" r:id="rId2"/>
    <p:sldLayoutId id="2147483888" r:id="rId3"/>
    <p:sldLayoutId id="2147483889" r:id="rId4"/>
    <p:sldLayoutId id="2147483654" r:id="rId5"/>
    <p:sldLayoutId id="2147483883" r:id="rId6"/>
    <p:sldLayoutId id="2147483860" r:id="rId7"/>
    <p:sldLayoutId id="2147483856" r:id="rId8"/>
    <p:sldLayoutId id="2147483805" r:id="rId9"/>
    <p:sldLayoutId id="2147483806" r:id="rId10"/>
    <p:sldLayoutId id="2147483882" r:id="rId11"/>
    <p:sldLayoutId id="2147483706" r:id="rId12"/>
    <p:sldLayoutId id="2147483887" r:id="rId13"/>
    <p:sldLayoutId id="2147483718" r:id="rId14"/>
    <p:sldLayoutId id="2147483890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18317399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413" imgH="416" progId="TCLayout.ActiveDocument.1">
                  <p:embed/>
                </p:oleObj>
              </mc:Choice>
              <mc:Fallback>
                <p:oleObj name="think-cell Slide" r:id="rId7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9B9B2FF-A42D-488D-B8CB-886FD091F71C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8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54738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5" y="41597"/>
            <a:ext cx="1080000" cy="86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3754105" y="2171700"/>
            <a:ext cx="3049254" cy="347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130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sz="1130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sz="1130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sz="113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7" y="2170801"/>
            <a:ext cx="2856297" cy="85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1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27370"/>
              <a:ext cx="7879080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27370"/>
              <a:ext cx="6928104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27370"/>
              <a:ext cx="519988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27370"/>
              <a:ext cx="346252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9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9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9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204702" y="4207156"/>
            <a:ext cx="252001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607132" y="4207156"/>
            <a:ext cx="252001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1009564" y="4207156"/>
            <a:ext cx="252001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411994" y="4207156"/>
            <a:ext cx="252001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814426" y="4207157"/>
            <a:ext cx="252001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6" y="1331087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9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9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554735" y="128358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824090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1"/>
            </p:custDataLst>
          </p:nvPr>
        </p:nvSpPr>
        <p:spPr>
          <a:xfrm>
            <a:off x="2408980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2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3"/>
            </p:custDataLst>
          </p:nvPr>
        </p:nvGrpSpPr>
        <p:grpSpPr>
          <a:xfrm>
            <a:off x="2302765" y="3525112"/>
            <a:ext cx="396229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4111601"/>
            <a:ext cx="396229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5"/>
            </p:custDataLst>
          </p:nvPr>
        </p:nvGrpSpPr>
        <p:grpSpPr>
          <a:xfrm>
            <a:off x="3235224" y="5856331"/>
            <a:ext cx="396229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6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200697" y="1258152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7"/>
            </p:custDataLst>
          </p:nvPr>
        </p:nvSpPr>
        <p:spPr>
          <a:xfrm>
            <a:off x="3310077" y="1290725"/>
            <a:ext cx="246525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7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8"/>
            </p:custDataLst>
          </p:nvPr>
        </p:nvGrpSpPr>
        <p:grpSpPr>
          <a:xfrm>
            <a:off x="3235224" y="1765645"/>
            <a:ext cx="396229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2352134"/>
            <a:ext cx="396229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0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1"/>
            </p:custDataLst>
          </p:nvPr>
        </p:nvGrpSpPr>
        <p:grpSpPr>
          <a:xfrm>
            <a:off x="3235224" y="3563463"/>
            <a:ext cx="396229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4142333"/>
            <a:ext cx="396229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5269842"/>
            <a:ext cx="396229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4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5"/>
            </p:custDataLst>
          </p:nvPr>
        </p:nvGrpSpPr>
        <p:grpSpPr>
          <a:xfrm>
            <a:off x="4167682" y="5284580"/>
            <a:ext cx="396229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2" y="5871065"/>
            <a:ext cx="396229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7"/>
            </p:custDataLst>
          </p:nvPr>
        </p:nvSpPr>
        <p:spPr>
          <a:xfrm>
            <a:off x="3260100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8"/>
            </p:custDataLst>
          </p:nvPr>
        </p:nvGrpSpPr>
        <p:grpSpPr>
          <a:xfrm>
            <a:off x="4167682" y="1765645"/>
            <a:ext cx="396229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2" y="2352134"/>
            <a:ext cx="396229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9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9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sz="1271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9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9" y="1390067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20"/>
            <a:ext cx="396229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9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100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9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9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7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3525112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4111601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2938623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80"/>
            <a:ext cx="396229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9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0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1"/>
            </p:custDataLst>
          </p:nvPr>
        </p:nvSpPr>
        <p:spPr>
          <a:xfrm>
            <a:off x="7556500" y="1257300"/>
            <a:ext cx="2819400" cy="862966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29157" tIns="129157" rIns="129157" bIns="129157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88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2"/>
            </p:custDataLst>
          </p:nvPr>
        </p:nvGrpSpPr>
        <p:grpSpPr>
          <a:xfrm>
            <a:off x="7556500" y="2814269"/>
            <a:ext cx="3026228" cy="1076257"/>
            <a:chOff x="1016000" y="1016000"/>
            <a:chExt cx="3026228" cy="1076257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4704344"/>
            <a:ext cx="3026228" cy="1076257"/>
            <a:chOff x="1016000" y="1016000"/>
            <a:chExt cx="3026228" cy="1076257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4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59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1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sz="706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3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2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7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9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2" y="3100182"/>
            <a:ext cx="139529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9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9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12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</p:sldLayoutIdLst>
  <p:txStyles>
    <p:titleStyle>
      <a:lvl1pPr algn="l" defTabSz="645732" rtl="0" eaLnBrk="1" latinLnBrk="0" hangingPunct="1">
        <a:lnSpc>
          <a:spcPct val="100000"/>
        </a:lnSpc>
        <a:spcBef>
          <a:spcPct val="0"/>
        </a:spcBef>
        <a:buNone/>
        <a:defRPr lang="ru-RU" sz="1553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645732" rtl="0" eaLnBrk="1" latinLnBrk="0" hangingPunct="1">
        <a:lnSpc>
          <a:spcPct val="100000"/>
        </a:lnSpc>
        <a:spcBef>
          <a:spcPts val="212"/>
        </a:spcBef>
        <a:spcAft>
          <a:spcPts val="212"/>
        </a:spcAft>
        <a:buFont typeface="Segoe UI" panose="020B0502040204020203" pitchFamily="34" charset="0"/>
        <a:buChar char="​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62701" indent="-160159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12692" indent="-15253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422007" indent="-10677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577082" indent="-104231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1pPr>
      <a:lvl2pPr marL="322866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2pPr>
      <a:lvl3pPr marL="645732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96859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4pPr>
      <a:lvl5pPr marL="1291465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5pPr>
      <a:lvl6pPr marL="1614331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6pPr>
      <a:lvl7pPr marL="1937197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7pPr>
      <a:lvl8pPr marL="2260063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8pPr>
      <a:lvl9pPr marL="258292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4">
          <p15:clr>
            <a:srgbClr val="5ACBF0"/>
          </p15:clr>
        </p15:guide>
        <p15:guide id="3" orient="horz" pos="5531">
          <p15:clr>
            <a:srgbClr val="5ACBF0"/>
          </p15:clr>
        </p15:guide>
        <p15:guide id="4" orient="horz" pos="1520">
          <p15:clr>
            <a:srgbClr val="F26B43"/>
          </p15:clr>
        </p15:guide>
        <p15:guide id="5" pos="8255">
          <p15:clr>
            <a:srgbClr val="F26B43"/>
          </p15:clr>
        </p15:guide>
        <p15:guide id="6" pos="389">
          <p15:clr>
            <a:srgbClr val="F26B43"/>
          </p15:clr>
        </p15:guide>
        <p15:guide id="8" orient="horz" pos="57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31980708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413" imgH="416" progId="TCLayout.ActiveDocument.1">
                  <p:embed/>
                </p:oleObj>
              </mc:Choice>
              <mc:Fallback>
                <p:oleObj name="think-cell Slide" r:id="rId7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9B9B2FF-A42D-488D-B8CB-886FD091F71C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212"/>
              </a:spcBef>
              <a:spcAft>
                <a:spcPts val="212"/>
              </a:spcAft>
            </a:pPr>
            <a:endParaRPr lang="en-US" sz="1553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8"/>
            </p:custDataLst>
          </p:nvPr>
        </p:nvSpPr>
        <p:spPr>
          <a:xfrm>
            <a:off x="554738" y="6366957"/>
            <a:ext cx="11082528" cy="869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sz="565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sz="565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54738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5" y="41597"/>
            <a:ext cx="1080000" cy="86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3754105" y="2171700"/>
            <a:ext cx="3049254" cy="347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130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sz="1130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sz="1130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sz="113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7" y="2170801"/>
            <a:ext cx="2856297" cy="8591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1"/>
            </p:custDataLst>
          </p:nvPr>
        </p:nvSpPr>
        <p:spPr>
          <a:xfrm>
            <a:off x="554737" y="6514143"/>
            <a:ext cx="106371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565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27370"/>
              <a:ext cx="7879080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27370"/>
              <a:ext cx="6928104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27370"/>
              <a:ext cx="519988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27370"/>
              <a:ext cx="3462528" cy="24659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212"/>
                </a:spcBef>
                <a:spcAft>
                  <a:spcPts val="212"/>
                </a:spcAft>
              </a:pPr>
              <a:r>
                <a:rPr lang="ru-RU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r>
                <a:rPr lang="en-US" sz="113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13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9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9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9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204702" y="4207156"/>
            <a:ext cx="252001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607132" y="4207156"/>
            <a:ext cx="252001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1009564" y="4207156"/>
            <a:ext cx="252001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411994" y="4207156"/>
            <a:ext cx="252001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814426" y="4207157"/>
            <a:ext cx="252001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6" y="1331087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9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9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554735" y="128358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824090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212"/>
              </a:spcBef>
              <a:spcAft>
                <a:spcPts val="212"/>
              </a:spcAft>
            </a:pPr>
            <a:r>
              <a:rPr lang="en-US" sz="988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988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1"/>
            </p:custDataLst>
          </p:nvPr>
        </p:nvSpPr>
        <p:spPr>
          <a:xfrm>
            <a:off x="2408980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2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3"/>
            </p:custDataLst>
          </p:nvPr>
        </p:nvGrpSpPr>
        <p:grpSpPr>
          <a:xfrm>
            <a:off x="2302765" y="3525112"/>
            <a:ext cx="396229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4111601"/>
            <a:ext cx="396229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5"/>
            </p:custDataLst>
          </p:nvPr>
        </p:nvGrpSpPr>
        <p:grpSpPr>
          <a:xfrm>
            <a:off x="3235224" y="5856331"/>
            <a:ext cx="396229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6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200697" y="1258152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7"/>
            </p:custDataLst>
          </p:nvPr>
        </p:nvSpPr>
        <p:spPr>
          <a:xfrm>
            <a:off x="3310077" y="1290725"/>
            <a:ext cx="246525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7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8"/>
            </p:custDataLst>
          </p:nvPr>
        </p:nvGrpSpPr>
        <p:grpSpPr>
          <a:xfrm>
            <a:off x="3235224" y="1765645"/>
            <a:ext cx="396229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2352134"/>
            <a:ext cx="396229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0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1"/>
            </p:custDataLst>
          </p:nvPr>
        </p:nvGrpSpPr>
        <p:grpSpPr>
          <a:xfrm>
            <a:off x="3235224" y="3563463"/>
            <a:ext cx="396229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4142333"/>
            <a:ext cx="396229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5269842"/>
            <a:ext cx="396229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4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5"/>
            </p:custDataLst>
          </p:nvPr>
        </p:nvGrpSpPr>
        <p:grpSpPr>
          <a:xfrm>
            <a:off x="4167682" y="5284580"/>
            <a:ext cx="396229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13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2" y="5871065"/>
            <a:ext cx="396229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13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7"/>
            </p:custDataLst>
          </p:nvPr>
        </p:nvSpPr>
        <p:spPr>
          <a:xfrm>
            <a:off x="3260100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271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8"/>
            </p:custDataLst>
          </p:nvPr>
        </p:nvGrpSpPr>
        <p:grpSpPr>
          <a:xfrm>
            <a:off x="4167682" y="1765645"/>
            <a:ext cx="396229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sz="1271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2" y="2352134"/>
            <a:ext cx="396229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27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9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9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sz="1271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9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9" y="1390067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20"/>
            <a:ext cx="396229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9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sz="1271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100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9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13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9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7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3525112"/>
            <a:ext cx="396229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13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4111601"/>
            <a:ext cx="396229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64578" tIns="32289" rIns="64578" bIns="32289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2" y="2938623"/>
            <a:ext cx="396229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645732" rtl="0" eaLnBrk="1" latinLnBrk="0" hangingPunct="1"/>
            <a:r>
              <a:rPr lang="en-US" sz="113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13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80"/>
            <a:ext cx="396229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9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0"/>
            </p:custDataLst>
          </p:nvPr>
        </p:nvSpPr>
        <p:spPr>
          <a:xfrm>
            <a:off x="3370045" y="3017414"/>
            <a:ext cx="126588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sz="1271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1"/>
            </p:custDataLst>
          </p:nvPr>
        </p:nvSpPr>
        <p:spPr>
          <a:xfrm>
            <a:off x="7556500" y="1257300"/>
            <a:ext cx="2819400" cy="862966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29157" tIns="129157" rIns="129157" bIns="129157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88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988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2"/>
            </p:custDataLst>
          </p:nvPr>
        </p:nvGrpSpPr>
        <p:grpSpPr>
          <a:xfrm>
            <a:off x="7556500" y="2814269"/>
            <a:ext cx="3026228" cy="1076257"/>
            <a:chOff x="1016000" y="1016000"/>
            <a:chExt cx="3026228" cy="1076257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4704344"/>
            <a:ext cx="3026228" cy="1076257"/>
            <a:chOff x="1016000" y="1016000"/>
            <a:chExt cx="3026228" cy="1076257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0762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113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98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554129"/>
              <a:ext cx="381000" cy="34672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4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59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1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sz="706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3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2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212"/>
                </a:spcBef>
                <a:spcAft>
                  <a:spcPts val="212"/>
                </a:spcAft>
              </a:pPr>
              <a:endParaRPr lang="en-US" sz="113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7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sz="706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9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2" y="3100182"/>
            <a:ext cx="139529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578" tIns="32289" rIns="64578" bIns="32289" numCol="1" anchor="t" anchorCtr="0" compatLnSpc="1">
            <a:prstTxWarp prst="textNoShape">
              <a:avLst/>
            </a:prstTxWarp>
          </a:bodyPr>
          <a:lstStyle/>
          <a:p>
            <a:endParaRPr lang="ru-RU" sz="1271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9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9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13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sz="1271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681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</p:sldLayoutIdLst>
  <p:txStyles>
    <p:titleStyle>
      <a:lvl1pPr algn="l" defTabSz="645732" rtl="0" eaLnBrk="1" latinLnBrk="0" hangingPunct="1">
        <a:lnSpc>
          <a:spcPct val="100000"/>
        </a:lnSpc>
        <a:spcBef>
          <a:spcPct val="0"/>
        </a:spcBef>
        <a:buNone/>
        <a:defRPr lang="ru-RU" sz="1553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645732" rtl="0" eaLnBrk="1" latinLnBrk="0" hangingPunct="1">
        <a:lnSpc>
          <a:spcPct val="100000"/>
        </a:lnSpc>
        <a:spcBef>
          <a:spcPts val="212"/>
        </a:spcBef>
        <a:spcAft>
          <a:spcPts val="212"/>
        </a:spcAft>
        <a:buFont typeface="Segoe UI" panose="020B0502040204020203" pitchFamily="34" charset="0"/>
        <a:buChar char="​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62701" indent="-160159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12692" indent="-15253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422007" indent="-106773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577082" indent="-104231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988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766807" indent="-121075" algn="l" defTabSz="645732" rtl="0" eaLnBrk="1" latinLnBrk="0" hangingPunct="1">
        <a:lnSpc>
          <a:spcPct val="100000"/>
        </a:lnSpc>
        <a:spcBef>
          <a:spcPts val="0"/>
        </a:spcBef>
        <a:spcAft>
          <a:spcPts val="212"/>
        </a:spcAft>
        <a:buSzPct val="100000"/>
        <a:buFont typeface="Arial" panose="020B0604020202020204" pitchFamily="34" charset="0"/>
        <a:buChar char="▫"/>
        <a:defRPr sz="113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1pPr>
      <a:lvl2pPr marL="322866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2pPr>
      <a:lvl3pPr marL="645732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3pPr>
      <a:lvl4pPr marL="96859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4pPr>
      <a:lvl5pPr marL="1291465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5pPr>
      <a:lvl6pPr marL="1614331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6pPr>
      <a:lvl7pPr marL="1937197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7pPr>
      <a:lvl8pPr marL="2260063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8pPr>
      <a:lvl9pPr marL="2582929" algn="l" defTabSz="645732" rtl="0" eaLnBrk="1" latinLnBrk="0" hangingPunct="1">
        <a:defRPr sz="12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4">
          <p15:clr>
            <a:srgbClr val="5ACBF0"/>
          </p15:clr>
        </p15:guide>
        <p15:guide id="3" orient="horz" pos="5531">
          <p15:clr>
            <a:srgbClr val="5ACBF0"/>
          </p15:clr>
        </p15:guide>
        <p15:guide id="4" orient="horz" pos="1520">
          <p15:clr>
            <a:srgbClr val="F26B43"/>
          </p15:clr>
        </p15:guide>
        <p15:guide id="5" pos="8255">
          <p15:clr>
            <a:srgbClr val="F26B43"/>
          </p15:clr>
        </p15:guide>
        <p15:guide id="6" pos="389">
          <p15:clr>
            <a:srgbClr val="F26B43"/>
          </p15:clr>
        </p15:guide>
        <p15:guide id="8" orient="horz" pos="5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75.xml"/><Relationship Id="rId7" Type="http://schemas.openxmlformats.org/officeDocument/2006/relationships/image" Target="../media/image19.emf"/><Relationship Id="rId2" Type="http://schemas.openxmlformats.org/officeDocument/2006/relationships/tags" Target="../tags/tag474.xml"/><Relationship Id="rId1" Type="http://schemas.openxmlformats.org/officeDocument/2006/relationships/tags" Target="../tags/tag473.xml"/><Relationship Id="rId6" Type="http://schemas.openxmlformats.org/officeDocument/2006/relationships/oleObject" Target="../embeddings/oleObject46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7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21.png"/><Relationship Id="rId26" Type="http://schemas.openxmlformats.org/officeDocument/2006/relationships/image" Target="../media/image230.png"/><Relationship Id="rId39" Type="http://schemas.openxmlformats.org/officeDocument/2006/relationships/image" Target="../media/image28.png"/><Relationship Id="rId21" Type="http://schemas.openxmlformats.org/officeDocument/2006/relationships/image" Target="../media/image22.png"/><Relationship Id="rId34" Type="http://schemas.openxmlformats.org/officeDocument/2006/relationships/slide" Target="slide12.xml"/><Relationship Id="rId7" Type="http://schemas.openxmlformats.org/officeDocument/2006/relationships/tags" Target="../tags/tag483.xml"/><Relationship Id="rId2" Type="http://schemas.openxmlformats.org/officeDocument/2006/relationships/tags" Target="../tags/tag478.xml"/><Relationship Id="rId16" Type="http://schemas.openxmlformats.org/officeDocument/2006/relationships/slide" Target="slide4.xml"/><Relationship Id="rId20" Type="http://schemas.openxmlformats.org/officeDocument/2006/relationships/image" Target="../media/image21.png"/><Relationship Id="rId29" Type="http://schemas.openxmlformats.org/officeDocument/2006/relationships/image" Target="../media/image24.png"/><Relationship Id="rId41" Type="http://schemas.openxmlformats.org/officeDocument/2006/relationships/image" Target="../media/image28.png"/><Relationship Id="rId1" Type="http://schemas.openxmlformats.org/officeDocument/2006/relationships/tags" Target="../tags/tag477.xml"/><Relationship Id="rId6" Type="http://schemas.openxmlformats.org/officeDocument/2006/relationships/tags" Target="../tags/tag482.xml"/><Relationship Id="rId11" Type="http://schemas.openxmlformats.org/officeDocument/2006/relationships/tags" Target="../tags/tag487.xml"/><Relationship Id="rId24" Type="http://schemas.openxmlformats.org/officeDocument/2006/relationships/image" Target="../media/image23.png"/><Relationship Id="rId32" Type="http://schemas.openxmlformats.org/officeDocument/2006/relationships/image" Target="../media/image25.png"/><Relationship Id="rId37" Type="http://schemas.openxmlformats.org/officeDocument/2006/relationships/slide" Target="slide13.xml"/><Relationship Id="rId40" Type="http://schemas.openxmlformats.org/officeDocument/2006/relationships/slide" Target="slide7.xml"/><Relationship Id="rId5" Type="http://schemas.openxmlformats.org/officeDocument/2006/relationships/tags" Target="../tags/tag481.xml"/><Relationship Id="rId15" Type="http://schemas.openxmlformats.org/officeDocument/2006/relationships/image" Target="../media/image20.png"/><Relationship Id="rId23" Type="http://schemas.openxmlformats.org/officeDocument/2006/relationships/image" Target="../media/image22.png"/><Relationship Id="rId28" Type="http://schemas.openxmlformats.org/officeDocument/2006/relationships/slide" Target="slide8.xml"/><Relationship Id="rId36" Type="http://schemas.openxmlformats.org/officeDocument/2006/relationships/image" Target="../media/image27.png"/><Relationship Id="rId10" Type="http://schemas.openxmlformats.org/officeDocument/2006/relationships/tags" Target="../tags/tag486.xml"/><Relationship Id="rId19" Type="http://schemas.openxmlformats.org/officeDocument/2006/relationships/slide" Target="slide5.xml"/><Relationship Id="rId31" Type="http://schemas.openxmlformats.org/officeDocument/2006/relationships/slide" Target="slide9.xml"/><Relationship Id="rId4" Type="http://schemas.openxmlformats.org/officeDocument/2006/relationships/tags" Target="../tags/tag480.xml"/><Relationship Id="rId9" Type="http://schemas.openxmlformats.org/officeDocument/2006/relationships/tags" Target="../tags/tag485.xml"/><Relationship Id="rId14" Type="http://schemas.openxmlformats.org/officeDocument/2006/relationships/image" Target="../media/image19.emf"/><Relationship Id="rId22" Type="http://schemas.openxmlformats.org/officeDocument/2006/relationships/slide" Target="slide10.xml"/><Relationship Id="rId27" Type="http://schemas.openxmlformats.org/officeDocument/2006/relationships/image" Target="../media/image24.png"/><Relationship Id="rId30" Type="http://schemas.openxmlformats.org/officeDocument/2006/relationships/image" Target="../media/image25.png"/><Relationship Id="rId35" Type="http://schemas.openxmlformats.org/officeDocument/2006/relationships/image" Target="../media/image260.png"/><Relationship Id="rId8" Type="http://schemas.openxmlformats.org/officeDocument/2006/relationships/tags" Target="../tags/tag484.xml"/><Relationship Id="rId3" Type="http://schemas.openxmlformats.org/officeDocument/2006/relationships/tags" Target="../tags/tag479.xml"/><Relationship Id="rId12" Type="http://schemas.openxmlformats.org/officeDocument/2006/relationships/slideLayout" Target="../slideLayouts/slideLayout5.xml"/><Relationship Id="rId17" Type="http://schemas.openxmlformats.org/officeDocument/2006/relationships/image" Target="../media/image20.png"/><Relationship Id="rId25" Type="http://schemas.openxmlformats.org/officeDocument/2006/relationships/slide" Target="slide6.xml"/><Relationship Id="rId33" Type="http://schemas.openxmlformats.org/officeDocument/2006/relationships/image" Target="../media/image26.png"/><Relationship Id="rId38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490.xml"/><Relationship Id="rId7" Type="http://schemas.openxmlformats.org/officeDocument/2006/relationships/oleObject" Target="../embeddings/oleObject48.bin"/><Relationship Id="rId2" Type="http://schemas.openxmlformats.org/officeDocument/2006/relationships/tags" Target="../tags/tag489.xml"/><Relationship Id="rId1" Type="http://schemas.openxmlformats.org/officeDocument/2006/relationships/tags" Target="../tags/tag488.xml"/><Relationship Id="rId6" Type="http://schemas.openxmlformats.org/officeDocument/2006/relationships/slideLayout" Target="../slideLayouts/slideLayout15.xml"/><Relationship Id="rId11" Type="http://schemas.openxmlformats.org/officeDocument/2006/relationships/slide" Target="slide25.xml"/><Relationship Id="rId5" Type="http://schemas.openxmlformats.org/officeDocument/2006/relationships/tags" Target="../tags/tag492.xml"/><Relationship Id="rId10" Type="http://schemas.openxmlformats.org/officeDocument/2006/relationships/slide" Target="slide14.xml"/><Relationship Id="rId4" Type="http://schemas.openxmlformats.org/officeDocument/2006/relationships/tags" Target="../tags/tag491.xml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13" Type="http://schemas.openxmlformats.org/officeDocument/2006/relationships/image" Target="../media/image31.png"/><Relationship Id="rId3" Type="http://schemas.openxmlformats.org/officeDocument/2006/relationships/tags" Target="../tags/tag495.xml"/><Relationship Id="rId7" Type="http://schemas.openxmlformats.org/officeDocument/2006/relationships/tags" Target="../tags/tag499.xml"/><Relationship Id="rId12" Type="http://schemas.openxmlformats.org/officeDocument/2006/relationships/image" Target="../media/image30.svg"/><Relationship Id="rId2" Type="http://schemas.openxmlformats.org/officeDocument/2006/relationships/tags" Target="../tags/tag494.xml"/><Relationship Id="rId16" Type="http://schemas.openxmlformats.org/officeDocument/2006/relationships/image" Target="../media/image34.png"/><Relationship Id="rId1" Type="http://schemas.openxmlformats.org/officeDocument/2006/relationships/tags" Target="../tags/tag493.xml"/><Relationship Id="rId6" Type="http://schemas.openxmlformats.org/officeDocument/2006/relationships/tags" Target="../tags/tag498.xml"/><Relationship Id="rId11" Type="http://schemas.openxmlformats.org/officeDocument/2006/relationships/image" Target="../media/image29.png"/><Relationship Id="rId5" Type="http://schemas.openxmlformats.org/officeDocument/2006/relationships/tags" Target="../tags/tag497.xml"/><Relationship Id="rId15" Type="http://schemas.openxmlformats.org/officeDocument/2006/relationships/image" Target="../media/image33.png"/><Relationship Id="rId10" Type="http://schemas.openxmlformats.org/officeDocument/2006/relationships/image" Target="../media/image19.emf"/><Relationship Id="rId4" Type="http://schemas.openxmlformats.org/officeDocument/2006/relationships/tags" Target="../tags/tag496.xml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38.svg"/><Relationship Id="rId18" Type="http://schemas.openxmlformats.org/officeDocument/2006/relationships/image" Target="../media/image43.svg"/><Relationship Id="rId26" Type="http://schemas.openxmlformats.org/officeDocument/2006/relationships/image" Target="../media/image51.svg"/><Relationship Id="rId3" Type="http://schemas.openxmlformats.org/officeDocument/2006/relationships/tags" Target="../tags/tag502.xml"/><Relationship Id="rId21" Type="http://schemas.openxmlformats.org/officeDocument/2006/relationships/image" Target="../media/image46.png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tags" Target="../tags/tag501.xml"/><Relationship Id="rId16" Type="http://schemas.openxmlformats.org/officeDocument/2006/relationships/image" Target="../media/image41.svg"/><Relationship Id="rId20" Type="http://schemas.openxmlformats.org/officeDocument/2006/relationships/image" Target="../media/image45.svg"/><Relationship Id="rId1" Type="http://schemas.openxmlformats.org/officeDocument/2006/relationships/tags" Target="../tags/tag500.xml"/><Relationship Id="rId6" Type="http://schemas.openxmlformats.org/officeDocument/2006/relationships/tags" Target="../tags/tag505.xml"/><Relationship Id="rId11" Type="http://schemas.openxmlformats.org/officeDocument/2006/relationships/image" Target="../media/image36.svg"/><Relationship Id="rId24" Type="http://schemas.openxmlformats.org/officeDocument/2006/relationships/image" Target="../media/image49.svg"/><Relationship Id="rId5" Type="http://schemas.openxmlformats.org/officeDocument/2006/relationships/tags" Target="../tags/tag504.xml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sv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tags" Target="../tags/tag503.xml"/><Relationship Id="rId9" Type="http://schemas.openxmlformats.org/officeDocument/2006/relationships/image" Target="../media/image19.emf"/><Relationship Id="rId14" Type="http://schemas.openxmlformats.org/officeDocument/2006/relationships/image" Target="../media/image39.svg"/><Relationship Id="rId22" Type="http://schemas.openxmlformats.org/officeDocument/2006/relationships/image" Target="../media/image47.svg"/><Relationship Id="rId27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13" Type="http://schemas.openxmlformats.org/officeDocument/2006/relationships/image" Target="../media/image56.png"/><Relationship Id="rId3" Type="http://schemas.openxmlformats.org/officeDocument/2006/relationships/tags" Target="../tags/tag508.xml"/><Relationship Id="rId7" Type="http://schemas.openxmlformats.org/officeDocument/2006/relationships/tags" Target="../tags/tag512.xml"/><Relationship Id="rId12" Type="http://schemas.openxmlformats.org/officeDocument/2006/relationships/image" Target="../media/image55.svg"/><Relationship Id="rId2" Type="http://schemas.openxmlformats.org/officeDocument/2006/relationships/tags" Target="../tags/tag507.xml"/><Relationship Id="rId16" Type="http://schemas.openxmlformats.org/officeDocument/2006/relationships/image" Target="../media/image59.svg"/><Relationship Id="rId1" Type="http://schemas.openxmlformats.org/officeDocument/2006/relationships/tags" Target="../tags/tag506.xml"/><Relationship Id="rId6" Type="http://schemas.openxmlformats.org/officeDocument/2006/relationships/tags" Target="../tags/tag511.xml"/><Relationship Id="rId11" Type="http://schemas.openxmlformats.org/officeDocument/2006/relationships/image" Target="../media/image54.png"/><Relationship Id="rId5" Type="http://schemas.openxmlformats.org/officeDocument/2006/relationships/tags" Target="../tags/tag510.xml"/><Relationship Id="rId15" Type="http://schemas.openxmlformats.org/officeDocument/2006/relationships/image" Target="../media/image58.png"/><Relationship Id="rId10" Type="http://schemas.openxmlformats.org/officeDocument/2006/relationships/image" Target="../media/image19.emf"/><Relationship Id="rId4" Type="http://schemas.openxmlformats.org/officeDocument/2006/relationships/tags" Target="../tags/tag509.xml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7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525.xml"/><Relationship Id="rId18" Type="http://schemas.openxmlformats.org/officeDocument/2006/relationships/oleObject" Target="../embeddings/oleObject52.bin"/><Relationship Id="rId26" Type="http://schemas.openxmlformats.org/officeDocument/2006/relationships/image" Target="../media/image66.png"/><Relationship Id="rId3" Type="http://schemas.openxmlformats.org/officeDocument/2006/relationships/tags" Target="../tags/tag515.xml"/><Relationship Id="rId21" Type="http://schemas.openxmlformats.org/officeDocument/2006/relationships/image" Target="../media/image61.svg"/><Relationship Id="rId7" Type="http://schemas.openxmlformats.org/officeDocument/2006/relationships/tags" Target="../tags/tag519.xml"/><Relationship Id="rId12" Type="http://schemas.openxmlformats.org/officeDocument/2006/relationships/tags" Target="../tags/tag524.xml"/><Relationship Id="rId17" Type="http://schemas.openxmlformats.org/officeDocument/2006/relationships/slideLayout" Target="../slideLayouts/slideLayout5.xml"/><Relationship Id="rId25" Type="http://schemas.openxmlformats.org/officeDocument/2006/relationships/image" Target="../media/image65.svg"/><Relationship Id="rId33" Type="http://schemas.openxmlformats.org/officeDocument/2006/relationships/image" Target="../media/image73.svg"/><Relationship Id="rId2" Type="http://schemas.openxmlformats.org/officeDocument/2006/relationships/tags" Target="../tags/tag514.xml"/><Relationship Id="rId16" Type="http://schemas.openxmlformats.org/officeDocument/2006/relationships/tags" Target="../tags/tag528.xml"/><Relationship Id="rId20" Type="http://schemas.openxmlformats.org/officeDocument/2006/relationships/image" Target="../media/image60.png"/><Relationship Id="rId29" Type="http://schemas.openxmlformats.org/officeDocument/2006/relationships/image" Target="../media/image69.svg"/><Relationship Id="rId1" Type="http://schemas.openxmlformats.org/officeDocument/2006/relationships/tags" Target="../tags/tag513.xml"/><Relationship Id="rId6" Type="http://schemas.openxmlformats.org/officeDocument/2006/relationships/tags" Target="../tags/tag518.xml"/><Relationship Id="rId11" Type="http://schemas.openxmlformats.org/officeDocument/2006/relationships/tags" Target="../tags/tag523.xml"/><Relationship Id="rId24" Type="http://schemas.openxmlformats.org/officeDocument/2006/relationships/image" Target="../media/image64.png"/><Relationship Id="rId32" Type="http://schemas.openxmlformats.org/officeDocument/2006/relationships/image" Target="../media/image72.png"/><Relationship Id="rId5" Type="http://schemas.openxmlformats.org/officeDocument/2006/relationships/tags" Target="../tags/tag517.xml"/><Relationship Id="rId15" Type="http://schemas.openxmlformats.org/officeDocument/2006/relationships/tags" Target="../tags/tag527.xml"/><Relationship Id="rId23" Type="http://schemas.openxmlformats.org/officeDocument/2006/relationships/image" Target="../media/image63.svg"/><Relationship Id="rId28" Type="http://schemas.openxmlformats.org/officeDocument/2006/relationships/image" Target="../media/image68.png"/><Relationship Id="rId10" Type="http://schemas.openxmlformats.org/officeDocument/2006/relationships/tags" Target="../tags/tag522.xml"/><Relationship Id="rId19" Type="http://schemas.openxmlformats.org/officeDocument/2006/relationships/image" Target="../media/image19.emf"/><Relationship Id="rId31" Type="http://schemas.openxmlformats.org/officeDocument/2006/relationships/image" Target="../media/image71.svg"/><Relationship Id="rId4" Type="http://schemas.openxmlformats.org/officeDocument/2006/relationships/tags" Target="../tags/tag516.xml"/><Relationship Id="rId9" Type="http://schemas.openxmlformats.org/officeDocument/2006/relationships/tags" Target="../tags/tag521.xml"/><Relationship Id="rId14" Type="http://schemas.openxmlformats.org/officeDocument/2006/relationships/tags" Target="../tags/tag526.xml"/><Relationship Id="rId22" Type="http://schemas.openxmlformats.org/officeDocument/2006/relationships/image" Target="../media/image62.png"/><Relationship Id="rId27" Type="http://schemas.openxmlformats.org/officeDocument/2006/relationships/image" Target="../media/image67.svg"/><Relationship Id="rId30" Type="http://schemas.openxmlformats.org/officeDocument/2006/relationships/image" Target="../media/image70.png"/><Relationship Id="rId8" Type="http://schemas.openxmlformats.org/officeDocument/2006/relationships/tags" Target="../tags/tag520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554.xml"/><Relationship Id="rId21" Type="http://schemas.openxmlformats.org/officeDocument/2006/relationships/tags" Target="../tags/tag549.xml"/><Relationship Id="rId34" Type="http://schemas.openxmlformats.org/officeDocument/2006/relationships/tags" Target="../tags/tag562.xml"/><Relationship Id="rId42" Type="http://schemas.openxmlformats.org/officeDocument/2006/relationships/tags" Target="../tags/tag570.xml"/><Relationship Id="rId47" Type="http://schemas.openxmlformats.org/officeDocument/2006/relationships/tags" Target="../tags/tag575.xml"/><Relationship Id="rId50" Type="http://schemas.openxmlformats.org/officeDocument/2006/relationships/tags" Target="../tags/tag578.xml"/><Relationship Id="rId55" Type="http://schemas.openxmlformats.org/officeDocument/2006/relationships/tags" Target="../tags/tag583.xml"/><Relationship Id="rId63" Type="http://schemas.openxmlformats.org/officeDocument/2006/relationships/image" Target="../media/image19.emf"/><Relationship Id="rId7" Type="http://schemas.openxmlformats.org/officeDocument/2006/relationships/tags" Target="../tags/tag535.xml"/><Relationship Id="rId2" Type="http://schemas.openxmlformats.org/officeDocument/2006/relationships/tags" Target="../tags/tag530.xml"/><Relationship Id="rId16" Type="http://schemas.openxmlformats.org/officeDocument/2006/relationships/tags" Target="../tags/tag544.xml"/><Relationship Id="rId29" Type="http://schemas.openxmlformats.org/officeDocument/2006/relationships/tags" Target="../tags/tag557.xml"/><Relationship Id="rId11" Type="http://schemas.openxmlformats.org/officeDocument/2006/relationships/tags" Target="../tags/tag539.xml"/><Relationship Id="rId24" Type="http://schemas.openxmlformats.org/officeDocument/2006/relationships/tags" Target="../tags/tag552.xml"/><Relationship Id="rId32" Type="http://schemas.openxmlformats.org/officeDocument/2006/relationships/tags" Target="../tags/tag560.xml"/><Relationship Id="rId37" Type="http://schemas.openxmlformats.org/officeDocument/2006/relationships/tags" Target="../tags/tag565.xml"/><Relationship Id="rId40" Type="http://schemas.openxmlformats.org/officeDocument/2006/relationships/tags" Target="../tags/tag568.xml"/><Relationship Id="rId45" Type="http://schemas.openxmlformats.org/officeDocument/2006/relationships/tags" Target="../tags/tag573.xml"/><Relationship Id="rId53" Type="http://schemas.openxmlformats.org/officeDocument/2006/relationships/tags" Target="../tags/tag581.xml"/><Relationship Id="rId58" Type="http://schemas.openxmlformats.org/officeDocument/2006/relationships/tags" Target="../tags/tag586.xml"/><Relationship Id="rId5" Type="http://schemas.openxmlformats.org/officeDocument/2006/relationships/tags" Target="../tags/tag533.xml"/><Relationship Id="rId61" Type="http://schemas.openxmlformats.org/officeDocument/2006/relationships/slideLayout" Target="../slideLayouts/slideLayout5.xml"/><Relationship Id="rId19" Type="http://schemas.openxmlformats.org/officeDocument/2006/relationships/tags" Target="../tags/tag547.xml"/><Relationship Id="rId14" Type="http://schemas.openxmlformats.org/officeDocument/2006/relationships/tags" Target="../tags/tag542.xml"/><Relationship Id="rId22" Type="http://schemas.openxmlformats.org/officeDocument/2006/relationships/tags" Target="../tags/tag550.xml"/><Relationship Id="rId27" Type="http://schemas.openxmlformats.org/officeDocument/2006/relationships/tags" Target="../tags/tag555.xml"/><Relationship Id="rId30" Type="http://schemas.openxmlformats.org/officeDocument/2006/relationships/tags" Target="../tags/tag558.xml"/><Relationship Id="rId35" Type="http://schemas.openxmlformats.org/officeDocument/2006/relationships/tags" Target="../tags/tag563.xml"/><Relationship Id="rId43" Type="http://schemas.openxmlformats.org/officeDocument/2006/relationships/tags" Target="../tags/tag571.xml"/><Relationship Id="rId48" Type="http://schemas.openxmlformats.org/officeDocument/2006/relationships/tags" Target="../tags/tag576.xml"/><Relationship Id="rId56" Type="http://schemas.openxmlformats.org/officeDocument/2006/relationships/tags" Target="../tags/tag584.xml"/><Relationship Id="rId64" Type="http://schemas.openxmlformats.org/officeDocument/2006/relationships/image" Target="../media/image74.png"/><Relationship Id="rId8" Type="http://schemas.openxmlformats.org/officeDocument/2006/relationships/tags" Target="../tags/tag536.xml"/><Relationship Id="rId51" Type="http://schemas.openxmlformats.org/officeDocument/2006/relationships/tags" Target="../tags/tag579.xml"/><Relationship Id="rId3" Type="http://schemas.openxmlformats.org/officeDocument/2006/relationships/tags" Target="../tags/tag531.xml"/><Relationship Id="rId12" Type="http://schemas.openxmlformats.org/officeDocument/2006/relationships/tags" Target="../tags/tag540.xml"/><Relationship Id="rId17" Type="http://schemas.openxmlformats.org/officeDocument/2006/relationships/tags" Target="../tags/tag545.xml"/><Relationship Id="rId25" Type="http://schemas.openxmlformats.org/officeDocument/2006/relationships/tags" Target="../tags/tag553.xml"/><Relationship Id="rId33" Type="http://schemas.openxmlformats.org/officeDocument/2006/relationships/tags" Target="../tags/tag561.xml"/><Relationship Id="rId38" Type="http://schemas.openxmlformats.org/officeDocument/2006/relationships/tags" Target="../tags/tag566.xml"/><Relationship Id="rId46" Type="http://schemas.openxmlformats.org/officeDocument/2006/relationships/tags" Target="../tags/tag574.xml"/><Relationship Id="rId59" Type="http://schemas.openxmlformats.org/officeDocument/2006/relationships/tags" Target="../tags/tag587.xml"/><Relationship Id="rId20" Type="http://schemas.openxmlformats.org/officeDocument/2006/relationships/tags" Target="../tags/tag548.xml"/><Relationship Id="rId41" Type="http://schemas.openxmlformats.org/officeDocument/2006/relationships/tags" Target="../tags/tag569.xml"/><Relationship Id="rId54" Type="http://schemas.openxmlformats.org/officeDocument/2006/relationships/tags" Target="../tags/tag582.xml"/><Relationship Id="rId62" Type="http://schemas.openxmlformats.org/officeDocument/2006/relationships/oleObject" Target="../embeddings/oleObject53.bin"/><Relationship Id="rId1" Type="http://schemas.openxmlformats.org/officeDocument/2006/relationships/tags" Target="../tags/tag529.xml"/><Relationship Id="rId6" Type="http://schemas.openxmlformats.org/officeDocument/2006/relationships/tags" Target="../tags/tag534.xml"/><Relationship Id="rId15" Type="http://schemas.openxmlformats.org/officeDocument/2006/relationships/tags" Target="../tags/tag543.xml"/><Relationship Id="rId23" Type="http://schemas.openxmlformats.org/officeDocument/2006/relationships/tags" Target="../tags/tag551.xml"/><Relationship Id="rId28" Type="http://schemas.openxmlformats.org/officeDocument/2006/relationships/tags" Target="../tags/tag556.xml"/><Relationship Id="rId36" Type="http://schemas.openxmlformats.org/officeDocument/2006/relationships/tags" Target="../tags/tag564.xml"/><Relationship Id="rId49" Type="http://schemas.openxmlformats.org/officeDocument/2006/relationships/tags" Target="../tags/tag577.xml"/><Relationship Id="rId57" Type="http://schemas.openxmlformats.org/officeDocument/2006/relationships/tags" Target="../tags/tag585.xml"/><Relationship Id="rId10" Type="http://schemas.openxmlformats.org/officeDocument/2006/relationships/tags" Target="../tags/tag538.xml"/><Relationship Id="rId31" Type="http://schemas.openxmlformats.org/officeDocument/2006/relationships/tags" Target="../tags/tag559.xml"/><Relationship Id="rId44" Type="http://schemas.openxmlformats.org/officeDocument/2006/relationships/tags" Target="../tags/tag572.xml"/><Relationship Id="rId52" Type="http://schemas.openxmlformats.org/officeDocument/2006/relationships/tags" Target="../tags/tag580.xml"/><Relationship Id="rId60" Type="http://schemas.openxmlformats.org/officeDocument/2006/relationships/tags" Target="../tags/tag588.xml"/><Relationship Id="rId65" Type="http://schemas.openxmlformats.org/officeDocument/2006/relationships/image" Target="../media/image75.svg"/><Relationship Id="rId4" Type="http://schemas.openxmlformats.org/officeDocument/2006/relationships/tags" Target="../tags/tag532.xml"/><Relationship Id="rId9" Type="http://schemas.openxmlformats.org/officeDocument/2006/relationships/tags" Target="../tags/tag537.xml"/><Relationship Id="rId13" Type="http://schemas.openxmlformats.org/officeDocument/2006/relationships/tags" Target="../tags/tag541.xml"/><Relationship Id="rId18" Type="http://schemas.openxmlformats.org/officeDocument/2006/relationships/tags" Target="../tags/tag546.xml"/><Relationship Id="rId39" Type="http://schemas.openxmlformats.org/officeDocument/2006/relationships/tags" Target="../tags/tag56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96.xml"/><Relationship Id="rId13" Type="http://schemas.openxmlformats.org/officeDocument/2006/relationships/tags" Target="../tags/tag601.xml"/><Relationship Id="rId18" Type="http://schemas.openxmlformats.org/officeDocument/2006/relationships/tags" Target="../tags/tag606.xml"/><Relationship Id="rId26" Type="http://schemas.openxmlformats.org/officeDocument/2006/relationships/image" Target="../media/image75.svg"/><Relationship Id="rId3" Type="http://schemas.openxmlformats.org/officeDocument/2006/relationships/tags" Target="../tags/tag591.xml"/><Relationship Id="rId21" Type="http://schemas.openxmlformats.org/officeDocument/2006/relationships/tags" Target="../tags/tag609.xml"/><Relationship Id="rId7" Type="http://schemas.openxmlformats.org/officeDocument/2006/relationships/tags" Target="../tags/tag595.xml"/><Relationship Id="rId12" Type="http://schemas.openxmlformats.org/officeDocument/2006/relationships/tags" Target="../tags/tag600.xml"/><Relationship Id="rId17" Type="http://schemas.openxmlformats.org/officeDocument/2006/relationships/tags" Target="../tags/tag605.xml"/><Relationship Id="rId25" Type="http://schemas.openxmlformats.org/officeDocument/2006/relationships/image" Target="../media/image74.png"/><Relationship Id="rId2" Type="http://schemas.openxmlformats.org/officeDocument/2006/relationships/tags" Target="../tags/tag590.xml"/><Relationship Id="rId16" Type="http://schemas.openxmlformats.org/officeDocument/2006/relationships/tags" Target="../tags/tag604.xml"/><Relationship Id="rId20" Type="http://schemas.openxmlformats.org/officeDocument/2006/relationships/tags" Target="../tags/tag608.xml"/><Relationship Id="rId1" Type="http://schemas.openxmlformats.org/officeDocument/2006/relationships/tags" Target="../tags/tag589.xml"/><Relationship Id="rId6" Type="http://schemas.openxmlformats.org/officeDocument/2006/relationships/tags" Target="../tags/tag594.xml"/><Relationship Id="rId11" Type="http://schemas.openxmlformats.org/officeDocument/2006/relationships/tags" Target="../tags/tag599.xml"/><Relationship Id="rId24" Type="http://schemas.openxmlformats.org/officeDocument/2006/relationships/image" Target="../media/image19.emf"/><Relationship Id="rId5" Type="http://schemas.openxmlformats.org/officeDocument/2006/relationships/tags" Target="../tags/tag593.xml"/><Relationship Id="rId15" Type="http://schemas.openxmlformats.org/officeDocument/2006/relationships/tags" Target="../tags/tag603.xml"/><Relationship Id="rId23" Type="http://schemas.openxmlformats.org/officeDocument/2006/relationships/oleObject" Target="../embeddings/oleObject54.bin"/><Relationship Id="rId10" Type="http://schemas.openxmlformats.org/officeDocument/2006/relationships/tags" Target="../tags/tag598.xml"/><Relationship Id="rId19" Type="http://schemas.openxmlformats.org/officeDocument/2006/relationships/tags" Target="../tags/tag607.xml"/><Relationship Id="rId4" Type="http://schemas.openxmlformats.org/officeDocument/2006/relationships/tags" Target="../tags/tag592.xml"/><Relationship Id="rId9" Type="http://schemas.openxmlformats.org/officeDocument/2006/relationships/tags" Target="../tags/tag597.xml"/><Relationship Id="rId14" Type="http://schemas.openxmlformats.org/officeDocument/2006/relationships/tags" Target="../tags/tag602.xml"/><Relationship Id="rId22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12.xml"/><Relationship Id="rId7" Type="http://schemas.openxmlformats.org/officeDocument/2006/relationships/image" Target="../media/image19.emf"/><Relationship Id="rId2" Type="http://schemas.openxmlformats.org/officeDocument/2006/relationships/tags" Target="../tags/tag611.xml"/><Relationship Id="rId1" Type="http://schemas.openxmlformats.org/officeDocument/2006/relationships/tags" Target="../tags/tag610.xml"/><Relationship Id="rId6" Type="http://schemas.openxmlformats.org/officeDocument/2006/relationships/oleObject" Target="../embeddings/oleObject55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616.xml"/><Relationship Id="rId7" Type="http://schemas.openxmlformats.org/officeDocument/2006/relationships/oleObject" Target="../embeddings/oleObject56.bin"/><Relationship Id="rId2" Type="http://schemas.openxmlformats.org/officeDocument/2006/relationships/tags" Target="../tags/tag615.xml"/><Relationship Id="rId1" Type="http://schemas.openxmlformats.org/officeDocument/2006/relationships/tags" Target="../tags/tag614.xml"/><Relationship Id="rId6" Type="http://schemas.openxmlformats.org/officeDocument/2006/relationships/slideLayout" Target="../slideLayouts/slideLayout15.xml"/><Relationship Id="rId11" Type="http://schemas.openxmlformats.org/officeDocument/2006/relationships/slide" Target="slide25.xml"/><Relationship Id="rId5" Type="http://schemas.openxmlformats.org/officeDocument/2006/relationships/tags" Target="../tags/tag618.xml"/><Relationship Id="rId10" Type="http://schemas.openxmlformats.org/officeDocument/2006/relationships/slide" Target="slide14.xml"/><Relationship Id="rId4" Type="http://schemas.openxmlformats.org/officeDocument/2006/relationships/tags" Target="../tags/tag617.xml"/><Relationship Id="rId9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20.xml"/><Relationship Id="rId1" Type="http://schemas.openxmlformats.org/officeDocument/2006/relationships/tags" Target="../tags/tag619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5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623.xml"/><Relationship Id="rId7" Type="http://schemas.openxmlformats.org/officeDocument/2006/relationships/oleObject" Target="../embeddings/oleObject58.bin"/><Relationship Id="rId2" Type="http://schemas.openxmlformats.org/officeDocument/2006/relationships/tags" Target="../tags/tag622.xml"/><Relationship Id="rId1" Type="http://schemas.openxmlformats.org/officeDocument/2006/relationships/tags" Target="../tags/tag62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625.xml"/><Relationship Id="rId4" Type="http://schemas.openxmlformats.org/officeDocument/2006/relationships/tags" Target="../tags/tag62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628.xml"/><Relationship Id="rId7" Type="http://schemas.openxmlformats.org/officeDocument/2006/relationships/oleObject" Target="../embeddings/oleObject59.bin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6" Type="http://schemas.openxmlformats.org/officeDocument/2006/relationships/slideLayout" Target="../slideLayouts/slideLayout15.xml"/><Relationship Id="rId11" Type="http://schemas.openxmlformats.org/officeDocument/2006/relationships/slide" Target="slide25.xml"/><Relationship Id="rId5" Type="http://schemas.openxmlformats.org/officeDocument/2006/relationships/tags" Target="../tags/tag630.xml"/><Relationship Id="rId10" Type="http://schemas.openxmlformats.org/officeDocument/2006/relationships/slide" Target="slide11.xml"/><Relationship Id="rId4" Type="http://schemas.openxmlformats.org/officeDocument/2006/relationships/tags" Target="../tags/tag629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38.xml"/><Relationship Id="rId13" Type="http://schemas.openxmlformats.org/officeDocument/2006/relationships/tags" Target="../tags/tag643.xml"/><Relationship Id="rId3" Type="http://schemas.openxmlformats.org/officeDocument/2006/relationships/tags" Target="../tags/tag633.xml"/><Relationship Id="rId7" Type="http://schemas.openxmlformats.org/officeDocument/2006/relationships/tags" Target="../tags/tag637.xml"/><Relationship Id="rId12" Type="http://schemas.openxmlformats.org/officeDocument/2006/relationships/tags" Target="../tags/tag642.xml"/><Relationship Id="rId17" Type="http://schemas.openxmlformats.org/officeDocument/2006/relationships/image" Target="../media/image19.emf"/><Relationship Id="rId2" Type="http://schemas.openxmlformats.org/officeDocument/2006/relationships/tags" Target="../tags/tag632.xml"/><Relationship Id="rId16" Type="http://schemas.openxmlformats.org/officeDocument/2006/relationships/oleObject" Target="../embeddings/oleObject60.bin"/><Relationship Id="rId1" Type="http://schemas.openxmlformats.org/officeDocument/2006/relationships/tags" Target="../tags/tag631.xml"/><Relationship Id="rId6" Type="http://schemas.openxmlformats.org/officeDocument/2006/relationships/tags" Target="../tags/tag636.xml"/><Relationship Id="rId11" Type="http://schemas.openxmlformats.org/officeDocument/2006/relationships/tags" Target="../tags/tag641.xml"/><Relationship Id="rId5" Type="http://schemas.openxmlformats.org/officeDocument/2006/relationships/tags" Target="../tags/tag635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640.xml"/><Relationship Id="rId4" Type="http://schemas.openxmlformats.org/officeDocument/2006/relationships/tags" Target="../tags/tag634.xml"/><Relationship Id="rId9" Type="http://schemas.openxmlformats.org/officeDocument/2006/relationships/tags" Target="../tags/tag639.xml"/><Relationship Id="rId14" Type="http://schemas.openxmlformats.org/officeDocument/2006/relationships/tags" Target="../tags/tag64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tags" Target="../tags/tag647.xml"/><Relationship Id="rId7" Type="http://schemas.openxmlformats.org/officeDocument/2006/relationships/image" Target="../media/image19.emf"/><Relationship Id="rId2" Type="http://schemas.openxmlformats.org/officeDocument/2006/relationships/tags" Target="../tags/tag646.xml"/><Relationship Id="rId1" Type="http://schemas.openxmlformats.org/officeDocument/2006/relationships/tags" Target="../tags/tag645.xml"/><Relationship Id="rId6" Type="http://schemas.openxmlformats.org/officeDocument/2006/relationships/oleObject" Target="../embeddings/oleObject61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48.xml"/><Relationship Id="rId9" Type="http://schemas.openxmlformats.org/officeDocument/2006/relationships/image" Target="../media/image77.sv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661.xml"/><Relationship Id="rId18" Type="http://schemas.openxmlformats.org/officeDocument/2006/relationships/tags" Target="../tags/tag666.xml"/><Relationship Id="rId26" Type="http://schemas.openxmlformats.org/officeDocument/2006/relationships/tags" Target="../tags/tag674.xml"/><Relationship Id="rId39" Type="http://schemas.openxmlformats.org/officeDocument/2006/relationships/image" Target="../media/image75.svg"/><Relationship Id="rId21" Type="http://schemas.openxmlformats.org/officeDocument/2006/relationships/tags" Target="../tags/tag669.xml"/><Relationship Id="rId34" Type="http://schemas.openxmlformats.org/officeDocument/2006/relationships/tags" Target="../tags/tag682.xml"/><Relationship Id="rId7" Type="http://schemas.openxmlformats.org/officeDocument/2006/relationships/tags" Target="../tags/tag655.xml"/><Relationship Id="rId12" Type="http://schemas.openxmlformats.org/officeDocument/2006/relationships/tags" Target="../tags/tag660.xml"/><Relationship Id="rId17" Type="http://schemas.openxmlformats.org/officeDocument/2006/relationships/tags" Target="../tags/tag665.xml"/><Relationship Id="rId25" Type="http://schemas.openxmlformats.org/officeDocument/2006/relationships/tags" Target="../tags/tag673.xml"/><Relationship Id="rId33" Type="http://schemas.openxmlformats.org/officeDocument/2006/relationships/tags" Target="../tags/tag681.xml"/><Relationship Id="rId38" Type="http://schemas.openxmlformats.org/officeDocument/2006/relationships/image" Target="../media/image74.png"/><Relationship Id="rId2" Type="http://schemas.openxmlformats.org/officeDocument/2006/relationships/tags" Target="../tags/tag650.xml"/><Relationship Id="rId16" Type="http://schemas.openxmlformats.org/officeDocument/2006/relationships/tags" Target="../tags/tag664.xml"/><Relationship Id="rId20" Type="http://schemas.openxmlformats.org/officeDocument/2006/relationships/tags" Target="../tags/tag668.xml"/><Relationship Id="rId29" Type="http://schemas.openxmlformats.org/officeDocument/2006/relationships/tags" Target="../tags/tag677.xml"/><Relationship Id="rId1" Type="http://schemas.openxmlformats.org/officeDocument/2006/relationships/tags" Target="../tags/tag649.xml"/><Relationship Id="rId6" Type="http://schemas.openxmlformats.org/officeDocument/2006/relationships/tags" Target="../tags/tag654.xml"/><Relationship Id="rId11" Type="http://schemas.openxmlformats.org/officeDocument/2006/relationships/tags" Target="../tags/tag659.xml"/><Relationship Id="rId24" Type="http://schemas.openxmlformats.org/officeDocument/2006/relationships/tags" Target="../tags/tag672.xml"/><Relationship Id="rId32" Type="http://schemas.openxmlformats.org/officeDocument/2006/relationships/tags" Target="../tags/tag680.xml"/><Relationship Id="rId37" Type="http://schemas.openxmlformats.org/officeDocument/2006/relationships/image" Target="../media/image19.emf"/><Relationship Id="rId5" Type="http://schemas.openxmlformats.org/officeDocument/2006/relationships/tags" Target="../tags/tag653.xml"/><Relationship Id="rId15" Type="http://schemas.openxmlformats.org/officeDocument/2006/relationships/tags" Target="../tags/tag663.xml"/><Relationship Id="rId23" Type="http://schemas.openxmlformats.org/officeDocument/2006/relationships/tags" Target="../tags/tag671.xml"/><Relationship Id="rId28" Type="http://schemas.openxmlformats.org/officeDocument/2006/relationships/tags" Target="../tags/tag676.xml"/><Relationship Id="rId36" Type="http://schemas.openxmlformats.org/officeDocument/2006/relationships/oleObject" Target="../embeddings/oleObject62.bin"/><Relationship Id="rId10" Type="http://schemas.openxmlformats.org/officeDocument/2006/relationships/tags" Target="../tags/tag658.xml"/><Relationship Id="rId19" Type="http://schemas.openxmlformats.org/officeDocument/2006/relationships/tags" Target="../tags/tag667.xml"/><Relationship Id="rId31" Type="http://schemas.openxmlformats.org/officeDocument/2006/relationships/tags" Target="../tags/tag679.xml"/><Relationship Id="rId4" Type="http://schemas.openxmlformats.org/officeDocument/2006/relationships/tags" Target="../tags/tag652.xml"/><Relationship Id="rId9" Type="http://schemas.openxmlformats.org/officeDocument/2006/relationships/tags" Target="../tags/tag657.xml"/><Relationship Id="rId14" Type="http://schemas.openxmlformats.org/officeDocument/2006/relationships/tags" Target="../tags/tag662.xml"/><Relationship Id="rId22" Type="http://schemas.openxmlformats.org/officeDocument/2006/relationships/tags" Target="../tags/tag670.xml"/><Relationship Id="rId27" Type="http://schemas.openxmlformats.org/officeDocument/2006/relationships/tags" Target="../tags/tag675.xml"/><Relationship Id="rId30" Type="http://schemas.openxmlformats.org/officeDocument/2006/relationships/tags" Target="../tags/tag678.xml"/><Relationship Id="rId35" Type="http://schemas.openxmlformats.org/officeDocument/2006/relationships/slideLayout" Target="../slideLayouts/slideLayout5.xml"/><Relationship Id="rId8" Type="http://schemas.openxmlformats.org/officeDocument/2006/relationships/tags" Target="../tags/tag656.xml"/><Relationship Id="rId3" Type="http://schemas.openxmlformats.org/officeDocument/2006/relationships/tags" Target="../tags/tag65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90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685.xml"/><Relationship Id="rId7" Type="http://schemas.openxmlformats.org/officeDocument/2006/relationships/tags" Target="../tags/tag689.xml"/><Relationship Id="rId12" Type="http://schemas.openxmlformats.org/officeDocument/2006/relationships/tags" Target="../tags/tag694.xml"/><Relationship Id="rId2" Type="http://schemas.openxmlformats.org/officeDocument/2006/relationships/tags" Target="../tags/tag684.xml"/><Relationship Id="rId1" Type="http://schemas.openxmlformats.org/officeDocument/2006/relationships/tags" Target="../tags/tag683.xml"/><Relationship Id="rId6" Type="http://schemas.openxmlformats.org/officeDocument/2006/relationships/tags" Target="../tags/tag688.xml"/><Relationship Id="rId11" Type="http://schemas.openxmlformats.org/officeDocument/2006/relationships/tags" Target="../tags/tag693.xml"/><Relationship Id="rId5" Type="http://schemas.openxmlformats.org/officeDocument/2006/relationships/tags" Target="../tags/tag687.xml"/><Relationship Id="rId15" Type="http://schemas.openxmlformats.org/officeDocument/2006/relationships/image" Target="../media/image19.emf"/><Relationship Id="rId10" Type="http://schemas.openxmlformats.org/officeDocument/2006/relationships/tags" Target="../tags/tag692.xml"/><Relationship Id="rId4" Type="http://schemas.openxmlformats.org/officeDocument/2006/relationships/tags" Target="../tags/tag686.xml"/><Relationship Id="rId9" Type="http://schemas.openxmlformats.org/officeDocument/2006/relationships/tags" Target="../tags/tag691.xml"/><Relationship Id="rId14" Type="http://schemas.openxmlformats.org/officeDocument/2006/relationships/oleObject" Target="../embeddings/oleObject6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" Type="http://schemas.openxmlformats.org/officeDocument/2006/relationships/tags" Target="../tags/tag695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64.bin"/><Relationship Id="rId4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05.xml"/><Relationship Id="rId13" Type="http://schemas.openxmlformats.org/officeDocument/2006/relationships/tags" Target="../tags/tag710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700.xml"/><Relationship Id="rId21" Type="http://schemas.openxmlformats.org/officeDocument/2006/relationships/image" Target="../media/image78.png"/><Relationship Id="rId7" Type="http://schemas.openxmlformats.org/officeDocument/2006/relationships/tags" Target="../tags/tag704.xml"/><Relationship Id="rId12" Type="http://schemas.openxmlformats.org/officeDocument/2006/relationships/tags" Target="../tags/tag709.xml"/><Relationship Id="rId17" Type="http://schemas.openxmlformats.org/officeDocument/2006/relationships/tags" Target="../tags/tag714.xml"/><Relationship Id="rId2" Type="http://schemas.openxmlformats.org/officeDocument/2006/relationships/tags" Target="../tags/tag699.xml"/><Relationship Id="rId16" Type="http://schemas.openxmlformats.org/officeDocument/2006/relationships/tags" Target="../tags/tag713.xml"/><Relationship Id="rId20" Type="http://schemas.openxmlformats.org/officeDocument/2006/relationships/image" Target="../media/image19.emf"/><Relationship Id="rId1" Type="http://schemas.openxmlformats.org/officeDocument/2006/relationships/tags" Target="../tags/tag698.xml"/><Relationship Id="rId6" Type="http://schemas.openxmlformats.org/officeDocument/2006/relationships/tags" Target="../tags/tag703.xml"/><Relationship Id="rId11" Type="http://schemas.openxmlformats.org/officeDocument/2006/relationships/tags" Target="../tags/tag708.xml"/><Relationship Id="rId5" Type="http://schemas.openxmlformats.org/officeDocument/2006/relationships/tags" Target="../tags/tag702.xml"/><Relationship Id="rId15" Type="http://schemas.openxmlformats.org/officeDocument/2006/relationships/tags" Target="../tags/tag712.xml"/><Relationship Id="rId10" Type="http://schemas.openxmlformats.org/officeDocument/2006/relationships/tags" Target="../tags/tag707.xml"/><Relationship Id="rId19" Type="http://schemas.openxmlformats.org/officeDocument/2006/relationships/oleObject" Target="../embeddings/oleObject65.bin"/><Relationship Id="rId4" Type="http://schemas.openxmlformats.org/officeDocument/2006/relationships/tags" Target="../tags/tag701.xml"/><Relationship Id="rId9" Type="http://schemas.openxmlformats.org/officeDocument/2006/relationships/tags" Target="../tags/tag706.xml"/><Relationship Id="rId14" Type="http://schemas.openxmlformats.org/officeDocument/2006/relationships/tags" Target="../tags/tag711.xml"/><Relationship Id="rId22" Type="http://schemas.openxmlformats.org/officeDocument/2006/relationships/image" Target="../media/image7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3.svg"/><Relationship Id="rId3" Type="http://schemas.openxmlformats.org/officeDocument/2006/relationships/tags" Target="../tags/tag717.xml"/><Relationship Id="rId7" Type="http://schemas.openxmlformats.org/officeDocument/2006/relationships/slideLayout" Target="../slideLayouts/slideLayout5.xml"/><Relationship Id="rId12" Type="http://schemas.openxmlformats.org/officeDocument/2006/relationships/image" Target="../media/image82.png"/><Relationship Id="rId2" Type="http://schemas.openxmlformats.org/officeDocument/2006/relationships/tags" Target="../tags/tag716.xml"/><Relationship Id="rId1" Type="http://schemas.openxmlformats.org/officeDocument/2006/relationships/tags" Target="../tags/tag715.xml"/><Relationship Id="rId6" Type="http://schemas.openxmlformats.org/officeDocument/2006/relationships/tags" Target="../tags/tag720.xml"/><Relationship Id="rId11" Type="http://schemas.openxmlformats.org/officeDocument/2006/relationships/image" Target="../media/image81.svg"/><Relationship Id="rId5" Type="http://schemas.openxmlformats.org/officeDocument/2006/relationships/tags" Target="../tags/tag719.xml"/><Relationship Id="rId15" Type="http://schemas.openxmlformats.org/officeDocument/2006/relationships/image" Target="../media/image85.svg"/><Relationship Id="rId10" Type="http://schemas.openxmlformats.org/officeDocument/2006/relationships/image" Target="../media/image80.png"/><Relationship Id="rId4" Type="http://schemas.openxmlformats.org/officeDocument/2006/relationships/tags" Target="../tags/tag718.xml"/><Relationship Id="rId9" Type="http://schemas.openxmlformats.org/officeDocument/2006/relationships/image" Target="../media/image19.emf"/><Relationship Id="rId14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tags" Target="../tags/tag746.xml"/><Relationship Id="rId21" Type="http://schemas.openxmlformats.org/officeDocument/2006/relationships/tags" Target="../tags/tag741.xml"/><Relationship Id="rId34" Type="http://schemas.openxmlformats.org/officeDocument/2006/relationships/tags" Target="../tags/tag754.xml"/><Relationship Id="rId42" Type="http://schemas.openxmlformats.org/officeDocument/2006/relationships/tags" Target="../tags/tag762.xml"/><Relationship Id="rId47" Type="http://schemas.openxmlformats.org/officeDocument/2006/relationships/tags" Target="../tags/tag767.xml"/><Relationship Id="rId50" Type="http://schemas.openxmlformats.org/officeDocument/2006/relationships/tags" Target="../tags/tag770.xml"/><Relationship Id="rId55" Type="http://schemas.openxmlformats.org/officeDocument/2006/relationships/tags" Target="../tags/tag775.xml"/><Relationship Id="rId63" Type="http://schemas.openxmlformats.org/officeDocument/2006/relationships/tags" Target="../tags/tag783.xml"/><Relationship Id="rId68" Type="http://schemas.openxmlformats.org/officeDocument/2006/relationships/image" Target="../media/image75.svg"/><Relationship Id="rId7" Type="http://schemas.openxmlformats.org/officeDocument/2006/relationships/tags" Target="../tags/tag727.xml"/><Relationship Id="rId2" Type="http://schemas.openxmlformats.org/officeDocument/2006/relationships/tags" Target="../tags/tag722.xml"/><Relationship Id="rId16" Type="http://schemas.openxmlformats.org/officeDocument/2006/relationships/tags" Target="../tags/tag736.xml"/><Relationship Id="rId29" Type="http://schemas.openxmlformats.org/officeDocument/2006/relationships/tags" Target="../tags/tag749.xml"/><Relationship Id="rId11" Type="http://schemas.openxmlformats.org/officeDocument/2006/relationships/tags" Target="../tags/tag731.xml"/><Relationship Id="rId24" Type="http://schemas.openxmlformats.org/officeDocument/2006/relationships/tags" Target="../tags/tag744.xml"/><Relationship Id="rId32" Type="http://schemas.openxmlformats.org/officeDocument/2006/relationships/tags" Target="../tags/tag752.xml"/><Relationship Id="rId37" Type="http://schemas.openxmlformats.org/officeDocument/2006/relationships/tags" Target="../tags/tag757.xml"/><Relationship Id="rId40" Type="http://schemas.openxmlformats.org/officeDocument/2006/relationships/tags" Target="../tags/tag760.xml"/><Relationship Id="rId45" Type="http://schemas.openxmlformats.org/officeDocument/2006/relationships/tags" Target="../tags/tag765.xml"/><Relationship Id="rId53" Type="http://schemas.openxmlformats.org/officeDocument/2006/relationships/tags" Target="../tags/tag773.xml"/><Relationship Id="rId58" Type="http://schemas.openxmlformats.org/officeDocument/2006/relationships/tags" Target="../tags/tag778.xml"/><Relationship Id="rId66" Type="http://schemas.openxmlformats.org/officeDocument/2006/relationships/image" Target="../media/image19.emf"/><Relationship Id="rId5" Type="http://schemas.openxmlformats.org/officeDocument/2006/relationships/tags" Target="../tags/tag725.xml"/><Relationship Id="rId61" Type="http://schemas.openxmlformats.org/officeDocument/2006/relationships/tags" Target="../tags/tag781.xml"/><Relationship Id="rId19" Type="http://schemas.openxmlformats.org/officeDocument/2006/relationships/tags" Target="../tags/tag739.xml"/><Relationship Id="rId14" Type="http://schemas.openxmlformats.org/officeDocument/2006/relationships/tags" Target="../tags/tag734.xml"/><Relationship Id="rId22" Type="http://schemas.openxmlformats.org/officeDocument/2006/relationships/tags" Target="../tags/tag742.xml"/><Relationship Id="rId27" Type="http://schemas.openxmlformats.org/officeDocument/2006/relationships/tags" Target="../tags/tag747.xml"/><Relationship Id="rId30" Type="http://schemas.openxmlformats.org/officeDocument/2006/relationships/tags" Target="../tags/tag750.xml"/><Relationship Id="rId35" Type="http://schemas.openxmlformats.org/officeDocument/2006/relationships/tags" Target="../tags/tag755.xml"/><Relationship Id="rId43" Type="http://schemas.openxmlformats.org/officeDocument/2006/relationships/tags" Target="../tags/tag763.xml"/><Relationship Id="rId48" Type="http://schemas.openxmlformats.org/officeDocument/2006/relationships/tags" Target="../tags/tag768.xml"/><Relationship Id="rId56" Type="http://schemas.openxmlformats.org/officeDocument/2006/relationships/tags" Target="../tags/tag776.xml"/><Relationship Id="rId64" Type="http://schemas.openxmlformats.org/officeDocument/2006/relationships/slideLayout" Target="../slideLayouts/slideLayout5.xml"/><Relationship Id="rId8" Type="http://schemas.openxmlformats.org/officeDocument/2006/relationships/tags" Target="../tags/tag728.xml"/><Relationship Id="rId51" Type="http://schemas.openxmlformats.org/officeDocument/2006/relationships/tags" Target="../tags/tag771.xml"/><Relationship Id="rId3" Type="http://schemas.openxmlformats.org/officeDocument/2006/relationships/tags" Target="../tags/tag723.xml"/><Relationship Id="rId12" Type="http://schemas.openxmlformats.org/officeDocument/2006/relationships/tags" Target="../tags/tag732.xml"/><Relationship Id="rId17" Type="http://schemas.openxmlformats.org/officeDocument/2006/relationships/tags" Target="../tags/tag737.xml"/><Relationship Id="rId25" Type="http://schemas.openxmlformats.org/officeDocument/2006/relationships/tags" Target="../tags/tag745.xml"/><Relationship Id="rId33" Type="http://schemas.openxmlformats.org/officeDocument/2006/relationships/tags" Target="../tags/tag753.xml"/><Relationship Id="rId38" Type="http://schemas.openxmlformats.org/officeDocument/2006/relationships/tags" Target="../tags/tag758.xml"/><Relationship Id="rId46" Type="http://schemas.openxmlformats.org/officeDocument/2006/relationships/tags" Target="../tags/tag766.xml"/><Relationship Id="rId59" Type="http://schemas.openxmlformats.org/officeDocument/2006/relationships/tags" Target="../tags/tag779.xml"/><Relationship Id="rId67" Type="http://schemas.openxmlformats.org/officeDocument/2006/relationships/image" Target="../media/image74.png"/><Relationship Id="rId20" Type="http://schemas.openxmlformats.org/officeDocument/2006/relationships/tags" Target="../tags/tag740.xml"/><Relationship Id="rId41" Type="http://schemas.openxmlformats.org/officeDocument/2006/relationships/tags" Target="../tags/tag761.xml"/><Relationship Id="rId54" Type="http://schemas.openxmlformats.org/officeDocument/2006/relationships/tags" Target="../tags/tag774.xml"/><Relationship Id="rId62" Type="http://schemas.openxmlformats.org/officeDocument/2006/relationships/tags" Target="../tags/tag782.xml"/><Relationship Id="rId1" Type="http://schemas.openxmlformats.org/officeDocument/2006/relationships/tags" Target="../tags/tag721.xml"/><Relationship Id="rId6" Type="http://schemas.openxmlformats.org/officeDocument/2006/relationships/tags" Target="../tags/tag726.xml"/><Relationship Id="rId15" Type="http://schemas.openxmlformats.org/officeDocument/2006/relationships/tags" Target="../tags/tag735.xml"/><Relationship Id="rId23" Type="http://schemas.openxmlformats.org/officeDocument/2006/relationships/tags" Target="../tags/tag743.xml"/><Relationship Id="rId28" Type="http://schemas.openxmlformats.org/officeDocument/2006/relationships/tags" Target="../tags/tag748.xml"/><Relationship Id="rId36" Type="http://schemas.openxmlformats.org/officeDocument/2006/relationships/tags" Target="../tags/tag756.xml"/><Relationship Id="rId49" Type="http://schemas.openxmlformats.org/officeDocument/2006/relationships/tags" Target="../tags/tag769.xml"/><Relationship Id="rId57" Type="http://schemas.openxmlformats.org/officeDocument/2006/relationships/tags" Target="../tags/tag777.xml"/><Relationship Id="rId10" Type="http://schemas.openxmlformats.org/officeDocument/2006/relationships/tags" Target="../tags/tag730.xml"/><Relationship Id="rId31" Type="http://schemas.openxmlformats.org/officeDocument/2006/relationships/tags" Target="../tags/tag751.xml"/><Relationship Id="rId44" Type="http://schemas.openxmlformats.org/officeDocument/2006/relationships/tags" Target="../tags/tag764.xml"/><Relationship Id="rId52" Type="http://schemas.openxmlformats.org/officeDocument/2006/relationships/tags" Target="../tags/tag772.xml"/><Relationship Id="rId60" Type="http://schemas.openxmlformats.org/officeDocument/2006/relationships/tags" Target="../tags/tag780.xml"/><Relationship Id="rId65" Type="http://schemas.openxmlformats.org/officeDocument/2006/relationships/oleObject" Target="../embeddings/oleObject67.bin"/><Relationship Id="rId4" Type="http://schemas.openxmlformats.org/officeDocument/2006/relationships/tags" Target="../tags/tag724.xml"/><Relationship Id="rId9" Type="http://schemas.openxmlformats.org/officeDocument/2006/relationships/tags" Target="../tags/tag729.xml"/><Relationship Id="rId13" Type="http://schemas.openxmlformats.org/officeDocument/2006/relationships/tags" Target="../tags/tag733.xml"/><Relationship Id="rId18" Type="http://schemas.openxmlformats.org/officeDocument/2006/relationships/tags" Target="../tags/tag738.xml"/><Relationship Id="rId39" Type="http://schemas.openxmlformats.org/officeDocument/2006/relationships/tags" Target="../tags/tag75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796.xml"/><Relationship Id="rId18" Type="http://schemas.openxmlformats.org/officeDocument/2006/relationships/tags" Target="../tags/tag801.xml"/><Relationship Id="rId26" Type="http://schemas.openxmlformats.org/officeDocument/2006/relationships/tags" Target="../tags/tag809.xml"/><Relationship Id="rId39" Type="http://schemas.openxmlformats.org/officeDocument/2006/relationships/tags" Target="../tags/tag822.xml"/><Relationship Id="rId21" Type="http://schemas.openxmlformats.org/officeDocument/2006/relationships/tags" Target="../tags/tag804.xml"/><Relationship Id="rId34" Type="http://schemas.openxmlformats.org/officeDocument/2006/relationships/tags" Target="../tags/tag817.xml"/><Relationship Id="rId42" Type="http://schemas.openxmlformats.org/officeDocument/2006/relationships/tags" Target="../tags/tag825.xml"/><Relationship Id="rId47" Type="http://schemas.openxmlformats.org/officeDocument/2006/relationships/tags" Target="../tags/tag830.xml"/><Relationship Id="rId50" Type="http://schemas.openxmlformats.org/officeDocument/2006/relationships/tags" Target="../tags/tag833.xml"/><Relationship Id="rId55" Type="http://schemas.openxmlformats.org/officeDocument/2006/relationships/image" Target="../media/image75.svg"/><Relationship Id="rId7" Type="http://schemas.openxmlformats.org/officeDocument/2006/relationships/tags" Target="../tags/tag790.xml"/><Relationship Id="rId2" Type="http://schemas.openxmlformats.org/officeDocument/2006/relationships/tags" Target="../tags/tag785.xml"/><Relationship Id="rId16" Type="http://schemas.openxmlformats.org/officeDocument/2006/relationships/tags" Target="../tags/tag799.xml"/><Relationship Id="rId29" Type="http://schemas.openxmlformats.org/officeDocument/2006/relationships/tags" Target="../tags/tag812.xml"/><Relationship Id="rId11" Type="http://schemas.openxmlformats.org/officeDocument/2006/relationships/tags" Target="../tags/tag794.xml"/><Relationship Id="rId24" Type="http://schemas.openxmlformats.org/officeDocument/2006/relationships/tags" Target="../tags/tag807.xml"/><Relationship Id="rId32" Type="http://schemas.openxmlformats.org/officeDocument/2006/relationships/tags" Target="../tags/tag815.xml"/><Relationship Id="rId37" Type="http://schemas.openxmlformats.org/officeDocument/2006/relationships/tags" Target="../tags/tag820.xml"/><Relationship Id="rId40" Type="http://schemas.openxmlformats.org/officeDocument/2006/relationships/tags" Target="../tags/tag823.xml"/><Relationship Id="rId45" Type="http://schemas.openxmlformats.org/officeDocument/2006/relationships/tags" Target="../tags/tag828.xml"/><Relationship Id="rId53" Type="http://schemas.openxmlformats.org/officeDocument/2006/relationships/image" Target="../media/image19.emf"/><Relationship Id="rId5" Type="http://schemas.openxmlformats.org/officeDocument/2006/relationships/tags" Target="../tags/tag788.xml"/><Relationship Id="rId10" Type="http://schemas.openxmlformats.org/officeDocument/2006/relationships/tags" Target="../tags/tag793.xml"/><Relationship Id="rId19" Type="http://schemas.openxmlformats.org/officeDocument/2006/relationships/tags" Target="../tags/tag802.xml"/><Relationship Id="rId31" Type="http://schemas.openxmlformats.org/officeDocument/2006/relationships/tags" Target="../tags/tag814.xml"/><Relationship Id="rId44" Type="http://schemas.openxmlformats.org/officeDocument/2006/relationships/tags" Target="../tags/tag827.xml"/><Relationship Id="rId52" Type="http://schemas.openxmlformats.org/officeDocument/2006/relationships/oleObject" Target="../embeddings/oleObject68.bin"/><Relationship Id="rId4" Type="http://schemas.openxmlformats.org/officeDocument/2006/relationships/tags" Target="../tags/tag787.xml"/><Relationship Id="rId9" Type="http://schemas.openxmlformats.org/officeDocument/2006/relationships/tags" Target="../tags/tag792.xml"/><Relationship Id="rId14" Type="http://schemas.openxmlformats.org/officeDocument/2006/relationships/tags" Target="../tags/tag797.xml"/><Relationship Id="rId22" Type="http://schemas.openxmlformats.org/officeDocument/2006/relationships/tags" Target="../tags/tag805.xml"/><Relationship Id="rId27" Type="http://schemas.openxmlformats.org/officeDocument/2006/relationships/tags" Target="../tags/tag810.xml"/><Relationship Id="rId30" Type="http://schemas.openxmlformats.org/officeDocument/2006/relationships/tags" Target="../tags/tag813.xml"/><Relationship Id="rId35" Type="http://schemas.openxmlformats.org/officeDocument/2006/relationships/tags" Target="../tags/tag818.xml"/><Relationship Id="rId43" Type="http://schemas.openxmlformats.org/officeDocument/2006/relationships/tags" Target="../tags/tag826.xml"/><Relationship Id="rId48" Type="http://schemas.openxmlformats.org/officeDocument/2006/relationships/tags" Target="../tags/tag831.xml"/><Relationship Id="rId8" Type="http://schemas.openxmlformats.org/officeDocument/2006/relationships/tags" Target="../tags/tag791.xml"/><Relationship Id="rId51" Type="http://schemas.openxmlformats.org/officeDocument/2006/relationships/slideLayout" Target="../slideLayouts/slideLayout5.xml"/><Relationship Id="rId3" Type="http://schemas.openxmlformats.org/officeDocument/2006/relationships/tags" Target="../tags/tag786.xml"/><Relationship Id="rId12" Type="http://schemas.openxmlformats.org/officeDocument/2006/relationships/tags" Target="../tags/tag795.xml"/><Relationship Id="rId17" Type="http://schemas.openxmlformats.org/officeDocument/2006/relationships/tags" Target="../tags/tag800.xml"/><Relationship Id="rId25" Type="http://schemas.openxmlformats.org/officeDocument/2006/relationships/tags" Target="../tags/tag808.xml"/><Relationship Id="rId33" Type="http://schemas.openxmlformats.org/officeDocument/2006/relationships/tags" Target="../tags/tag816.xml"/><Relationship Id="rId38" Type="http://schemas.openxmlformats.org/officeDocument/2006/relationships/tags" Target="../tags/tag821.xml"/><Relationship Id="rId46" Type="http://schemas.openxmlformats.org/officeDocument/2006/relationships/tags" Target="../tags/tag829.xml"/><Relationship Id="rId20" Type="http://schemas.openxmlformats.org/officeDocument/2006/relationships/tags" Target="../tags/tag803.xml"/><Relationship Id="rId41" Type="http://schemas.openxmlformats.org/officeDocument/2006/relationships/tags" Target="../tags/tag824.xml"/><Relationship Id="rId54" Type="http://schemas.openxmlformats.org/officeDocument/2006/relationships/image" Target="../media/image74.png"/><Relationship Id="rId1" Type="http://schemas.openxmlformats.org/officeDocument/2006/relationships/tags" Target="../tags/tag784.xml"/><Relationship Id="rId6" Type="http://schemas.openxmlformats.org/officeDocument/2006/relationships/tags" Target="../tags/tag789.xml"/><Relationship Id="rId15" Type="http://schemas.openxmlformats.org/officeDocument/2006/relationships/tags" Target="../tags/tag798.xml"/><Relationship Id="rId23" Type="http://schemas.openxmlformats.org/officeDocument/2006/relationships/tags" Target="../tags/tag806.xml"/><Relationship Id="rId28" Type="http://schemas.openxmlformats.org/officeDocument/2006/relationships/tags" Target="../tags/tag811.xml"/><Relationship Id="rId36" Type="http://schemas.openxmlformats.org/officeDocument/2006/relationships/tags" Target="../tags/tag819.xml"/><Relationship Id="rId49" Type="http://schemas.openxmlformats.org/officeDocument/2006/relationships/tags" Target="../tags/tag8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41.xml"/><Relationship Id="rId13" Type="http://schemas.openxmlformats.org/officeDocument/2006/relationships/tags" Target="../tags/tag846.xml"/><Relationship Id="rId18" Type="http://schemas.openxmlformats.org/officeDocument/2006/relationships/tags" Target="../tags/tag851.xml"/><Relationship Id="rId26" Type="http://schemas.openxmlformats.org/officeDocument/2006/relationships/image" Target="../media/image19.emf"/><Relationship Id="rId3" Type="http://schemas.openxmlformats.org/officeDocument/2006/relationships/tags" Target="../tags/tag836.xml"/><Relationship Id="rId21" Type="http://schemas.openxmlformats.org/officeDocument/2006/relationships/tags" Target="../tags/tag854.xml"/><Relationship Id="rId7" Type="http://schemas.openxmlformats.org/officeDocument/2006/relationships/tags" Target="../tags/tag840.xml"/><Relationship Id="rId12" Type="http://schemas.openxmlformats.org/officeDocument/2006/relationships/tags" Target="../tags/tag845.xml"/><Relationship Id="rId17" Type="http://schemas.openxmlformats.org/officeDocument/2006/relationships/tags" Target="../tags/tag850.xml"/><Relationship Id="rId25" Type="http://schemas.openxmlformats.org/officeDocument/2006/relationships/oleObject" Target="../embeddings/oleObject69.bin"/><Relationship Id="rId2" Type="http://schemas.openxmlformats.org/officeDocument/2006/relationships/tags" Target="../tags/tag835.xml"/><Relationship Id="rId16" Type="http://schemas.openxmlformats.org/officeDocument/2006/relationships/tags" Target="../tags/tag849.xml"/><Relationship Id="rId20" Type="http://schemas.openxmlformats.org/officeDocument/2006/relationships/tags" Target="../tags/tag853.xml"/><Relationship Id="rId1" Type="http://schemas.openxmlformats.org/officeDocument/2006/relationships/tags" Target="../tags/tag834.xml"/><Relationship Id="rId6" Type="http://schemas.openxmlformats.org/officeDocument/2006/relationships/tags" Target="../tags/tag839.xml"/><Relationship Id="rId11" Type="http://schemas.openxmlformats.org/officeDocument/2006/relationships/tags" Target="../tags/tag844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838.xml"/><Relationship Id="rId15" Type="http://schemas.openxmlformats.org/officeDocument/2006/relationships/tags" Target="../tags/tag848.xml"/><Relationship Id="rId23" Type="http://schemas.openxmlformats.org/officeDocument/2006/relationships/tags" Target="../tags/tag856.xml"/><Relationship Id="rId28" Type="http://schemas.openxmlformats.org/officeDocument/2006/relationships/image" Target="../media/image75.svg"/><Relationship Id="rId10" Type="http://schemas.openxmlformats.org/officeDocument/2006/relationships/tags" Target="../tags/tag843.xml"/><Relationship Id="rId19" Type="http://schemas.openxmlformats.org/officeDocument/2006/relationships/tags" Target="../tags/tag852.xml"/><Relationship Id="rId4" Type="http://schemas.openxmlformats.org/officeDocument/2006/relationships/tags" Target="../tags/tag837.xml"/><Relationship Id="rId9" Type="http://schemas.openxmlformats.org/officeDocument/2006/relationships/tags" Target="../tags/tag842.xml"/><Relationship Id="rId14" Type="http://schemas.openxmlformats.org/officeDocument/2006/relationships/tags" Target="../tags/tag847.xml"/><Relationship Id="rId22" Type="http://schemas.openxmlformats.org/officeDocument/2006/relationships/tags" Target="../tags/tag855.xml"/><Relationship Id="rId27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tags" Target="../tags/tag859.xml"/><Relationship Id="rId7" Type="http://schemas.openxmlformats.org/officeDocument/2006/relationships/oleObject" Target="../embeddings/oleObject70.bin"/><Relationship Id="rId2" Type="http://schemas.openxmlformats.org/officeDocument/2006/relationships/tags" Target="../tags/tag858.xml"/><Relationship Id="rId1" Type="http://schemas.openxmlformats.org/officeDocument/2006/relationships/tags" Target="../tags/tag857.xml"/><Relationship Id="rId6" Type="http://schemas.openxmlformats.org/officeDocument/2006/relationships/slideLayout" Target="../slideLayouts/slideLayout15.xml"/><Relationship Id="rId11" Type="http://schemas.openxmlformats.org/officeDocument/2006/relationships/slide" Target="slide14.xml"/><Relationship Id="rId5" Type="http://schemas.openxmlformats.org/officeDocument/2006/relationships/tags" Target="../tags/tag861.xml"/><Relationship Id="rId10" Type="http://schemas.openxmlformats.org/officeDocument/2006/relationships/slide" Target="slide11.xml"/><Relationship Id="rId4" Type="http://schemas.openxmlformats.org/officeDocument/2006/relationships/tags" Target="../tags/tag860.xml"/><Relationship Id="rId9" Type="http://schemas.openxmlformats.org/officeDocument/2006/relationships/slide" Target="slide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874.xml"/><Relationship Id="rId18" Type="http://schemas.openxmlformats.org/officeDocument/2006/relationships/tags" Target="../tags/tag879.xml"/><Relationship Id="rId26" Type="http://schemas.openxmlformats.org/officeDocument/2006/relationships/tags" Target="../tags/tag887.xml"/><Relationship Id="rId3" Type="http://schemas.openxmlformats.org/officeDocument/2006/relationships/tags" Target="../tags/tag864.xml"/><Relationship Id="rId21" Type="http://schemas.openxmlformats.org/officeDocument/2006/relationships/tags" Target="../tags/tag882.xml"/><Relationship Id="rId34" Type="http://schemas.openxmlformats.org/officeDocument/2006/relationships/chart" Target="../charts/chart2.xml"/><Relationship Id="rId7" Type="http://schemas.openxmlformats.org/officeDocument/2006/relationships/tags" Target="../tags/tag868.xml"/><Relationship Id="rId12" Type="http://schemas.openxmlformats.org/officeDocument/2006/relationships/tags" Target="../tags/tag873.xml"/><Relationship Id="rId17" Type="http://schemas.openxmlformats.org/officeDocument/2006/relationships/tags" Target="../tags/tag878.xml"/><Relationship Id="rId25" Type="http://schemas.openxmlformats.org/officeDocument/2006/relationships/tags" Target="../tags/tag886.xml"/><Relationship Id="rId33" Type="http://schemas.openxmlformats.org/officeDocument/2006/relationships/chart" Target="../charts/chart1.xml"/><Relationship Id="rId2" Type="http://schemas.openxmlformats.org/officeDocument/2006/relationships/tags" Target="../tags/tag863.xml"/><Relationship Id="rId16" Type="http://schemas.openxmlformats.org/officeDocument/2006/relationships/tags" Target="../tags/tag877.xml"/><Relationship Id="rId20" Type="http://schemas.openxmlformats.org/officeDocument/2006/relationships/tags" Target="../tags/tag881.xml"/><Relationship Id="rId29" Type="http://schemas.openxmlformats.org/officeDocument/2006/relationships/tags" Target="../tags/tag890.xml"/><Relationship Id="rId1" Type="http://schemas.openxmlformats.org/officeDocument/2006/relationships/tags" Target="../tags/tag862.xml"/><Relationship Id="rId6" Type="http://schemas.openxmlformats.org/officeDocument/2006/relationships/tags" Target="../tags/tag867.xml"/><Relationship Id="rId11" Type="http://schemas.openxmlformats.org/officeDocument/2006/relationships/tags" Target="../tags/tag872.xml"/><Relationship Id="rId24" Type="http://schemas.openxmlformats.org/officeDocument/2006/relationships/tags" Target="../tags/tag885.xml"/><Relationship Id="rId32" Type="http://schemas.openxmlformats.org/officeDocument/2006/relationships/image" Target="../media/image19.emf"/><Relationship Id="rId5" Type="http://schemas.openxmlformats.org/officeDocument/2006/relationships/tags" Target="../tags/tag866.xml"/><Relationship Id="rId15" Type="http://schemas.openxmlformats.org/officeDocument/2006/relationships/tags" Target="../tags/tag876.xml"/><Relationship Id="rId23" Type="http://schemas.openxmlformats.org/officeDocument/2006/relationships/tags" Target="../tags/tag884.xml"/><Relationship Id="rId28" Type="http://schemas.openxmlformats.org/officeDocument/2006/relationships/tags" Target="../tags/tag889.xml"/><Relationship Id="rId10" Type="http://schemas.openxmlformats.org/officeDocument/2006/relationships/tags" Target="../tags/tag871.xml"/><Relationship Id="rId19" Type="http://schemas.openxmlformats.org/officeDocument/2006/relationships/tags" Target="../tags/tag880.xml"/><Relationship Id="rId31" Type="http://schemas.openxmlformats.org/officeDocument/2006/relationships/oleObject" Target="../embeddings/oleObject71.bin"/><Relationship Id="rId4" Type="http://schemas.openxmlformats.org/officeDocument/2006/relationships/tags" Target="../tags/tag865.xml"/><Relationship Id="rId9" Type="http://schemas.openxmlformats.org/officeDocument/2006/relationships/tags" Target="../tags/tag870.xml"/><Relationship Id="rId14" Type="http://schemas.openxmlformats.org/officeDocument/2006/relationships/tags" Target="../tags/tag875.xml"/><Relationship Id="rId22" Type="http://schemas.openxmlformats.org/officeDocument/2006/relationships/tags" Target="../tags/tag883.xml"/><Relationship Id="rId27" Type="http://schemas.openxmlformats.org/officeDocument/2006/relationships/tags" Target="../tags/tag888.xml"/><Relationship Id="rId30" Type="http://schemas.openxmlformats.org/officeDocument/2006/relationships/slideLayout" Target="../slideLayouts/slideLayout5.xml"/><Relationship Id="rId8" Type="http://schemas.openxmlformats.org/officeDocument/2006/relationships/tags" Target="../tags/tag86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98.xml"/><Relationship Id="rId13" Type="http://schemas.openxmlformats.org/officeDocument/2006/relationships/tags" Target="../tags/tag903.xml"/><Relationship Id="rId18" Type="http://schemas.openxmlformats.org/officeDocument/2006/relationships/tags" Target="../tags/tag908.xml"/><Relationship Id="rId3" Type="http://schemas.openxmlformats.org/officeDocument/2006/relationships/tags" Target="../tags/tag893.xml"/><Relationship Id="rId21" Type="http://schemas.openxmlformats.org/officeDocument/2006/relationships/image" Target="../media/image19.emf"/><Relationship Id="rId7" Type="http://schemas.openxmlformats.org/officeDocument/2006/relationships/tags" Target="../tags/tag897.xml"/><Relationship Id="rId12" Type="http://schemas.openxmlformats.org/officeDocument/2006/relationships/tags" Target="../tags/tag902.xml"/><Relationship Id="rId17" Type="http://schemas.openxmlformats.org/officeDocument/2006/relationships/tags" Target="../tags/tag907.xml"/><Relationship Id="rId2" Type="http://schemas.openxmlformats.org/officeDocument/2006/relationships/tags" Target="../tags/tag892.xml"/><Relationship Id="rId16" Type="http://schemas.openxmlformats.org/officeDocument/2006/relationships/tags" Target="../tags/tag906.xml"/><Relationship Id="rId20" Type="http://schemas.openxmlformats.org/officeDocument/2006/relationships/oleObject" Target="../embeddings/oleObject72.bin"/><Relationship Id="rId1" Type="http://schemas.openxmlformats.org/officeDocument/2006/relationships/tags" Target="../tags/tag891.xml"/><Relationship Id="rId6" Type="http://schemas.openxmlformats.org/officeDocument/2006/relationships/tags" Target="../tags/tag896.xml"/><Relationship Id="rId11" Type="http://schemas.openxmlformats.org/officeDocument/2006/relationships/tags" Target="../tags/tag901.xml"/><Relationship Id="rId24" Type="http://schemas.openxmlformats.org/officeDocument/2006/relationships/image" Target="../media/image87.svg"/><Relationship Id="rId5" Type="http://schemas.openxmlformats.org/officeDocument/2006/relationships/tags" Target="../tags/tag895.xml"/><Relationship Id="rId15" Type="http://schemas.openxmlformats.org/officeDocument/2006/relationships/tags" Target="../tags/tag905.xml"/><Relationship Id="rId23" Type="http://schemas.openxmlformats.org/officeDocument/2006/relationships/image" Target="../media/image86.png"/><Relationship Id="rId10" Type="http://schemas.openxmlformats.org/officeDocument/2006/relationships/tags" Target="../tags/tag900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894.xml"/><Relationship Id="rId9" Type="http://schemas.openxmlformats.org/officeDocument/2006/relationships/tags" Target="../tags/tag899.xml"/><Relationship Id="rId14" Type="http://schemas.openxmlformats.org/officeDocument/2006/relationships/tags" Target="../tags/tag904.xml"/><Relationship Id="rId22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921.xml"/><Relationship Id="rId18" Type="http://schemas.openxmlformats.org/officeDocument/2006/relationships/tags" Target="../tags/tag926.xml"/><Relationship Id="rId26" Type="http://schemas.openxmlformats.org/officeDocument/2006/relationships/tags" Target="../tags/tag934.xml"/><Relationship Id="rId21" Type="http://schemas.openxmlformats.org/officeDocument/2006/relationships/tags" Target="../tags/tag929.xml"/><Relationship Id="rId34" Type="http://schemas.openxmlformats.org/officeDocument/2006/relationships/tags" Target="../tags/tag942.xml"/><Relationship Id="rId7" Type="http://schemas.openxmlformats.org/officeDocument/2006/relationships/tags" Target="../tags/tag915.xml"/><Relationship Id="rId12" Type="http://schemas.openxmlformats.org/officeDocument/2006/relationships/tags" Target="../tags/tag920.xml"/><Relationship Id="rId17" Type="http://schemas.openxmlformats.org/officeDocument/2006/relationships/tags" Target="../tags/tag925.xml"/><Relationship Id="rId25" Type="http://schemas.openxmlformats.org/officeDocument/2006/relationships/tags" Target="../tags/tag933.xml"/><Relationship Id="rId33" Type="http://schemas.openxmlformats.org/officeDocument/2006/relationships/tags" Target="../tags/tag941.xml"/><Relationship Id="rId38" Type="http://schemas.openxmlformats.org/officeDocument/2006/relationships/chart" Target="../charts/chart4.xml"/><Relationship Id="rId2" Type="http://schemas.openxmlformats.org/officeDocument/2006/relationships/tags" Target="../tags/tag910.xml"/><Relationship Id="rId16" Type="http://schemas.openxmlformats.org/officeDocument/2006/relationships/tags" Target="../tags/tag924.xml"/><Relationship Id="rId20" Type="http://schemas.openxmlformats.org/officeDocument/2006/relationships/tags" Target="../tags/tag928.xml"/><Relationship Id="rId29" Type="http://schemas.openxmlformats.org/officeDocument/2006/relationships/tags" Target="../tags/tag937.xml"/><Relationship Id="rId1" Type="http://schemas.openxmlformats.org/officeDocument/2006/relationships/tags" Target="../tags/tag909.xml"/><Relationship Id="rId6" Type="http://schemas.openxmlformats.org/officeDocument/2006/relationships/tags" Target="../tags/tag914.xml"/><Relationship Id="rId11" Type="http://schemas.openxmlformats.org/officeDocument/2006/relationships/tags" Target="../tags/tag919.xml"/><Relationship Id="rId24" Type="http://schemas.openxmlformats.org/officeDocument/2006/relationships/tags" Target="../tags/tag932.xml"/><Relationship Id="rId32" Type="http://schemas.openxmlformats.org/officeDocument/2006/relationships/tags" Target="../tags/tag940.xml"/><Relationship Id="rId37" Type="http://schemas.openxmlformats.org/officeDocument/2006/relationships/image" Target="../media/image19.emf"/><Relationship Id="rId5" Type="http://schemas.openxmlformats.org/officeDocument/2006/relationships/tags" Target="../tags/tag913.xml"/><Relationship Id="rId15" Type="http://schemas.openxmlformats.org/officeDocument/2006/relationships/tags" Target="../tags/tag923.xml"/><Relationship Id="rId23" Type="http://schemas.openxmlformats.org/officeDocument/2006/relationships/tags" Target="../tags/tag931.xml"/><Relationship Id="rId28" Type="http://schemas.openxmlformats.org/officeDocument/2006/relationships/tags" Target="../tags/tag936.xml"/><Relationship Id="rId36" Type="http://schemas.openxmlformats.org/officeDocument/2006/relationships/oleObject" Target="../embeddings/oleObject73.bin"/><Relationship Id="rId10" Type="http://schemas.openxmlformats.org/officeDocument/2006/relationships/tags" Target="../tags/tag918.xml"/><Relationship Id="rId19" Type="http://schemas.openxmlformats.org/officeDocument/2006/relationships/tags" Target="../tags/tag927.xml"/><Relationship Id="rId31" Type="http://schemas.openxmlformats.org/officeDocument/2006/relationships/tags" Target="../tags/tag939.xml"/><Relationship Id="rId4" Type="http://schemas.openxmlformats.org/officeDocument/2006/relationships/tags" Target="../tags/tag912.xml"/><Relationship Id="rId9" Type="http://schemas.openxmlformats.org/officeDocument/2006/relationships/tags" Target="../tags/tag917.xml"/><Relationship Id="rId14" Type="http://schemas.openxmlformats.org/officeDocument/2006/relationships/tags" Target="../tags/tag922.xml"/><Relationship Id="rId22" Type="http://schemas.openxmlformats.org/officeDocument/2006/relationships/tags" Target="../tags/tag930.xml"/><Relationship Id="rId27" Type="http://schemas.openxmlformats.org/officeDocument/2006/relationships/tags" Target="../tags/tag935.xml"/><Relationship Id="rId30" Type="http://schemas.openxmlformats.org/officeDocument/2006/relationships/tags" Target="../tags/tag938.xml"/><Relationship Id="rId35" Type="http://schemas.openxmlformats.org/officeDocument/2006/relationships/slideLayout" Target="../slideLayouts/slideLayout5.xml"/><Relationship Id="rId8" Type="http://schemas.openxmlformats.org/officeDocument/2006/relationships/tags" Target="../tags/tag916.xml"/><Relationship Id="rId3" Type="http://schemas.openxmlformats.org/officeDocument/2006/relationships/tags" Target="../tags/tag9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950.xml"/><Relationship Id="rId13" Type="http://schemas.openxmlformats.org/officeDocument/2006/relationships/image" Target="../media/image19.emf"/><Relationship Id="rId3" Type="http://schemas.openxmlformats.org/officeDocument/2006/relationships/tags" Target="../tags/tag945.xml"/><Relationship Id="rId7" Type="http://schemas.openxmlformats.org/officeDocument/2006/relationships/tags" Target="../tags/tag949.xml"/><Relationship Id="rId12" Type="http://schemas.openxmlformats.org/officeDocument/2006/relationships/oleObject" Target="../embeddings/oleObject74.bin"/><Relationship Id="rId2" Type="http://schemas.openxmlformats.org/officeDocument/2006/relationships/tags" Target="../tags/tag944.xml"/><Relationship Id="rId1" Type="http://schemas.openxmlformats.org/officeDocument/2006/relationships/tags" Target="../tags/tag943.xml"/><Relationship Id="rId6" Type="http://schemas.openxmlformats.org/officeDocument/2006/relationships/tags" Target="../tags/tag948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947.xml"/><Relationship Id="rId10" Type="http://schemas.openxmlformats.org/officeDocument/2006/relationships/tags" Target="../tags/tag952.xml"/><Relationship Id="rId4" Type="http://schemas.openxmlformats.org/officeDocument/2006/relationships/tags" Target="../tags/tag946.xml"/><Relationship Id="rId9" Type="http://schemas.openxmlformats.org/officeDocument/2006/relationships/tags" Target="../tags/tag95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960.xml"/><Relationship Id="rId13" Type="http://schemas.openxmlformats.org/officeDocument/2006/relationships/oleObject" Target="../embeddings/oleObject75.bin"/><Relationship Id="rId3" Type="http://schemas.openxmlformats.org/officeDocument/2006/relationships/tags" Target="../tags/tag955.xml"/><Relationship Id="rId7" Type="http://schemas.openxmlformats.org/officeDocument/2006/relationships/tags" Target="../tags/tag959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954.xml"/><Relationship Id="rId1" Type="http://schemas.openxmlformats.org/officeDocument/2006/relationships/tags" Target="../tags/tag953.xml"/><Relationship Id="rId6" Type="http://schemas.openxmlformats.org/officeDocument/2006/relationships/tags" Target="../tags/tag958.xml"/><Relationship Id="rId11" Type="http://schemas.openxmlformats.org/officeDocument/2006/relationships/tags" Target="../tags/tag963.xml"/><Relationship Id="rId5" Type="http://schemas.openxmlformats.org/officeDocument/2006/relationships/tags" Target="../tags/tag957.xml"/><Relationship Id="rId10" Type="http://schemas.openxmlformats.org/officeDocument/2006/relationships/tags" Target="../tags/tag962.xml"/><Relationship Id="rId4" Type="http://schemas.openxmlformats.org/officeDocument/2006/relationships/tags" Target="../tags/tag956.xml"/><Relationship Id="rId9" Type="http://schemas.openxmlformats.org/officeDocument/2006/relationships/tags" Target="../tags/tag961.xml"/><Relationship Id="rId14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966.xml"/><Relationship Id="rId2" Type="http://schemas.openxmlformats.org/officeDocument/2006/relationships/tags" Target="../tags/tag965.xml"/><Relationship Id="rId1" Type="http://schemas.openxmlformats.org/officeDocument/2006/relationships/tags" Target="../tags/tag964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76.bin"/><Relationship Id="rId4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69.xml"/><Relationship Id="rId2" Type="http://schemas.openxmlformats.org/officeDocument/2006/relationships/tags" Target="../tags/tag968.xml"/><Relationship Id="rId1" Type="http://schemas.openxmlformats.org/officeDocument/2006/relationships/tags" Target="../tags/tag967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77.bin"/><Relationship Id="rId4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72.xml"/><Relationship Id="rId7" Type="http://schemas.openxmlformats.org/officeDocument/2006/relationships/image" Target="../media/image19.emf"/><Relationship Id="rId2" Type="http://schemas.openxmlformats.org/officeDocument/2006/relationships/tags" Target="../tags/tag971.xml"/><Relationship Id="rId1" Type="http://schemas.openxmlformats.org/officeDocument/2006/relationships/tags" Target="../tags/tag970.xml"/><Relationship Id="rId6" Type="http://schemas.openxmlformats.org/officeDocument/2006/relationships/oleObject" Target="../embeddings/oleObject78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7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76.xml"/><Relationship Id="rId2" Type="http://schemas.openxmlformats.org/officeDocument/2006/relationships/tags" Target="../tags/tag975.xml"/><Relationship Id="rId1" Type="http://schemas.openxmlformats.org/officeDocument/2006/relationships/tags" Target="../tags/tag974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79.bin"/><Relationship Id="rId4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79.xml"/><Relationship Id="rId2" Type="http://schemas.openxmlformats.org/officeDocument/2006/relationships/tags" Target="../tags/tag978.xml"/><Relationship Id="rId1" Type="http://schemas.openxmlformats.org/officeDocument/2006/relationships/tags" Target="../tags/tag977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80.bin"/><Relationship Id="rId4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82.xml"/><Relationship Id="rId7" Type="http://schemas.openxmlformats.org/officeDocument/2006/relationships/image" Target="../media/image19.emf"/><Relationship Id="rId2" Type="http://schemas.openxmlformats.org/officeDocument/2006/relationships/tags" Target="../tags/tag981.xml"/><Relationship Id="rId1" Type="http://schemas.openxmlformats.org/officeDocument/2006/relationships/tags" Target="../tags/tag980.xml"/><Relationship Id="rId6" Type="http://schemas.openxmlformats.org/officeDocument/2006/relationships/oleObject" Target="../embeddings/oleObject81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8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986.xml"/><Relationship Id="rId7" Type="http://schemas.openxmlformats.org/officeDocument/2006/relationships/image" Target="../media/image19.emf"/><Relationship Id="rId2" Type="http://schemas.openxmlformats.org/officeDocument/2006/relationships/tags" Target="../tags/tag985.xml"/><Relationship Id="rId1" Type="http://schemas.openxmlformats.org/officeDocument/2006/relationships/tags" Target="../tags/tag984.xml"/><Relationship Id="rId6" Type="http://schemas.openxmlformats.org/officeDocument/2006/relationships/oleObject" Target="../embeddings/oleObject82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8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990.xml"/><Relationship Id="rId7" Type="http://schemas.openxmlformats.org/officeDocument/2006/relationships/image" Target="../media/image19.emf"/><Relationship Id="rId2" Type="http://schemas.openxmlformats.org/officeDocument/2006/relationships/tags" Target="../tags/tag989.xml"/><Relationship Id="rId1" Type="http://schemas.openxmlformats.org/officeDocument/2006/relationships/tags" Target="../tags/tag988.xml"/><Relationship Id="rId6" Type="http://schemas.openxmlformats.org/officeDocument/2006/relationships/oleObject" Target="../embeddings/oleObject83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9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737CD2C-4ECD-4586-BEDE-BD31E8DCD0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7505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cumenttype">
            <a:extLst>
              <a:ext uri="{FF2B5EF4-FFF2-40B4-BE49-F238E27FC236}">
                <a16:creationId xmlns:a16="http://schemas.microsoft.com/office/drawing/2014/main" id="{0B24781D-1ED9-4899-9B28-51BA374BA8A1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/>
              <a:t>Октябрь </a:t>
            </a:r>
            <a:r>
              <a:rPr lang="ru-RU" dirty="0"/>
              <a:t>2021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703F10D-B0C5-40B4-A99D-86BE9929A292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ru-RU" dirty="0"/>
              <a:t>Модель масштабирования и оценка затрат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F34828A-05B5-40AF-87EE-5F1A67C439A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48828" y="3347227"/>
            <a:ext cx="6493321" cy="584775"/>
          </a:xfrm>
        </p:spPr>
        <p:txBody>
          <a:bodyPr vert="horz"/>
          <a:lstStyle/>
          <a:p>
            <a:r>
              <a:rPr lang="ru-RU" dirty="0"/>
              <a:t>«Умный дом» Москвы</a:t>
            </a:r>
          </a:p>
        </p:txBody>
      </p:sp>
    </p:spTree>
    <p:extLst>
      <p:ext uri="{BB962C8B-B14F-4D97-AF65-F5344CB8AC3E}">
        <p14:creationId xmlns:p14="http://schemas.microsoft.com/office/powerpoint/2010/main" val="247807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A8371C0-FB09-4B34-9C19-40B2C7DE8B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61387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95" imgH="396" progId="TCLayout.ActiveDocument.1">
                  <p:embed/>
                </p:oleObj>
              </mc:Choice>
              <mc:Fallback>
                <p:oleObj name="think-cell Slide" r:id="rId13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81">
            <a:extLst>
              <a:ext uri="{FF2B5EF4-FFF2-40B4-BE49-F238E27FC236}">
                <a16:creationId xmlns:a16="http://schemas.microsoft.com/office/drawing/2014/main" id="{6160147E-3C76-457F-B8F4-775DFB7D1B61}"/>
              </a:ext>
            </a:extLst>
          </p:cNvPr>
          <p:cNvSpPr>
            <a:spLocks/>
          </p:cNvSpPr>
          <p:nvPr/>
        </p:nvSpPr>
        <p:spPr>
          <a:xfrm>
            <a:off x="0" y="1268967"/>
            <a:ext cx="12192001" cy="1998109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 sz="1600" b="1" dirty="0">
              <a:solidFill>
                <a:schemeClr val="accent3"/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9065115-3DD8-4DED-8A70-C2555E080ADC}"/>
              </a:ext>
            </a:extLst>
          </p:cNvPr>
          <p:cNvGrpSpPr/>
          <p:nvPr/>
        </p:nvGrpSpPr>
        <p:grpSpPr>
          <a:xfrm>
            <a:off x="3698167" y="1367766"/>
            <a:ext cx="1011946" cy="1119643"/>
            <a:chOff x="10171490" y="320777"/>
            <a:chExt cx="434378" cy="480607"/>
          </a:xfrm>
        </p:grpSpPr>
        <p:sp>
          <p:nvSpPr>
            <p:cNvPr id="124" name="Line 388">
              <a:extLst>
                <a:ext uri="{FF2B5EF4-FFF2-40B4-BE49-F238E27FC236}">
                  <a16:creationId xmlns:a16="http://schemas.microsoft.com/office/drawing/2014/main" id="{A63F5924-0908-4195-8F64-D14507E26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4503" y="383579"/>
              <a:ext cx="70652" cy="40996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Line 389">
              <a:extLst>
                <a:ext uri="{FF2B5EF4-FFF2-40B4-BE49-F238E27FC236}">
                  <a16:creationId xmlns:a16="http://schemas.microsoft.com/office/drawing/2014/main" id="{9EDB7AC0-88D6-4CB8-B88A-FE8B2617C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3076" y="383579"/>
              <a:ext cx="69780" cy="40996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Line 390">
              <a:extLst>
                <a:ext uri="{FF2B5EF4-FFF2-40B4-BE49-F238E27FC236}">
                  <a16:creationId xmlns:a16="http://schemas.microsoft.com/office/drawing/2014/main" id="{DCCF8ECE-F8B8-4EDF-B19C-789120C4D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44503" y="697587"/>
              <a:ext cx="70652" cy="40996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Line 391">
              <a:extLst>
                <a:ext uri="{FF2B5EF4-FFF2-40B4-BE49-F238E27FC236}">
                  <a16:creationId xmlns:a16="http://schemas.microsoft.com/office/drawing/2014/main" id="{FDD42B15-86F6-4011-A595-C753B71246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263076" y="697587"/>
              <a:ext cx="69780" cy="40996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81CFB79-98C3-4C71-B0DC-DAF4636A1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7278" y="320777"/>
              <a:ext cx="62802" cy="61057"/>
            </a:xfrm>
            <a:prstGeom prst="ellips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Line 393">
              <a:extLst>
                <a:ext uri="{FF2B5EF4-FFF2-40B4-BE49-F238E27FC236}">
                  <a16:creationId xmlns:a16="http://schemas.microsoft.com/office/drawing/2014/main" id="{84320480-BC61-4BBA-8862-BC0EE996E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8679" y="385323"/>
              <a:ext cx="0" cy="46229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FC15DE2-6C3D-42A5-9289-3A50DC294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7278" y="740327"/>
              <a:ext cx="62802" cy="61057"/>
            </a:xfrm>
            <a:prstGeom prst="ellips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Line 395">
              <a:extLst>
                <a:ext uri="{FF2B5EF4-FFF2-40B4-BE49-F238E27FC236}">
                  <a16:creationId xmlns:a16="http://schemas.microsoft.com/office/drawing/2014/main" id="{520679E1-08D2-466E-8AC8-E2D5774116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88679" y="688864"/>
              <a:ext cx="0" cy="47973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Freeform 396">
              <a:extLst>
                <a:ext uri="{FF2B5EF4-FFF2-40B4-BE49-F238E27FC236}">
                  <a16:creationId xmlns:a16="http://schemas.microsoft.com/office/drawing/2014/main" id="{F41AE693-37F0-4871-A024-AAAF67766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5216" y="420213"/>
              <a:ext cx="70652" cy="70652"/>
            </a:xfrm>
            <a:custGeom>
              <a:avLst/>
              <a:gdLst>
                <a:gd name="T0" fmla="*/ 28 w 38"/>
                <a:gd name="T1" fmla="*/ 33 h 38"/>
                <a:gd name="T2" fmla="*/ 5 w 38"/>
                <a:gd name="T3" fmla="*/ 27 h 38"/>
                <a:gd name="T4" fmla="*/ 11 w 38"/>
                <a:gd name="T5" fmla="*/ 5 h 38"/>
                <a:gd name="T6" fmla="*/ 34 w 38"/>
                <a:gd name="T7" fmla="*/ 11 h 38"/>
                <a:gd name="T8" fmla="*/ 28 w 38"/>
                <a:gd name="T9" fmla="*/ 3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28" y="33"/>
                  </a:moveTo>
                  <a:cubicBezTo>
                    <a:pt x="20" y="38"/>
                    <a:pt x="9" y="35"/>
                    <a:pt x="5" y="27"/>
                  </a:cubicBezTo>
                  <a:cubicBezTo>
                    <a:pt x="0" y="19"/>
                    <a:pt x="3" y="9"/>
                    <a:pt x="11" y="5"/>
                  </a:cubicBezTo>
                  <a:cubicBezTo>
                    <a:pt x="19" y="0"/>
                    <a:pt x="29" y="3"/>
                    <a:pt x="34" y="11"/>
                  </a:cubicBezTo>
                  <a:cubicBezTo>
                    <a:pt x="38" y="19"/>
                    <a:pt x="36" y="29"/>
                    <a:pt x="28" y="33"/>
                  </a:cubicBezTo>
                  <a:close/>
                </a:path>
              </a:pathLst>
            </a:cu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Line 397">
              <a:extLst>
                <a:ext uri="{FF2B5EF4-FFF2-40B4-BE49-F238E27FC236}">
                  <a16:creationId xmlns:a16="http://schemas.microsoft.com/office/drawing/2014/main" id="{2A4B0456-370B-4CDD-B4D8-A44DD0C85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00326" y="472548"/>
              <a:ext cx="40123" cy="23551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Freeform 398">
              <a:extLst>
                <a:ext uri="{FF2B5EF4-FFF2-40B4-BE49-F238E27FC236}">
                  <a16:creationId xmlns:a16="http://schemas.microsoft.com/office/drawing/2014/main" id="{BF622F60-FFFF-49D2-B0CB-650DA0B78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1490" y="420213"/>
              <a:ext cx="70652" cy="70652"/>
            </a:xfrm>
            <a:custGeom>
              <a:avLst/>
              <a:gdLst>
                <a:gd name="T0" fmla="*/ 10 w 38"/>
                <a:gd name="T1" fmla="*/ 33 h 38"/>
                <a:gd name="T2" fmla="*/ 33 w 38"/>
                <a:gd name="T3" fmla="*/ 27 h 38"/>
                <a:gd name="T4" fmla="*/ 27 w 38"/>
                <a:gd name="T5" fmla="*/ 5 h 38"/>
                <a:gd name="T6" fmla="*/ 4 w 38"/>
                <a:gd name="T7" fmla="*/ 11 h 38"/>
                <a:gd name="T8" fmla="*/ 10 w 38"/>
                <a:gd name="T9" fmla="*/ 3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10" y="33"/>
                  </a:moveTo>
                  <a:cubicBezTo>
                    <a:pt x="18" y="38"/>
                    <a:pt x="29" y="35"/>
                    <a:pt x="33" y="27"/>
                  </a:cubicBezTo>
                  <a:cubicBezTo>
                    <a:pt x="38" y="19"/>
                    <a:pt x="35" y="9"/>
                    <a:pt x="27" y="5"/>
                  </a:cubicBezTo>
                  <a:cubicBezTo>
                    <a:pt x="19" y="0"/>
                    <a:pt x="9" y="3"/>
                    <a:pt x="4" y="11"/>
                  </a:cubicBezTo>
                  <a:cubicBezTo>
                    <a:pt x="0" y="19"/>
                    <a:pt x="2" y="29"/>
                    <a:pt x="10" y="33"/>
                  </a:cubicBezTo>
                  <a:close/>
                </a:path>
              </a:pathLst>
            </a:cu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Line 399">
              <a:extLst>
                <a:ext uri="{FF2B5EF4-FFF2-40B4-BE49-F238E27FC236}">
                  <a16:creationId xmlns:a16="http://schemas.microsoft.com/office/drawing/2014/main" id="{8D560A10-F1D2-4C54-A79F-2B22F27B6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6908" y="472548"/>
              <a:ext cx="40996" cy="23551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Freeform 400">
              <a:extLst>
                <a:ext uri="{FF2B5EF4-FFF2-40B4-BE49-F238E27FC236}">
                  <a16:creationId xmlns:a16="http://schemas.microsoft.com/office/drawing/2014/main" id="{2E2FB116-3F5F-46BE-8856-D2BA181B9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1490" y="631296"/>
              <a:ext cx="70652" cy="70652"/>
            </a:xfrm>
            <a:custGeom>
              <a:avLst/>
              <a:gdLst>
                <a:gd name="T0" fmla="*/ 10 w 38"/>
                <a:gd name="T1" fmla="*/ 5 h 38"/>
                <a:gd name="T2" fmla="*/ 33 w 38"/>
                <a:gd name="T3" fmla="*/ 11 h 38"/>
                <a:gd name="T4" fmla="*/ 27 w 38"/>
                <a:gd name="T5" fmla="*/ 33 h 38"/>
                <a:gd name="T6" fmla="*/ 4 w 38"/>
                <a:gd name="T7" fmla="*/ 27 h 38"/>
                <a:gd name="T8" fmla="*/ 10 w 38"/>
                <a:gd name="T9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10" y="5"/>
                  </a:moveTo>
                  <a:cubicBezTo>
                    <a:pt x="18" y="0"/>
                    <a:pt x="29" y="3"/>
                    <a:pt x="33" y="11"/>
                  </a:cubicBezTo>
                  <a:cubicBezTo>
                    <a:pt x="38" y="19"/>
                    <a:pt x="35" y="29"/>
                    <a:pt x="27" y="33"/>
                  </a:cubicBezTo>
                  <a:cubicBezTo>
                    <a:pt x="19" y="38"/>
                    <a:pt x="9" y="35"/>
                    <a:pt x="4" y="27"/>
                  </a:cubicBezTo>
                  <a:cubicBezTo>
                    <a:pt x="0" y="19"/>
                    <a:pt x="2" y="9"/>
                    <a:pt x="10" y="5"/>
                  </a:cubicBezTo>
                  <a:close/>
                </a:path>
              </a:pathLst>
            </a:cu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Line 401">
              <a:extLst>
                <a:ext uri="{FF2B5EF4-FFF2-40B4-BE49-F238E27FC236}">
                  <a16:creationId xmlns:a16="http://schemas.microsoft.com/office/drawing/2014/main" id="{927707C8-4843-444F-AE3E-1E64E7B9A6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36908" y="626063"/>
              <a:ext cx="40996" cy="23551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Freeform 402">
              <a:extLst>
                <a:ext uri="{FF2B5EF4-FFF2-40B4-BE49-F238E27FC236}">
                  <a16:creationId xmlns:a16="http://schemas.microsoft.com/office/drawing/2014/main" id="{CC2841C9-E93D-40F7-B800-764AE504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5216" y="631296"/>
              <a:ext cx="70652" cy="70652"/>
            </a:xfrm>
            <a:custGeom>
              <a:avLst/>
              <a:gdLst>
                <a:gd name="T0" fmla="*/ 28 w 38"/>
                <a:gd name="T1" fmla="*/ 5 h 38"/>
                <a:gd name="T2" fmla="*/ 5 w 38"/>
                <a:gd name="T3" fmla="*/ 11 h 38"/>
                <a:gd name="T4" fmla="*/ 11 w 38"/>
                <a:gd name="T5" fmla="*/ 33 h 38"/>
                <a:gd name="T6" fmla="*/ 34 w 38"/>
                <a:gd name="T7" fmla="*/ 27 h 38"/>
                <a:gd name="T8" fmla="*/ 28 w 38"/>
                <a:gd name="T9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28" y="5"/>
                  </a:moveTo>
                  <a:cubicBezTo>
                    <a:pt x="20" y="0"/>
                    <a:pt x="9" y="3"/>
                    <a:pt x="5" y="11"/>
                  </a:cubicBezTo>
                  <a:cubicBezTo>
                    <a:pt x="0" y="19"/>
                    <a:pt x="3" y="29"/>
                    <a:pt x="11" y="33"/>
                  </a:cubicBezTo>
                  <a:cubicBezTo>
                    <a:pt x="19" y="38"/>
                    <a:pt x="29" y="35"/>
                    <a:pt x="34" y="27"/>
                  </a:cubicBezTo>
                  <a:cubicBezTo>
                    <a:pt x="38" y="19"/>
                    <a:pt x="36" y="9"/>
                    <a:pt x="28" y="5"/>
                  </a:cubicBezTo>
                  <a:close/>
                </a:path>
              </a:pathLst>
            </a:cu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Line 403">
              <a:extLst>
                <a:ext uri="{FF2B5EF4-FFF2-40B4-BE49-F238E27FC236}">
                  <a16:creationId xmlns:a16="http://schemas.microsoft.com/office/drawing/2014/main" id="{84A9F3FF-7EF3-4AC0-9102-202FEE9F8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500326" y="626063"/>
              <a:ext cx="40123" cy="23551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Line 408">
              <a:extLst>
                <a:ext uri="{FF2B5EF4-FFF2-40B4-BE49-F238E27FC236}">
                  <a16:creationId xmlns:a16="http://schemas.microsoft.com/office/drawing/2014/main" id="{DCCDF530-3451-473B-9DD6-37643C81F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7252" y="520521"/>
              <a:ext cx="0" cy="81119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Line 409">
              <a:extLst>
                <a:ext uri="{FF2B5EF4-FFF2-40B4-BE49-F238E27FC236}">
                  <a16:creationId xmlns:a16="http://schemas.microsoft.com/office/drawing/2014/main" id="{40F48C42-1C33-4F51-96EF-02382FC29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0106" y="520521"/>
              <a:ext cx="0" cy="81119"/>
            </a:xfrm>
            <a:prstGeom prst="line">
              <a:avLst/>
            </a:prstGeom>
            <a:noFill/>
            <a:ln w="34925" cap="flat">
              <a:solidFill>
                <a:srgbClr val="B0221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C1644744-AE37-4FB7-9A9A-F63D6FED101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260459" y="433297"/>
              <a:ext cx="256440" cy="255568"/>
              <a:chOff x="9378767" y="458297"/>
              <a:chExt cx="246721" cy="251808"/>
            </a:xfrm>
          </p:grpSpPr>
          <p:sp>
            <p:nvSpPr>
              <p:cNvPr id="143" name="Oval 57">
                <a:extLst>
                  <a:ext uri="{FF2B5EF4-FFF2-40B4-BE49-F238E27FC236}">
                    <a16:creationId xmlns:a16="http://schemas.microsoft.com/office/drawing/2014/main" id="{C1A23C15-7C2A-4EBC-BC9A-38700D514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0159" y="542233"/>
                <a:ext cx="83936" cy="83936"/>
              </a:xfrm>
              <a:prstGeom prst="ellipse">
                <a:avLst/>
              </a:pr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4" name="Freeform 58">
                <a:extLst>
                  <a:ext uri="{FF2B5EF4-FFF2-40B4-BE49-F238E27FC236}">
                    <a16:creationId xmlns:a16="http://schemas.microsoft.com/office/drawing/2014/main" id="{D83EFF10-0E86-4944-8953-A38E4061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8767" y="458297"/>
                <a:ext cx="246721" cy="251808"/>
              </a:xfrm>
              <a:custGeom>
                <a:avLst/>
                <a:gdLst>
                  <a:gd name="T0" fmla="*/ 74 w 82"/>
                  <a:gd name="T1" fmla="*/ 42 h 84"/>
                  <a:gd name="T2" fmla="*/ 73 w 82"/>
                  <a:gd name="T3" fmla="*/ 35 h 84"/>
                  <a:gd name="T4" fmla="*/ 82 w 82"/>
                  <a:gd name="T5" fmla="*/ 29 h 84"/>
                  <a:gd name="T6" fmla="*/ 73 w 82"/>
                  <a:gd name="T7" fmla="*/ 13 h 84"/>
                  <a:gd name="T8" fmla="*/ 63 w 82"/>
                  <a:gd name="T9" fmla="*/ 19 h 84"/>
                  <a:gd name="T10" fmla="*/ 50 w 82"/>
                  <a:gd name="T11" fmla="*/ 11 h 84"/>
                  <a:gd name="T12" fmla="*/ 50 w 82"/>
                  <a:gd name="T13" fmla="*/ 0 h 84"/>
                  <a:gd name="T14" fmla="*/ 32 w 82"/>
                  <a:gd name="T15" fmla="*/ 0 h 84"/>
                  <a:gd name="T16" fmla="*/ 32 w 82"/>
                  <a:gd name="T17" fmla="*/ 11 h 84"/>
                  <a:gd name="T18" fmla="*/ 19 w 82"/>
                  <a:gd name="T19" fmla="*/ 19 h 84"/>
                  <a:gd name="T20" fmla="*/ 9 w 82"/>
                  <a:gd name="T21" fmla="*/ 13 h 84"/>
                  <a:gd name="T22" fmla="*/ 0 w 82"/>
                  <a:gd name="T23" fmla="*/ 29 h 84"/>
                  <a:gd name="T24" fmla="*/ 10 w 82"/>
                  <a:gd name="T25" fmla="*/ 35 h 84"/>
                  <a:gd name="T26" fmla="*/ 9 w 82"/>
                  <a:gd name="T27" fmla="*/ 42 h 84"/>
                  <a:gd name="T28" fmla="*/ 10 w 82"/>
                  <a:gd name="T29" fmla="*/ 50 h 84"/>
                  <a:gd name="T30" fmla="*/ 0 w 82"/>
                  <a:gd name="T31" fmla="*/ 55 h 84"/>
                  <a:gd name="T32" fmla="*/ 9 w 82"/>
                  <a:gd name="T33" fmla="*/ 71 h 84"/>
                  <a:gd name="T34" fmla="*/ 19 w 82"/>
                  <a:gd name="T35" fmla="*/ 66 h 84"/>
                  <a:gd name="T36" fmla="*/ 32 w 82"/>
                  <a:gd name="T37" fmla="*/ 73 h 84"/>
                  <a:gd name="T38" fmla="*/ 32 w 82"/>
                  <a:gd name="T39" fmla="*/ 84 h 84"/>
                  <a:gd name="T40" fmla="*/ 50 w 82"/>
                  <a:gd name="T41" fmla="*/ 84 h 84"/>
                  <a:gd name="T42" fmla="*/ 50 w 82"/>
                  <a:gd name="T43" fmla="*/ 73 h 84"/>
                  <a:gd name="T44" fmla="*/ 63 w 82"/>
                  <a:gd name="T45" fmla="*/ 66 h 84"/>
                  <a:gd name="T46" fmla="*/ 73 w 82"/>
                  <a:gd name="T47" fmla="*/ 71 h 84"/>
                  <a:gd name="T48" fmla="*/ 82 w 82"/>
                  <a:gd name="T49" fmla="*/ 55 h 84"/>
                  <a:gd name="T50" fmla="*/ 73 w 82"/>
                  <a:gd name="T51" fmla="*/ 50 h 84"/>
                  <a:gd name="T52" fmla="*/ 74 w 82"/>
                  <a:gd name="T53" fmla="*/ 4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84">
                    <a:moveTo>
                      <a:pt x="74" y="42"/>
                    </a:moveTo>
                    <a:cubicBezTo>
                      <a:pt x="74" y="40"/>
                      <a:pt x="73" y="37"/>
                      <a:pt x="73" y="35"/>
                    </a:cubicBezTo>
                    <a:cubicBezTo>
                      <a:pt x="82" y="29"/>
                      <a:pt x="82" y="29"/>
                      <a:pt x="82" y="29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0" y="15"/>
                      <a:pt x="55" y="12"/>
                      <a:pt x="50" y="11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7" y="13"/>
                      <a:pt x="22" y="15"/>
                      <a:pt x="19" y="19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7"/>
                      <a:pt x="9" y="40"/>
                      <a:pt x="9" y="42"/>
                    </a:cubicBezTo>
                    <a:cubicBezTo>
                      <a:pt x="9" y="45"/>
                      <a:pt x="9" y="47"/>
                      <a:pt x="10" y="5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9" y="71"/>
                      <a:pt x="9" y="71"/>
                      <a:pt x="9" y="71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22" y="69"/>
                      <a:pt x="27" y="72"/>
                      <a:pt x="32" y="73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73"/>
                      <a:pt x="50" y="73"/>
                      <a:pt x="50" y="73"/>
                    </a:cubicBezTo>
                    <a:cubicBezTo>
                      <a:pt x="55" y="72"/>
                      <a:pt x="60" y="69"/>
                      <a:pt x="63" y="66"/>
                    </a:cubicBezTo>
                    <a:cubicBezTo>
                      <a:pt x="73" y="71"/>
                      <a:pt x="73" y="71"/>
                      <a:pt x="73" y="71"/>
                    </a:cubicBezTo>
                    <a:cubicBezTo>
                      <a:pt x="82" y="55"/>
                      <a:pt x="82" y="55"/>
                      <a:pt x="82" y="55"/>
                    </a:cubicBezTo>
                    <a:cubicBezTo>
                      <a:pt x="73" y="50"/>
                      <a:pt x="73" y="50"/>
                      <a:pt x="73" y="50"/>
                    </a:cubicBezTo>
                    <a:cubicBezTo>
                      <a:pt x="73" y="47"/>
                      <a:pt x="74" y="45"/>
                      <a:pt x="74" y="42"/>
                    </a:cubicBezTo>
                    <a:close/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83" name="Graphic 2">
            <a:extLst>
              <a:ext uri="{FF2B5EF4-FFF2-40B4-BE49-F238E27FC236}">
                <a16:creationId xmlns:a16="http://schemas.microsoft.com/office/drawing/2014/main" id="{06FD2859-9644-4A53-BF61-3FB6D1425C09}"/>
              </a:ext>
            </a:extLst>
          </p:cNvPr>
          <p:cNvGrpSpPr/>
          <p:nvPr/>
        </p:nvGrpSpPr>
        <p:grpSpPr>
          <a:xfrm>
            <a:off x="10848976" y="1367766"/>
            <a:ext cx="1000124" cy="967848"/>
            <a:chOff x="1513120" y="2353663"/>
            <a:chExt cx="590597" cy="571538"/>
          </a:xfrm>
          <a:noFill/>
        </p:grpSpPr>
        <p:grpSp>
          <p:nvGrpSpPr>
            <p:cNvPr id="84" name="Graphic 2">
              <a:extLst>
                <a:ext uri="{FF2B5EF4-FFF2-40B4-BE49-F238E27FC236}">
                  <a16:creationId xmlns:a16="http://schemas.microsoft.com/office/drawing/2014/main" id="{4BE206B6-732F-4635-AB30-78F6899F9572}"/>
                </a:ext>
              </a:extLst>
            </p:cNvPr>
            <p:cNvGrpSpPr/>
            <p:nvPr/>
          </p:nvGrpSpPr>
          <p:grpSpPr>
            <a:xfrm>
              <a:off x="1513120" y="2720985"/>
              <a:ext cx="559688" cy="204216"/>
              <a:chOff x="1513120" y="2720985"/>
              <a:chExt cx="559688" cy="204216"/>
            </a:xfrm>
            <a:noFill/>
          </p:grpSpPr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4A57387-CB68-4437-B8A2-AAB560F4358C}"/>
                  </a:ext>
                </a:extLst>
              </p:cNvPr>
              <p:cNvSpPr/>
              <p:nvPr/>
            </p:nvSpPr>
            <p:spPr>
              <a:xfrm>
                <a:off x="1513120" y="2720985"/>
                <a:ext cx="559688" cy="204216"/>
              </a:xfrm>
              <a:custGeom>
                <a:avLst/>
                <a:gdLst>
                  <a:gd name="connsiteX0" fmla="*/ 19050 w 559688"/>
                  <a:gd name="connsiteY0" fmla="*/ 0 h 204216"/>
                  <a:gd name="connsiteX1" fmla="*/ 0 w 559688"/>
                  <a:gd name="connsiteY1" fmla="*/ 109252 h 204216"/>
                  <a:gd name="connsiteX2" fmla="*/ 544735 w 559688"/>
                  <a:gd name="connsiteY2" fmla="*/ 204216 h 204216"/>
                  <a:gd name="connsiteX3" fmla="*/ 559689 w 559688"/>
                  <a:gd name="connsiteY3" fmla="*/ 118491 h 204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688" h="204216">
                    <a:moveTo>
                      <a:pt x="19050" y="0"/>
                    </a:moveTo>
                    <a:lnTo>
                      <a:pt x="0" y="109252"/>
                    </a:lnTo>
                    <a:lnTo>
                      <a:pt x="544735" y="204216"/>
                    </a:lnTo>
                    <a:lnTo>
                      <a:pt x="559689" y="118491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F4E0C48A-52D5-40B2-BDA4-A29B661C6CB0}"/>
                  </a:ext>
                </a:extLst>
              </p:cNvPr>
              <p:cNvSpPr/>
              <p:nvPr/>
            </p:nvSpPr>
            <p:spPr>
              <a:xfrm>
                <a:off x="1897072" y="2831950"/>
                <a:ext cx="128587" cy="31624"/>
              </a:xfrm>
              <a:custGeom>
                <a:avLst/>
                <a:gdLst>
                  <a:gd name="connsiteX0" fmla="*/ 128588 w 128587"/>
                  <a:gd name="connsiteY0" fmla="*/ 573 h 31624"/>
                  <a:gd name="connsiteX1" fmla="*/ 84487 w 128587"/>
                  <a:gd name="connsiteY1" fmla="*/ 31624 h 31624"/>
                  <a:gd name="connsiteX2" fmla="*/ 0 w 128587"/>
                  <a:gd name="connsiteY2" fmla="*/ 16861 h 31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587" h="31624">
                    <a:moveTo>
                      <a:pt x="128588" y="573"/>
                    </a:moveTo>
                    <a:cubicBezTo>
                      <a:pt x="107823" y="-3047"/>
                      <a:pt x="88106" y="10860"/>
                      <a:pt x="84487" y="31624"/>
                    </a:cubicBezTo>
                    <a:lnTo>
                      <a:pt x="0" y="16861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825FB9F3-EE4E-48F6-AE2D-64571363430D}"/>
                  </a:ext>
                </a:extLst>
              </p:cNvPr>
              <p:cNvSpPr/>
              <p:nvPr/>
            </p:nvSpPr>
            <p:spPr>
              <a:xfrm>
                <a:off x="1605322" y="2782327"/>
                <a:ext cx="85058" cy="30479"/>
              </a:xfrm>
              <a:custGeom>
                <a:avLst/>
                <a:gdLst>
                  <a:gd name="connsiteX0" fmla="*/ 85058 w 85058"/>
                  <a:gd name="connsiteY0" fmla="*/ 30480 h 30479"/>
                  <a:gd name="connsiteX1" fmla="*/ 571 w 85058"/>
                  <a:gd name="connsiteY1" fmla="*/ 15716 h 30479"/>
                  <a:gd name="connsiteX2" fmla="*/ 0 w 85058"/>
                  <a:gd name="connsiteY2" fmla="*/ 0 h 3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058" h="30479">
                    <a:moveTo>
                      <a:pt x="85058" y="30480"/>
                    </a:moveTo>
                    <a:lnTo>
                      <a:pt x="571" y="15716"/>
                    </a:lnTo>
                    <a:cubicBezTo>
                      <a:pt x="1524" y="10287"/>
                      <a:pt x="1238" y="4953"/>
                      <a:pt x="0" y="0"/>
                    </a:cubicBez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DA566C05-8205-4940-ADB2-EE994F2EA719}"/>
                  </a:ext>
                </a:extLst>
              </p:cNvPr>
              <p:cNvSpPr/>
              <p:nvPr/>
            </p:nvSpPr>
            <p:spPr>
              <a:xfrm>
                <a:off x="1727718" y="2782327"/>
                <a:ext cx="161448" cy="57116"/>
              </a:xfrm>
              <a:custGeom>
                <a:avLst/>
                <a:gdLst>
                  <a:gd name="connsiteX0" fmla="*/ 0 w 161448"/>
                  <a:gd name="connsiteY0" fmla="*/ 0 h 57116"/>
                  <a:gd name="connsiteX1" fmla="*/ 95441 w 161448"/>
                  <a:gd name="connsiteY1" fmla="*/ 55817 h 57116"/>
                  <a:gd name="connsiteX2" fmla="*/ 161449 w 161448"/>
                  <a:gd name="connsiteY2" fmla="*/ 0 h 57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1448" h="57116">
                    <a:moveTo>
                      <a:pt x="0" y="0"/>
                    </a:moveTo>
                    <a:cubicBezTo>
                      <a:pt x="13716" y="38767"/>
                      <a:pt x="53626" y="63151"/>
                      <a:pt x="95441" y="55817"/>
                    </a:cubicBezTo>
                    <a:cubicBezTo>
                      <a:pt x="127063" y="50292"/>
                      <a:pt x="151447" y="28194"/>
                      <a:pt x="161449" y="0"/>
                    </a:cubicBez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5" name="Graphic 2">
              <a:extLst>
                <a:ext uri="{FF2B5EF4-FFF2-40B4-BE49-F238E27FC236}">
                  <a16:creationId xmlns:a16="http://schemas.microsoft.com/office/drawing/2014/main" id="{9E440209-1566-485A-A7B9-CE37439765E2}"/>
                </a:ext>
              </a:extLst>
            </p:cNvPr>
            <p:cNvGrpSpPr/>
            <p:nvPr/>
          </p:nvGrpSpPr>
          <p:grpSpPr>
            <a:xfrm>
              <a:off x="1513149" y="2353663"/>
              <a:ext cx="590568" cy="357877"/>
              <a:chOff x="1513149" y="2353663"/>
              <a:chExt cx="590568" cy="357877"/>
            </a:xfrm>
            <a:noFill/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511F3C49-BFE4-4DC2-9982-DAF115DD11DF}"/>
                  </a:ext>
                </a:extLst>
              </p:cNvPr>
              <p:cNvSpPr/>
              <p:nvPr/>
            </p:nvSpPr>
            <p:spPr>
              <a:xfrm rot="-593171">
                <a:off x="1531956" y="2399150"/>
                <a:ext cx="552953" cy="266903"/>
              </a:xfrm>
              <a:custGeom>
                <a:avLst/>
                <a:gdLst>
                  <a:gd name="connsiteX0" fmla="*/ 0 w 552953"/>
                  <a:gd name="connsiteY0" fmla="*/ 0 h 266903"/>
                  <a:gd name="connsiteX1" fmla="*/ 552954 w 552953"/>
                  <a:gd name="connsiteY1" fmla="*/ 0 h 266903"/>
                  <a:gd name="connsiteX2" fmla="*/ 552954 w 552953"/>
                  <a:gd name="connsiteY2" fmla="*/ 266904 h 266903"/>
                  <a:gd name="connsiteX3" fmla="*/ 0 w 552953"/>
                  <a:gd name="connsiteY3" fmla="*/ 266904 h 266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953" h="266903">
                    <a:moveTo>
                      <a:pt x="0" y="0"/>
                    </a:moveTo>
                    <a:lnTo>
                      <a:pt x="552954" y="0"/>
                    </a:lnTo>
                    <a:lnTo>
                      <a:pt x="552954" y="266904"/>
                    </a:lnTo>
                    <a:lnTo>
                      <a:pt x="0" y="266904"/>
                    </a:lnTo>
                    <a:close/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5345DDF-CFD4-46B2-8EFD-76D9E8D0D7AD}"/>
                  </a:ext>
                </a:extLst>
              </p:cNvPr>
              <p:cNvSpPr/>
              <p:nvPr/>
            </p:nvSpPr>
            <p:spPr>
              <a:xfrm>
                <a:off x="1574842" y="2466097"/>
                <a:ext cx="144970" cy="183832"/>
              </a:xfrm>
              <a:custGeom>
                <a:avLst/>
                <a:gdLst>
                  <a:gd name="connsiteX0" fmla="*/ 144970 w 144970"/>
                  <a:gd name="connsiteY0" fmla="*/ 169069 h 183832"/>
                  <a:gd name="connsiteX1" fmla="*/ 60484 w 144970"/>
                  <a:gd name="connsiteY1" fmla="*/ 183833 h 183832"/>
                  <a:gd name="connsiteX2" fmla="*/ 16383 w 144970"/>
                  <a:gd name="connsiteY2" fmla="*/ 152781 h 183832"/>
                  <a:gd name="connsiteX3" fmla="*/ 0 w 144970"/>
                  <a:gd name="connsiteY3" fmla="*/ 58865 h 183832"/>
                  <a:gd name="connsiteX4" fmla="*/ 31051 w 144970"/>
                  <a:gd name="connsiteY4" fmla="*/ 14764 h 183832"/>
                  <a:gd name="connsiteX5" fmla="*/ 115538 w 144970"/>
                  <a:gd name="connsiteY5" fmla="*/ 0 h 18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70" h="183832">
                    <a:moveTo>
                      <a:pt x="144970" y="169069"/>
                    </a:moveTo>
                    <a:lnTo>
                      <a:pt x="60484" y="183833"/>
                    </a:lnTo>
                    <a:cubicBezTo>
                      <a:pt x="56864" y="163068"/>
                      <a:pt x="37147" y="149162"/>
                      <a:pt x="16383" y="152781"/>
                    </a:cubicBezTo>
                    <a:lnTo>
                      <a:pt x="0" y="58865"/>
                    </a:lnTo>
                    <a:cubicBezTo>
                      <a:pt x="20765" y="55245"/>
                      <a:pt x="34671" y="35528"/>
                      <a:pt x="31051" y="14764"/>
                    </a:cubicBezTo>
                    <a:lnTo>
                      <a:pt x="115538" y="0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ED136D5F-AE00-4223-9E48-BE826048DDE9}"/>
                  </a:ext>
                </a:extLst>
              </p:cNvPr>
              <p:cNvSpPr/>
              <p:nvPr/>
            </p:nvSpPr>
            <p:spPr>
              <a:xfrm>
                <a:off x="1896977" y="2415328"/>
                <a:ext cx="144970" cy="183832"/>
              </a:xfrm>
              <a:custGeom>
                <a:avLst/>
                <a:gdLst>
                  <a:gd name="connsiteX0" fmla="*/ 0 w 144970"/>
                  <a:gd name="connsiteY0" fmla="*/ 14764 h 183832"/>
                  <a:gd name="connsiteX1" fmla="*/ 84487 w 144970"/>
                  <a:gd name="connsiteY1" fmla="*/ 0 h 183832"/>
                  <a:gd name="connsiteX2" fmla="*/ 128588 w 144970"/>
                  <a:gd name="connsiteY2" fmla="*/ 31052 h 183832"/>
                  <a:gd name="connsiteX3" fmla="*/ 144971 w 144970"/>
                  <a:gd name="connsiteY3" fmla="*/ 124968 h 183832"/>
                  <a:gd name="connsiteX4" fmla="*/ 113919 w 144970"/>
                  <a:gd name="connsiteY4" fmla="*/ 169069 h 183832"/>
                  <a:gd name="connsiteX5" fmla="*/ 29432 w 144970"/>
                  <a:gd name="connsiteY5" fmla="*/ 183832 h 18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70" h="183832">
                    <a:moveTo>
                      <a:pt x="0" y="14764"/>
                    </a:moveTo>
                    <a:lnTo>
                      <a:pt x="84487" y="0"/>
                    </a:lnTo>
                    <a:cubicBezTo>
                      <a:pt x="88106" y="20765"/>
                      <a:pt x="107823" y="34671"/>
                      <a:pt x="128588" y="31052"/>
                    </a:cubicBezTo>
                    <a:lnTo>
                      <a:pt x="144971" y="124968"/>
                    </a:lnTo>
                    <a:cubicBezTo>
                      <a:pt x="124206" y="128588"/>
                      <a:pt x="110300" y="148304"/>
                      <a:pt x="113919" y="169069"/>
                    </a:cubicBezTo>
                    <a:lnTo>
                      <a:pt x="29432" y="183832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85E3C98-ACB2-4EDC-A031-6C2AEA405246}"/>
                  </a:ext>
                </a:extLst>
              </p:cNvPr>
              <p:cNvSpPr/>
              <p:nvPr/>
            </p:nvSpPr>
            <p:spPr>
              <a:xfrm>
                <a:off x="1722628" y="2448981"/>
                <a:ext cx="171438" cy="171462"/>
              </a:xfrm>
              <a:custGeom>
                <a:avLst/>
                <a:gdLst>
                  <a:gd name="connsiteX0" fmla="*/ 170158 w 171438"/>
                  <a:gd name="connsiteY0" fmla="*/ 71027 h 171462"/>
                  <a:gd name="connsiteX1" fmla="*/ 100435 w 171438"/>
                  <a:gd name="connsiteY1" fmla="*/ 170183 h 171462"/>
                  <a:gd name="connsiteX2" fmla="*/ 1280 w 171438"/>
                  <a:gd name="connsiteY2" fmla="*/ 100460 h 171462"/>
                  <a:gd name="connsiteX3" fmla="*/ 71003 w 171438"/>
                  <a:gd name="connsiteY3" fmla="*/ 1304 h 171462"/>
                  <a:gd name="connsiteX4" fmla="*/ 170158 w 171438"/>
                  <a:gd name="connsiteY4" fmla="*/ 71027 h 1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38" h="171462">
                    <a:moveTo>
                      <a:pt x="170158" y="71027"/>
                    </a:moveTo>
                    <a:cubicBezTo>
                      <a:pt x="178255" y="117700"/>
                      <a:pt x="147108" y="162087"/>
                      <a:pt x="100435" y="170183"/>
                    </a:cubicBezTo>
                    <a:cubicBezTo>
                      <a:pt x="53763" y="178279"/>
                      <a:pt x="9376" y="147132"/>
                      <a:pt x="1280" y="100460"/>
                    </a:cubicBezTo>
                    <a:cubicBezTo>
                      <a:pt x="-6816" y="53787"/>
                      <a:pt x="24331" y="9401"/>
                      <a:pt x="71003" y="1304"/>
                    </a:cubicBezTo>
                    <a:cubicBezTo>
                      <a:pt x="117676" y="-6887"/>
                      <a:pt x="162062" y="24355"/>
                      <a:pt x="170158" y="71027"/>
                    </a:cubicBezTo>
                    <a:close/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6" name="Graphic 2">
              <a:extLst>
                <a:ext uri="{FF2B5EF4-FFF2-40B4-BE49-F238E27FC236}">
                  <a16:creationId xmlns:a16="http://schemas.microsoft.com/office/drawing/2014/main" id="{0B770E30-B03E-42D6-8436-9186C2262CA3}"/>
                </a:ext>
              </a:extLst>
            </p:cNvPr>
            <p:cNvGrpSpPr/>
            <p:nvPr/>
          </p:nvGrpSpPr>
          <p:grpSpPr>
            <a:xfrm>
              <a:off x="1532170" y="2563252"/>
              <a:ext cx="552450" cy="219075"/>
              <a:chOff x="1532170" y="2563252"/>
              <a:chExt cx="552450" cy="219075"/>
            </a:xfrm>
            <a:noFill/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9355540-B732-4A85-AA31-5FAF32E0D91E}"/>
                  </a:ext>
                </a:extLst>
              </p:cNvPr>
              <p:cNvSpPr/>
              <p:nvPr/>
            </p:nvSpPr>
            <p:spPr>
              <a:xfrm>
                <a:off x="1532170" y="2563252"/>
                <a:ext cx="552450" cy="219075"/>
              </a:xfrm>
              <a:custGeom>
                <a:avLst/>
                <a:gdLst>
                  <a:gd name="connsiteX0" fmla="*/ 552450 w 552450"/>
                  <a:gd name="connsiteY0" fmla="*/ 114300 h 219075"/>
                  <a:gd name="connsiteX1" fmla="*/ 552450 w 552450"/>
                  <a:gd name="connsiteY1" fmla="*/ 219075 h 219075"/>
                  <a:gd name="connsiteX2" fmla="*/ 0 w 552450"/>
                  <a:gd name="connsiteY2" fmla="*/ 219075 h 219075"/>
                  <a:gd name="connsiteX3" fmla="*/ 0 w 552450"/>
                  <a:gd name="connsiteY3" fmla="*/ 0 h 2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219075">
                    <a:moveTo>
                      <a:pt x="552450" y="114300"/>
                    </a:moveTo>
                    <a:lnTo>
                      <a:pt x="552450" y="219075"/>
                    </a:lnTo>
                    <a:lnTo>
                      <a:pt x="0" y="219075"/>
                    </a:lnTo>
                    <a:lnTo>
                      <a:pt x="0" y="0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8CDD4F6-FB30-447F-B347-7F3607C0D116}"/>
                  </a:ext>
                </a:extLst>
              </p:cNvPr>
              <p:cNvSpPr/>
              <p:nvPr/>
            </p:nvSpPr>
            <p:spPr>
              <a:xfrm>
                <a:off x="1602274" y="2704031"/>
                <a:ext cx="101345" cy="30670"/>
              </a:xfrm>
              <a:custGeom>
                <a:avLst/>
                <a:gdLst>
                  <a:gd name="connsiteX0" fmla="*/ 101346 w 101345"/>
                  <a:gd name="connsiteY0" fmla="*/ 30671 h 30670"/>
                  <a:gd name="connsiteX1" fmla="*/ 15621 w 101345"/>
                  <a:gd name="connsiteY1" fmla="*/ 30671 h 30670"/>
                  <a:gd name="connsiteX2" fmla="*/ 0 w 101345"/>
                  <a:gd name="connsiteY2" fmla="*/ 0 h 3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345" h="30670">
                    <a:moveTo>
                      <a:pt x="101346" y="30671"/>
                    </a:moveTo>
                    <a:lnTo>
                      <a:pt x="15621" y="30671"/>
                    </a:lnTo>
                    <a:cubicBezTo>
                      <a:pt x="15621" y="18097"/>
                      <a:pt x="9430" y="6953"/>
                      <a:pt x="0" y="0"/>
                    </a:cubicBez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4A3A569-9E48-4216-8590-4DC8F823C72B}"/>
                  </a:ext>
                </a:extLst>
              </p:cNvPr>
              <p:cNvSpPr/>
              <p:nvPr/>
            </p:nvSpPr>
            <p:spPr>
              <a:xfrm>
                <a:off x="1913170" y="2687077"/>
                <a:ext cx="123825" cy="47625"/>
              </a:xfrm>
              <a:custGeom>
                <a:avLst/>
                <a:gdLst>
                  <a:gd name="connsiteX0" fmla="*/ 123825 w 123825"/>
                  <a:gd name="connsiteY0" fmla="*/ 0 h 47625"/>
                  <a:gd name="connsiteX1" fmla="*/ 123825 w 123825"/>
                  <a:gd name="connsiteY1" fmla="*/ 9525 h 47625"/>
                  <a:gd name="connsiteX2" fmla="*/ 85725 w 123825"/>
                  <a:gd name="connsiteY2" fmla="*/ 47625 h 47625"/>
                  <a:gd name="connsiteX3" fmla="*/ 0 w 123825"/>
                  <a:gd name="connsiteY3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47625">
                    <a:moveTo>
                      <a:pt x="123825" y="0"/>
                    </a:moveTo>
                    <a:lnTo>
                      <a:pt x="123825" y="9525"/>
                    </a:lnTo>
                    <a:cubicBezTo>
                      <a:pt x="102775" y="9525"/>
                      <a:pt x="85725" y="26575"/>
                      <a:pt x="85725" y="4762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409B8E1-8C2E-44B4-922C-647F77868276}"/>
                  </a:ext>
                </a:extLst>
              </p:cNvPr>
              <p:cNvSpPr/>
              <p:nvPr/>
            </p:nvSpPr>
            <p:spPr>
              <a:xfrm>
                <a:off x="1726099" y="2653263"/>
                <a:ext cx="167910" cy="90998"/>
              </a:xfrm>
              <a:custGeom>
                <a:avLst/>
                <a:gdLst>
                  <a:gd name="connsiteX0" fmla="*/ 0 w 167910"/>
                  <a:gd name="connsiteY0" fmla="*/ 29242 h 90998"/>
                  <a:gd name="connsiteX1" fmla="*/ 96964 w 167910"/>
                  <a:gd name="connsiteY1" fmla="*/ 89725 h 90998"/>
                  <a:gd name="connsiteX2" fmla="*/ 167735 w 167910"/>
                  <a:gd name="connsiteY2" fmla="*/ 0 h 90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910" h="90998">
                    <a:moveTo>
                      <a:pt x="0" y="29242"/>
                    </a:moveTo>
                    <a:cubicBezTo>
                      <a:pt x="12001" y="70675"/>
                      <a:pt x="53530" y="97250"/>
                      <a:pt x="96964" y="89725"/>
                    </a:cubicBezTo>
                    <a:cubicBezTo>
                      <a:pt x="140399" y="82106"/>
                      <a:pt x="170497" y="43053"/>
                      <a:pt x="167735" y="0"/>
                    </a:cubicBezTo>
                  </a:path>
                </a:pathLst>
              </a:custGeom>
              <a:noFill/>
              <a:ln w="34925" cap="flat">
                <a:solidFill>
                  <a:srgbClr val="B0221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0E836B-4519-4851-ADBF-9F5FCD373F8C}"/>
              </a:ext>
            </a:extLst>
          </p:cNvPr>
          <p:cNvGrpSpPr>
            <a:grpSpLocks/>
          </p:cNvGrpSpPr>
          <p:nvPr/>
        </p:nvGrpSpPr>
        <p:grpSpPr>
          <a:xfrm>
            <a:off x="5454865" y="1268966"/>
            <a:ext cx="4300095" cy="1998109"/>
            <a:chOff x="6912699" y="1268967"/>
            <a:chExt cx="1881258" cy="874157"/>
          </a:xfrm>
          <a:gradFill>
            <a:gsLst>
              <a:gs pos="12000">
                <a:srgbClr val="C92723">
                  <a:lumMod val="75000"/>
                </a:srgbClr>
              </a:gs>
              <a:gs pos="100000">
                <a:srgbClr val="C92723"/>
              </a:gs>
            </a:gsLst>
            <a:lin ang="0" scaled="1"/>
          </a:gradFill>
        </p:grpSpPr>
        <p:sp>
          <p:nvSpPr>
            <p:cNvPr id="61" name="Arrow: Chevron 60">
              <a:extLst>
                <a:ext uri="{FF2B5EF4-FFF2-40B4-BE49-F238E27FC236}">
                  <a16:creationId xmlns:a16="http://schemas.microsoft.com/office/drawing/2014/main" id="{1B547A66-D3AA-435E-A9D8-EF8A79AF2110}"/>
                </a:ext>
              </a:extLst>
            </p:cNvPr>
            <p:cNvSpPr/>
            <p:nvPr/>
          </p:nvSpPr>
          <p:spPr>
            <a:xfrm>
              <a:off x="6912699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2" name="Arrow: Chevron 61">
              <a:extLst>
                <a:ext uri="{FF2B5EF4-FFF2-40B4-BE49-F238E27FC236}">
                  <a16:creationId xmlns:a16="http://schemas.microsoft.com/office/drawing/2014/main" id="{CB8D7944-B085-430E-A84E-90F8C0DC82C8}"/>
                </a:ext>
              </a:extLst>
            </p:cNvPr>
            <p:cNvSpPr/>
            <p:nvPr/>
          </p:nvSpPr>
          <p:spPr>
            <a:xfrm>
              <a:off x="7385377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3" name="Arrow: Chevron 62">
              <a:extLst>
                <a:ext uri="{FF2B5EF4-FFF2-40B4-BE49-F238E27FC236}">
                  <a16:creationId xmlns:a16="http://schemas.microsoft.com/office/drawing/2014/main" id="{06F7775D-1513-4014-B642-9426E68966E9}"/>
                </a:ext>
              </a:extLst>
            </p:cNvPr>
            <p:cNvSpPr/>
            <p:nvPr/>
          </p:nvSpPr>
          <p:spPr>
            <a:xfrm>
              <a:off x="7858055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AF85CB9D-20CB-48A4-9BB5-41246141C746}"/>
                </a:ext>
              </a:extLst>
            </p:cNvPr>
            <p:cNvSpPr/>
            <p:nvPr/>
          </p:nvSpPr>
          <p:spPr>
            <a:xfrm>
              <a:off x="8330734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2" name="2. Slide Title">
            <a:extLst>
              <a:ext uri="{FF2B5EF4-FFF2-40B4-BE49-F238E27FC236}">
                <a16:creationId xmlns:a16="http://schemas.microsoft.com/office/drawing/2014/main" id="{F4B0F27D-5645-420C-A8E3-FC0F885C46B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История презентации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B029DFE-922F-4C3D-A345-4BF2609AAC14}"/>
              </a:ext>
            </a:extLst>
          </p:cNvPr>
          <p:cNvSpPr>
            <a:spLocks/>
          </p:cNvSpPr>
          <p:nvPr/>
        </p:nvSpPr>
        <p:spPr>
          <a:xfrm>
            <a:off x="554736" y="1375434"/>
            <a:ext cx="11294362" cy="5292066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CDB3C0A3-089A-461E-9923-8C29AEAA486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17022198"/>
                  </p:ext>
                </p:extLst>
              </p:nvPr>
            </p:nvGraphicFramePr>
            <p:xfrm>
              <a:off x="790374" y="1579606"/>
              <a:ext cx="2737412" cy="1539794"/>
            </p:xfrm>
            <a:graphic>
              <a:graphicData uri="http://schemas.microsoft.com/office/powerpoint/2016/slidezoom">
                <pslz:sldZm>
                  <pslz:sldZmObj sldId="2145706638" cId="2402789117">
                    <pslz:zmPr id="{EB01D19C-0B84-479D-857F-3801AD03BC0C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CDB3C0A3-089A-461E-9923-8C29AEAA48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0374" y="157960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85FC06AA-14FA-4CB1-A862-8E3DB7F9A9E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2480550"/>
                  </p:ext>
                </p:extLst>
              </p:nvPr>
            </p:nvGraphicFramePr>
            <p:xfrm>
              <a:off x="4619455" y="1579606"/>
              <a:ext cx="2737412" cy="1539794"/>
            </p:xfrm>
            <a:graphic>
              <a:graphicData uri="http://schemas.microsoft.com/office/powerpoint/2016/slidezoom">
                <pslz:sldZm>
                  <pslz:sldZmObj sldId="2145706634" cId="2495994329">
                    <pslz:zmPr id="{115510B1-2DB5-4DDF-B999-9C5D5CD95124}" returnToParent="0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85FC06AA-14FA-4CB1-A862-8E3DB7F9A9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19455" y="157960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22A3A088-F8A7-499D-A423-6631DEBC4FF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6006568"/>
                  </p:ext>
                </p:extLst>
              </p:nvPr>
            </p:nvGraphicFramePr>
            <p:xfrm>
              <a:off x="808242" y="4959086"/>
              <a:ext cx="2737412" cy="1539794"/>
            </p:xfrm>
            <a:graphic>
              <a:graphicData uri="http://schemas.microsoft.com/office/powerpoint/2016/slidezoom">
                <pslz:sldZm>
                  <pslz:sldZmObj sldId="2145706628" cId="3595016454">
                    <pslz:zmPr id="{DF4F121D-1706-4104-BFC1-0E763C6F5D77}" returnToParent="0" transitionDur="100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22A3A088-F8A7-499D-A423-6631DEBC4F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8242" y="495908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AE2EFD4D-9476-4CB4-9FC0-A6AB81F10F1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9327208"/>
                  </p:ext>
                </p:extLst>
              </p:nvPr>
            </p:nvGraphicFramePr>
            <p:xfrm>
              <a:off x="8448537" y="1579606"/>
              <a:ext cx="2737412" cy="1539794"/>
            </p:xfrm>
            <a:graphic>
              <a:graphicData uri="http://schemas.microsoft.com/office/powerpoint/2016/slidezoom">
                <pslz:sldZm>
                  <pslz:sldZmObj sldId="2145706647" cId="1755783210">
                    <pslz:zmPr id="{8B9F9BAC-1A90-4B27-A1D1-3D32BC994063}" returnToParent="0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AE2EFD4D-9476-4CB4-9FC0-A6AB81F10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48537" y="157960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A9D9A73-2A99-46C0-BD94-A47362D2D32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38007017"/>
                  </p:ext>
                </p:extLst>
              </p:nvPr>
            </p:nvGraphicFramePr>
            <p:xfrm>
              <a:off x="4619455" y="3274725"/>
              <a:ext cx="2737412" cy="1539794"/>
            </p:xfrm>
            <a:graphic>
              <a:graphicData uri="http://schemas.microsoft.com/office/powerpoint/2016/slidezoom">
                <pslz:sldZm>
                  <pslz:sldZmObj sldId="2145706619" cId="669695368">
                    <pslz:zmPr id="{2A3A6EA9-D883-457B-B227-BB335B6F1184}" returnToParent="0" transitionDur="1000">
                      <p166:blipFill xmlns:p166="http://schemas.microsoft.com/office/powerpoint/2016/6/main">
                        <a:blip r:embed="rId2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EA9D9A73-2A99-46C0-BD94-A47362D2D3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19455" y="3274725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E6F63CFC-EC52-4F9D-AE18-9EE5887FC0E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94972533"/>
                  </p:ext>
                </p:extLst>
              </p:nvPr>
            </p:nvGraphicFramePr>
            <p:xfrm>
              <a:off x="8434157" y="3274725"/>
              <a:ext cx="2737412" cy="1539794"/>
            </p:xfrm>
            <a:graphic>
              <a:graphicData uri="http://schemas.microsoft.com/office/powerpoint/2016/slidezoom">
                <pslz:sldZm>
                  <pslz:sldZmObj sldId="2145706637" cId="73453226">
                    <pslz:zmPr id="{46A8BA0F-02BB-44FE-8218-41899EF7CB52}" returnToParent="0" transitionDur="100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31" action="ppaction://hlinksldjump"/>
                <a:extLst>
                  <a:ext uri="{FF2B5EF4-FFF2-40B4-BE49-F238E27FC236}">
                    <a16:creationId xmlns:a16="http://schemas.microsoft.com/office/drawing/2014/main" id="{E6F63CFC-EC52-4F9D-AE18-9EE5887FC0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34157" y="3274725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p:sp>
        <p:nvSpPr>
          <p:cNvPr id="67" name="TrackerNumBlue">
            <a:extLst>
              <a:ext uri="{FF2B5EF4-FFF2-40B4-BE49-F238E27FC236}">
                <a16:creationId xmlns:a16="http://schemas.microsoft.com/office/drawing/2014/main" id="{8B9EED49-F7C2-47AD-B135-B86A7DE5F1E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1386" y="140265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68" name="TrackerNumBlue">
            <a:extLst>
              <a:ext uri="{FF2B5EF4-FFF2-40B4-BE49-F238E27FC236}">
                <a16:creationId xmlns:a16="http://schemas.microsoft.com/office/drawing/2014/main" id="{C3F4C42B-319C-470C-A71A-F99BF878F92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440902" y="140265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2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9" name="TrackerNumBlue">
            <a:extLst>
              <a:ext uri="{FF2B5EF4-FFF2-40B4-BE49-F238E27FC236}">
                <a16:creationId xmlns:a16="http://schemas.microsoft.com/office/drawing/2014/main" id="{72344F21-526B-42E1-8F87-0699F436A6D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279108" y="140265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3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1" name="TrackerNumBlue">
            <a:extLst>
              <a:ext uri="{FF2B5EF4-FFF2-40B4-BE49-F238E27FC236}">
                <a16:creationId xmlns:a16="http://schemas.microsoft.com/office/drawing/2014/main" id="{5AFACC40-FB9F-471D-826A-1020A551E18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440902" y="3183902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5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2" name="TrackerNumBlue">
            <a:extLst>
              <a:ext uri="{FF2B5EF4-FFF2-40B4-BE49-F238E27FC236}">
                <a16:creationId xmlns:a16="http://schemas.microsoft.com/office/drawing/2014/main" id="{0DA79655-E125-4351-BFB9-DEFF9043673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279108" y="3183902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6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9EF6B39E-DEEF-49B3-A35A-87BA13042D9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16276663"/>
                  </p:ext>
                </p:extLst>
              </p:nvPr>
            </p:nvGraphicFramePr>
            <p:xfrm>
              <a:off x="4619456" y="4959086"/>
              <a:ext cx="2737412" cy="1539794"/>
            </p:xfrm>
            <a:graphic>
              <a:graphicData uri="http://schemas.microsoft.com/office/powerpoint/2016/slidezoom">
                <pslz:sldZm>
                  <pslz:sldZmObj sldId="2145706654" cId="3998112167">
                    <pslz:zmPr id="{D314683B-AE90-45D0-A27C-FCA7A01745FC}" returnToParent="0" transitionDur="1000">
                      <p166:blipFill xmlns:p166="http://schemas.microsoft.com/office/powerpoint/2016/6/main">
                        <a:blip r:embed="rId3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4" action="ppaction://hlinksldjump"/>
                <a:extLst>
                  <a:ext uri="{FF2B5EF4-FFF2-40B4-BE49-F238E27FC236}">
                    <a16:creationId xmlns:a16="http://schemas.microsoft.com/office/drawing/2014/main" id="{9EF6B39E-DEEF-49B3-A35A-87BA13042D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19456" y="495908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A84FB273-63FC-4684-8E0B-31A8D50DADF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75466508"/>
                  </p:ext>
                </p:extLst>
              </p:nvPr>
            </p:nvGraphicFramePr>
            <p:xfrm>
              <a:off x="8448537" y="4959086"/>
              <a:ext cx="2737412" cy="1539794"/>
            </p:xfrm>
            <a:graphic>
              <a:graphicData uri="http://schemas.microsoft.com/office/powerpoint/2016/slidezoom">
                <pslz:sldZm>
                  <pslz:sldZmObj sldId="2145706656" cId="3800235872">
                    <pslz:zmPr id="{FE10A130-42A3-4BAD-BD4F-E0AC5E1EE2D6}" returnToParent="0" transitionDur="1000">
                      <p166:blipFill xmlns:p166="http://schemas.microsoft.com/office/powerpoint/2016/6/main">
                        <a:blip r:embed="rId3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accent3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37" action="ppaction://hlinksldjump"/>
                <a:extLst>
                  <a:ext uri="{FF2B5EF4-FFF2-40B4-BE49-F238E27FC236}">
                    <a16:creationId xmlns:a16="http://schemas.microsoft.com/office/drawing/2014/main" id="{A84FB273-63FC-4684-8E0B-31A8D50DAD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48537" y="4959086"/>
                <a:ext cx="2737412" cy="1539794"/>
              </a:xfrm>
              <a:prstGeom prst="rect">
                <a:avLst/>
              </a:prstGeom>
              <a:ln w="19050">
                <a:solidFill>
                  <a:schemeClr val="accent3"/>
                </a:solidFill>
              </a:ln>
            </p:spPr>
          </p:pic>
        </mc:Fallback>
      </mc:AlternateContent>
      <p:sp>
        <p:nvSpPr>
          <p:cNvPr id="73" name="TrackerNumBlue">
            <a:extLst>
              <a:ext uri="{FF2B5EF4-FFF2-40B4-BE49-F238E27FC236}">
                <a16:creationId xmlns:a16="http://schemas.microsoft.com/office/drawing/2014/main" id="{8EC5448A-8270-4BB7-977E-7F161173D7F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269984" y="492893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9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6" name="TrackerNumBlue">
            <a:extLst>
              <a:ext uri="{FF2B5EF4-FFF2-40B4-BE49-F238E27FC236}">
                <a16:creationId xmlns:a16="http://schemas.microsoft.com/office/drawing/2014/main" id="{7A314365-2AC6-4011-AA2A-EE7670FA584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450468" y="492893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8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80BDCEF5-A3D6-4314-8885-8C744BC666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73236984"/>
                  </p:ext>
                </p:extLst>
              </p:nvPr>
            </p:nvGraphicFramePr>
            <p:xfrm>
              <a:off x="790374" y="3274725"/>
              <a:ext cx="2737412" cy="1539794"/>
            </p:xfrm>
            <a:graphic>
              <a:graphicData uri="http://schemas.microsoft.com/office/powerpoint/2016/slidezoom">
                <pslz:sldZm>
                  <pslz:sldZmObj sldId="2145706655" cId="1942294482">
                    <pslz:zmPr id="{5FCDB2FF-ED73-476A-B03E-32CC00678E46}" returnToParent="0" transitionDur="1000">
                      <p166:blipFill xmlns:p166="http://schemas.microsoft.com/office/powerpoint/2016/6/main">
                        <a:blip r:embed="rId3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37412" cy="1539794"/>
                        </a:xfrm>
                        <a:prstGeom prst="rect">
                          <a:avLst/>
                        </a:prstGeom>
                        <a:ln w="19050">
                          <a:solidFill>
                            <a:schemeClr val="tx2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80BDCEF5-A3D6-4314-8885-8C744BC666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0374" y="3274725"/>
                <a:ext cx="2737412" cy="1539794"/>
              </a:xfrm>
              <a:prstGeom prst="rect">
                <a:avLst/>
              </a:prstGeom>
              <a:ln w="19050">
                <a:solidFill>
                  <a:schemeClr val="tx2"/>
                </a:solidFill>
              </a:ln>
            </p:spPr>
          </p:pic>
        </mc:Fallback>
      </mc:AlternateContent>
      <p:sp>
        <p:nvSpPr>
          <p:cNvPr id="70" name="TrackerNumBlue">
            <a:extLst>
              <a:ext uri="{FF2B5EF4-FFF2-40B4-BE49-F238E27FC236}">
                <a16:creationId xmlns:a16="http://schemas.microsoft.com/office/drawing/2014/main" id="{1456E1BA-394E-43A2-AE09-4C24F9044CD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1386" y="3183902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sym typeface="+mn-lt"/>
              </a:rPr>
              <a:t>4</a:t>
            </a:r>
            <a:endParaRPr lang="en-US" sz="14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4" name="TrackerNumBlue">
            <a:extLst>
              <a:ext uri="{FF2B5EF4-FFF2-40B4-BE49-F238E27FC236}">
                <a16:creationId xmlns:a16="http://schemas.microsoft.com/office/drawing/2014/main" id="{24200FF4-44B9-40EC-95BE-4B01DC942B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21386" y="492893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795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8505AAE-794C-469B-A2A9-7ADEC473A8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190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8505AAE-794C-469B-A2A9-7ADEC473A8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6AECE3-E7A7-4D2E-B0E7-3687D2EA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679202B-E34E-439A-BE12-C651B442A179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3276600" y="2613025"/>
            <a:ext cx="5638800" cy="3540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 dirty="0">
                <a:solidFill>
                  <a:schemeClr val="tx2"/>
                </a:solidFill>
              </a:rPr>
              <a:t>1. Организационная м</a:t>
            </a:r>
            <a:r>
              <a:rPr lang="ru-RU" altLang="en-US" b="1" dirty="0">
                <a:solidFill>
                  <a:schemeClr val="tx2"/>
                </a:solidFill>
                <a:effectLst/>
              </a:rPr>
              <a:t>одель масштабирования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12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6D4B0ACD-03DB-466F-A575-3B826183CD4A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3276600" y="2967038"/>
            <a:ext cx="56388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2. Оценка затрат на масштабировани</a:t>
            </a:r>
            <a:r>
              <a:rPr lang="ru-RU" altLang="en-US" dirty="0"/>
              <a:t>е</a:t>
            </a:r>
            <a:endParaRPr lang="ru-RU" altLang="en-US" dirty="0">
              <a:solidFill>
                <a:schemeClr val="tx2"/>
              </a:solidFill>
              <a:effectLst/>
            </a:endParaRPr>
          </a:p>
        </p:txBody>
      </p:sp>
      <p:sp>
        <p:nvSpPr>
          <p:cNvPr id="18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74744B2F-996A-43C5-BC65-FB91F63FC4FC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3276600" y="3322638"/>
            <a:ext cx="5638800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1 – Организационная модель масштабирования</a:t>
            </a:r>
            <a:endParaRPr lang="ru-RU" altLang="en-US" dirty="0"/>
          </a:p>
        </p:txBody>
      </p:sp>
      <p:sp>
        <p:nvSpPr>
          <p:cNvPr id="24" name="Text Placeholder 4">
            <a:hlinkClick r:id="rId11" action="ppaction://hlinksldjump"/>
            <a:extLst>
              <a:ext uri="{FF2B5EF4-FFF2-40B4-BE49-F238E27FC236}">
                <a16:creationId xmlns:a16="http://schemas.microsoft.com/office/drawing/2014/main" id="{9CF181B9-656F-43DB-992A-782E8A444618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276600" y="3890963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2 – Оценка затрат </a:t>
            </a:r>
            <a:r>
              <a:rPr lang="ru-RU" altLang="en-US">
                <a:effectLst/>
              </a:rPr>
              <a:t>на масштабирование</a:t>
            </a:r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87901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Object 55" hidden="1">
            <a:extLst>
              <a:ext uri="{FF2B5EF4-FFF2-40B4-BE49-F238E27FC236}">
                <a16:creationId xmlns:a16="http://schemas.microsoft.com/office/drawing/2014/main" id="{1E9B1514-EDCA-4FE5-AFF5-7FBE22120A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0131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C6ACF4D-6B1E-471F-986E-3C828D02FEB0}"/>
              </a:ext>
            </a:extLst>
          </p:cNvPr>
          <p:cNvSpPr>
            <a:spLocks/>
          </p:cNvSpPr>
          <p:nvPr/>
        </p:nvSpPr>
        <p:spPr>
          <a:xfrm>
            <a:off x="0" y="1268967"/>
            <a:ext cx="12192002" cy="490504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A0D578-5141-42E0-924F-2F5BF187FDA9}"/>
              </a:ext>
            </a:extLst>
          </p:cNvPr>
          <p:cNvSpPr>
            <a:spLocks/>
          </p:cNvSpPr>
          <p:nvPr/>
        </p:nvSpPr>
        <p:spPr>
          <a:xfrm>
            <a:off x="0" y="1268967"/>
            <a:ext cx="10868025" cy="4905046"/>
          </a:xfrm>
          <a:prstGeom prst="rect">
            <a:avLst/>
          </a:prstGeom>
          <a:solidFill>
            <a:schemeClr val="tx2">
              <a:alpha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8DE87E9-52AA-4CC7-98F4-55F2153F8690}"/>
              </a:ext>
            </a:extLst>
          </p:cNvPr>
          <p:cNvSpPr>
            <a:spLocks/>
          </p:cNvSpPr>
          <p:nvPr/>
        </p:nvSpPr>
        <p:spPr>
          <a:xfrm>
            <a:off x="637737" y="1268967"/>
            <a:ext cx="4820088" cy="4750833"/>
          </a:xfrm>
          <a:custGeom>
            <a:avLst/>
            <a:gdLst>
              <a:gd name="connsiteX0" fmla="*/ 126982 w 6795842"/>
              <a:gd name="connsiteY0" fmla="*/ 0 h 4401456"/>
              <a:gd name="connsiteX1" fmla="*/ 6262009 w 6795842"/>
              <a:gd name="connsiteY1" fmla="*/ 0 h 4401456"/>
              <a:gd name="connsiteX2" fmla="*/ 6388991 w 6795842"/>
              <a:gd name="connsiteY2" fmla="*/ 126982 h 4401456"/>
              <a:gd name="connsiteX3" fmla="*/ 6388991 w 6795842"/>
              <a:gd name="connsiteY3" fmla="*/ 1460045 h 4401456"/>
              <a:gd name="connsiteX4" fmla="*/ 6396308 w 6795842"/>
              <a:gd name="connsiteY4" fmla="*/ 1472411 h 4401456"/>
              <a:gd name="connsiteX5" fmla="*/ 6770325 w 6795842"/>
              <a:gd name="connsiteY5" fmla="*/ 2104479 h 4401456"/>
              <a:gd name="connsiteX6" fmla="*/ 6770325 w 6795842"/>
              <a:gd name="connsiteY6" fmla="*/ 2290938 h 4401456"/>
              <a:gd name="connsiteX7" fmla="*/ 6396308 w 6795842"/>
              <a:gd name="connsiteY7" fmla="*/ 2923006 h 4401456"/>
              <a:gd name="connsiteX8" fmla="*/ 6388991 w 6795842"/>
              <a:gd name="connsiteY8" fmla="*/ 2935371 h 4401456"/>
              <a:gd name="connsiteX9" fmla="*/ 6388991 w 6795842"/>
              <a:gd name="connsiteY9" fmla="*/ 4274474 h 4401456"/>
              <a:gd name="connsiteX10" fmla="*/ 6262009 w 6795842"/>
              <a:gd name="connsiteY10" fmla="*/ 4401456 h 4401456"/>
              <a:gd name="connsiteX11" fmla="*/ 126982 w 6795842"/>
              <a:gd name="connsiteY11" fmla="*/ 4401456 h 4401456"/>
              <a:gd name="connsiteX12" fmla="*/ 0 w 6795842"/>
              <a:gd name="connsiteY12" fmla="*/ 4274474 h 4401456"/>
              <a:gd name="connsiteX13" fmla="*/ 0 w 6795842"/>
              <a:gd name="connsiteY13" fmla="*/ 126982 h 4401456"/>
              <a:gd name="connsiteX14" fmla="*/ 126982 w 6795842"/>
              <a:gd name="connsiteY14" fmla="*/ 0 h 4401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795842" h="4401456">
                <a:moveTo>
                  <a:pt x="126982" y="0"/>
                </a:moveTo>
                <a:lnTo>
                  <a:pt x="6262009" y="0"/>
                </a:lnTo>
                <a:cubicBezTo>
                  <a:pt x="6332139" y="0"/>
                  <a:pt x="6388991" y="56852"/>
                  <a:pt x="6388991" y="126982"/>
                </a:cubicBezTo>
                <a:lnTo>
                  <a:pt x="6388991" y="1460045"/>
                </a:lnTo>
                <a:lnTo>
                  <a:pt x="6396308" y="1472411"/>
                </a:lnTo>
                <a:cubicBezTo>
                  <a:pt x="6512337" y="1668493"/>
                  <a:pt x="6683350" y="1957496"/>
                  <a:pt x="6770325" y="2104479"/>
                </a:cubicBezTo>
                <a:cubicBezTo>
                  <a:pt x="6804348" y="2161975"/>
                  <a:pt x="6804348" y="2233441"/>
                  <a:pt x="6770325" y="2290938"/>
                </a:cubicBezTo>
                <a:cubicBezTo>
                  <a:pt x="6683350" y="2437921"/>
                  <a:pt x="6512337" y="2726924"/>
                  <a:pt x="6396308" y="2923006"/>
                </a:cubicBezTo>
                <a:lnTo>
                  <a:pt x="6388991" y="2935371"/>
                </a:lnTo>
                <a:lnTo>
                  <a:pt x="6388991" y="4274474"/>
                </a:lnTo>
                <a:cubicBezTo>
                  <a:pt x="6388991" y="4344604"/>
                  <a:pt x="6332139" y="4401456"/>
                  <a:pt x="6262009" y="4401456"/>
                </a:cubicBezTo>
                <a:lnTo>
                  <a:pt x="126982" y="4401456"/>
                </a:lnTo>
                <a:cubicBezTo>
                  <a:pt x="56852" y="4401456"/>
                  <a:pt x="0" y="4344604"/>
                  <a:pt x="0" y="4274474"/>
                </a:cubicBezTo>
                <a:lnTo>
                  <a:pt x="0" y="126982"/>
                </a:lnTo>
                <a:cubicBezTo>
                  <a:pt x="0" y="56852"/>
                  <a:pt x="56852" y="0"/>
                  <a:pt x="12698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D318D09A-3B87-4F50-92A8-278154624E9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/>
              <a:t>В лучших мировых практиках масштабное внедрение «умных» сервисов требует централизации управления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C7970-63D6-4AC4-9528-E824D018EBA7}"/>
              </a:ext>
            </a:extLst>
          </p:cNvPr>
          <p:cNvSpPr txBox="1"/>
          <p:nvPr/>
        </p:nvSpPr>
        <p:spPr>
          <a:xfrm>
            <a:off x="9212228" y="2433686"/>
            <a:ext cx="2678534" cy="193899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ru-RU" sz="1800" dirty="0">
                <a:solidFill>
                  <a:srgbClr val="FFFFFF"/>
                </a:solidFill>
              </a:rPr>
              <a:t>Эффективное масштабирование сервисов в Москве требует создания </a:t>
            </a:r>
            <a:r>
              <a:rPr lang="ru-RU" sz="1800" b="1" dirty="0">
                <a:solidFill>
                  <a:srgbClr val="FFFFFF"/>
                </a:solidFill>
              </a:rPr>
              <a:t>централизованного управленческого механизма</a:t>
            </a: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7EA58-DAC4-4622-BFEB-5CD9BB82CBDE}"/>
              </a:ext>
            </a:extLst>
          </p:cNvPr>
          <p:cNvSpPr>
            <a:spLocks/>
          </p:cNvSpPr>
          <p:nvPr/>
        </p:nvSpPr>
        <p:spPr>
          <a:xfrm>
            <a:off x="3593634" y="1268967"/>
            <a:ext cx="5313811" cy="4750833"/>
          </a:xfrm>
          <a:custGeom>
            <a:avLst/>
            <a:gdLst>
              <a:gd name="connsiteX0" fmla="*/ 126982 w 6795842"/>
              <a:gd name="connsiteY0" fmla="*/ 0 h 4401456"/>
              <a:gd name="connsiteX1" fmla="*/ 6262009 w 6795842"/>
              <a:gd name="connsiteY1" fmla="*/ 0 h 4401456"/>
              <a:gd name="connsiteX2" fmla="*/ 6388991 w 6795842"/>
              <a:gd name="connsiteY2" fmla="*/ 126982 h 4401456"/>
              <a:gd name="connsiteX3" fmla="*/ 6388991 w 6795842"/>
              <a:gd name="connsiteY3" fmla="*/ 1460045 h 4401456"/>
              <a:gd name="connsiteX4" fmla="*/ 6396308 w 6795842"/>
              <a:gd name="connsiteY4" fmla="*/ 1472411 h 4401456"/>
              <a:gd name="connsiteX5" fmla="*/ 6770325 w 6795842"/>
              <a:gd name="connsiteY5" fmla="*/ 2104479 h 4401456"/>
              <a:gd name="connsiteX6" fmla="*/ 6770325 w 6795842"/>
              <a:gd name="connsiteY6" fmla="*/ 2290938 h 4401456"/>
              <a:gd name="connsiteX7" fmla="*/ 6396308 w 6795842"/>
              <a:gd name="connsiteY7" fmla="*/ 2923006 h 4401456"/>
              <a:gd name="connsiteX8" fmla="*/ 6388991 w 6795842"/>
              <a:gd name="connsiteY8" fmla="*/ 2935371 h 4401456"/>
              <a:gd name="connsiteX9" fmla="*/ 6388991 w 6795842"/>
              <a:gd name="connsiteY9" fmla="*/ 4274474 h 4401456"/>
              <a:gd name="connsiteX10" fmla="*/ 6262009 w 6795842"/>
              <a:gd name="connsiteY10" fmla="*/ 4401456 h 4401456"/>
              <a:gd name="connsiteX11" fmla="*/ 126982 w 6795842"/>
              <a:gd name="connsiteY11" fmla="*/ 4401456 h 4401456"/>
              <a:gd name="connsiteX12" fmla="*/ 0 w 6795842"/>
              <a:gd name="connsiteY12" fmla="*/ 4274474 h 4401456"/>
              <a:gd name="connsiteX13" fmla="*/ 0 w 6795842"/>
              <a:gd name="connsiteY13" fmla="*/ 126982 h 4401456"/>
              <a:gd name="connsiteX14" fmla="*/ 126982 w 6795842"/>
              <a:gd name="connsiteY14" fmla="*/ 0 h 4401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795842" h="4401456">
                <a:moveTo>
                  <a:pt x="126982" y="0"/>
                </a:moveTo>
                <a:lnTo>
                  <a:pt x="6262009" y="0"/>
                </a:lnTo>
                <a:cubicBezTo>
                  <a:pt x="6332139" y="0"/>
                  <a:pt x="6388991" y="56852"/>
                  <a:pt x="6388991" y="126982"/>
                </a:cubicBezTo>
                <a:lnTo>
                  <a:pt x="6388991" y="1460045"/>
                </a:lnTo>
                <a:lnTo>
                  <a:pt x="6396308" y="1472411"/>
                </a:lnTo>
                <a:cubicBezTo>
                  <a:pt x="6512337" y="1668493"/>
                  <a:pt x="6683350" y="1957496"/>
                  <a:pt x="6770325" y="2104479"/>
                </a:cubicBezTo>
                <a:cubicBezTo>
                  <a:pt x="6804348" y="2161975"/>
                  <a:pt x="6804348" y="2233441"/>
                  <a:pt x="6770325" y="2290938"/>
                </a:cubicBezTo>
                <a:cubicBezTo>
                  <a:pt x="6683350" y="2437921"/>
                  <a:pt x="6512337" y="2726924"/>
                  <a:pt x="6396308" y="2923006"/>
                </a:cubicBezTo>
                <a:lnTo>
                  <a:pt x="6388991" y="2935371"/>
                </a:lnTo>
                <a:lnTo>
                  <a:pt x="6388991" y="4274474"/>
                </a:lnTo>
                <a:cubicBezTo>
                  <a:pt x="6388991" y="4344604"/>
                  <a:pt x="6332139" y="4401456"/>
                  <a:pt x="6262009" y="4401456"/>
                </a:cubicBezTo>
                <a:lnTo>
                  <a:pt x="126982" y="4401456"/>
                </a:lnTo>
                <a:cubicBezTo>
                  <a:pt x="56852" y="4401456"/>
                  <a:pt x="0" y="4344604"/>
                  <a:pt x="0" y="4274474"/>
                </a:cubicBezTo>
                <a:lnTo>
                  <a:pt x="0" y="126982"/>
                </a:lnTo>
                <a:cubicBezTo>
                  <a:pt x="0" y="56852"/>
                  <a:pt x="56852" y="0"/>
                  <a:pt x="126982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AEDCFA-94C7-43A9-9E85-C356DB78B21D}"/>
              </a:ext>
            </a:extLst>
          </p:cNvPr>
          <p:cNvSpPr txBox="1">
            <a:spLocks/>
          </p:cNvSpPr>
          <p:nvPr/>
        </p:nvSpPr>
        <p:spPr>
          <a:xfrm>
            <a:off x="3824216" y="1238470"/>
            <a:ext cx="3504064" cy="3885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solidFill>
                  <a:schemeClr val="accent3"/>
                </a:solidFill>
              </a:rPr>
              <a:t>Лучшие международные практики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A5CF8-C7AC-40BF-A307-39DA82C49693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843263" y="1839553"/>
            <a:ext cx="4548259" cy="714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900"/>
              </a:spcBef>
              <a:buSzPct val="100000"/>
            </a:pP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Ключевую роль во внедрении «умных» сервисов в масштабе города играет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единая уполномоченная структура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, отвечающая за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управление проектом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, 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координацию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сторон и установку стандартов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D8342C-836A-489B-84CE-FA4D44014D85}"/>
              </a:ext>
            </a:extLst>
          </p:cNvPr>
          <p:cNvSpPr txBox="1">
            <a:spLocks/>
          </p:cNvSpPr>
          <p:nvPr/>
        </p:nvSpPr>
        <p:spPr>
          <a:xfrm>
            <a:off x="745223" y="1349982"/>
            <a:ext cx="2582117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solidFill>
                  <a:schemeClr val="accent3"/>
                </a:solidFill>
              </a:rPr>
              <a:t>Проблематика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835CA0-2718-4D51-BAAC-2852864C990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745221" y="1839553"/>
            <a:ext cx="2740929" cy="406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900"/>
              </a:spcBef>
              <a:buSzPct val="100000"/>
            </a:pP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Масштабирование сервисов «умного дома» в рамках существующей структуры администрации Москвы</a:t>
            </a:r>
            <a:r>
              <a:rPr lang="en-US" sz="1200" dirty="0">
                <a:latin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представляет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управленческие проблемы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: </a:t>
            </a:r>
          </a:p>
          <a:p>
            <a:pPr lvl="1">
              <a:spcBef>
                <a:spcPts val="900"/>
              </a:spcBef>
              <a:buSzPct val="100000"/>
            </a:pP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Необходимость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координации большого кол-ва сторон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, в т. ч. подключения коммерческих поставщиков</a:t>
            </a:r>
          </a:p>
          <a:p>
            <a:pPr lvl="1">
              <a:spcBef>
                <a:spcPts val="900"/>
              </a:spcBef>
              <a:buSzPct val="100000"/>
            </a:pP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Потребность в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системной интеграции</a:t>
            </a:r>
            <a:r>
              <a:rPr lang="en-US" sz="1200" dirty="0">
                <a:latin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и единых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стандартах</a:t>
            </a:r>
          </a:p>
          <a:p>
            <a:pPr lvl="1">
              <a:spcBef>
                <a:spcPts val="900"/>
              </a:spcBef>
              <a:buSzPct val="100000"/>
            </a:pP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Отсутствие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достаточных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ресурсов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и </a:t>
            </a:r>
            <a:r>
              <a:rPr lang="ru-RU" sz="1200" b="1" dirty="0">
                <a:solidFill>
                  <a:schemeClr val="tx2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компетенций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у УК</a:t>
            </a:r>
          </a:p>
          <a:p>
            <a:pPr lvl="1">
              <a:spcBef>
                <a:spcPts val="900"/>
              </a:spcBef>
              <a:buSzPct val="100000"/>
            </a:pPr>
            <a:r>
              <a:rPr lang="ru-RU" sz="1200" b="1" dirty="0">
                <a:solidFill>
                  <a:schemeClr val="tx2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Разрозненное предложение 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сервисов для жителей</a:t>
            </a:r>
          </a:p>
        </p:txBody>
      </p:sp>
      <p:pic>
        <p:nvPicPr>
          <p:cNvPr id="62" name="CustomIcon">
            <a:extLst>
              <a:ext uri="{FF2B5EF4-FFF2-40B4-BE49-F238E27FC236}">
                <a16:creationId xmlns:a16="http://schemas.microsoft.com/office/drawing/2014/main" id="{CC8E22CB-DFAC-45A3-9B57-37F1E22B3F4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26294" y="4644649"/>
            <a:ext cx="1264468" cy="1264468"/>
          </a:xfrm>
          <a:prstGeom prst="rect">
            <a:avLst/>
          </a:prstGeom>
        </p:spPr>
      </p:pic>
      <p:cxnSp>
        <p:nvCxnSpPr>
          <p:cNvPr id="63" name="LineBasicDefault 63">
            <a:extLst>
              <a:ext uri="{FF2B5EF4-FFF2-40B4-BE49-F238E27FC236}">
                <a16:creationId xmlns:a16="http://schemas.microsoft.com/office/drawing/2014/main" id="{5EC5B568-E675-4C7A-8889-999CAC497AB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745223" y="1720838"/>
            <a:ext cx="2436127" cy="0"/>
          </a:xfrm>
          <a:prstGeom prst="straightConnector1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neBasicDefault 63">
            <a:extLst>
              <a:ext uri="{FF2B5EF4-FFF2-40B4-BE49-F238E27FC236}">
                <a16:creationId xmlns:a16="http://schemas.microsoft.com/office/drawing/2014/main" id="{AC954B9C-EB16-4012-BE04-AA6625162839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3824216" y="1720838"/>
            <a:ext cx="4548259" cy="0"/>
          </a:xfrm>
          <a:prstGeom prst="straightConnector1">
            <a:avLst/>
          </a:prstGeom>
          <a:ln w="6350" cap="sq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F38EFE8E-9E96-4FC2-B4E2-29C076B6D06F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3843263" y="2809625"/>
            <a:ext cx="479167" cy="319445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9412E83-B0FB-4885-BA30-AC12B7EB08C9}"/>
              </a:ext>
            </a:extLst>
          </p:cNvPr>
          <p:cNvSpPr txBox="1"/>
          <p:nvPr/>
        </p:nvSpPr>
        <p:spPr>
          <a:xfrm>
            <a:off x="4470910" y="2809625"/>
            <a:ext cx="1666513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solidFill>
                  <a:schemeClr val="accent3"/>
                </a:solidFill>
              </a:rPr>
              <a:t>Отдельный департамент </a:t>
            </a:r>
            <a:r>
              <a:rPr lang="ru-RU" sz="1200" dirty="0"/>
              <a:t>администрации отвечает за создание смарт-квартала </a:t>
            </a:r>
            <a:r>
              <a:rPr lang="en-US" sz="1200" dirty="0"/>
              <a:t>22@ </a:t>
            </a:r>
            <a:r>
              <a:rPr lang="ru-RU" sz="1200" dirty="0"/>
              <a:t>в Барселоне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7CF8C8C-0858-4C7D-B018-803D29733912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3843263" y="4321947"/>
            <a:ext cx="479167" cy="319445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B9DBE1F5-FC22-4D4C-9404-FBBF139BB65B}"/>
              </a:ext>
            </a:extLst>
          </p:cNvPr>
          <p:cNvSpPr txBox="1"/>
          <p:nvPr/>
        </p:nvSpPr>
        <p:spPr>
          <a:xfrm>
            <a:off x="4470910" y="4321947"/>
            <a:ext cx="1684288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Специально созданное </a:t>
            </a:r>
            <a:r>
              <a:rPr lang="en-US" sz="1200" b="1" dirty="0">
                <a:solidFill>
                  <a:schemeClr val="accent3"/>
                </a:solidFill>
              </a:rPr>
              <a:t>Government Technology Agency </a:t>
            </a:r>
            <a:r>
              <a:rPr lang="ru-RU" sz="1200" dirty="0"/>
              <a:t>отвечает за внедрение «умных» сервисов в Сингапуре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A122B0-FBF1-4447-8ECB-F1FCC84B39BC}"/>
              </a:ext>
            </a:extLst>
          </p:cNvPr>
          <p:cNvSpPr txBox="1"/>
          <p:nvPr/>
        </p:nvSpPr>
        <p:spPr>
          <a:xfrm>
            <a:off x="6880735" y="2809625"/>
            <a:ext cx="1510787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Департамент </a:t>
            </a:r>
            <a:r>
              <a:rPr lang="en-US" sz="1200" b="1" dirty="0">
                <a:solidFill>
                  <a:schemeClr val="accent3"/>
                </a:solidFill>
              </a:rPr>
              <a:t>Smart Dubai </a:t>
            </a:r>
            <a:r>
              <a:rPr lang="ru-RU" sz="1200" dirty="0"/>
              <a:t>координирует городские департаменты и предоставляет ИТ-инфраструктуру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CE21C97-7102-4C41-8B9F-0B383016C911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234689" y="2809625"/>
            <a:ext cx="479167" cy="319445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3250F86-7721-4D46-99D5-60E7C936D6F0}"/>
              </a:ext>
            </a:extLst>
          </p:cNvPr>
          <p:cNvSpPr txBox="1"/>
          <p:nvPr/>
        </p:nvSpPr>
        <p:spPr>
          <a:xfrm>
            <a:off x="6880735" y="4321947"/>
            <a:ext cx="149174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Вся экспертиза по «умным» городским сервисам централизована в рамках </a:t>
            </a:r>
            <a:r>
              <a:rPr lang="en-US" sz="1200" b="1" dirty="0">
                <a:solidFill>
                  <a:schemeClr val="accent3"/>
                </a:solidFill>
              </a:rPr>
              <a:t>Copenhagen Solutions Lab</a:t>
            </a:r>
            <a:endParaRPr lang="ru-RU" sz="1200" b="1" dirty="0">
              <a:solidFill>
                <a:schemeClr val="accent3"/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293973CD-F12C-4447-A613-BDAF82FB845C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6234689" y="4321947"/>
            <a:ext cx="479167" cy="319445"/>
          </a:xfrm>
          <a:prstGeom prst="rect">
            <a:avLst/>
          </a:prstGeom>
          <a:ln>
            <a:solidFill>
              <a:srgbClr val="D0D0D0"/>
            </a:solidFill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4B041-0B2E-4314-95A5-14A2F4CF4E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78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9A31B8C-4069-43C1-B5C7-7C880D62E5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5319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5" progId="TCLayout.ActiveDocument.1">
                  <p:embed/>
                </p:oleObj>
              </mc:Choice>
              <mc:Fallback>
                <p:oleObj name="think-cell Slide" r:id="rId8" imgW="592" imgH="59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9A31B8C-4069-43C1-B5C7-7C880D62E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" name="Прямоугольник 81">
            <a:extLst>
              <a:ext uri="{FF2B5EF4-FFF2-40B4-BE49-F238E27FC236}">
                <a16:creationId xmlns:a16="http://schemas.microsoft.com/office/drawing/2014/main" id="{1409DADE-5146-4D7E-89C6-D8DFEA1822B8}"/>
              </a:ext>
            </a:extLst>
          </p:cNvPr>
          <p:cNvSpPr>
            <a:spLocks/>
          </p:cNvSpPr>
          <p:nvPr/>
        </p:nvSpPr>
        <p:spPr>
          <a:xfrm>
            <a:off x="0" y="1852554"/>
            <a:ext cx="2793557" cy="311581"/>
          </a:xfrm>
          <a:prstGeom prst="rect">
            <a:avLst/>
          </a:prstGeom>
          <a:solidFill>
            <a:srgbClr val="C9272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06989" tIns="53494" rIns="106989" bIns="534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1" i="0" u="none" strike="noStrike" kern="0" cap="none" spc="0" normalizeH="0" baseline="0" noProof="0" dirty="0">
              <a:ln>
                <a:noFill/>
              </a:ln>
              <a:solidFill>
                <a:srgbClr val="C92723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39" name="Arrow: Pentagon 338">
            <a:extLst>
              <a:ext uri="{FF2B5EF4-FFF2-40B4-BE49-F238E27FC236}">
                <a16:creationId xmlns:a16="http://schemas.microsoft.com/office/drawing/2014/main" id="{C094A5E5-543D-43D5-AF0E-331188B56ED5}"/>
              </a:ext>
            </a:extLst>
          </p:cNvPr>
          <p:cNvSpPr>
            <a:spLocks/>
          </p:cNvSpPr>
          <p:nvPr/>
        </p:nvSpPr>
        <p:spPr>
          <a:xfrm flipH="1">
            <a:off x="5753742" y="5786049"/>
            <a:ext cx="2815374" cy="734069"/>
          </a:xfrm>
          <a:prstGeom prst="homePlate">
            <a:avLst>
              <a:gd name="adj" fmla="val 28716"/>
            </a:avLst>
          </a:prstGeom>
          <a:solidFill>
            <a:schemeClr val="accent2"/>
          </a:solidFill>
          <a:ln w="762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9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340" name="Graphic 339">
            <a:extLst>
              <a:ext uri="{FF2B5EF4-FFF2-40B4-BE49-F238E27FC236}">
                <a16:creationId xmlns:a16="http://schemas.microsoft.com/office/drawing/2014/main" id="{A2DBA15B-DA9A-4E7A-A42C-41CA4A91837F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08981" y="2765408"/>
            <a:ext cx="2586862" cy="1627983"/>
          </a:xfrm>
          <a:prstGeom prst="rect">
            <a:avLst/>
          </a:prstGeom>
        </p:spPr>
      </p:pic>
      <p:sp>
        <p:nvSpPr>
          <p:cNvPr id="341" name="Arrow: Pentagon 340">
            <a:extLst>
              <a:ext uri="{FF2B5EF4-FFF2-40B4-BE49-F238E27FC236}">
                <a16:creationId xmlns:a16="http://schemas.microsoft.com/office/drawing/2014/main" id="{05832B93-82CF-4467-87C4-97E48A200986}"/>
              </a:ext>
            </a:extLst>
          </p:cNvPr>
          <p:cNvSpPr>
            <a:spLocks/>
          </p:cNvSpPr>
          <p:nvPr/>
        </p:nvSpPr>
        <p:spPr>
          <a:xfrm rot="10800000" flipH="1">
            <a:off x="5075175" y="1852553"/>
            <a:ext cx="2929754" cy="734069"/>
          </a:xfrm>
          <a:prstGeom prst="homePlate">
            <a:avLst>
              <a:gd name="adj" fmla="val 21681"/>
            </a:avLst>
          </a:prstGeom>
          <a:solidFill>
            <a:schemeClr val="accent2"/>
          </a:solidFill>
          <a:ln w="762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42" name="Arrow: Pentagon 341">
            <a:extLst>
              <a:ext uri="{FF2B5EF4-FFF2-40B4-BE49-F238E27FC236}">
                <a16:creationId xmlns:a16="http://schemas.microsoft.com/office/drawing/2014/main" id="{77A24F7D-1F12-4B78-989D-2FF7E0D88DFA}"/>
              </a:ext>
            </a:extLst>
          </p:cNvPr>
          <p:cNvSpPr>
            <a:spLocks/>
          </p:cNvSpPr>
          <p:nvPr/>
        </p:nvSpPr>
        <p:spPr>
          <a:xfrm rot="10800000" flipH="1">
            <a:off x="4871019" y="4625502"/>
            <a:ext cx="3254082" cy="928433"/>
          </a:xfrm>
          <a:prstGeom prst="homePlate">
            <a:avLst>
              <a:gd name="adj" fmla="val 21655"/>
            </a:avLst>
          </a:prstGeom>
          <a:solidFill>
            <a:schemeClr val="accent2"/>
          </a:solidFill>
          <a:ln w="762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2527549-2AB5-4681-B9A2-95DDDDEB851A}"/>
              </a:ext>
            </a:extLst>
          </p:cNvPr>
          <p:cNvSpPr txBox="1">
            <a:spLocks/>
          </p:cNvSpPr>
          <p:nvPr/>
        </p:nvSpPr>
        <p:spPr>
          <a:xfrm flipH="1">
            <a:off x="5983521" y="4964292"/>
            <a:ext cx="1040349" cy="276999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Сервисы </a:t>
            </a:r>
            <a:b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</a:b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«умного дома»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9E563FE3-D14B-4D1A-8B4B-3B0AA8AEAA1A}"/>
              </a:ext>
            </a:extLst>
          </p:cNvPr>
          <p:cNvSpPr txBox="1">
            <a:spLocks/>
          </p:cNvSpPr>
          <p:nvPr/>
        </p:nvSpPr>
        <p:spPr>
          <a:xfrm flipH="1">
            <a:off x="5983521" y="2006088"/>
            <a:ext cx="1003262" cy="84871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Единый фронт</a:t>
            </a: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1EE2D4C6-3D92-470B-BE44-B0C0007155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/>
          <a:lstStyle/>
          <a:p>
            <a:r>
              <a:rPr lang="ru-RU" sz="2200" dirty="0">
                <a:solidFill>
                  <a:schemeClr val="accent4"/>
                </a:solidFill>
              </a:rPr>
              <a:t>Централизованным управленческим механизмом проекта станет агрегатор сервисов «умного дома»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88C79BB-5D16-4F03-A058-B310D004F748}"/>
              </a:ext>
            </a:extLst>
          </p:cNvPr>
          <p:cNvSpPr txBox="1">
            <a:spLocks/>
          </p:cNvSpPr>
          <p:nvPr/>
        </p:nvSpPr>
        <p:spPr>
          <a:xfrm>
            <a:off x="-3815" y="1852554"/>
            <a:ext cx="2214123" cy="439647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7552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8E084CE-E086-4409-9526-1C34BFCD3A1F}"/>
              </a:ext>
            </a:extLst>
          </p:cNvPr>
          <p:cNvSpPr/>
          <p:nvPr/>
        </p:nvSpPr>
        <p:spPr>
          <a:xfrm>
            <a:off x="8551682" y="5319685"/>
            <a:ext cx="2767946" cy="1114331"/>
          </a:xfrm>
          <a:custGeom>
            <a:avLst/>
            <a:gdLst>
              <a:gd name="connsiteX0" fmla="*/ 0 w 2844962"/>
              <a:gd name="connsiteY0" fmla="*/ 0 h 173853"/>
              <a:gd name="connsiteX1" fmla="*/ 2844963 w 2844962"/>
              <a:gd name="connsiteY1" fmla="*/ 0 h 173853"/>
              <a:gd name="connsiteX2" fmla="*/ 2844963 w 2844962"/>
              <a:gd name="connsiteY2" fmla="*/ 173853 h 173853"/>
              <a:gd name="connsiteX3" fmla="*/ 0 w 2844962"/>
              <a:gd name="connsiteY3" fmla="*/ 173853 h 17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173853">
                <a:moveTo>
                  <a:pt x="0" y="0"/>
                </a:moveTo>
                <a:lnTo>
                  <a:pt x="2844963" y="0"/>
                </a:lnTo>
                <a:lnTo>
                  <a:pt x="2844963" y="173853"/>
                </a:lnTo>
                <a:lnTo>
                  <a:pt x="0" y="173853"/>
                </a:lnTo>
                <a:close/>
              </a:path>
            </a:pathLst>
          </a:custGeom>
          <a:solidFill>
            <a:schemeClr val="accent2"/>
          </a:solidFill>
          <a:ln w="127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67B25A46-8279-432B-9334-4FE2A1A9EAE5}"/>
              </a:ext>
            </a:extLst>
          </p:cNvPr>
          <p:cNvSpPr>
            <a:spLocks/>
          </p:cNvSpPr>
          <p:nvPr/>
        </p:nvSpPr>
        <p:spPr>
          <a:xfrm>
            <a:off x="8459070" y="4173029"/>
            <a:ext cx="2814304" cy="156887"/>
          </a:xfrm>
          <a:custGeom>
            <a:avLst/>
            <a:gdLst>
              <a:gd name="connsiteX0" fmla="*/ 0 w 2844962"/>
              <a:gd name="connsiteY0" fmla="*/ 0 h 173853"/>
              <a:gd name="connsiteX1" fmla="*/ 2844963 w 2844962"/>
              <a:gd name="connsiteY1" fmla="*/ 0 h 173853"/>
              <a:gd name="connsiteX2" fmla="*/ 2844963 w 2844962"/>
              <a:gd name="connsiteY2" fmla="*/ 173853 h 173853"/>
              <a:gd name="connsiteX3" fmla="*/ 0 w 2844962"/>
              <a:gd name="connsiteY3" fmla="*/ 173853 h 17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173853">
                <a:moveTo>
                  <a:pt x="0" y="0"/>
                </a:moveTo>
                <a:lnTo>
                  <a:pt x="2844963" y="0"/>
                </a:lnTo>
                <a:lnTo>
                  <a:pt x="2844963" y="173853"/>
                </a:lnTo>
                <a:lnTo>
                  <a:pt x="0" y="173853"/>
                </a:lnTo>
                <a:close/>
              </a:path>
            </a:pathLst>
          </a:custGeom>
          <a:solidFill>
            <a:schemeClr val="accent2"/>
          </a:solidFill>
          <a:ln w="1274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6069072C-E009-4AC1-AFEE-B45CDED3A5C9}"/>
              </a:ext>
            </a:extLst>
          </p:cNvPr>
          <p:cNvSpPr>
            <a:spLocks/>
          </p:cNvSpPr>
          <p:nvPr/>
        </p:nvSpPr>
        <p:spPr>
          <a:xfrm>
            <a:off x="8459070" y="4134820"/>
            <a:ext cx="2814304" cy="54599"/>
          </a:xfrm>
          <a:custGeom>
            <a:avLst/>
            <a:gdLst>
              <a:gd name="connsiteX0" fmla="*/ 0 w 2844962"/>
              <a:gd name="connsiteY0" fmla="*/ 0 h 60503"/>
              <a:gd name="connsiteX1" fmla="*/ 2844963 w 2844962"/>
              <a:gd name="connsiteY1" fmla="*/ 0 h 60503"/>
              <a:gd name="connsiteX2" fmla="*/ 2844963 w 2844962"/>
              <a:gd name="connsiteY2" fmla="*/ 60504 h 60503"/>
              <a:gd name="connsiteX3" fmla="*/ 0 w 2844962"/>
              <a:gd name="connsiteY3" fmla="*/ 60504 h 6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60503">
                <a:moveTo>
                  <a:pt x="0" y="0"/>
                </a:moveTo>
                <a:lnTo>
                  <a:pt x="2844963" y="0"/>
                </a:lnTo>
                <a:lnTo>
                  <a:pt x="2844963" y="60504"/>
                </a:lnTo>
                <a:lnTo>
                  <a:pt x="0" y="60504"/>
                </a:lnTo>
                <a:close/>
              </a:path>
            </a:pathLst>
          </a:custGeom>
          <a:solidFill>
            <a:schemeClr val="accent6"/>
          </a:solidFill>
          <a:ln w="1274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4AF32048-4D7C-4275-9D24-4FFDAB523E25}"/>
              </a:ext>
            </a:extLst>
          </p:cNvPr>
          <p:cNvSpPr/>
          <p:nvPr/>
        </p:nvSpPr>
        <p:spPr>
          <a:xfrm>
            <a:off x="8459070" y="2980596"/>
            <a:ext cx="3021677" cy="156887"/>
          </a:xfrm>
          <a:custGeom>
            <a:avLst/>
            <a:gdLst>
              <a:gd name="connsiteX0" fmla="*/ 0 w 2844962"/>
              <a:gd name="connsiteY0" fmla="*/ 0 h 173853"/>
              <a:gd name="connsiteX1" fmla="*/ 2844963 w 2844962"/>
              <a:gd name="connsiteY1" fmla="*/ 0 h 173853"/>
              <a:gd name="connsiteX2" fmla="*/ 2844963 w 2844962"/>
              <a:gd name="connsiteY2" fmla="*/ 173853 h 173853"/>
              <a:gd name="connsiteX3" fmla="*/ 0 w 2844962"/>
              <a:gd name="connsiteY3" fmla="*/ 173853 h 17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173853">
                <a:moveTo>
                  <a:pt x="0" y="0"/>
                </a:moveTo>
                <a:lnTo>
                  <a:pt x="2844963" y="0"/>
                </a:lnTo>
                <a:lnTo>
                  <a:pt x="2844963" y="173853"/>
                </a:lnTo>
                <a:lnTo>
                  <a:pt x="0" y="173853"/>
                </a:lnTo>
                <a:close/>
              </a:path>
            </a:pathLst>
          </a:custGeom>
          <a:solidFill>
            <a:schemeClr val="accent2"/>
          </a:solidFill>
          <a:ln w="127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D048E18C-E32E-46B6-AC70-750FD17D6CB0}"/>
              </a:ext>
            </a:extLst>
          </p:cNvPr>
          <p:cNvSpPr/>
          <p:nvPr/>
        </p:nvSpPr>
        <p:spPr>
          <a:xfrm>
            <a:off x="8459070" y="2936047"/>
            <a:ext cx="3021677" cy="54599"/>
          </a:xfrm>
          <a:custGeom>
            <a:avLst/>
            <a:gdLst>
              <a:gd name="connsiteX0" fmla="*/ 0 w 2844962"/>
              <a:gd name="connsiteY0" fmla="*/ 0 h 60503"/>
              <a:gd name="connsiteX1" fmla="*/ 2844963 w 2844962"/>
              <a:gd name="connsiteY1" fmla="*/ 0 h 60503"/>
              <a:gd name="connsiteX2" fmla="*/ 2844963 w 2844962"/>
              <a:gd name="connsiteY2" fmla="*/ 60504 h 60503"/>
              <a:gd name="connsiteX3" fmla="*/ 0 w 2844962"/>
              <a:gd name="connsiteY3" fmla="*/ 60504 h 6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60503">
                <a:moveTo>
                  <a:pt x="0" y="0"/>
                </a:moveTo>
                <a:lnTo>
                  <a:pt x="2844963" y="0"/>
                </a:lnTo>
                <a:lnTo>
                  <a:pt x="2844963" y="60504"/>
                </a:lnTo>
                <a:lnTo>
                  <a:pt x="0" y="60504"/>
                </a:lnTo>
                <a:close/>
              </a:path>
            </a:pathLst>
          </a:custGeom>
          <a:solidFill>
            <a:schemeClr val="accent6"/>
          </a:solidFill>
          <a:ln w="127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258297B5-626D-4488-8739-B4A1ACB571E4}"/>
              </a:ext>
            </a:extLst>
          </p:cNvPr>
          <p:cNvSpPr/>
          <p:nvPr/>
        </p:nvSpPr>
        <p:spPr>
          <a:xfrm>
            <a:off x="8432376" y="5235685"/>
            <a:ext cx="2741684" cy="60764"/>
          </a:xfrm>
          <a:custGeom>
            <a:avLst/>
            <a:gdLst>
              <a:gd name="connsiteX0" fmla="*/ 0 w 2844962"/>
              <a:gd name="connsiteY0" fmla="*/ 0 h 60503"/>
              <a:gd name="connsiteX1" fmla="*/ 2844963 w 2844962"/>
              <a:gd name="connsiteY1" fmla="*/ 0 h 60503"/>
              <a:gd name="connsiteX2" fmla="*/ 2844963 w 2844962"/>
              <a:gd name="connsiteY2" fmla="*/ 60504 h 60503"/>
              <a:gd name="connsiteX3" fmla="*/ 0 w 2844962"/>
              <a:gd name="connsiteY3" fmla="*/ 60504 h 6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60503">
                <a:moveTo>
                  <a:pt x="0" y="0"/>
                </a:moveTo>
                <a:lnTo>
                  <a:pt x="2844963" y="0"/>
                </a:lnTo>
                <a:lnTo>
                  <a:pt x="2844963" y="60504"/>
                </a:lnTo>
                <a:lnTo>
                  <a:pt x="0" y="60504"/>
                </a:lnTo>
                <a:close/>
              </a:path>
            </a:pathLst>
          </a:custGeom>
          <a:solidFill>
            <a:schemeClr val="accent6"/>
          </a:solidFill>
          <a:ln w="127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BE14F7FF-24D8-40F7-9EFE-11AE7D186456}"/>
              </a:ext>
            </a:extLst>
          </p:cNvPr>
          <p:cNvSpPr/>
          <p:nvPr/>
        </p:nvSpPr>
        <p:spPr>
          <a:xfrm>
            <a:off x="8461390" y="5289371"/>
            <a:ext cx="2712670" cy="156887"/>
          </a:xfrm>
          <a:custGeom>
            <a:avLst/>
            <a:gdLst>
              <a:gd name="connsiteX0" fmla="*/ 0 w 2844962"/>
              <a:gd name="connsiteY0" fmla="*/ 0 h 173853"/>
              <a:gd name="connsiteX1" fmla="*/ 2844963 w 2844962"/>
              <a:gd name="connsiteY1" fmla="*/ 0 h 173853"/>
              <a:gd name="connsiteX2" fmla="*/ 2844963 w 2844962"/>
              <a:gd name="connsiteY2" fmla="*/ 173853 h 173853"/>
              <a:gd name="connsiteX3" fmla="*/ 0 w 2844962"/>
              <a:gd name="connsiteY3" fmla="*/ 173853 h 17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962" h="173853">
                <a:moveTo>
                  <a:pt x="0" y="0"/>
                </a:moveTo>
                <a:lnTo>
                  <a:pt x="2844963" y="0"/>
                </a:lnTo>
                <a:lnTo>
                  <a:pt x="2844963" y="173853"/>
                </a:lnTo>
                <a:lnTo>
                  <a:pt x="0" y="173853"/>
                </a:lnTo>
                <a:close/>
              </a:path>
            </a:pathLst>
          </a:custGeom>
          <a:solidFill>
            <a:schemeClr val="accent2"/>
          </a:solidFill>
          <a:ln w="127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5" name="Graphic 7">
            <a:extLst>
              <a:ext uri="{FF2B5EF4-FFF2-40B4-BE49-F238E27FC236}">
                <a16:creationId xmlns:a16="http://schemas.microsoft.com/office/drawing/2014/main" id="{F38BAECE-B3B3-4CCA-8A80-1C9C7EAE66BD}"/>
              </a:ext>
            </a:extLst>
          </p:cNvPr>
          <p:cNvSpPr/>
          <p:nvPr/>
        </p:nvSpPr>
        <p:spPr>
          <a:xfrm>
            <a:off x="8049817" y="1984071"/>
            <a:ext cx="3449736" cy="4396259"/>
          </a:xfrm>
          <a:custGeom>
            <a:avLst/>
            <a:gdLst>
              <a:gd name="connsiteX0" fmla="*/ 2558129 w 2558129"/>
              <a:gd name="connsiteY0" fmla="*/ 1047560 h 3558063"/>
              <a:gd name="connsiteX1" fmla="*/ 2193227 w 2558129"/>
              <a:gd name="connsiteY1" fmla="*/ 0 h 3558063"/>
              <a:gd name="connsiteX2" fmla="*/ 442436 w 2558129"/>
              <a:gd name="connsiteY2" fmla="*/ 0 h 3558063"/>
              <a:gd name="connsiteX3" fmla="*/ 0 w 2558129"/>
              <a:gd name="connsiteY3" fmla="*/ 753428 h 3558063"/>
              <a:gd name="connsiteX4" fmla="*/ 272034 w 2558129"/>
              <a:gd name="connsiteY4" fmla="*/ 753428 h 3558063"/>
              <a:gd name="connsiteX5" fmla="*/ 272034 w 2558129"/>
              <a:gd name="connsiteY5" fmla="*/ 3558064 h 3558063"/>
              <a:gd name="connsiteX6" fmla="*/ 2320671 w 2558129"/>
              <a:gd name="connsiteY6" fmla="*/ 3558064 h 3558063"/>
              <a:gd name="connsiteX7" fmla="*/ 2320671 w 2558129"/>
              <a:gd name="connsiteY7" fmla="*/ 1047560 h 355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8129" h="3558063">
                <a:moveTo>
                  <a:pt x="2558129" y="1047560"/>
                </a:moveTo>
                <a:lnTo>
                  <a:pt x="2193227" y="0"/>
                </a:lnTo>
                <a:lnTo>
                  <a:pt x="442436" y="0"/>
                </a:lnTo>
                <a:lnTo>
                  <a:pt x="0" y="753428"/>
                </a:lnTo>
                <a:lnTo>
                  <a:pt x="272034" y="753428"/>
                </a:lnTo>
                <a:lnTo>
                  <a:pt x="272034" y="3558064"/>
                </a:lnTo>
                <a:lnTo>
                  <a:pt x="2320671" y="3558064"/>
                </a:lnTo>
                <a:lnTo>
                  <a:pt x="2320671" y="1047560"/>
                </a:lnTo>
                <a:close/>
              </a:path>
            </a:pathLst>
          </a:custGeom>
          <a:noFill/>
          <a:ln w="304800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20ACF99-90F2-41E7-9C24-45B211EAE5B4}"/>
              </a:ext>
            </a:extLst>
          </p:cNvPr>
          <p:cNvSpPr txBox="1">
            <a:spLocks/>
          </p:cNvSpPr>
          <p:nvPr/>
        </p:nvSpPr>
        <p:spPr>
          <a:xfrm>
            <a:off x="8108215" y="2278935"/>
            <a:ext cx="1628886" cy="532164"/>
          </a:xfrm>
          <a:prstGeom prst="roundRect">
            <a:avLst>
              <a:gd name="adj" fmla="val 13331"/>
            </a:avLst>
          </a:prstGeom>
          <a:solidFill>
            <a:schemeClr val="accent5">
              <a:alpha val="70000"/>
            </a:schemeClr>
          </a:solidFill>
        </p:spPr>
        <p:txBody>
          <a:bodyPr vert="horz" wrap="square" lIns="36000" tIns="36000" rIns="0" bIns="3600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Собственник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Выбор и пользование сервисами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0A1D342-A985-4AD7-A87B-412128FECE70}"/>
              </a:ext>
            </a:extLst>
          </p:cNvPr>
          <p:cNvSpPr txBox="1">
            <a:spLocks/>
          </p:cNvSpPr>
          <p:nvPr/>
        </p:nvSpPr>
        <p:spPr>
          <a:xfrm>
            <a:off x="8108215" y="5511274"/>
            <a:ext cx="1628886" cy="532164"/>
          </a:xfrm>
          <a:prstGeom prst="roundRect">
            <a:avLst>
              <a:gd name="adj" fmla="val 11354"/>
            </a:avLst>
          </a:prstGeom>
          <a:solidFill>
            <a:schemeClr val="accent5">
              <a:alpha val="70000"/>
            </a:schemeClr>
          </a:solidFill>
        </p:spPr>
        <p:txBody>
          <a:bodyPr vert="horz" wrap="square" lIns="36000" tIns="36000" rIns="0" bIns="3600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Застройщик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Обеспечение готовности инфраструктуры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051858F-DAAC-45A1-8EC9-166ED0C70E47}"/>
              </a:ext>
            </a:extLst>
          </p:cNvPr>
          <p:cNvSpPr txBox="1">
            <a:spLocks/>
          </p:cNvSpPr>
          <p:nvPr/>
        </p:nvSpPr>
        <p:spPr>
          <a:xfrm>
            <a:off x="8125101" y="3186190"/>
            <a:ext cx="1628886" cy="894644"/>
          </a:xfrm>
          <a:prstGeom prst="roundRect">
            <a:avLst>
              <a:gd name="adj" fmla="val 8143"/>
            </a:avLst>
          </a:prstGeom>
          <a:solidFill>
            <a:schemeClr val="accent5">
              <a:alpha val="70000"/>
            </a:schemeClr>
          </a:solidFill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Общее собрание собственников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Утверждение соглашения с агрегатором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,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перечня </a:t>
            </a:r>
            <a:r>
              <a:rPr lang="ru-RU" sz="800" dirty="0">
                <a:solidFill>
                  <a:srgbClr val="000000"/>
                </a:solidFill>
                <a:latin typeface="Verdana"/>
              </a:rPr>
              <a:t>сервисов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и подрядчиков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508BA08-A425-4501-B206-4962F25CD226}"/>
              </a:ext>
            </a:extLst>
          </p:cNvPr>
          <p:cNvSpPr txBox="1">
            <a:spLocks/>
          </p:cNvSpPr>
          <p:nvPr/>
        </p:nvSpPr>
        <p:spPr>
          <a:xfrm>
            <a:off x="8108215" y="4329916"/>
            <a:ext cx="1628886" cy="532164"/>
          </a:xfrm>
          <a:prstGeom prst="roundRect">
            <a:avLst>
              <a:gd name="adj" fmla="val 11903"/>
            </a:avLst>
          </a:prstGeom>
          <a:solidFill>
            <a:schemeClr val="accent5">
              <a:alpha val="70000"/>
            </a:schemeClr>
          </a:solidFill>
        </p:spPr>
        <p:txBody>
          <a:bodyPr vert="horz" wrap="square" lIns="36000" tIns="36000" rIns="0" bIns="3600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Управляющая компания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Заключение соглашения </a:t>
            </a:r>
            <a:b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 агрегатором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62B064E-F3CA-45D3-B6D3-2686747AFD85}"/>
              </a:ext>
            </a:extLst>
          </p:cNvPr>
          <p:cNvGrpSpPr>
            <a:grpSpLocks/>
          </p:cNvGrpSpPr>
          <p:nvPr/>
        </p:nvGrpSpPr>
        <p:grpSpPr>
          <a:xfrm>
            <a:off x="10552510" y="4024151"/>
            <a:ext cx="216000" cy="217451"/>
            <a:chOff x="8224341" y="4249378"/>
            <a:chExt cx="216000" cy="216000"/>
          </a:xfrm>
          <a:solidFill>
            <a:schemeClr val="tx2"/>
          </a:solidFill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190A7A9-4B77-41CF-81D6-BE2F09E6BEF9}"/>
                </a:ext>
              </a:extLst>
            </p:cNvPr>
            <p:cNvSpPr/>
            <p:nvPr/>
          </p:nvSpPr>
          <p:spPr>
            <a:xfrm rot="5400000">
              <a:off x="8224341" y="4249378"/>
              <a:ext cx="216000" cy="216000"/>
            </a:xfrm>
            <a:prstGeom prst="ellipse">
              <a:avLst/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1491D91-DFC6-40ED-95EA-A3DD5DDE1B89}"/>
                </a:ext>
              </a:extLst>
            </p:cNvPr>
            <p:cNvSpPr/>
            <p:nvPr/>
          </p:nvSpPr>
          <p:spPr>
            <a:xfrm rot="5400000">
              <a:off x="8298630" y="4298413"/>
              <a:ext cx="67422" cy="117931"/>
            </a:xfrm>
            <a:custGeom>
              <a:avLst/>
              <a:gdLst>
                <a:gd name="connsiteX0" fmla="*/ 0 w 110480"/>
                <a:gd name="connsiteY0" fmla="*/ 0 h 216332"/>
                <a:gd name="connsiteX1" fmla="*/ 110480 w 110480"/>
                <a:gd name="connsiteY1" fmla="*/ 108140 h 216332"/>
                <a:gd name="connsiteX2" fmla="*/ 0 w 110480"/>
                <a:gd name="connsiteY2" fmla="*/ 216333 h 2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80" h="216332">
                  <a:moveTo>
                    <a:pt x="0" y="0"/>
                  </a:moveTo>
                  <a:lnTo>
                    <a:pt x="110480" y="108140"/>
                  </a:lnTo>
                  <a:lnTo>
                    <a:pt x="0" y="216333"/>
                  </a:lnTo>
                </a:path>
              </a:pathLst>
            </a:custGeom>
            <a:grpFill/>
            <a:ln w="13074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63DCB1A-DA49-45EE-87B7-C0729802FDDD}"/>
              </a:ext>
            </a:extLst>
          </p:cNvPr>
          <p:cNvGrpSpPr/>
          <p:nvPr/>
        </p:nvGrpSpPr>
        <p:grpSpPr>
          <a:xfrm>
            <a:off x="10552510" y="2854493"/>
            <a:ext cx="216000" cy="217451"/>
            <a:chOff x="2768084" y="2338657"/>
            <a:chExt cx="288000" cy="288000"/>
          </a:xfrm>
          <a:solidFill>
            <a:schemeClr val="tx2"/>
          </a:solidFill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8B46727C-63BA-44D0-8C9F-AB73BD164800}"/>
                </a:ext>
              </a:extLst>
            </p:cNvPr>
            <p:cNvSpPr/>
            <p:nvPr/>
          </p:nvSpPr>
          <p:spPr>
            <a:xfrm rot="5400000">
              <a:off x="2768084" y="2338657"/>
              <a:ext cx="288000" cy="288000"/>
            </a:xfrm>
            <a:prstGeom prst="ellipse">
              <a:avLst/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5D3F313-9C54-4E51-8B67-33DDB4451529}"/>
                </a:ext>
              </a:extLst>
            </p:cNvPr>
            <p:cNvSpPr/>
            <p:nvPr/>
          </p:nvSpPr>
          <p:spPr>
            <a:xfrm rot="5400000">
              <a:off x="2867136" y="2404037"/>
              <a:ext cx="89896" cy="157241"/>
            </a:xfrm>
            <a:custGeom>
              <a:avLst/>
              <a:gdLst>
                <a:gd name="connsiteX0" fmla="*/ 0 w 110480"/>
                <a:gd name="connsiteY0" fmla="*/ 0 h 216332"/>
                <a:gd name="connsiteX1" fmla="*/ 110480 w 110480"/>
                <a:gd name="connsiteY1" fmla="*/ 108140 h 216332"/>
                <a:gd name="connsiteX2" fmla="*/ 0 w 110480"/>
                <a:gd name="connsiteY2" fmla="*/ 216333 h 2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80" h="216332">
                  <a:moveTo>
                    <a:pt x="0" y="0"/>
                  </a:moveTo>
                  <a:lnTo>
                    <a:pt x="110480" y="108140"/>
                  </a:lnTo>
                  <a:lnTo>
                    <a:pt x="0" y="216333"/>
                  </a:lnTo>
                </a:path>
              </a:pathLst>
            </a:custGeom>
            <a:grpFill/>
            <a:ln w="13074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1DD31C05-6233-4887-9F8B-568DC2CEAF72}"/>
              </a:ext>
            </a:extLst>
          </p:cNvPr>
          <p:cNvSpPr txBox="1">
            <a:spLocks/>
          </p:cNvSpPr>
          <p:nvPr/>
        </p:nvSpPr>
        <p:spPr>
          <a:xfrm>
            <a:off x="9648041" y="1626257"/>
            <a:ext cx="320403" cy="15815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Дом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181B8AF-1D74-4950-B35E-37944FF6484E}"/>
              </a:ext>
            </a:extLst>
          </p:cNvPr>
          <p:cNvSpPr/>
          <p:nvPr/>
        </p:nvSpPr>
        <p:spPr>
          <a:xfrm>
            <a:off x="5422263" y="2423051"/>
            <a:ext cx="223215" cy="214300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5F76E219-D450-4CC6-B843-04839DB47554}"/>
              </a:ext>
            </a:extLst>
          </p:cNvPr>
          <p:cNvSpPr>
            <a:spLocks/>
          </p:cNvSpPr>
          <p:nvPr/>
        </p:nvSpPr>
        <p:spPr>
          <a:xfrm>
            <a:off x="2759663" y="1852554"/>
            <a:ext cx="2949191" cy="4667564"/>
          </a:xfrm>
          <a:prstGeom prst="roundRect">
            <a:avLst>
              <a:gd name="adj" fmla="val 3461"/>
            </a:avLst>
          </a:prstGeom>
          <a:solidFill>
            <a:schemeClr val="accent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8ECEAAFE-AF9F-4A42-8AFE-66F0E28E2E3E}"/>
              </a:ext>
            </a:extLst>
          </p:cNvPr>
          <p:cNvSpPr>
            <a:spLocks/>
          </p:cNvSpPr>
          <p:nvPr/>
        </p:nvSpPr>
        <p:spPr>
          <a:xfrm>
            <a:off x="2689015" y="1852554"/>
            <a:ext cx="3090487" cy="1374837"/>
          </a:xfrm>
          <a:prstGeom prst="roundRect">
            <a:avLst>
              <a:gd name="adj" fmla="val 5848"/>
            </a:avLst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B133EAE-61DA-4517-A52D-89E4AE6C3013}"/>
              </a:ext>
            </a:extLst>
          </p:cNvPr>
          <p:cNvSpPr txBox="1">
            <a:spLocks/>
          </p:cNvSpPr>
          <p:nvPr/>
        </p:nvSpPr>
        <p:spPr>
          <a:xfrm>
            <a:off x="2759663" y="1626257"/>
            <a:ext cx="2949191" cy="16534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ctr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Платформа </a:t>
            </a:r>
            <a:r>
              <a:rPr lang="ru-RU" sz="1100" b="1" dirty="0">
                <a:solidFill>
                  <a:srgbClr val="C92723"/>
                </a:solidFill>
                <a:latin typeface="Verdana"/>
                <a:cs typeface="Arial" panose="020B0604020202020204" pitchFamily="34" charset="0"/>
              </a:rPr>
              <a:t>сервисов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Arial" panose="020B0604020202020204" pitchFamily="34" charset="0"/>
                <a:sym typeface="+mn-lt"/>
              </a:rPr>
              <a:t> «умного» дома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20C398A6-7E31-445B-BC28-29A0505938C1}"/>
              </a:ext>
            </a:extLst>
          </p:cNvPr>
          <p:cNvSpPr/>
          <p:nvPr/>
        </p:nvSpPr>
        <p:spPr>
          <a:xfrm>
            <a:off x="3294789" y="3274257"/>
            <a:ext cx="2350688" cy="896446"/>
          </a:xfrm>
          <a:prstGeom prst="roundRect">
            <a:avLst>
              <a:gd name="adj" fmla="val 10398"/>
            </a:avLst>
          </a:prstGeom>
          <a:solidFill>
            <a:srgbClr val="FAFBFC"/>
          </a:solidFill>
          <a:ln w="6350" cap="sq">
            <a:noFill/>
            <a:miter lim="800000"/>
          </a:ln>
          <a:effectLst>
            <a:outerShdw blurRad="50800" dist="38100" dir="5400000" algn="tl" rotWithShape="0">
              <a:schemeClr val="tx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EBC85D4-AF3A-49E0-929C-E75E07E337C2}"/>
              </a:ext>
            </a:extLst>
          </p:cNvPr>
          <p:cNvGrpSpPr/>
          <p:nvPr/>
        </p:nvGrpSpPr>
        <p:grpSpPr>
          <a:xfrm>
            <a:off x="3410876" y="3494035"/>
            <a:ext cx="1976401" cy="447008"/>
            <a:chOff x="7244791" y="2995862"/>
            <a:chExt cx="3258761" cy="499239"/>
          </a:xfrm>
        </p:grpSpPr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38DE3FB-D134-4018-9396-7C99921EA3A2}"/>
                </a:ext>
              </a:extLst>
            </p:cNvPr>
            <p:cNvSpPr txBox="1">
              <a:spLocks/>
            </p:cNvSpPr>
            <p:nvPr/>
          </p:nvSpPr>
          <p:spPr>
            <a:xfrm>
              <a:off x="7260893" y="2995862"/>
              <a:ext cx="2819735" cy="25492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 defTabSz="645732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Font typeface="Segoe UI" panose="020B0502040204020203" pitchFamily="34" charset="0"/>
                <a:buChar char="​"/>
                <a:defRPr lang="en-US" sz="988" dirty="0">
                  <a:sym typeface="+mn-lt"/>
                </a:defRPr>
              </a:lvl1pPr>
              <a:lvl2pPr marL="162701" lvl="1" indent="-160159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988" dirty="0">
                  <a:sym typeface="+mn-lt"/>
                </a:defRPr>
              </a:lvl2pPr>
              <a:lvl3pPr marL="312692" lvl="2" indent="-15253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988" dirty="0">
                  <a:sym typeface="+mn-lt"/>
                </a:defRPr>
              </a:lvl3pPr>
              <a:lvl4pPr marL="422007" lvl="3" indent="-10677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988" dirty="0">
                  <a:sym typeface="+mn-lt"/>
                </a:defRPr>
              </a:lvl4pPr>
              <a:lvl5pPr marL="577082" lvl="4" indent="-104231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988" dirty="0">
                  <a:sym typeface="+mn-lt"/>
                </a:defRPr>
              </a:lvl5pPr>
              <a:lvl6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6pPr>
              <a:lvl7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7pPr>
              <a:lvl8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8pPr>
              <a:lvl9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645732" rtl="0" eaLnBrk="1" fontAlgn="auto" latinLnBrk="0" hangingPunct="1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ru-RU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Подразделения</a:t>
              </a: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 </a:t>
              </a:r>
              <a:r>
                <a:rPr kumimoji="0" lang="ru-RU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ДИТ</a:t>
              </a:r>
              <a:br>
                <a:rPr kumimoji="0" lang="ru-RU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</a:br>
              <a:r>
                <a:rPr kumimoji="0" lang="ru-RU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(городские системы)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096BFF8B-318D-41BD-AD7A-CA540C7A7DD6}"/>
                </a:ext>
              </a:extLst>
            </p:cNvPr>
            <p:cNvSpPr txBox="1">
              <a:spLocks/>
            </p:cNvSpPr>
            <p:nvPr/>
          </p:nvSpPr>
          <p:spPr>
            <a:xfrm>
              <a:off x="7244791" y="3367639"/>
              <a:ext cx="3258761" cy="12746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 defTabSz="645732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Font typeface="Segoe UI" panose="020B0502040204020203" pitchFamily="34" charset="0"/>
                <a:buChar char="​"/>
                <a:defRPr lang="en-US" sz="988" dirty="0">
                  <a:sym typeface="+mn-lt"/>
                </a:defRPr>
              </a:lvl1pPr>
              <a:lvl2pPr marL="162701" lvl="1" indent="-160159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988" dirty="0">
                  <a:sym typeface="+mn-lt"/>
                </a:defRPr>
              </a:lvl2pPr>
              <a:lvl3pPr marL="312692" lvl="2" indent="-15253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988" dirty="0">
                  <a:sym typeface="+mn-lt"/>
                </a:defRPr>
              </a:lvl3pPr>
              <a:lvl4pPr marL="422007" lvl="3" indent="-10677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988" dirty="0">
                  <a:sym typeface="+mn-lt"/>
                </a:defRPr>
              </a:lvl4pPr>
              <a:lvl5pPr marL="577082" lvl="4" indent="-104231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988" dirty="0">
                  <a:sym typeface="+mn-lt"/>
                </a:defRPr>
              </a:lvl5pPr>
              <a:lvl6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6pPr>
              <a:lvl7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7pPr>
              <a:lvl8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8pPr>
              <a:lvl9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645732" rtl="0" eaLnBrk="1" fontAlgn="auto" latinLnBrk="0" hangingPunct="1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Интеграция систем подрядчиков</a:t>
              </a:r>
            </a:p>
          </p:txBody>
        </p:sp>
      </p:grp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03EB0F89-8768-4F26-8247-72FF1F321102}"/>
              </a:ext>
            </a:extLst>
          </p:cNvPr>
          <p:cNvSpPr>
            <a:spLocks/>
          </p:cNvSpPr>
          <p:nvPr/>
        </p:nvSpPr>
        <p:spPr>
          <a:xfrm>
            <a:off x="2823037" y="4268078"/>
            <a:ext cx="2822442" cy="1374837"/>
          </a:xfrm>
          <a:prstGeom prst="roundRect">
            <a:avLst>
              <a:gd name="adj" fmla="val 5996"/>
            </a:avLst>
          </a:prstGeom>
          <a:solidFill>
            <a:srgbClr val="FAFBFC"/>
          </a:solidFill>
          <a:ln w="6350" cap="sq">
            <a:noFill/>
            <a:miter lim="800000"/>
          </a:ln>
          <a:effectLst>
            <a:outerShdw blurRad="50800" dist="38100" dir="5400000" algn="tl" rotWithShape="0">
              <a:schemeClr val="tx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71C14BA1-A93C-4409-91C8-9942520C8585}"/>
              </a:ext>
            </a:extLst>
          </p:cNvPr>
          <p:cNvSpPr>
            <a:spLocks/>
          </p:cNvSpPr>
          <p:nvPr/>
        </p:nvSpPr>
        <p:spPr>
          <a:xfrm>
            <a:off x="2823037" y="5741578"/>
            <a:ext cx="2822442" cy="725770"/>
          </a:xfrm>
          <a:prstGeom prst="roundRect">
            <a:avLst>
              <a:gd name="adj" fmla="val 10216"/>
            </a:avLst>
          </a:prstGeom>
          <a:solidFill>
            <a:srgbClr val="FAFBFC"/>
          </a:solidFill>
          <a:ln w="6350" cap="sq">
            <a:noFill/>
            <a:miter lim="800000"/>
          </a:ln>
          <a:effectLst>
            <a:outerShdw blurRad="50800" dist="38100" dir="5400000" algn="tl" rotWithShape="0">
              <a:schemeClr val="tx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E8A0226-0334-4DC8-AED6-7D2B92E5E080}"/>
              </a:ext>
            </a:extLst>
          </p:cNvPr>
          <p:cNvSpPr txBox="1">
            <a:spLocks/>
          </p:cNvSpPr>
          <p:nvPr/>
        </p:nvSpPr>
        <p:spPr>
          <a:xfrm>
            <a:off x="2919379" y="5980454"/>
            <a:ext cx="2033749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Инфраструктура для </a:t>
            </a:r>
            <a:r>
              <a:rPr lang="ru-RU" sz="800" b="1" dirty="0">
                <a:solidFill>
                  <a:srgbClr val="000000"/>
                </a:solidFill>
                <a:latin typeface="Verdana"/>
              </a:rPr>
              <a:t>сервисов</a:t>
            </a: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«умного дома»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88F6E813-4751-485F-91C5-C41E48F2C316}"/>
              </a:ext>
            </a:extLst>
          </p:cNvPr>
          <p:cNvSpPr>
            <a:spLocks/>
          </p:cNvSpPr>
          <p:nvPr/>
        </p:nvSpPr>
        <p:spPr>
          <a:xfrm>
            <a:off x="2823037" y="1942163"/>
            <a:ext cx="2822441" cy="1181395"/>
          </a:xfrm>
          <a:prstGeom prst="roundRect">
            <a:avLst>
              <a:gd name="adj" fmla="val 6299"/>
            </a:avLst>
          </a:prstGeom>
          <a:solidFill>
            <a:srgbClr val="FAFBFC"/>
          </a:solidFill>
          <a:ln w="6350" cap="sq">
            <a:noFill/>
            <a:miter lim="800000"/>
          </a:ln>
          <a:effectLst>
            <a:outerShdw blurRad="50800" dist="38100" dir="5400000" algn="tl" rotWithShape="0">
              <a:schemeClr val="tx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78C268A-C1AF-4D89-9790-EB280CAFF5C9}"/>
              </a:ext>
            </a:extLst>
          </p:cNvPr>
          <p:cNvCxnSpPr>
            <a:cxnSpLocks/>
          </p:cNvCxnSpPr>
          <p:nvPr/>
        </p:nvCxnSpPr>
        <p:spPr>
          <a:xfrm flipV="1">
            <a:off x="2991743" y="3254392"/>
            <a:ext cx="0" cy="947171"/>
          </a:xfrm>
          <a:prstGeom prst="line">
            <a:avLst/>
          </a:prstGeom>
          <a:ln w="12700" cap="sq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834E05C-D6BF-49D8-956B-7DB6E9DE398A}"/>
              </a:ext>
            </a:extLst>
          </p:cNvPr>
          <p:cNvGrpSpPr/>
          <p:nvPr/>
        </p:nvGrpSpPr>
        <p:grpSpPr>
          <a:xfrm>
            <a:off x="2865743" y="3074054"/>
            <a:ext cx="252000" cy="252000"/>
            <a:chOff x="6891005" y="2683976"/>
            <a:chExt cx="216000" cy="216000"/>
          </a:xfrm>
          <a:solidFill>
            <a:schemeClr val="tx2"/>
          </a:solidFill>
        </p:grpSpPr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BABB99C8-F11C-42B0-AEAA-6B9E1BEEA3FC}"/>
                </a:ext>
              </a:extLst>
            </p:cNvPr>
            <p:cNvSpPr/>
            <p:nvPr/>
          </p:nvSpPr>
          <p:spPr>
            <a:xfrm rot="5400000">
              <a:off x="6891005" y="2683976"/>
              <a:ext cx="216000" cy="216000"/>
            </a:xfrm>
            <a:prstGeom prst="ellipse">
              <a:avLst/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DA81B0A2-58CD-4F1D-82FC-7EE45248D70F}"/>
                </a:ext>
              </a:extLst>
            </p:cNvPr>
            <p:cNvSpPr/>
            <p:nvPr/>
          </p:nvSpPr>
          <p:spPr>
            <a:xfrm rot="16200000">
              <a:off x="6965294" y="2733011"/>
              <a:ext cx="67422" cy="117931"/>
            </a:xfrm>
            <a:custGeom>
              <a:avLst/>
              <a:gdLst>
                <a:gd name="connsiteX0" fmla="*/ 0 w 110480"/>
                <a:gd name="connsiteY0" fmla="*/ 0 h 216332"/>
                <a:gd name="connsiteX1" fmla="*/ 110480 w 110480"/>
                <a:gd name="connsiteY1" fmla="*/ 108140 h 216332"/>
                <a:gd name="connsiteX2" fmla="*/ 0 w 110480"/>
                <a:gd name="connsiteY2" fmla="*/ 216333 h 2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80" h="216332">
                  <a:moveTo>
                    <a:pt x="0" y="0"/>
                  </a:moveTo>
                  <a:lnTo>
                    <a:pt x="110480" y="108140"/>
                  </a:lnTo>
                  <a:lnTo>
                    <a:pt x="0" y="216333"/>
                  </a:lnTo>
                </a:path>
              </a:pathLst>
            </a:custGeom>
            <a:grpFill/>
            <a:ln w="13074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1D45C46-6195-40E1-9E35-EAB8EFDD5473}"/>
              </a:ext>
            </a:extLst>
          </p:cNvPr>
          <p:cNvGrpSpPr/>
          <p:nvPr/>
        </p:nvGrpSpPr>
        <p:grpSpPr>
          <a:xfrm>
            <a:off x="2865743" y="4111513"/>
            <a:ext cx="252000" cy="252000"/>
            <a:chOff x="6891005" y="3841091"/>
            <a:chExt cx="216000" cy="216000"/>
          </a:xfrm>
          <a:solidFill>
            <a:schemeClr val="tx2"/>
          </a:solidFill>
        </p:grpSpPr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AA12E95D-44EF-4B92-96CD-8D52CD84A25C}"/>
                </a:ext>
              </a:extLst>
            </p:cNvPr>
            <p:cNvSpPr/>
            <p:nvPr/>
          </p:nvSpPr>
          <p:spPr>
            <a:xfrm rot="5400000">
              <a:off x="6891005" y="3841091"/>
              <a:ext cx="216000" cy="216000"/>
            </a:xfrm>
            <a:prstGeom prst="ellipse">
              <a:avLst/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F9ADB206-6B78-4787-9B0D-4A3D994BB4CE}"/>
                </a:ext>
              </a:extLst>
            </p:cNvPr>
            <p:cNvSpPr/>
            <p:nvPr/>
          </p:nvSpPr>
          <p:spPr>
            <a:xfrm rot="5400000">
              <a:off x="6965294" y="3890126"/>
              <a:ext cx="67422" cy="117931"/>
            </a:xfrm>
            <a:custGeom>
              <a:avLst/>
              <a:gdLst>
                <a:gd name="connsiteX0" fmla="*/ 0 w 110480"/>
                <a:gd name="connsiteY0" fmla="*/ 0 h 216332"/>
                <a:gd name="connsiteX1" fmla="*/ 110480 w 110480"/>
                <a:gd name="connsiteY1" fmla="*/ 108140 h 216332"/>
                <a:gd name="connsiteX2" fmla="*/ 0 w 110480"/>
                <a:gd name="connsiteY2" fmla="*/ 216333 h 2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480" h="216332">
                  <a:moveTo>
                    <a:pt x="0" y="0"/>
                  </a:moveTo>
                  <a:lnTo>
                    <a:pt x="110480" y="108140"/>
                  </a:lnTo>
                  <a:lnTo>
                    <a:pt x="0" y="216333"/>
                  </a:lnTo>
                </a:path>
              </a:pathLst>
            </a:custGeom>
            <a:grpFill/>
            <a:ln w="13074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DDC06C-6465-4D64-9BC4-2B25EDDAC0D0}"/>
              </a:ext>
            </a:extLst>
          </p:cNvPr>
          <p:cNvGrpSpPr/>
          <p:nvPr/>
        </p:nvGrpSpPr>
        <p:grpSpPr>
          <a:xfrm>
            <a:off x="3393228" y="4111513"/>
            <a:ext cx="1750444" cy="252000"/>
            <a:chOff x="3393228" y="4111513"/>
            <a:chExt cx="1750444" cy="252000"/>
          </a:xfrm>
        </p:grpSpPr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77E7F825-9FD4-4E19-AE5B-055EDCDC9538}"/>
                </a:ext>
              </a:extLst>
            </p:cNvPr>
            <p:cNvSpPr>
              <a:spLocks/>
            </p:cNvSpPr>
            <p:nvPr/>
          </p:nvSpPr>
          <p:spPr>
            <a:xfrm>
              <a:off x="3476516" y="4111513"/>
              <a:ext cx="1573722" cy="252000"/>
            </a:xfrm>
            <a:prstGeom prst="roundRect">
              <a:avLst>
                <a:gd name="adj" fmla="val 30156"/>
              </a:avLst>
            </a:prstGeom>
            <a:solidFill>
              <a:schemeClr val="bg2"/>
            </a:solidFill>
            <a:ln w="6350" cap="sq">
              <a:noFill/>
              <a:miter lim="800000"/>
            </a:ln>
            <a:effectLst>
              <a:outerShdw blurRad="38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DA492C21-C41C-4F9F-B44D-80E2AF336883}"/>
                </a:ext>
              </a:extLst>
            </p:cNvPr>
            <p:cNvSpPr txBox="1">
              <a:spLocks/>
            </p:cNvSpPr>
            <p:nvPr/>
          </p:nvSpPr>
          <p:spPr>
            <a:xfrm>
              <a:off x="3706774" y="4111513"/>
              <a:ext cx="1436898" cy="25200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>
              <a:lvl1pPr lvl="0" indent="0" defTabSz="645732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Font typeface="Segoe UI" panose="020B0502040204020203" pitchFamily="34" charset="0"/>
                <a:buChar char="​"/>
                <a:defRPr lang="en-US" sz="988" dirty="0">
                  <a:sym typeface="+mn-lt"/>
                </a:defRPr>
              </a:lvl1pPr>
              <a:lvl2pPr marL="162701" lvl="1" indent="-160159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988" dirty="0">
                  <a:sym typeface="+mn-lt"/>
                </a:defRPr>
              </a:lvl2pPr>
              <a:lvl3pPr marL="312692" lvl="2" indent="-15253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988" dirty="0">
                  <a:sym typeface="+mn-lt"/>
                </a:defRPr>
              </a:lvl3pPr>
              <a:lvl4pPr marL="422007" lvl="3" indent="-10677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988" dirty="0">
                  <a:sym typeface="+mn-lt"/>
                </a:defRPr>
              </a:lvl4pPr>
              <a:lvl5pPr marL="577082" lvl="4" indent="-104231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988" dirty="0">
                  <a:sym typeface="+mn-lt"/>
                </a:defRPr>
              </a:lvl5pPr>
              <a:lvl6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6pPr>
              <a:lvl7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7pPr>
              <a:lvl8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8pPr>
              <a:lvl9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645732" rtl="0" eaLnBrk="1" fontAlgn="auto" latinLnBrk="0" hangingPunct="1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ru-RU" sz="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Интеграция через </a:t>
              </a:r>
              <a:r>
                <a:rPr kumimoji="0" lang="en-US" sz="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API</a:t>
              </a:r>
              <a:endParaRPr kumimoji="0" lang="ru-RU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16" name="DoubleArrowBlue">
              <a:extLst>
                <a:ext uri="{FF2B5EF4-FFF2-40B4-BE49-F238E27FC236}">
                  <a16:creationId xmlns:a16="http://schemas.microsoft.com/office/drawing/2014/main" id="{BBFC9BD8-49EE-4AD2-8C3A-0CC40DFDC56E}"/>
                </a:ext>
              </a:extLst>
            </p:cNvPr>
            <p:cNvGrpSpPr>
              <a:grpSpLocks/>
            </p:cNvGrpSpPr>
            <p:nvPr>
              <p:custDataLst>
                <p:tags r:id="rId6"/>
              </p:custDataLst>
            </p:nvPr>
          </p:nvGrpSpPr>
          <p:grpSpPr>
            <a:xfrm rot="5400000">
              <a:off x="3393228" y="4111513"/>
              <a:ext cx="252000" cy="252000"/>
              <a:chOff x="1016000" y="1016000"/>
              <a:chExt cx="396228" cy="396228"/>
            </a:xfrm>
            <a:solidFill>
              <a:schemeClr val="tx2"/>
            </a:solidFill>
          </p:grpSpPr>
          <p:sp>
            <p:nvSpPr>
              <p:cNvPr id="329" name="Oval 328">
                <a:extLst>
                  <a:ext uri="{FF2B5EF4-FFF2-40B4-BE49-F238E27FC236}">
                    <a16:creationId xmlns:a16="http://schemas.microsoft.com/office/drawing/2014/main" id="{FE100A9A-2383-4C32-9A57-38E34CBE90AF}"/>
                  </a:ext>
                </a:extLst>
              </p:cNvPr>
              <p:cNvSpPr/>
              <p:nvPr/>
            </p:nvSpPr>
            <p:spPr>
              <a:xfrm>
                <a:off x="1016000" y="1016000"/>
                <a:ext cx="396228" cy="396228"/>
              </a:xfrm>
              <a:prstGeom prst="ellipse">
                <a:avLst/>
              </a:prstGeom>
              <a:grpFill/>
              <a:ln w="6350" cap="sq" cmpd="sng" algn="ctr">
                <a:noFill/>
                <a:prstDash val="solid"/>
                <a:miter lim="800000"/>
                <a:tailEnd type="none"/>
              </a:ln>
              <a:effectLst/>
              <a:extLst>
                <a:ext uri="{91240B29-F687-4F45-9708-019B960494DF}">
                  <a14:hiddenLine xmlns:a14="http://schemas.microsoft.com/office/drawing/2010/main" w="6350" cap="sq" cmpd="sng" algn="ctr">
                    <a:solidFill>
                      <a:schemeClr val="tx1"/>
                    </a:solidFill>
                    <a:prstDash val="solid"/>
                    <a:miter lim="800000"/>
                    <a:tailEnd type="none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endParaRPr>
              </a:p>
            </p:txBody>
          </p:sp>
          <p:pic>
            <p:nvPicPr>
              <p:cNvPr id="330" name="Graphic 329">
                <a:extLst>
                  <a:ext uri="{FF2B5EF4-FFF2-40B4-BE49-F238E27FC236}">
                    <a16:creationId xmlns:a16="http://schemas.microsoft.com/office/drawing/2014/main" id="{EC866112-D968-479A-B765-2B32094CA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49014" y="1049014"/>
                <a:ext cx="330200" cy="330200"/>
              </a:xfrm>
              <a:prstGeom prst="rect">
                <a:avLst/>
              </a:prstGeom>
            </p:spPr>
          </p:pic>
        </p:grp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AB3B0DC8-B1C1-43C0-999F-84F16A7FE191}"/>
              </a:ext>
            </a:extLst>
          </p:cNvPr>
          <p:cNvSpPr txBox="1">
            <a:spLocks/>
          </p:cNvSpPr>
          <p:nvPr/>
        </p:nvSpPr>
        <p:spPr>
          <a:xfrm>
            <a:off x="2919379" y="2354722"/>
            <a:ext cx="2629757" cy="63580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C92723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Управление программой «Умный дом»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C92723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Разработка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/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гармонизация стандартов</a:t>
            </a:r>
          </a:p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C92723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Подключение поставщиков и домов к платформе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825D274-DE49-402B-881C-A2182D531ECB}"/>
              </a:ext>
            </a:extLst>
          </p:cNvPr>
          <p:cNvSpPr txBox="1">
            <a:spLocks/>
          </p:cNvSpPr>
          <p:nvPr/>
        </p:nvSpPr>
        <p:spPr>
          <a:xfrm>
            <a:off x="2919380" y="2022347"/>
            <a:ext cx="2033749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Агрегатор </a:t>
            </a:r>
            <a:r>
              <a:rPr lang="ru-RU" sz="800" b="1" dirty="0">
                <a:solidFill>
                  <a:srgbClr val="C92723"/>
                </a:solidFill>
                <a:latin typeface="Verdana"/>
              </a:rPr>
              <a:t>сервисов</a:t>
            </a: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b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«умного дома»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2041E09-EB73-4948-9092-7C4C6E4A763C}"/>
              </a:ext>
            </a:extLst>
          </p:cNvPr>
          <p:cNvSpPr txBox="1">
            <a:spLocks/>
          </p:cNvSpPr>
          <p:nvPr/>
        </p:nvSpPr>
        <p:spPr>
          <a:xfrm>
            <a:off x="2919380" y="4441040"/>
            <a:ext cx="2629756" cy="12400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Группы поставщиков </a:t>
            </a:r>
            <a:r>
              <a:rPr lang="ru-RU" sz="800" b="1" dirty="0">
                <a:solidFill>
                  <a:srgbClr val="000000"/>
                </a:solidFill>
                <a:latin typeface="Verdana"/>
              </a:rPr>
              <a:t>сервисов</a:t>
            </a:r>
            <a:r>
              <a:rPr kumimoji="0" lang="ru-RU" sz="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0C38AE3-4253-47C7-8AC0-36A815E063E1}"/>
              </a:ext>
            </a:extLst>
          </p:cNvPr>
          <p:cNvSpPr txBox="1">
            <a:spLocks/>
          </p:cNvSpPr>
          <p:nvPr/>
        </p:nvSpPr>
        <p:spPr>
          <a:xfrm>
            <a:off x="2919379" y="5326622"/>
            <a:ext cx="2629756" cy="16471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>
                <a:srgbClr val="C92723"/>
              </a:buClr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Установка и эксплуатация сервисов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79799E5-C1DB-4F8D-B947-C5F3D1F72DAA}"/>
              </a:ext>
            </a:extLst>
          </p:cNvPr>
          <p:cNvSpPr>
            <a:spLocks/>
          </p:cNvSpPr>
          <p:nvPr/>
        </p:nvSpPr>
        <p:spPr>
          <a:xfrm>
            <a:off x="3476516" y="3074054"/>
            <a:ext cx="1573722" cy="252000"/>
          </a:xfrm>
          <a:prstGeom prst="roundRect">
            <a:avLst>
              <a:gd name="adj" fmla="val 30156"/>
            </a:avLst>
          </a:prstGeom>
          <a:solidFill>
            <a:schemeClr val="bg2"/>
          </a:solidFill>
          <a:ln w="6350" cap="sq">
            <a:noFill/>
            <a:miter lim="800000"/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078F046-64E0-478C-B349-4489AC3C24E2}"/>
              </a:ext>
            </a:extLst>
          </p:cNvPr>
          <p:cNvGrpSpPr/>
          <p:nvPr/>
        </p:nvGrpSpPr>
        <p:grpSpPr>
          <a:xfrm>
            <a:off x="2654969" y="3575413"/>
            <a:ext cx="604199" cy="294135"/>
            <a:chOff x="2157266" y="3272148"/>
            <a:chExt cx="647847" cy="328503"/>
          </a:xfrm>
        </p:grpSpPr>
        <p:sp>
          <p:nvSpPr>
            <p:cNvPr id="325" name="Rectangle: Rounded Corners 324">
              <a:extLst>
                <a:ext uri="{FF2B5EF4-FFF2-40B4-BE49-F238E27FC236}">
                  <a16:creationId xmlns:a16="http://schemas.microsoft.com/office/drawing/2014/main" id="{FDAB0529-E69B-4135-89FB-AEC0307461F1}"/>
                </a:ext>
              </a:extLst>
            </p:cNvPr>
            <p:cNvSpPr/>
            <p:nvPr/>
          </p:nvSpPr>
          <p:spPr>
            <a:xfrm>
              <a:off x="2157266" y="3272148"/>
              <a:ext cx="647847" cy="328503"/>
            </a:xfrm>
            <a:prstGeom prst="roundRect">
              <a:avLst>
                <a:gd name="adj" fmla="val 14760"/>
              </a:avLst>
            </a:prstGeom>
            <a:solidFill>
              <a:schemeClr val="bg2"/>
            </a:solidFill>
            <a:ln w="6350" cap="sq">
              <a:noFill/>
              <a:miter lim="800000"/>
            </a:ln>
            <a:effectLst>
              <a:outerShdw blurRad="38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8DEB7917-F892-48BD-B1FC-D651432EAD0D}"/>
                </a:ext>
              </a:extLst>
            </p:cNvPr>
            <p:cNvSpPr txBox="1"/>
            <p:nvPr/>
          </p:nvSpPr>
          <p:spPr>
            <a:xfrm>
              <a:off x="2187204" y="3313289"/>
              <a:ext cx="587972" cy="22305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 defTabSz="645732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Font typeface="Segoe UI" panose="020B0502040204020203" pitchFamily="34" charset="0"/>
                <a:buChar char="​"/>
                <a:defRPr lang="en-US" sz="988" dirty="0">
                  <a:sym typeface="+mn-lt"/>
                </a:defRPr>
              </a:lvl1pPr>
              <a:lvl2pPr marL="162701" lvl="1" indent="-160159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988" dirty="0">
                  <a:sym typeface="+mn-lt"/>
                </a:defRPr>
              </a:lvl2pPr>
              <a:lvl3pPr marL="312692" lvl="2" indent="-15253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988" dirty="0">
                  <a:sym typeface="+mn-lt"/>
                </a:defRPr>
              </a:lvl3pPr>
              <a:lvl4pPr marL="422007" lvl="3" indent="-10677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988" dirty="0">
                  <a:sym typeface="+mn-lt"/>
                </a:defRPr>
              </a:lvl4pPr>
              <a:lvl5pPr marL="577082" lvl="4" indent="-104231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988" dirty="0">
                  <a:sym typeface="+mn-lt"/>
                </a:defRPr>
              </a:lvl5pPr>
              <a:lvl6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6pPr>
              <a:lvl7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7pPr>
              <a:lvl8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8pPr>
              <a:lvl9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45732" rtl="0" eaLnBrk="1" fontAlgn="auto" latinLnBrk="0" hangingPunct="1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ru-RU" sz="7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Агрегация и контроль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82EC19-3BDF-4740-A6FB-8E8BCE398740}"/>
              </a:ext>
            </a:extLst>
          </p:cNvPr>
          <p:cNvGrpSpPr/>
          <p:nvPr/>
        </p:nvGrpSpPr>
        <p:grpSpPr>
          <a:xfrm>
            <a:off x="3393228" y="5584368"/>
            <a:ext cx="1052947" cy="252000"/>
            <a:chOff x="3393228" y="5584368"/>
            <a:chExt cx="1052947" cy="252000"/>
          </a:xfrm>
        </p:grpSpPr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A177E2FE-D324-4E5B-B718-74B40ADB703B}"/>
                </a:ext>
              </a:extLst>
            </p:cNvPr>
            <p:cNvSpPr>
              <a:spLocks/>
            </p:cNvSpPr>
            <p:nvPr/>
          </p:nvSpPr>
          <p:spPr>
            <a:xfrm>
              <a:off x="3476516" y="5584368"/>
              <a:ext cx="969659" cy="252000"/>
            </a:xfrm>
            <a:prstGeom prst="roundRect">
              <a:avLst>
                <a:gd name="adj" fmla="val 30156"/>
              </a:avLst>
            </a:prstGeom>
            <a:solidFill>
              <a:schemeClr val="bg2"/>
            </a:solidFill>
            <a:ln w="6350" cap="sq">
              <a:noFill/>
              <a:miter lim="800000"/>
            </a:ln>
            <a:effectLst>
              <a:outerShdw blurRad="381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245" name="DoubleArrowBlue">
              <a:extLst>
                <a:ext uri="{FF2B5EF4-FFF2-40B4-BE49-F238E27FC236}">
                  <a16:creationId xmlns:a16="http://schemas.microsoft.com/office/drawing/2014/main" id="{8C75F694-09A0-4D77-BA9A-E5A115C67DF7}"/>
                </a:ext>
              </a:extLst>
            </p:cNvPr>
            <p:cNvGrpSpPr>
              <a:grpSpLocks/>
            </p:cNvGrpSpPr>
            <p:nvPr>
              <p:custDataLst>
                <p:tags r:id="rId5"/>
              </p:custDataLst>
            </p:nvPr>
          </p:nvGrpSpPr>
          <p:grpSpPr>
            <a:xfrm rot="5400000">
              <a:off x="3393228" y="5584368"/>
              <a:ext cx="252000" cy="252000"/>
              <a:chOff x="1016000" y="1016000"/>
              <a:chExt cx="396228" cy="396228"/>
            </a:xfrm>
            <a:solidFill>
              <a:schemeClr val="tx2"/>
            </a:solidFill>
          </p:grpSpPr>
          <p:sp>
            <p:nvSpPr>
              <p:cNvPr id="327" name="Oval 326">
                <a:extLst>
                  <a:ext uri="{FF2B5EF4-FFF2-40B4-BE49-F238E27FC236}">
                    <a16:creationId xmlns:a16="http://schemas.microsoft.com/office/drawing/2014/main" id="{01B53C97-BCF6-4256-8D5F-5D18300B1BFB}"/>
                  </a:ext>
                </a:extLst>
              </p:cNvPr>
              <p:cNvSpPr/>
              <p:nvPr/>
            </p:nvSpPr>
            <p:spPr>
              <a:xfrm>
                <a:off x="1016000" y="1016000"/>
                <a:ext cx="396228" cy="396228"/>
              </a:xfrm>
              <a:prstGeom prst="ellipse">
                <a:avLst/>
              </a:prstGeom>
              <a:grpFill/>
              <a:ln w="6350" cap="sq" cmpd="sng" algn="ctr">
                <a:noFill/>
                <a:prstDash val="solid"/>
                <a:miter lim="800000"/>
                <a:tailEnd type="none"/>
              </a:ln>
              <a:effectLst/>
              <a:extLst>
                <a:ext uri="{91240B29-F687-4F45-9708-019B960494DF}">
                  <a14:hiddenLine xmlns:a14="http://schemas.microsoft.com/office/drawing/2010/main" w="6350" cap="sq" cmpd="sng" algn="ctr">
                    <a:solidFill>
                      <a:schemeClr val="tx1"/>
                    </a:solidFill>
                    <a:prstDash val="solid"/>
                    <a:miter lim="800000"/>
                    <a:tailEnd type="none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endParaRPr>
              </a:p>
            </p:txBody>
          </p:sp>
          <p:pic>
            <p:nvPicPr>
              <p:cNvPr id="328" name="Graphic 327">
                <a:extLst>
                  <a:ext uri="{FF2B5EF4-FFF2-40B4-BE49-F238E27FC236}">
                    <a16:creationId xmlns:a16="http://schemas.microsoft.com/office/drawing/2014/main" id="{2CF197BF-5CFC-428F-8EDE-A1BFB36DF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49014" y="1049014"/>
                <a:ext cx="330200" cy="330200"/>
              </a:xfrm>
              <a:prstGeom prst="rect">
                <a:avLst/>
              </a:prstGeom>
            </p:spPr>
          </p:pic>
        </p:grp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DE2F601D-129E-464C-AAAB-1B79FD4E9089}"/>
                </a:ext>
              </a:extLst>
            </p:cNvPr>
            <p:cNvSpPr txBox="1">
              <a:spLocks/>
            </p:cNvSpPr>
            <p:nvPr/>
          </p:nvSpPr>
          <p:spPr>
            <a:xfrm>
              <a:off x="3706774" y="5584368"/>
              <a:ext cx="722961" cy="25200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>
              <a:lvl1pPr lvl="0" indent="0" defTabSz="645732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Font typeface="Segoe UI" panose="020B0502040204020203" pitchFamily="34" charset="0"/>
                <a:buChar char="​"/>
                <a:defRPr lang="en-US" sz="988" dirty="0">
                  <a:sym typeface="+mn-lt"/>
                </a:defRPr>
              </a:lvl1pPr>
              <a:lvl2pPr marL="162701" lvl="1" indent="-160159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988" dirty="0">
                  <a:sym typeface="+mn-lt"/>
                </a:defRPr>
              </a:lvl2pPr>
              <a:lvl3pPr marL="312692" lvl="2" indent="-15253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988" dirty="0">
                  <a:sym typeface="+mn-lt"/>
                </a:defRPr>
              </a:lvl3pPr>
              <a:lvl4pPr marL="422007" lvl="3" indent="-106773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988" dirty="0">
                  <a:sym typeface="+mn-lt"/>
                </a:defRPr>
              </a:lvl4pPr>
              <a:lvl5pPr marL="577082" lvl="4" indent="-104231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988" dirty="0">
                  <a:sym typeface="+mn-lt"/>
                </a:defRPr>
              </a:lvl5pPr>
              <a:lvl6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6pPr>
              <a:lvl7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7pPr>
              <a:lvl8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8pPr>
              <a:lvl9pPr marL="766807" indent="-121075" defTabSz="645732">
                <a:lnSpc>
                  <a:spcPct val="100000"/>
                </a:lnSpc>
                <a:spcBef>
                  <a:spcPts val="0"/>
                </a:spcBef>
                <a:spcAft>
                  <a:spcPts val="212"/>
                </a:spcAft>
                <a:buSzPct val="100000"/>
                <a:buFont typeface="Arial" panose="020B0604020202020204" pitchFamily="34" charset="0"/>
                <a:buChar char="▫"/>
                <a:defRPr sz="113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645732" rtl="0" eaLnBrk="1" fontAlgn="auto" latinLnBrk="0" hangingPunct="1">
                <a:lnSpc>
                  <a:spcPct val="100000"/>
                </a:lnSpc>
                <a:spcBef>
                  <a:spcPts val="212"/>
                </a:spcBef>
                <a:spcAft>
                  <a:spcPts val="212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ru-RU" sz="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Интеграция</a:t>
              </a:r>
            </a:p>
          </p:txBody>
        </p:sp>
      </p:grpSp>
      <p:sp>
        <p:nvSpPr>
          <p:cNvPr id="271" name="TextBox 270">
            <a:extLst>
              <a:ext uri="{FF2B5EF4-FFF2-40B4-BE49-F238E27FC236}">
                <a16:creationId xmlns:a16="http://schemas.microsoft.com/office/drawing/2014/main" id="{D80A7450-EA6D-489C-99AE-D157CAB5B83C}"/>
              </a:ext>
            </a:extLst>
          </p:cNvPr>
          <p:cNvSpPr txBox="1"/>
          <p:nvPr/>
        </p:nvSpPr>
        <p:spPr>
          <a:xfrm>
            <a:off x="3706774" y="3142991"/>
            <a:ext cx="1264047" cy="1141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Интеграция через </a:t>
            </a: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API </a:t>
            </a:r>
            <a:endParaRPr kumimoji="0" lang="ru-RU" sz="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grpSp>
        <p:nvGrpSpPr>
          <p:cNvPr id="282" name="DoubleArrowBlue">
            <a:extLst>
              <a:ext uri="{FF2B5EF4-FFF2-40B4-BE49-F238E27FC236}">
                <a16:creationId xmlns:a16="http://schemas.microsoft.com/office/drawing/2014/main" id="{EF15EC92-93F4-4742-99AB-F91CFFD83FD2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>
          <a:xfrm rot="5400000">
            <a:off x="3393228" y="3074054"/>
            <a:ext cx="252000" cy="252000"/>
            <a:chOff x="1016000" y="1016000"/>
            <a:chExt cx="396228" cy="396228"/>
          </a:xfrm>
          <a:solidFill>
            <a:schemeClr val="tx2"/>
          </a:solidFill>
        </p:grpSpPr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7323C744-5B36-4122-8585-A3D689AE78E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grpFill/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324" name="Graphic 323">
              <a:extLst>
                <a:ext uri="{FF2B5EF4-FFF2-40B4-BE49-F238E27FC236}">
                  <a16:creationId xmlns:a16="http://schemas.microsoft.com/office/drawing/2014/main" id="{E9F5F904-8F2E-4C27-9C56-C3BE09722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sp>
        <p:nvSpPr>
          <p:cNvPr id="310" name="Rectangle: Rounded Corners 309">
            <a:extLst>
              <a:ext uri="{FF2B5EF4-FFF2-40B4-BE49-F238E27FC236}">
                <a16:creationId xmlns:a16="http://schemas.microsoft.com/office/drawing/2014/main" id="{95777E4C-FC72-4CCB-9507-F6B12E39BBA3}"/>
              </a:ext>
            </a:extLst>
          </p:cNvPr>
          <p:cNvSpPr/>
          <p:nvPr/>
        </p:nvSpPr>
        <p:spPr>
          <a:xfrm flipH="1">
            <a:off x="4983454" y="4674291"/>
            <a:ext cx="565682" cy="543090"/>
          </a:xfrm>
          <a:prstGeom prst="roundRect">
            <a:avLst>
              <a:gd name="adj" fmla="val 12679"/>
            </a:avLst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Оплатить счета</a:t>
            </a: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D69E30FA-9614-4489-9C00-E121D5022474}"/>
              </a:ext>
            </a:extLst>
          </p:cNvPr>
          <p:cNvSpPr/>
          <p:nvPr/>
        </p:nvSpPr>
        <p:spPr>
          <a:xfrm flipH="1">
            <a:off x="2919380" y="4674291"/>
            <a:ext cx="565682" cy="543090"/>
          </a:xfrm>
          <a:prstGeom prst="roundRect">
            <a:avLst>
              <a:gd name="adj" fmla="val 12280"/>
            </a:avLst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Парковоч-ные места</a:t>
            </a:r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5D083205-5D19-412A-9335-3FCDDBE83E8B}"/>
              </a:ext>
            </a:extLst>
          </p:cNvPr>
          <p:cNvSpPr/>
          <p:nvPr/>
        </p:nvSpPr>
        <p:spPr>
          <a:xfrm flipH="1">
            <a:off x="4295430" y="4674291"/>
            <a:ext cx="565682" cy="543090"/>
          </a:xfrm>
          <a:prstGeom prst="roundRect">
            <a:avLst>
              <a:gd name="adj" fmla="val 13077"/>
            </a:avLst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Видео-домофон</a:t>
            </a:r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2F1D62C1-24C7-4D30-81E3-FCD752F03029}"/>
              </a:ext>
            </a:extLst>
          </p:cNvPr>
          <p:cNvSpPr/>
          <p:nvPr/>
        </p:nvSpPr>
        <p:spPr>
          <a:xfrm flipH="1">
            <a:off x="3607405" y="4674291"/>
            <a:ext cx="565682" cy="543090"/>
          </a:xfrm>
          <a:prstGeom prst="roundRect">
            <a:avLst>
              <a:gd name="adj" fmla="val 12679"/>
            </a:avLst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Открыть шлагбаум</a:t>
            </a:r>
          </a:p>
        </p:txBody>
      </p:sp>
      <p:sp>
        <p:nvSpPr>
          <p:cNvPr id="338" name="Rectangle: Rounded Corners 337">
            <a:extLst>
              <a:ext uri="{FF2B5EF4-FFF2-40B4-BE49-F238E27FC236}">
                <a16:creationId xmlns:a16="http://schemas.microsoft.com/office/drawing/2014/main" id="{97BFDC4A-4551-46DE-AEE5-697E4321F266}"/>
              </a:ext>
            </a:extLst>
          </p:cNvPr>
          <p:cNvSpPr>
            <a:spLocks/>
          </p:cNvSpPr>
          <p:nvPr/>
        </p:nvSpPr>
        <p:spPr>
          <a:xfrm>
            <a:off x="2682890" y="1083257"/>
            <a:ext cx="8954376" cy="443320"/>
          </a:xfrm>
          <a:prstGeom prst="roundRect">
            <a:avLst>
              <a:gd name="adj" fmla="val 19032"/>
            </a:avLst>
          </a:prstGeom>
          <a:solidFill>
            <a:schemeClr val="accent5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SzPct val="100000"/>
            </a:pPr>
            <a:endParaRPr lang="en-US" sz="1200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403A9572-5F49-428F-A14A-85A6E79E7D6D}"/>
              </a:ext>
            </a:extLst>
          </p:cNvPr>
          <p:cNvSpPr>
            <a:spLocks/>
          </p:cNvSpPr>
          <p:nvPr/>
        </p:nvSpPr>
        <p:spPr>
          <a:xfrm flipH="1">
            <a:off x="5991441" y="2211547"/>
            <a:ext cx="898313" cy="24439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FF7D5C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ЭЛЕКТРОННЫЙ ДОМ</a:t>
            </a:r>
          </a:p>
        </p:txBody>
      </p:sp>
      <p:grpSp>
        <p:nvGrpSpPr>
          <p:cNvPr id="353" name="Graphic 142">
            <a:extLst>
              <a:ext uri="{FF2B5EF4-FFF2-40B4-BE49-F238E27FC236}">
                <a16:creationId xmlns:a16="http://schemas.microsoft.com/office/drawing/2014/main" id="{206A8A3F-C981-4B06-9CAD-C5706311A7A3}"/>
              </a:ext>
            </a:extLst>
          </p:cNvPr>
          <p:cNvGrpSpPr/>
          <p:nvPr/>
        </p:nvGrpSpPr>
        <p:grpSpPr>
          <a:xfrm flipH="1">
            <a:off x="6884806" y="2199065"/>
            <a:ext cx="238157" cy="269358"/>
            <a:chOff x="5036401" y="2226087"/>
            <a:chExt cx="238157" cy="269358"/>
          </a:xfrm>
          <a:solidFill>
            <a:srgbClr val="FF7D5C"/>
          </a:solidFill>
        </p:grpSpPr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4675068E-C9FA-4B9F-B80F-397C242D8979}"/>
                </a:ext>
              </a:extLst>
            </p:cNvPr>
            <p:cNvSpPr/>
            <p:nvPr/>
          </p:nvSpPr>
          <p:spPr>
            <a:xfrm>
              <a:off x="5036401" y="2257288"/>
              <a:ext cx="238157" cy="238157"/>
            </a:xfrm>
            <a:custGeom>
              <a:avLst/>
              <a:gdLst>
                <a:gd name="connsiteX0" fmla="*/ 238157 w 238157"/>
                <a:gd name="connsiteY0" fmla="*/ 238157 h 238157"/>
                <a:gd name="connsiteX1" fmla="*/ 0 w 238157"/>
                <a:gd name="connsiteY1" fmla="*/ 238157 h 238157"/>
                <a:gd name="connsiteX2" fmla="*/ 0 w 238157"/>
                <a:gd name="connsiteY2" fmla="*/ 0 h 238157"/>
                <a:gd name="connsiteX3" fmla="*/ 93401 w 238157"/>
                <a:gd name="connsiteY3" fmla="*/ 0 h 238157"/>
                <a:gd name="connsiteX4" fmla="*/ 79284 w 238157"/>
                <a:gd name="connsiteY4" fmla="*/ 38158 h 238157"/>
                <a:gd name="connsiteX5" fmla="*/ 38158 w 238157"/>
                <a:gd name="connsiteY5" fmla="*/ 38158 h 238157"/>
                <a:gd name="connsiteX6" fmla="*/ 38158 w 238157"/>
                <a:gd name="connsiteY6" fmla="*/ 200101 h 238157"/>
                <a:gd name="connsiteX7" fmla="*/ 200101 w 238157"/>
                <a:gd name="connsiteY7" fmla="*/ 200101 h 238157"/>
                <a:gd name="connsiteX8" fmla="*/ 200101 w 238157"/>
                <a:gd name="connsiteY8" fmla="*/ 38158 h 238157"/>
                <a:gd name="connsiteX9" fmla="*/ 141790 w 238157"/>
                <a:gd name="connsiteY9" fmla="*/ 38158 h 238157"/>
                <a:gd name="connsiteX10" fmla="*/ 154577 w 238157"/>
                <a:gd name="connsiteY10" fmla="*/ 0 h 238157"/>
                <a:gd name="connsiteX11" fmla="*/ 238157 w 238157"/>
                <a:gd name="connsiteY11" fmla="*/ 0 h 23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8157" h="238157">
                  <a:moveTo>
                    <a:pt x="238157" y="238157"/>
                  </a:moveTo>
                  <a:lnTo>
                    <a:pt x="0" y="238157"/>
                  </a:lnTo>
                  <a:lnTo>
                    <a:pt x="0" y="0"/>
                  </a:lnTo>
                  <a:lnTo>
                    <a:pt x="93401" y="0"/>
                  </a:lnTo>
                  <a:lnTo>
                    <a:pt x="79284" y="38158"/>
                  </a:lnTo>
                  <a:lnTo>
                    <a:pt x="38158" y="38158"/>
                  </a:lnTo>
                  <a:lnTo>
                    <a:pt x="38158" y="200101"/>
                  </a:lnTo>
                  <a:lnTo>
                    <a:pt x="200101" y="200101"/>
                  </a:lnTo>
                  <a:lnTo>
                    <a:pt x="200101" y="38158"/>
                  </a:lnTo>
                  <a:lnTo>
                    <a:pt x="141790" y="38158"/>
                  </a:lnTo>
                  <a:lnTo>
                    <a:pt x="154577" y="0"/>
                  </a:lnTo>
                  <a:lnTo>
                    <a:pt x="238157" y="0"/>
                  </a:lnTo>
                  <a:close/>
                </a:path>
              </a:pathLst>
            </a:custGeom>
            <a:grpFill/>
            <a:ln w="99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BF937859-17A9-4529-9B7B-9FF046C26D07}"/>
                </a:ext>
              </a:extLst>
            </p:cNvPr>
            <p:cNvSpPr/>
            <p:nvPr/>
          </p:nvSpPr>
          <p:spPr>
            <a:xfrm>
              <a:off x="5128267" y="2226087"/>
              <a:ext cx="61789" cy="68950"/>
            </a:xfrm>
            <a:custGeom>
              <a:avLst/>
              <a:gdLst>
                <a:gd name="connsiteX0" fmla="*/ 61790 w 61789"/>
                <a:gd name="connsiteY0" fmla="*/ 0 h 68950"/>
                <a:gd name="connsiteX1" fmla="*/ 24859 w 61789"/>
                <a:gd name="connsiteY1" fmla="*/ 0 h 68950"/>
                <a:gd name="connsiteX2" fmla="*/ 0 w 61789"/>
                <a:gd name="connsiteY2" fmla="*/ 68951 h 68950"/>
                <a:gd name="connsiteX3" fmla="*/ 36931 w 61789"/>
                <a:gd name="connsiteY3" fmla="*/ 68951 h 6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789" h="68950">
                  <a:moveTo>
                    <a:pt x="61790" y="0"/>
                  </a:moveTo>
                  <a:lnTo>
                    <a:pt x="24859" y="0"/>
                  </a:lnTo>
                  <a:lnTo>
                    <a:pt x="0" y="68951"/>
                  </a:lnTo>
                  <a:lnTo>
                    <a:pt x="36931" y="68951"/>
                  </a:lnTo>
                  <a:close/>
                </a:path>
              </a:pathLst>
            </a:custGeom>
            <a:grpFill/>
            <a:ln w="99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pic>
        <p:nvPicPr>
          <p:cNvPr id="356" name="Graphic 355">
            <a:extLst>
              <a:ext uri="{FF2B5EF4-FFF2-40B4-BE49-F238E27FC236}">
                <a16:creationId xmlns:a16="http://schemas.microsoft.com/office/drawing/2014/main" id="{7F20A902-895F-4B36-B595-1C7BD378D6C6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32298" y="3475148"/>
            <a:ext cx="466768" cy="460003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88FF7A2C-C03E-4461-A136-E40F397890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01984" y="1993843"/>
            <a:ext cx="466768" cy="345002"/>
          </a:xfrm>
          <a:prstGeom prst="rect">
            <a:avLst/>
          </a:prstGeom>
        </p:spPr>
      </p:pic>
      <p:pic>
        <p:nvPicPr>
          <p:cNvPr id="358" name="CustomIcon">
            <a:extLst>
              <a:ext uri="{FF2B5EF4-FFF2-40B4-BE49-F238E27FC236}">
                <a16:creationId xmlns:a16="http://schemas.microsoft.com/office/drawing/2014/main" id="{94F2C66A-6A54-4A90-819E-0883A260863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01227" y="5885868"/>
            <a:ext cx="443618" cy="437189"/>
          </a:xfrm>
          <a:prstGeom prst="rect">
            <a:avLst/>
          </a:prstGeom>
        </p:spPr>
      </p:pic>
      <p:grpSp>
        <p:nvGrpSpPr>
          <p:cNvPr id="359" name="Group 358">
            <a:extLst>
              <a:ext uri="{FF2B5EF4-FFF2-40B4-BE49-F238E27FC236}">
                <a16:creationId xmlns:a16="http://schemas.microsoft.com/office/drawing/2014/main" id="{7B27A359-49CF-4985-9A2D-07A6997E1EA9}"/>
              </a:ext>
            </a:extLst>
          </p:cNvPr>
          <p:cNvGrpSpPr/>
          <p:nvPr/>
        </p:nvGrpSpPr>
        <p:grpSpPr>
          <a:xfrm flipH="1">
            <a:off x="5155095" y="4749781"/>
            <a:ext cx="222401" cy="222401"/>
            <a:chOff x="5402295" y="4371945"/>
            <a:chExt cx="205908" cy="227106"/>
          </a:xfrm>
        </p:grpSpPr>
        <p:sp>
          <p:nvSpPr>
            <p:cNvPr id="360" name="Freeform 9">
              <a:extLst>
                <a:ext uri="{FF2B5EF4-FFF2-40B4-BE49-F238E27FC236}">
                  <a16:creationId xmlns:a16="http://schemas.microsoft.com/office/drawing/2014/main" id="{BE5F4219-68A2-4E1D-9C12-76DF868C2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295" y="4467330"/>
              <a:ext cx="205908" cy="131721"/>
            </a:xfrm>
            <a:custGeom>
              <a:avLst/>
              <a:gdLst>
                <a:gd name="T0" fmla="*/ 164 w 173"/>
                <a:gd name="T1" fmla="*/ 111 h 111"/>
                <a:gd name="T2" fmla="*/ 10 w 173"/>
                <a:gd name="T3" fmla="*/ 111 h 111"/>
                <a:gd name="T4" fmla="*/ 0 w 173"/>
                <a:gd name="T5" fmla="*/ 102 h 111"/>
                <a:gd name="T6" fmla="*/ 0 w 173"/>
                <a:gd name="T7" fmla="*/ 9 h 111"/>
                <a:gd name="T8" fmla="*/ 10 w 173"/>
                <a:gd name="T9" fmla="*/ 0 h 111"/>
                <a:gd name="T10" fmla="*/ 164 w 173"/>
                <a:gd name="T11" fmla="*/ 0 h 111"/>
                <a:gd name="T12" fmla="*/ 173 w 173"/>
                <a:gd name="T13" fmla="*/ 9 h 111"/>
                <a:gd name="T14" fmla="*/ 173 w 173"/>
                <a:gd name="T15" fmla="*/ 102 h 111"/>
                <a:gd name="T16" fmla="*/ 164 w 173"/>
                <a:gd name="T1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3" h="111">
                  <a:moveTo>
                    <a:pt x="164" y="111"/>
                  </a:moveTo>
                  <a:cubicBezTo>
                    <a:pt x="10" y="111"/>
                    <a:pt x="10" y="111"/>
                    <a:pt x="10" y="111"/>
                  </a:cubicBezTo>
                  <a:cubicBezTo>
                    <a:pt x="5" y="111"/>
                    <a:pt x="0" y="107"/>
                    <a:pt x="0" y="10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3" y="4"/>
                    <a:pt x="173" y="9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7"/>
                    <a:pt x="169" y="111"/>
                    <a:pt x="164" y="111"/>
                  </a:cubicBezTo>
                  <a:close/>
                </a:path>
              </a:pathLst>
            </a:cu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1" name="Freeform 10">
              <a:extLst>
                <a:ext uri="{FF2B5EF4-FFF2-40B4-BE49-F238E27FC236}">
                  <a16:creationId xmlns:a16="http://schemas.microsoft.com/office/drawing/2014/main" id="{CE6972B6-02B8-4753-A54B-71DC5C828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9763" y="4488526"/>
              <a:ext cx="50972" cy="36841"/>
            </a:xfrm>
            <a:custGeom>
              <a:avLst/>
              <a:gdLst>
                <a:gd name="T0" fmla="*/ 37 w 43"/>
                <a:gd name="T1" fmla="*/ 31 h 31"/>
                <a:gd name="T2" fmla="*/ 6 w 43"/>
                <a:gd name="T3" fmla="*/ 31 h 31"/>
                <a:gd name="T4" fmla="*/ 0 w 43"/>
                <a:gd name="T5" fmla="*/ 25 h 31"/>
                <a:gd name="T6" fmla="*/ 0 w 43"/>
                <a:gd name="T7" fmla="*/ 7 h 31"/>
                <a:gd name="T8" fmla="*/ 6 w 43"/>
                <a:gd name="T9" fmla="*/ 0 h 31"/>
                <a:gd name="T10" fmla="*/ 37 w 43"/>
                <a:gd name="T11" fmla="*/ 0 h 31"/>
                <a:gd name="T12" fmla="*/ 43 w 43"/>
                <a:gd name="T13" fmla="*/ 7 h 31"/>
                <a:gd name="T14" fmla="*/ 43 w 43"/>
                <a:gd name="T15" fmla="*/ 25 h 31"/>
                <a:gd name="T16" fmla="*/ 37 w 43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31">
                  <a:moveTo>
                    <a:pt x="37" y="31"/>
                  </a:moveTo>
                  <a:cubicBezTo>
                    <a:pt x="6" y="31"/>
                    <a:pt x="6" y="31"/>
                    <a:pt x="6" y="31"/>
                  </a:cubicBezTo>
                  <a:cubicBezTo>
                    <a:pt x="3" y="31"/>
                    <a:pt x="0" y="28"/>
                    <a:pt x="0" y="2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3" y="3"/>
                    <a:pt x="43" y="7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8"/>
                    <a:pt x="40" y="31"/>
                    <a:pt x="37" y="31"/>
                  </a:cubicBezTo>
                  <a:close/>
                </a:path>
              </a:pathLst>
            </a:cu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2" name="Freeform 11">
              <a:extLst>
                <a:ext uri="{FF2B5EF4-FFF2-40B4-BE49-F238E27FC236}">
                  <a16:creationId xmlns:a16="http://schemas.microsoft.com/office/drawing/2014/main" id="{3045B343-2F38-4063-83CA-217D25E93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84" y="4493068"/>
              <a:ext cx="14131" cy="14636"/>
            </a:xfrm>
            <a:custGeom>
              <a:avLst/>
              <a:gdLst>
                <a:gd name="T0" fmla="*/ 28 w 28"/>
                <a:gd name="T1" fmla="*/ 29 h 29"/>
                <a:gd name="T2" fmla="*/ 0 w 28"/>
                <a:gd name="T3" fmla="*/ 29 h 29"/>
                <a:gd name="T4" fmla="*/ 0 w 28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9">
                  <a:moveTo>
                    <a:pt x="28" y="29"/>
                  </a:moveTo>
                  <a:lnTo>
                    <a:pt x="0" y="29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3" name="Freeform 12">
              <a:extLst>
                <a:ext uri="{FF2B5EF4-FFF2-40B4-BE49-F238E27FC236}">
                  <a16:creationId xmlns:a16="http://schemas.microsoft.com/office/drawing/2014/main" id="{B6B51EAA-5D65-4FC7-B5C2-4E61BCF72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84" y="4507704"/>
              <a:ext cx="14131" cy="14131"/>
            </a:xfrm>
            <a:custGeom>
              <a:avLst/>
              <a:gdLst>
                <a:gd name="T0" fmla="*/ 0 w 28"/>
                <a:gd name="T1" fmla="*/ 0 h 28"/>
                <a:gd name="T2" fmla="*/ 28 w 28"/>
                <a:gd name="T3" fmla="*/ 0 h 28"/>
                <a:gd name="T4" fmla="*/ 28 w 28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28">
                  <a:moveTo>
                    <a:pt x="0" y="0"/>
                  </a:moveTo>
                  <a:lnTo>
                    <a:pt x="28" y="0"/>
                  </a:lnTo>
                  <a:lnTo>
                    <a:pt x="28" y="28"/>
                  </a:lnTo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4" name="Line 13">
              <a:extLst>
                <a:ext uri="{FF2B5EF4-FFF2-40B4-BE49-F238E27FC236}">
                  <a16:creationId xmlns:a16="http://schemas.microsoft.com/office/drawing/2014/main" id="{5FB56390-707C-4D54-8748-2E4D8C9C8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651" y="4555143"/>
              <a:ext cx="21196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5" name="Line 14">
              <a:extLst>
                <a:ext uri="{FF2B5EF4-FFF2-40B4-BE49-F238E27FC236}">
                  <a16:creationId xmlns:a16="http://schemas.microsoft.com/office/drawing/2014/main" id="{621612BC-FB36-4C42-9C7A-2BC698137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98" y="4555143"/>
              <a:ext cx="21702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6" name="Line 15">
              <a:extLst>
                <a:ext uri="{FF2B5EF4-FFF2-40B4-BE49-F238E27FC236}">
                  <a16:creationId xmlns:a16="http://schemas.microsoft.com/office/drawing/2014/main" id="{451B7A01-C62E-415C-B687-8411DDD9F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651" y="4555143"/>
              <a:ext cx="21196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7" name="Line 17">
              <a:extLst>
                <a:ext uri="{FF2B5EF4-FFF2-40B4-BE49-F238E27FC236}">
                  <a16:creationId xmlns:a16="http://schemas.microsoft.com/office/drawing/2014/main" id="{109BC784-10CB-4041-9E26-85E0A7222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5062" y="4576340"/>
              <a:ext cx="40375" cy="0"/>
            </a:xfrm>
            <a:prstGeom prst="line">
              <a:avLst/>
            </a:prstGeom>
            <a:noFill/>
            <a:ln w="9525" cap="rnd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8" name="Freeform 19">
              <a:extLst>
                <a:ext uri="{FF2B5EF4-FFF2-40B4-BE49-F238E27FC236}">
                  <a16:creationId xmlns:a16="http://schemas.microsoft.com/office/drawing/2014/main" id="{E8E4FA80-23BE-4417-AD71-D9E4E3DB7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3052" y="4371945"/>
              <a:ext cx="204394" cy="132226"/>
            </a:xfrm>
            <a:custGeom>
              <a:avLst/>
              <a:gdLst>
                <a:gd name="T0" fmla="*/ 9 w 172"/>
                <a:gd name="T1" fmla="*/ 111 h 111"/>
                <a:gd name="T2" fmla="*/ 9 w 172"/>
                <a:gd name="T3" fmla="*/ 111 h 111"/>
                <a:gd name="T4" fmla="*/ 0 w 172"/>
                <a:gd name="T5" fmla="*/ 102 h 111"/>
                <a:gd name="T6" fmla="*/ 0 w 172"/>
                <a:gd name="T7" fmla="*/ 9 h 111"/>
                <a:gd name="T8" fmla="*/ 9 w 172"/>
                <a:gd name="T9" fmla="*/ 0 h 111"/>
                <a:gd name="T10" fmla="*/ 163 w 172"/>
                <a:gd name="T11" fmla="*/ 0 h 111"/>
                <a:gd name="T12" fmla="*/ 172 w 172"/>
                <a:gd name="T13" fmla="*/ 9 h 111"/>
                <a:gd name="T14" fmla="*/ 172 w 172"/>
                <a:gd name="T15" fmla="*/ 7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" h="111">
                  <a:moveTo>
                    <a:pt x="9" y="111"/>
                  </a:moveTo>
                  <a:cubicBezTo>
                    <a:pt x="9" y="111"/>
                    <a:pt x="9" y="111"/>
                    <a:pt x="9" y="111"/>
                  </a:cubicBezTo>
                  <a:cubicBezTo>
                    <a:pt x="4" y="111"/>
                    <a:pt x="0" y="107"/>
                    <a:pt x="0" y="10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8" y="0"/>
                    <a:pt x="172" y="4"/>
                    <a:pt x="172" y="9"/>
                  </a:cubicBezTo>
                  <a:cubicBezTo>
                    <a:pt x="172" y="71"/>
                    <a:pt x="172" y="71"/>
                    <a:pt x="172" y="71"/>
                  </a:cubicBezTo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9" name="Line 20">
              <a:extLst>
                <a:ext uri="{FF2B5EF4-FFF2-40B4-BE49-F238E27FC236}">
                  <a16:creationId xmlns:a16="http://schemas.microsoft.com/office/drawing/2014/main" id="{DBFD9B3E-304B-4E14-94A0-4F9B0F62E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6585" y="4401721"/>
              <a:ext cx="197329" cy="0"/>
            </a:xfrm>
            <a:prstGeom prst="line">
              <a:avLst/>
            </a:prstGeom>
            <a:noFill/>
            <a:ln w="9525" cap="sq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70" name="Line 21">
              <a:extLst>
                <a:ext uri="{FF2B5EF4-FFF2-40B4-BE49-F238E27FC236}">
                  <a16:creationId xmlns:a16="http://schemas.microsoft.com/office/drawing/2014/main" id="{0DFBEA26-D0F7-4036-A014-CD7F96429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6585" y="4426451"/>
              <a:ext cx="197329" cy="0"/>
            </a:xfrm>
            <a:prstGeom prst="line">
              <a:avLst/>
            </a:prstGeom>
            <a:noFill/>
            <a:ln w="9525" cap="sq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511BC649-AC8B-4478-A294-403E8CDA6AB6}"/>
              </a:ext>
            </a:extLst>
          </p:cNvPr>
          <p:cNvGrpSpPr/>
          <p:nvPr/>
        </p:nvGrpSpPr>
        <p:grpSpPr>
          <a:xfrm>
            <a:off x="3091020" y="4749781"/>
            <a:ext cx="222401" cy="222401"/>
            <a:chOff x="7409180" y="4355834"/>
            <a:chExt cx="228840" cy="228842"/>
          </a:xfrm>
        </p:grpSpPr>
        <p:sp>
          <p:nvSpPr>
            <p:cNvPr id="372" name="Freeform 87">
              <a:extLst>
                <a:ext uri="{FF2B5EF4-FFF2-40B4-BE49-F238E27FC236}">
                  <a16:creationId xmlns:a16="http://schemas.microsoft.com/office/drawing/2014/main" id="{D0043D85-8CB1-4A61-BBCD-373BD33204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3112" y="4391897"/>
              <a:ext cx="144910" cy="161960"/>
            </a:xfrm>
            <a:custGeom>
              <a:avLst/>
              <a:gdLst>
                <a:gd name="T0" fmla="*/ 0 w 128"/>
                <a:gd name="T1" fmla="*/ 27 h 143"/>
                <a:gd name="T2" fmla="*/ 26 w 128"/>
                <a:gd name="T3" fmla="*/ 0 h 143"/>
                <a:gd name="T4" fmla="*/ 66 w 128"/>
                <a:gd name="T5" fmla="*/ 0 h 143"/>
                <a:gd name="T6" fmla="*/ 128 w 128"/>
                <a:gd name="T7" fmla="*/ 49 h 143"/>
                <a:gd name="T8" fmla="*/ 66 w 128"/>
                <a:gd name="T9" fmla="*/ 97 h 143"/>
                <a:gd name="T10" fmla="*/ 44 w 128"/>
                <a:gd name="T11" fmla="*/ 97 h 143"/>
                <a:gd name="T12" fmla="*/ 44 w 128"/>
                <a:gd name="T13" fmla="*/ 120 h 143"/>
                <a:gd name="T14" fmla="*/ 22 w 128"/>
                <a:gd name="T15" fmla="*/ 143 h 143"/>
                <a:gd name="T16" fmla="*/ 0 w 128"/>
                <a:gd name="T17" fmla="*/ 120 h 143"/>
                <a:gd name="T18" fmla="*/ 0 w 128"/>
                <a:gd name="T19" fmla="*/ 27 h 143"/>
                <a:gd name="T20" fmla="*/ 69 w 128"/>
                <a:gd name="T21" fmla="*/ 63 h 143"/>
                <a:gd name="T22" fmla="*/ 84 w 128"/>
                <a:gd name="T23" fmla="*/ 49 h 143"/>
                <a:gd name="T24" fmla="*/ 67 w 128"/>
                <a:gd name="T25" fmla="*/ 34 h 143"/>
                <a:gd name="T26" fmla="*/ 44 w 128"/>
                <a:gd name="T27" fmla="*/ 34 h 143"/>
                <a:gd name="T28" fmla="*/ 44 w 128"/>
                <a:gd name="T29" fmla="*/ 63 h 143"/>
                <a:gd name="T30" fmla="*/ 69 w 128"/>
                <a:gd name="T31" fmla="*/ 6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143">
                  <a:moveTo>
                    <a:pt x="0" y="27"/>
                  </a:moveTo>
                  <a:cubicBezTo>
                    <a:pt x="0" y="8"/>
                    <a:pt x="8" y="0"/>
                    <a:pt x="2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01" y="0"/>
                    <a:pt x="128" y="11"/>
                    <a:pt x="128" y="49"/>
                  </a:cubicBezTo>
                  <a:cubicBezTo>
                    <a:pt x="128" y="87"/>
                    <a:pt x="101" y="97"/>
                    <a:pt x="66" y="97"/>
                  </a:cubicBezTo>
                  <a:cubicBezTo>
                    <a:pt x="44" y="97"/>
                    <a:pt x="44" y="97"/>
                    <a:pt x="44" y="97"/>
                  </a:cubicBezTo>
                  <a:cubicBezTo>
                    <a:pt x="44" y="120"/>
                    <a:pt x="44" y="120"/>
                    <a:pt x="44" y="120"/>
                  </a:cubicBezTo>
                  <a:cubicBezTo>
                    <a:pt x="44" y="135"/>
                    <a:pt x="36" y="143"/>
                    <a:pt x="22" y="143"/>
                  </a:cubicBezTo>
                  <a:cubicBezTo>
                    <a:pt x="8" y="143"/>
                    <a:pt x="0" y="135"/>
                    <a:pt x="0" y="120"/>
                  </a:cubicBezTo>
                  <a:lnTo>
                    <a:pt x="0" y="27"/>
                  </a:lnTo>
                  <a:close/>
                  <a:moveTo>
                    <a:pt x="69" y="63"/>
                  </a:moveTo>
                  <a:cubicBezTo>
                    <a:pt x="76" y="63"/>
                    <a:pt x="84" y="59"/>
                    <a:pt x="84" y="49"/>
                  </a:cubicBezTo>
                  <a:cubicBezTo>
                    <a:pt x="84" y="40"/>
                    <a:pt x="78" y="34"/>
                    <a:pt x="67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63"/>
                    <a:pt x="44" y="63"/>
                    <a:pt x="44" y="63"/>
                  </a:cubicBezTo>
                  <a:lnTo>
                    <a:pt x="69" y="63"/>
                  </a:lnTo>
                  <a:close/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73" name="Freeform 88">
              <a:extLst>
                <a:ext uri="{FF2B5EF4-FFF2-40B4-BE49-F238E27FC236}">
                  <a16:creationId xmlns:a16="http://schemas.microsoft.com/office/drawing/2014/main" id="{19299F68-8DDA-40A9-B9EF-D3FC4885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9180" y="4355834"/>
              <a:ext cx="228840" cy="228842"/>
            </a:xfrm>
            <a:custGeom>
              <a:avLst/>
              <a:gdLst>
                <a:gd name="T0" fmla="*/ 202 w 202"/>
                <a:gd name="T1" fmla="*/ 178 h 202"/>
                <a:gd name="T2" fmla="*/ 178 w 202"/>
                <a:gd name="T3" fmla="*/ 202 h 202"/>
                <a:gd name="T4" fmla="*/ 24 w 202"/>
                <a:gd name="T5" fmla="*/ 202 h 202"/>
                <a:gd name="T6" fmla="*/ 0 w 202"/>
                <a:gd name="T7" fmla="*/ 178 h 202"/>
                <a:gd name="T8" fmla="*/ 0 w 202"/>
                <a:gd name="T9" fmla="*/ 24 h 202"/>
                <a:gd name="T10" fmla="*/ 24 w 202"/>
                <a:gd name="T11" fmla="*/ 0 h 202"/>
                <a:gd name="T12" fmla="*/ 178 w 202"/>
                <a:gd name="T13" fmla="*/ 0 h 202"/>
                <a:gd name="T14" fmla="*/ 202 w 202"/>
                <a:gd name="T15" fmla="*/ 24 h 202"/>
                <a:gd name="T16" fmla="*/ 202 w 202"/>
                <a:gd name="T17" fmla="*/ 17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202">
                  <a:moveTo>
                    <a:pt x="202" y="178"/>
                  </a:moveTo>
                  <a:cubicBezTo>
                    <a:pt x="202" y="192"/>
                    <a:pt x="192" y="202"/>
                    <a:pt x="178" y="202"/>
                  </a:cubicBezTo>
                  <a:cubicBezTo>
                    <a:pt x="24" y="202"/>
                    <a:pt x="24" y="202"/>
                    <a:pt x="24" y="202"/>
                  </a:cubicBezTo>
                  <a:cubicBezTo>
                    <a:pt x="11" y="202"/>
                    <a:pt x="0" y="192"/>
                    <a:pt x="0" y="17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192" y="0"/>
                    <a:pt x="202" y="11"/>
                    <a:pt x="202" y="24"/>
                  </a:cubicBezTo>
                  <a:lnTo>
                    <a:pt x="202" y="178"/>
                  </a:lnTo>
                  <a:close/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111962A5-4FC8-4276-9563-840010E6C215}"/>
              </a:ext>
            </a:extLst>
          </p:cNvPr>
          <p:cNvGrpSpPr/>
          <p:nvPr/>
        </p:nvGrpSpPr>
        <p:grpSpPr>
          <a:xfrm flipH="1">
            <a:off x="4467071" y="4749781"/>
            <a:ext cx="222401" cy="222401"/>
            <a:chOff x="6045378" y="4391602"/>
            <a:chExt cx="228842" cy="230064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FE4860BF-7070-4123-AAEA-0EDCBF16A640}"/>
                </a:ext>
              </a:extLst>
            </p:cNvPr>
            <p:cNvGrpSpPr/>
            <p:nvPr/>
          </p:nvGrpSpPr>
          <p:grpSpPr>
            <a:xfrm flipH="1">
              <a:off x="6161816" y="4497633"/>
              <a:ext cx="112404" cy="124033"/>
              <a:chOff x="4983845" y="3412353"/>
              <a:chExt cx="346581" cy="382434"/>
            </a:xfrm>
          </p:grpSpPr>
          <p:sp>
            <p:nvSpPr>
              <p:cNvPr id="380" name="Freeform 65">
                <a:extLst>
                  <a:ext uri="{FF2B5EF4-FFF2-40B4-BE49-F238E27FC236}">
                    <a16:creationId xmlns:a16="http://schemas.microsoft.com/office/drawing/2014/main" id="{3A2C62F3-EED8-45A5-9330-09F5D7CB4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3845" y="3412353"/>
                <a:ext cx="346581" cy="366806"/>
              </a:xfrm>
              <a:custGeom>
                <a:avLst/>
                <a:gdLst>
                  <a:gd name="T0" fmla="*/ 111 w 137"/>
                  <a:gd name="T1" fmla="*/ 130 h 145"/>
                  <a:gd name="T2" fmla="*/ 127 w 137"/>
                  <a:gd name="T3" fmla="*/ 81 h 145"/>
                  <a:gd name="T4" fmla="*/ 122 w 137"/>
                  <a:gd name="T5" fmla="*/ 28 h 145"/>
                  <a:gd name="T6" fmla="*/ 124 w 137"/>
                  <a:gd name="T7" fmla="*/ 26 h 145"/>
                  <a:gd name="T8" fmla="*/ 118 w 137"/>
                  <a:gd name="T9" fmla="*/ 4 h 145"/>
                  <a:gd name="T10" fmla="*/ 96 w 137"/>
                  <a:gd name="T11" fmla="*/ 10 h 145"/>
                  <a:gd name="T12" fmla="*/ 95 w 137"/>
                  <a:gd name="T13" fmla="*/ 13 h 145"/>
                  <a:gd name="T14" fmla="*/ 47 w 137"/>
                  <a:gd name="T15" fmla="*/ 35 h 145"/>
                  <a:gd name="T16" fmla="*/ 13 w 137"/>
                  <a:gd name="T17" fmla="*/ 73 h 145"/>
                  <a:gd name="T18" fmla="*/ 3 w 137"/>
                  <a:gd name="T19" fmla="*/ 76 h 145"/>
                  <a:gd name="T20" fmla="*/ 6 w 137"/>
                  <a:gd name="T21" fmla="*/ 87 h 145"/>
                  <a:gd name="T22" fmla="*/ 103 w 137"/>
                  <a:gd name="T23" fmla="*/ 143 h 145"/>
                  <a:gd name="T24" fmla="*/ 113 w 137"/>
                  <a:gd name="T25" fmla="*/ 140 h 145"/>
                  <a:gd name="T26" fmla="*/ 111 w 137"/>
                  <a:gd name="T27" fmla="*/ 13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7" h="145">
                    <a:moveTo>
                      <a:pt x="111" y="130"/>
                    </a:moveTo>
                    <a:cubicBezTo>
                      <a:pt x="111" y="115"/>
                      <a:pt x="120" y="92"/>
                      <a:pt x="127" y="81"/>
                    </a:cubicBezTo>
                    <a:cubicBezTo>
                      <a:pt x="137" y="64"/>
                      <a:pt x="134" y="43"/>
                      <a:pt x="122" y="28"/>
                    </a:cubicBezTo>
                    <a:cubicBezTo>
                      <a:pt x="123" y="28"/>
                      <a:pt x="123" y="27"/>
                      <a:pt x="124" y="26"/>
                    </a:cubicBezTo>
                    <a:cubicBezTo>
                      <a:pt x="128" y="18"/>
                      <a:pt x="126" y="9"/>
                      <a:pt x="118" y="4"/>
                    </a:cubicBezTo>
                    <a:cubicBezTo>
                      <a:pt x="110" y="0"/>
                      <a:pt x="101" y="2"/>
                      <a:pt x="96" y="10"/>
                    </a:cubicBezTo>
                    <a:cubicBezTo>
                      <a:pt x="96" y="11"/>
                      <a:pt x="95" y="12"/>
                      <a:pt x="95" y="13"/>
                    </a:cubicBezTo>
                    <a:cubicBezTo>
                      <a:pt x="76" y="9"/>
                      <a:pt x="57" y="18"/>
                      <a:pt x="47" y="35"/>
                    </a:cubicBezTo>
                    <a:cubicBezTo>
                      <a:pt x="41" y="46"/>
                      <a:pt x="25" y="66"/>
                      <a:pt x="13" y="73"/>
                    </a:cubicBezTo>
                    <a:cubicBezTo>
                      <a:pt x="9" y="71"/>
                      <a:pt x="5" y="73"/>
                      <a:pt x="3" y="76"/>
                    </a:cubicBezTo>
                    <a:cubicBezTo>
                      <a:pt x="0" y="80"/>
                      <a:pt x="2" y="85"/>
                      <a:pt x="6" y="87"/>
                    </a:cubicBezTo>
                    <a:cubicBezTo>
                      <a:pt x="103" y="143"/>
                      <a:pt x="103" y="143"/>
                      <a:pt x="103" y="143"/>
                    </a:cubicBezTo>
                    <a:cubicBezTo>
                      <a:pt x="106" y="145"/>
                      <a:pt x="111" y="144"/>
                      <a:pt x="113" y="140"/>
                    </a:cubicBezTo>
                    <a:cubicBezTo>
                      <a:pt x="115" y="137"/>
                      <a:pt x="114" y="132"/>
                      <a:pt x="111" y="130"/>
                    </a:cubicBezTo>
                    <a:close/>
                  </a:path>
                </a:pathLst>
              </a:custGeom>
              <a:noFill/>
              <a:ln w="9525" cap="rnd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381" name="Freeform 66">
                <a:extLst>
                  <a:ext uri="{FF2B5EF4-FFF2-40B4-BE49-F238E27FC236}">
                    <a16:creationId xmlns:a16="http://schemas.microsoft.com/office/drawing/2014/main" id="{21E3507E-3A83-4167-BE46-9B72D30F4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598" y="3744225"/>
                <a:ext cx="60675" cy="50562"/>
              </a:xfrm>
              <a:custGeom>
                <a:avLst/>
                <a:gdLst>
                  <a:gd name="T0" fmla="*/ 24 w 24"/>
                  <a:gd name="T1" fmla="*/ 12 h 20"/>
                  <a:gd name="T2" fmla="*/ 8 w 24"/>
                  <a:gd name="T3" fmla="*/ 16 h 20"/>
                  <a:gd name="T4" fmla="*/ 3 w 24"/>
                  <a:gd name="T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20">
                    <a:moveTo>
                      <a:pt x="24" y="12"/>
                    </a:moveTo>
                    <a:cubicBezTo>
                      <a:pt x="21" y="18"/>
                      <a:pt x="14" y="20"/>
                      <a:pt x="8" y="16"/>
                    </a:cubicBezTo>
                    <a:cubicBezTo>
                      <a:pt x="2" y="13"/>
                      <a:pt x="0" y="6"/>
                      <a:pt x="3" y="0"/>
                    </a:cubicBezTo>
                  </a:path>
                </a:pathLst>
              </a:custGeom>
              <a:noFill/>
              <a:ln w="9525" cap="rnd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0483E1B3-2C52-4A02-B3E2-9A2EB1BB1DE3}"/>
                </a:ext>
              </a:extLst>
            </p:cNvPr>
            <p:cNvGrpSpPr/>
            <p:nvPr/>
          </p:nvGrpSpPr>
          <p:grpSpPr>
            <a:xfrm>
              <a:off x="6102958" y="4434785"/>
              <a:ext cx="71013" cy="120915"/>
              <a:chOff x="3289410" y="3950891"/>
              <a:chExt cx="176214" cy="300038"/>
            </a:xfrm>
          </p:grpSpPr>
          <p:sp>
            <p:nvSpPr>
              <p:cNvPr id="378" name="Oval 252">
                <a:extLst>
                  <a:ext uri="{FF2B5EF4-FFF2-40B4-BE49-F238E27FC236}">
                    <a16:creationId xmlns:a16="http://schemas.microsoft.com/office/drawing/2014/main" id="{26C53098-132E-4ED7-9834-574718325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1799" y="3950891"/>
                <a:ext cx="123825" cy="122238"/>
              </a:xfrm>
              <a:prstGeom prst="ellipse">
                <a:avLst/>
              </a:prstGeom>
              <a:noFill/>
              <a:ln w="9525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379" name="Freeform 253">
                <a:extLst>
                  <a:ext uri="{FF2B5EF4-FFF2-40B4-BE49-F238E27FC236}">
                    <a16:creationId xmlns:a16="http://schemas.microsoft.com/office/drawing/2014/main" id="{916AA1F9-29AA-4F2D-93BD-8962435AF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9410" y="4128691"/>
                <a:ext cx="176045" cy="122238"/>
              </a:xfrm>
              <a:custGeom>
                <a:avLst/>
                <a:gdLst>
                  <a:gd name="T0" fmla="*/ 0 w 87"/>
                  <a:gd name="T1" fmla="*/ 47 h 47"/>
                  <a:gd name="T2" fmla="*/ 0 w 87"/>
                  <a:gd name="T3" fmla="*/ 20 h 47"/>
                  <a:gd name="T4" fmla="*/ 20 w 87"/>
                  <a:gd name="T5" fmla="*/ 0 h 47"/>
                  <a:gd name="T6" fmla="*/ 67 w 87"/>
                  <a:gd name="T7" fmla="*/ 0 h 47"/>
                  <a:gd name="T8" fmla="*/ 87 w 87"/>
                  <a:gd name="T9" fmla="*/ 20 h 47"/>
                  <a:gd name="T10" fmla="*/ 87 w 87"/>
                  <a:gd name="T11" fmla="*/ 36 h 47"/>
                  <a:gd name="connsiteX0" fmla="*/ 0 w 10000"/>
                  <a:gd name="connsiteY0" fmla="*/ 10000 h 10000"/>
                  <a:gd name="connsiteX1" fmla="*/ 0 w 10000"/>
                  <a:gd name="connsiteY1" fmla="*/ 4255 h 10000"/>
                  <a:gd name="connsiteX2" fmla="*/ 2299 w 10000"/>
                  <a:gd name="connsiteY2" fmla="*/ 0 h 10000"/>
                  <a:gd name="connsiteX3" fmla="*/ 7701 w 10000"/>
                  <a:gd name="connsiteY3" fmla="*/ 0 h 10000"/>
                  <a:gd name="connsiteX4" fmla="*/ 10000 w 10000"/>
                  <a:gd name="connsiteY4" fmla="*/ 4255 h 10000"/>
                  <a:gd name="connsiteX0" fmla="*/ 0 w 7701"/>
                  <a:gd name="connsiteY0" fmla="*/ 10000 h 10000"/>
                  <a:gd name="connsiteX1" fmla="*/ 0 w 7701"/>
                  <a:gd name="connsiteY1" fmla="*/ 4255 h 10000"/>
                  <a:gd name="connsiteX2" fmla="*/ 2299 w 7701"/>
                  <a:gd name="connsiteY2" fmla="*/ 0 h 10000"/>
                  <a:gd name="connsiteX3" fmla="*/ 7701 w 7701"/>
                  <a:gd name="connsiteY3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1" h="10000">
                    <a:moveTo>
                      <a:pt x="0" y="10000"/>
                    </a:moveTo>
                    <a:lnTo>
                      <a:pt x="0" y="4255"/>
                    </a:lnTo>
                    <a:cubicBezTo>
                      <a:pt x="0" y="1915"/>
                      <a:pt x="1034" y="0"/>
                      <a:pt x="2299" y="0"/>
                    </a:cubicBezTo>
                    <a:lnTo>
                      <a:pt x="7701" y="0"/>
                    </a:lnTo>
                  </a:path>
                </a:pathLst>
              </a:custGeom>
              <a:noFill/>
              <a:ln w="9525" cap="flat">
                <a:solidFill>
                  <a:schemeClr val="bg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C0BEFB6B-C0F8-4E99-9407-8C921B24C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5378" y="4391602"/>
              <a:ext cx="207280" cy="207280"/>
            </a:xfrm>
            <a:custGeom>
              <a:avLst/>
              <a:gdLst>
                <a:gd name="connsiteX0" fmla="*/ 257175 w 514350"/>
                <a:gd name="connsiteY0" fmla="*/ 0 h 514350"/>
                <a:gd name="connsiteX1" fmla="*/ 514350 w 514350"/>
                <a:gd name="connsiteY1" fmla="*/ 257175 h 514350"/>
                <a:gd name="connsiteX2" fmla="*/ 494140 w 514350"/>
                <a:gd name="connsiteY2" fmla="*/ 357279 h 514350"/>
                <a:gd name="connsiteX3" fmla="*/ 491375 w 514350"/>
                <a:gd name="connsiteY3" fmla="*/ 362374 h 514350"/>
                <a:gd name="connsiteX4" fmla="*/ 484692 w 514350"/>
                <a:gd name="connsiteY4" fmla="*/ 353893 h 514350"/>
                <a:gd name="connsiteX5" fmla="*/ 472158 w 514350"/>
                <a:gd name="connsiteY5" fmla="*/ 334361 h 514350"/>
                <a:gd name="connsiteX6" fmla="*/ 374434 w 514350"/>
                <a:gd name="connsiteY6" fmla="*/ 289572 h 514350"/>
                <a:gd name="connsiteX7" fmla="*/ 372398 w 514350"/>
                <a:gd name="connsiteY7" fmla="*/ 283465 h 514350"/>
                <a:gd name="connsiteX8" fmla="*/ 327608 w 514350"/>
                <a:gd name="connsiteY8" fmla="*/ 271250 h 514350"/>
                <a:gd name="connsiteX9" fmla="*/ 315392 w 514350"/>
                <a:gd name="connsiteY9" fmla="*/ 316039 h 514350"/>
                <a:gd name="connsiteX10" fmla="*/ 319464 w 514350"/>
                <a:gd name="connsiteY10" fmla="*/ 320110 h 514350"/>
                <a:gd name="connsiteX11" fmla="*/ 309284 w 514350"/>
                <a:gd name="connsiteY11" fmla="*/ 428011 h 514350"/>
                <a:gd name="connsiteX12" fmla="*/ 330916 w 514350"/>
                <a:gd name="connsiteY12" fmla="*/ 474836 h 514350"/>
                <a:gd name="connsiteX13" fmla="*/ 336256 w 514350"/>
                <a:gd name="connsiteY13" fmla="*/ 500666 h 514350"/>
                <a:gd name="connsiteX14" fmla="*/ 309005 w 514350"/>
                <a:gd name="connsiteY14" fmla="*/ 509125 h 514350"/>
                <a:gd name="connsiteX15" fmla="*/ 257175 w 514350"/>
                <a:gd name="connsiteY15" fmla="*/ 514350 h 514350"/>
                <a:gd name="connsiteX16" fmla="*/ 0 w 514350"/>
                <a:gd name="connsiteY16" fmla="*/ 257175 h 514350"/>
                <a:gd name="connsiteX17" fmla="*/ 257175 w 514350"/>
                <a:gd name="connsiteY17" fmla="*/ 0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4350" h="514350">
                  <a:moveTo>
                    <a:pt x="257175" y="0"/>
                  </a:moveTo>
                  <a:cubicBezTo>
                    <a:pt x="399209" y="0"/>
                    <a:pt x="514350" y="115141"/>
                    <a:pt x="514350" y="257175"/>
                  </a:cubicBezTo>
                  <a:cubicBezTo>
                    <a:pt x="514350" y="292684"/>
                    <a:pt x="507154" y="326511"/>
                    <a:pt x="494140" y="357279"/>
                  </a:cubicBezTo>
                  <a:lnTo>
                    <a:pt x="491375" y="362374"/>
                  </a:lnTo>
                  <a:lnTo>
                    <a:pt x="484692" y="353893"/>
                  </a:lnTo>
                  <a:cubicBezTo>
                    <a:pt x="479538" y="346704"/>
                    <a:pt x="475212" y="339960"/>
                    <a:pt x="472158" y="334361"/>
                  </a:cubicBezTo>
                  <a:cubicBezTo>
                    <a:pt x="451799" y="299752"/>
                    <a:pt x="413116" y="281429"/>
                    <a:pt x="374434" y="289572"/>
                  </a:cubicBezTo>
                  <a:cubicBezTo>
                    <a:pt x="374434" y="287536"/>
                    <a:pt x="372398" y="285501"/>
                    <a:pt x="372398" y="283465"/>
                  </a:cubicBezTo>
                  <a:cubicBezTo>
                    <a:pt x="362218" y="267178"/>
                    <a:pt x="343895" y="263106"/>
                    <a:pt x="327608" y="271250"/>
                  </a:cubicBezTo>
                  <a:cubicBezTo>
                    <a:pt x="311320" y="281429"/>
                    <a:pt x="307249" y="299752"/>
                    <a:pt x="315392" y="316039"/>
                  </a:cubicBezTo>
                  <a:cubicBezTo>
                    <a:pt x="317428" y="318074"/>
                    <a:pt x="317428" y="320110"/>
                    <a:pt x="319464" y="320110"/>
                  </a:cubicBezTo>
                  <a:cubicBezTo>
                    <a:pt x="295033" y="350648"/>
                    <a:pt x="288925" y="393401"/>
                    <a:pt x="309284" y="428011"/>
                  </a:cubicBezTo>
                  <a:cubicBezTo>
                    <a:pt x="316410" y="439209"/>
                    <a:pt x="324554" y="456513"/>
                    <a:pt x="330916" y="474836"/>
                  </a:cubicBezTo>
                  <a:lnTo>
                    <a:pt x="336256" y="500666"/>
                  </a:lnTo>
                  <a:lnTo>
                    <a:pt x="309005" y="509125"/>
                  </a:lnTo>
                  <a:cubicBezTo>
                    <a:pt x="292264" y="512551"/>
                    <a:pt x="274930" y="514350"/>
                    <a:pt x="257175" y="514350"/>
                  </a:cubicBezTo>
                  <a:cubicBezTo>
                    <a:pt x="115141" y="514350"/>
                    <a:pt x="0" y="399209"/>
                    <a:pt x="0" y="257175"/>
                  </a:cubicBezTo>
                  <a:cubicBezTo>
                    <a:pt x="0" y="115141"/>
                    <a:pt x="115141" y="0"/>
                    <a:pt x="257175" y="0"/>
                  </a:cubicBezTo>
                  <a:close/>
                </a:path>
              </a:pathLst>
            </a:custGeom>
            <a:noFill/>
            <a:ln w="9525" cap="flat">
              <a:solidFill>
                <a:schemeClr val="bg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F46FF48-37F0-49A7-8A88-F532AF7B561F}"/>
              </a:ext>
            </a:extLst>
          </p:cNvPr>
          <p:cNvGrpSpPr/>
          <p:nvPr/>
        </p:nvGrpSpPr>
        <p:grpSpPr>
          <a:xfrm flipH="1">
            <a:off x="3763882" y="4749781"/>
            <a:ext cx="252728" cy="222401"/>
            <a:chOff x="6717832" y="4371149"/>
            <a:chExt cx="244946" cy="221631"/>
          </a:xfrm>
          <a:solidFill>
            <a:schemeClr val="accent4"/>
          </a:solidFill>
        </p:grpSpPr>
        <p:sp>
          <p:nvSpPr>
            <p:cNvPr id="383" name="Rectangle: Top Corners Rounded 382">
              <a:extLst>
                <a:ext uri="{FF2B5EF4-FFF2-40B4-BE49-F238E27FC236}">
                  <a16:creationId xmlns:a16="http://schemas.microsoft.com/office/drawing/2014/main" id="{3937D896-E681-4A05-B78D-DFCE6EDB2CC5}"/>
                </a:ext>
              </a:extLst>
            </p:cNvPr>
            <p:cNvSpPr/>
            <p:nvPr/>
          </p:nvSpPr>
          <p:spPr>
            <a:xfrm>
              <a:off x="6717832" y="4372474"/>
              <a:ext cx="106618" cy="220306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5D86AB00-D9FF-4CDE-80A4-9553F13195C8}"/>
                </a:ext>
              </a:extLst>
            </p:cNvPr>
            <p:cNvSpPr/>
            <p:nvPr/>
          </p:nvSpPr>
          <p:spPr>
            <a:xfrm rot="20594894">
              <a:off x="6762980" y="4393515"/>
              <a:ext cx="199798" cy="31099"/>
            </a:xfrm>
            <a:prstGeom prst="rect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85" name="Line 299">
              <a:extLst>
                <a:ext uri="{FF2B5EF4-FFF2-40B4-BE49-F238E27FC236}">
                  <a16:creationId xmlns:a16="http://schemas.microsoft.com/office/drawing/2014/main" id="{BDB4F2D5-16C9-47A4-957C-039570534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0038" y="4413155"/>
              <a:ext cx="9773" cy="32576"/>
            </a:xfrm>
            <a:prstGeom prst="lin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86" name="Line 300">
              <a:extLst>
                <a:ext uri="{FF2B5EF4-FFF2-40B4-BE49-F238E27FC236}">
                  <a16:creationId xmlns:a16="http://schemas.microsoft.com/office/drawing/2014/main" id="{AC377413-24AA-4BAC-B566-410B4F3255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7813" y="4402730"/>
              <a:ext cx="9773" cy="32249"/>
            </a:xfrm>
            <a:prstGeom prst="lin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87" name="Line 301">
              <a:extLst>
                <a:ext uri="{FF2B5EF4-FFF2-40B4-BE49-F238E27FC236}">
                  <a16:creationId xmlns:a16="http://schemas.microsoft.com/office/drawing/2014/main" id="{BCC0F92B-C312-4F6B-8305-317E2E841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55588" y="4392307"/>
              <a:ext cx="9773" cy="32249"/>
            </a:xfrm>
            <a:prstGeom prst="lin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88" name="Line 299">
              <a:extLst>
                <a:ext uri="{FF2B5EF4-FFF2-40B4-BE49-F238E27FC236}">
                  <a16:creationId xmlns:a16="http://schemas.microsoft.com/office/drawing/2014/main" id="{15A30A67-421B-44A7-A3DA-A8E7C044C4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93366" y="4381557"/>
              <a:ext cx="9773" cy="32576"/>
            </a:xfrm>
            <a:prstGeom prst="lin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89" name="Line 300">
              <a:extLst>
                <a:ext uri="{FF2B5EF4-FFF2-40B4-BE49-F238E27FC236}">
                  <a16:creationId xmlns:a16="http://schemas.microsoft.com/office/drawing/2014/main" id="{C54323DB-9D7E-4ACD-BE2F-9D4BD5B19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1144" y="4371149"/>
              <a:ext cx="9773" cy="32249"/>
            </a:xfrm>
            <a:prstGeom prst="lin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E0139898-B217-4882-AB92-282A301A7968}"/>
                </a:ext>
              </a:extLst>
            </p:cNvPr>
            <p:cNvSpPr/>
            <p:nvPr/>
          </p:nvSpPr>
          <p:spPr>
            <a:xfrm>
              <a:off x="6743052" y="4406908"/>
              <a:ext cx="56145" cy="56145"/>
            </a:xfrm>
            <a:prstGeom prst="ellipse">
              <a:avLst/>
            </a:prstGeom>
            <a:grpFill/>
            <a:ln w="9525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pic>
        <p:nvPicPr>
          <p:cNvPr id="391" name="Graphic 390">
            <a:extLst>
              <a:ext uri="{FF2B5EF4-FFF2-40B4-BE49-F238E27FC236}">
                <a16:creationId xmlns:a16="http://schemas.microsoft.com/office/drawing/2014/main" id="{CA1B3E92-5E13-4B23-826C-4A4E1BE3307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50464" y="5397694"/>
            <a:ext cx="600102" cy="1022900"/>
          </a:xfrm>
          <a:prstGeom prst="rect">
            <a:avLst/>
          </a:prstGeom>
        </p:spPr>
      </p:pic>
      <p:pic>
        <p:nvPicPr>
          <p:cNvPr id="392" name="Graphic 391">
            <a:extLst>
              <a:ext uri="{FF2B5EF4-FFF2-40B4-BE49-F238E27FC236}">
                <a16:creationId xmlns:a16="http://schemas.microsoft.com/office/drawing/2014/main" id="{60728AC9-D73A-44DC-82E3-ED75A0E31E7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951762" y="3305874"/>
            <a:ext cx="975034" cy="736574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6A4BA7F-19E9-4948-BAF8-215EF6E9A39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35552" y="2165878"/>
            <a:ext cx="820680" cy="746590"/>
          </a:xfrm>
          <a:prstGeom prst="rect">
            <a:avLst/>
          </a:prstGeom>
        </p:spPr>
      </p:pic>
      <p:pic>
        <p:nvPicPr>
          <p:cNvPr id="394" name="Graphic 393">
            <a:extLst>
              <a:ext uri="{FF2B5EF4-FFF2-40B4-BE49-F238E27FC236}">
                <a16:creationId xmlns:a16="http://schemas.microsoft.com/office/drawing/2014/main" id="{434334CB-69A7-48F8-809E-4E10B9A4D0C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73023" y="4291580"/>
            <a:ext cx="925030" cy="919062"/>
          </a:xfrm>
          <a:prstGeom prst="rect">
            <a:avLst/>
          </a:prstGeom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9DA0006F-9D94-437D-8B2E-3B75C67315BA}"/>
              </a:ext>
            </a:extLst>
          </p:cNvPr>
          <p:cNvSpPr txBox="1">
            <a:spLocks/>
          </p:cNvSpPr>
          <p:nvPr/>
        </p:nvSpPr>
        <p:spPr>
          <a:xfrm>
            <a:off x="2682889" y="1083257"/>
            <a:ext cx="8954376" cy="4433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600" lvl="1" indent="0" algn="ctr">
              <a:buNone/>
            </a:pPr>
            <a:r>
              <a:rPr lang="ru-RU" sz="1100" b="1" dirty="0">
                <a:solidFill>
                  <a:schemeClr val="tx2"/>
                </a:solidFill>
              </a:rPr>
              <a:t>Руководство города и префектуры</a:t>
            </a:r>
          </a:p>
          <a:p>
            <a:pPr marL="3600" lvl="1" indent="0" algn="ctr">
              <a:buNone/>
            </a:pPr>
            <a:r>
              <a:rPr lang="ru-RU" sz="900" dirty="0">
                <a:solidFill>
                  <a:schemeClr val="tx2"/>
                </a:solidFill>
              </a:rPr>
              <a:t>Принятие стратегических сервисов и обеспечение взаимодействия сторон</a:t>
            </a:r>
          </a:p>
        </p:txBody>
      </p: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80294539-CBC2-4266-9763-23AC78C4242D}"/>
              </a:ext>
            </a:extLst>
          </p:cNvPr>
          <p:cNvGrpSpPr>
            <a:grpSpLocks/>
          </p:cNvGrpSpPr>
          <p:nvPr/>
        </p:nvGrpSpPr>
        <p:grpSpPr>
          <a:xfrm>
            <a:off x="2218936" y="1852554"/>
            <a:ext cx="461908" cy="311581"/>
            <a:chOff x="5395913" y="1266825"/>
            <a:chExt cx="974407" cy="613810"/>
          </a:xfrm>
          <a:gradFill flip="none" rotWithShape="1">
            <a:gsLst>
              <a:gs pos="12000">
                <a:srgbClr val="C92723">
                  <a:lumMod val="75000"/>
                </a:srgbClr>
              </a:gs>
              <a:gs pos="100000">
                <a:srgbClr val="C92723"/>
              </a:gs>
            </a:gsLst>
            <a:lin ang="0" scaled="1"/>
            <a:tileRect/>
          </a:gradFill>
        </p:grpSpPr>
        <p:sp>
          <p:nvSpPr>
            <p:cNvPr id="403" name="Arrow: Chevron 402">
              <a:extLst>
                <a:ext uri="{FF2B5EF4-FFF2-40B4-BE49-F238E27FC236}">
                  <a16:creationId xmlns:a16="http://schemas.microsoft.com/office/drawing/2014/main" id="{2C9FECC7-7600-4BB7-BA62-41E00615B85D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04" name="Arrow: Chevron 403">
              <a:extLst>
                <a:ext uri="{FF2B5EF4-FFF2-40B4-BE49-F238E27FC236}">
                  <a16:creationId xmlns:a16="http://schemas.microsoft.com/office/drawing/2014/main" id="{F022AEB2-8FC9-4DFA-B5FA-1E3EFE1A18A4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05" name="Arrow: Chevron 404">
              <a:extLst>
                <a:ext uri="{FF2B5EF4-FFF2-40B4-BE49-F238E27FC236}">
                  <a16:creationId xmlns:a16="http://schemas.microsoft.com/office/drawing/2014/main" id="{711843B9-91EE-43B9-9BD6-E9DEA9345848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406" name="TextBox 405">
            <a:extLst>
              <a:ext uri="{FF2B5EF4-FFF2-40B4-BE49-F238E27FC236}">
                <a16:creationId xmlns:a16="http://schemas.microsoft.com/office/drawing/2014/main" id="{8DC15BD8-8321-4795-8D46-1F4D86A50DED}"/>
              </a:ext>
            </a:extLst>
          </p:cNvPr>
          <p:cNvSpPr txBox="1">
            <a:spLocks/>
          </p:cNvSpPr>
          <p:nvPr/>
        </p:nvSpPr>
        <p:spPr>
          <a:xfrm>
            <a:off x="554734" y="1916942"/>
            <a:ext cx="1580524" cy="50783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ru-RU" sz="1100" b="1" dirty="0">
                <a:solidFill>
                  <a:schemeClr val="bg1"/>
                </a:solidFill>
                <a:sym typeface="+mn-lt"/>
              </a:rPr>
              <a:t>Наличие агрегатора обеспечит: 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B9AB9A45-C7DA-4260-A357-C1460A69F6AD}"/>
              </a:ext>
            </a:extLst>
          </p:cNvPr>
          <p:cNvSpPr txBox="1">
            <a:spLocks/>
          </p:cNvSpPr>
          <p:nvPr/>
        </p:nvSpPr>
        <p:spPr>
          <a:xfrm>
            <a:off x="554734" y="2523193"/>
            <a:ext cx="1580524" cy="655843"/>
          </a:xfrm>
          <a:prstGeom prst="roundRect">
            <a:avLst>
              <a:gd name="adj" fmla="val 9893"/>
            </a:avLst>
          </a:prstGeom>
          <a:solidFill>
            <a:schemeClr val="bg2"/>
          </a:solidFill>
          <a:ln w="7552" cap="flat">
            <a:noFill/>
            <a:prstDash val="solid"/>
            <a:miter/>
          </a:ln>
          <a:effectLst>
            <a:outerShdw blurRad="889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72579BC0-929A-4B8E-A55C-21AEE0479553}"/>
              </a:ext>
            </a:extLst>
          </p:cNvPr>
          <p:cNvSpPr txBox="1">
            <a:spLocks/>
          </p:cNvSpPr>
          <p:nvPr/>
        </p:nvSpPr>
        <p:spPr>
          <a:xfrm>
            <a:off x="554734" y="3277456"/>
            <a:ext cx="1580524" cy="655843"/>
          </a:xfrm>
          <a:prstGeom prst="roundRect">
            <a:avLst>
              <a:gd name="adj" fmla="val 9893"/>
            </a:avLst>
          </a:prstGeom>
          <a:solidFill>
            <a:schemeClr val="bg2"/>
          </a:solidFill>
          <a:ln w="7552" cap="flat">
            <a:noFill/>
            <a:prstDash val="solid"/>
            <a:miter/>
          </a:ln>
          <a:effectLst>
            <a:outerShdw blurRad="889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5153E8DF-78D0-4406-B3BC-1FEA00761972}"/>
              </a:ext>
            </a:extLst>
          </p:cNvPr>
          <p:cNvSpPr txBox="1">
            <a:spLocks/>
          </p:cNvSpPr>
          <p:nvPr/>
        </p:nvSpPr>
        <p:spPr>
          <a:xfrm>
            <a:off x="554734" y="4031719"/>
            <a:ext cx="1580524" cy="655843"/>
          </a:xfrm>
          <a:prstGeom prst="roundRect">
            <a:avLst>
              <a:gd name="adj" fmla="val 9893"/>
            </a:avLst>
          </a:prstGeom>
          <a:solidFill>
            <a:schemeClr val="bg2"/>
          </a:solidFill>
          <a:ln w="7552" cap="flat">
            <a:noFill/>
            <a:prstDash val="solid"/>
            <a:miter/>
          </a:ln>
          <a:effectLst>
            <a:outerShdw blurRad="889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BBF45EA3-4480-4D89-9EFA-A5441433C20E}"/>
              </a:ext>
            </a:extLst>
          </p:cNvPr>
          <p:cNvSpPr txBox="1">
            <a:spLocks/>
          </p:cNvSpPr>
          <p:nvPr/>
        </p:nvSpPr>
        <p:spPr>
          <a:xfrm>
            <a:off x="554734" y="4785982"/>
            <a:ext cx="1580524" cy="655843"/>
          </a:xfrm>
          <a:prstGeom prst="roundRect">
            <a:avLst>
              <a:gd name="adj" fmla="val 9893"/>
            </a:avLst>
          </a:prstGeom>
          <a:solidFill>
            <a:schemeClr val="bg2"/>
          </a:solidFill>
          <a:ln w="7552" cap="flat">
            <a:noFill/>
            <a:prstDash val="solid"/>
            <a:miter/>
          </a:ln>
          <a:effectLst>
            <a:outerShdw blurRad="889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58FC256D-D811-446A-A85C-E84F8AD835BA}"/>
              </a:ext>
            </a:extLst>
          </p:cNvPr>
          <p:cNvSpPr txBox="1">
            <a:spLocks/>
          </p:cNvSpPr>
          <p:nvPr/>
        </p:nvSpPr>
        <p:spPr>
          <a:xfrm>
            <a:off x="554734" y="5540247"/>
            <a:ext cx="1580524" cy="655843"/>
          </a:xfrm>
          <a:prstGeom prst="roundRect">
            <a:avLst>
              <a:gd name="adj" fmla="val 9893"/>
            </a:avLst>
          </a:prstGeom>
          <a:solidFill>
            <a:schemeClr val="bg2"/>
          </a:solidFill>
          <a:ln w="7552" cap="flat">
            <a:noFill/>
            <a:prstDash val="solid"/>
            <a:miter/>
          </a:ln>
          <a:effectLst>
            <a:outerShdw blurRad="889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B2C647-7AC0-4EF2-8DE4-C3F49FAFB709}"/>
              </a:ext>
            </a:extLst>
          </p:cNvPr>
          <p:cNvSpPr txBox="1"/>
          <p:nvPr/>
        </p:nvSpPr>
        <p:spPr>
          <a:xfrm>
            <a:off x="636156" y="2643366"/>
            <a:ext cx="1417681" cy="4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Централизованное управление </a:t>
            </a:r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внедрением сервисов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E8067D-5937-4B1D-B1AF-B248A425387E}"/>
              </a:ext>
            </a:extLst>
          </p:cNvPr>
          <p:cNvSpPr txBox="1"/>
          <p:nvPr/>
        </p:nvSpPr>
        <p:spPr>
          <a:xfrm>
            <a:off x="636156" y="3397629"/>
            <a:ext cx="1417681" cy="4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Единые</a:t>
            </a:r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 </a:t>
            </a:r>
            <a:r>
              <a:rPr lang="ru-RU" sz="900" b="1">
                <a:solidFill>
                  <a:srgbClr val="C92723"/>
                </a:solidFill>
                <a:latin typeface="Verdana" panose="020B0604030504040204" pitchFamily="34" charset="0"/>
              </a:rPr>
              <a:t>технологические стандарты</a:t>
            </a:r>
            <a:endParaRPr lang="ru-RU" sz="900" b="1" dirty="0">
              <a:solidFill>
                <a:srgbClr val="C92723"/>
              </a:solidFill>
              <a:latin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A7C54C-3BD1-4F40-BEAA-23D923CF69BB}"/>
              </a:ext>
            </a:extLst>
          </p:cNvPr>
          <p:cNvSpPr txBox="1"/>
          <p:nvPr/>
        </p:nvSpPr>
        <p:spPr>
          <a:xfrm>
            <a:off x="636156" y="4221141"/>
            <a:ext cx="1417681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Интеграцию систем </a:t>
            </a:r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поставщиков и города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F30BC7-D181-4813-A463-F00EA7D264AC}"/>
              </a:ext>
            </a:extLst>
          </p:cNvPr>
          <p:cNvSpPr txBox="1"/>
          <p:nvPr/>
        </p:nvSpPr>
        <p:spPr>
          <a:xfrm>
            <a:off x="636156" y="4906154"/>
            <a:ext cx="1417681" cy="4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«Одно окно» для </a:t>
            </a:r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собственников, УК и поставщиков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F6658-5453-49FB-98B8-5883EC41F7E5}"/>
              </a:ext>
            </a:extLst>
          </p:cNvPr>
          <p:cNvSpPr txBox="1"/>
          <p:nvPr/>
        </p:nvSpPr>
        <p:spPr>
          <a:xfrm>
            <a:off x="636156" y="5660420"/>
            <a:ext cx="1417681" cy="4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Контроль</a:t>
            </a:r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качества</a:t>
            </a:r>
            <a:b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</a:br>
            <a:r>
              <a:rPr lang="ru-RU" sz="900" dirty="0">
                <a:solidFill>
                  <a:srgbClr val="000000"/>
                </a:solidFill>
                <a:latin typeface="Verdana" panose="020B0604030504040204" pitchFamily="34" charset="0"/>
              </a:rPr>
              <a:t>и сбор</a:t>
            </a:r>
            <a:r>
              <a:rPr lang="ru-RU" sz="900" b="1" dirty="0">
                <a:solidFill>
                  <a:srgbClr val="C92723"/>
                </a:solidFill>
                <a:latin typeface="Verdana" panose="020B0604030504040204" pitchFamily="34" charset="0"/>
              </a:rPr>
              <a:t> обратной связи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6B255D-FD20-4A95-B7D2-8D5F9FB04A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99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A7C6EA04-04B3-4399-8325-D4DD1BE25B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A7C6EA04-04B3-4399-8325-D4DD1BE25B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9C0A30B5-ABBC-4832-9534-99C0768F6F6C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Агрегатор будет играть ключевую роль на всех этапах внедрения сервисов «умного дома»</a:t>
            </a:r>
          </a:p>
        </p:txBody>
      </p:sp>
      <p:sp>
        <p:nvSpPr>
          <p:cNvPr id="78" name="Прямоугольник 81">
            <a:extLst>
              <a:ext uri="{FF2B5EF4-FFF2-40B4-BE49-F238E27FC236}">
                <a16:creationId xmlns:a16="http://schemas.microsoft.com/office/drawing/2014/main" id="{39E01333-6498-4A2F-9A2D-53226E81CDB1}"/>
              </a:ext>
            </a:extLst>
          </p:cNvPr>
          <p:cNvSpPr>
            <a:spLocks/>
          </p:cNvSpPr>
          <p:nvPr/>
        </p:nvSpPr>
        <p:spPr>
          <a:xfrm>
            <a:off x="0" y="1273007"/>
            <a:ext cx="12192001" cy="372377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 sz="900" b="1" dirty="0">
              <a:solidFill>
                <a:schemeClr val="accent3"/>
              </a:solidFill>
            </a:endParaRPr>
          </a:p>
        </p:txBody>
      </p:sp>
      <p:sp>
        <p:nvSpPr>
          <p:cNvPr id="81" name="Arrow: Chevron 80">
            <a:extLst>
              <a:ext uri="{FF2B5EF4-FFF2-40B4-BE49-F238E27FC236}">
                <a16:creationId xmlns:a16="http://schemas.microsoft.com/office/drawing/2014/main" id="{24B79911-B360-4B91-9F22-32F25835CAE0}"/>
              </a:ext>
            </a:extLst>
          </p:cNvPr>
          <p:cNvSpPr/>
          <p:nvPr/>
        </p:nvSpPr>
        <p:spPr>
          <a:xfrm>
            <a:off x="5225329" y="1273007"/>
            <a:ext cx="208215" cy="372377"/>
          </a:xfrm>
          <a:prstGeom prst="chevron">
            <a:avLst/>
          </a:prstGeom>
          <a:gradFill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900" dirty="0" err="1">
              <a:solidFill>
                <a:schemeClr val="bg1"/>
              </a:solidFill>
            </a:endParaRPr>
          </a:p>
        </p:txBody>
      </p:sp>
      <p:sp>
        <p:nvSpPr>
          <p:cNvPr id="82" name="Arrow: Chevron 81">
            <a:extLst>
              <a:ext uri="{FF2B5EF4-FFF2-40B4-BE49-F238E27FC236}">
                <a16:creationId xmlns:a16="http://schemas.microsoft.com/office/drawing/2014/main" id="{EB5C8312-9E9A-445E-87CB-A059771EA2CB}"/>
              </a:ext>
            </a:extLst>
          </p:cNvPr>
          <p:cNvSpPr/>
          <p:nvPr/>
        </p:nvSpPr>
        <p:spPr>
          <a:xfrm>
            <a:off x="5418564" y="1273007"/>
            <a:ext cx="208215" cy="372377"/>
          </a:xfrm>
          <a:prstGeom prst="chevron">
            <a:avLst/>
          </a:prstGeom>
          <a:gradFill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900" dirty="0" err="1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FF4DA1-2315-4664-843F-2807A2C03C5C}"/>
              </a:ext>
            </a:extLst>
          </p:cNvPr>
          <p:cNvSpPr txBox="1">
            <a:spLocks/>
          </p:cNvSpPr>
          <p:nvPr/>
        </p:nvSpPr>
        <p:spPr>
          <a:xfrm>
            <a:off x="1364885" y="1382251"/>
            <a:ext cx="3836675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r>
              <a:rPr lang="ru-RU" sz="1000" b="1" dirty="0">
                <a:solidFill>
                  <a:schemeClr val="bg2"/>
                </a:solidFill>
                <a:cs typeface="Arial" panose="020B0604020202020204" pitchFamily="34" charset="0"/>
              </a:rPr>
              <a:t>Строительство зданий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D68FFD-B64C-4A84-B644-3AACC8871E93}"/>
              </a:ext>
            </a:extLst>
          </p:cNvPr>
          <p:cNvSpPr txBox="1">
            <a:spLocks/>
          </p:cNvSpPr>
          <p:nvPr/>
        </p:nvSpPr>
        <p:spPr>
          <a:xfrm>
            <a:off x="5569363" y="1382251"/>
            <a:ext cx="3836675" cy="153888"/>
          </a:xfrm>
          <a:prstGeom prst="rect">
            <a:avLst/>
          </a:prstGeom>
        </p:spPr>
        <p:txBody>
          <a:bodyPr vert="horz" wrap="square" lIns="7200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bg2"/>
                </a:solidFill>
                <a:cs typeface="Arial" panose="020B0604020202020204" pitchFamily="34" charset="0"/>
              </a:rPr>
              <a:t>Запуск сервисов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E45CBD-0BC5-40E4-BCD0-9627BBDEDD4E}"/>
              </a:ext>
            </a:extLst>
          </p:cNvPr>
          <p:cNvSpPr txBox="1">
            <a:spLocks/>
          </p:cNvSpPr>
          <p:nvPr/>
        </p:nvSpPr>
        <p:spPr>
          <a:xfrm>
            <a:off x="9773841" y="1305307"/>
            <a:ext cx="1789601" cy="307777"/>
          </a:xfrm>
          <a:prstGeom prst="rect">
            <a:avLst/>
          </a:prstGeom>
        </p:spPr>
        <p:txBody>
          <a:bodyPr vert="horz" wrap="square" lIns="7200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r>
              <a:rPr lang="ru-RU" sz="1000" b="1" dirty="0">
                <a:solidFill>
                  <a:schemeClr val="bg2"/>
                </a:solidFill>
                <a:cs typeface="Arial" panose="020B0604020202020204" pitchFamily="34" charset="0"/>
              </a:rPr>
              <a:t>Использование сервиса жителями</a:t>
            </a:r>
          </a:p>
        </p:txBody>
      </p:sp>
      <p:sp>
        <p:nvSpPr>
          <p:cNvPr id="138" name="Arrow: Chevron 137">
            <a:extLst>
              <a:ext uri="{FF2B5EF4-FFF2-40B4-BE49-F238E27FC236}">
                <a16:creationId xmlns:a16="http://schemas.microsoft.com/office/drawing/2014/main" id="{CC0A74FE-15AB-4E89-8319-71A687749973}"/>
              </a:ext>
            </a:extLst>
          </p:cNvPr>
          <p:cNvSpPr/>
          <p:nvPr/>
        </p:nvSpPr>
        <p:spPr>
          <a:xfrm>
            <a:off x="9437317" y="1273007"/>
            <a:ext cx="208215" cy="372377"/>
          </a:xfrm>
          <a:prstGeom prst="chevron">
            <a:avLst/>
          </a:prstGeom>
          <a:gradFill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900" dirty="0" err="1">
              <a:solidFill>
                <a:schemeClr val="bg1"/>
              </a:solidFill>
            </a:endParaRPr>
          </a:p>
        </p:txBody>
      </p:sp>
      <p:sp>
        <p:nvSpPr>
          <p:cNvPr id="139" name="Arrow: Chevron 138">
            <a:extLst>
              <a:ext uri="{FF2B5EF4-FFF2-40B4-BE49-F238E27FC236}">
                <a16:creationId xmlns:a16="http://schemas.microsoft.com/office/drawing/2014/main" id="{5A3F9D2F-20A0-4CB1-82ED-64B975F67BC5}"/>
              </a:ext>
            </a:extLst>
          </p:cNvPr>
          <p:cNvSpPr/>
          <p:nvPr/>
        </p:nvSpPr>
        <p:spPr>
          <a:xfrm>
            <a:off x="9630552" y="1273007"/>
            <a:ext cx="208215" cy="372377"/>
          </a:xfrm>
          <a:prstGeom prst="chevron">
            <a:avLst/>
          </a:prstGeom>
          <a:gradFill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900" dirty="0" err="1">
              <a:solidFill>
                <a:schemeClr val="bg1"/>
              </a:solidFill>
            </a:endParaRPr>
          </a:p>
        </p:txBody>
      </p:sp>
      <p:sp>
        <p:nvSpPr>
          <p:cNvPr id="127" name="Arrow: Chevron 126">
            <a:extLst>
              <a:ext uri="{FF2B5EF4-FFF2-40B4-BE49-F238E27FC236}">
                <a16:creationId xmlns:a16="http://schemas.microsoft.com/office/drawing/2014/main" id="{E4A6A35E-AECE-42C6-BBB8-612E0A7F1B37}"/>
              </a:ext>
            </a:extLst>
          </p:cNvPr>
          <p:cNvSpPr/>
          <p:nvPr/>
        </p:nvSpPr>
        <p:spPr>
          <a:xfrm>
            <a:off x="3272393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28" name="Arrow: Chevron 127">
            <a:extLst>
              <a:ext uri="{FF2B5EF4-FFF2-40B4-BE49-F238E27FC236}">
                <a16:creationId xmlns:a16="http://schemas.microsoft.com/office/drawing/2014/main" id="{7456E825-8120-4651-987A-9545D8034850}"/>
              </a:ext>
            </a:extLst>
          </p:cNvPr>
          <p:cNvSpPr/>
          <p:nvPr/>
        </p:nvSpPr>
        <p:spPr>
          <a:xfrm>
            <a:off x="3314404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60" name="Arrow: Chevron 159">
            <a:extLst>
              <a:ext uri="{FF2B5EF4-FFF2-40B4-BE49-F238E27FC236}">
                <a16:creationId xmlns:a16="http://schemas.microsoft.com/office/drawing/2014/main" id="{0E698970-4767-4556-B64E-FD3B8B5DC69A}"/>
              </a:ext>
            </a:extLst>
          </p:cNvPr>
          <p:cNvSpPr/>
          <p:nvPr/>
        </p:nvSpPr>
        <p:spPr>
          <a:xfrm>
            <a:off x="4291829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61" name="Arrow: Chevron 160">
            <a:extLst>
              <a:ext uri="{FF2B5EF4-FFF2-40B4-BE49-F238E27FC236}">
                <a16:creationId xmlns:a16="http://schemas.microsoft.com/office/drawing/2014/main" id="{8E94944E-F580-4FEF-BCC9-0E18E9D0F3C0}"/>
              </a:ext>
            </a:extLst>
          </p:cNvPr>
          <p:cNvSpPr/>
          <p:nvPr/>
        </p:nvSpPr>
        <p:spPr>
          <a:xfrm>
            <a:off x="4333840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66" name="Arrow: Chevron 165">
            <a:extLst>
              <a:ext uri="{FF2B5EF4-FFF2-40B4-BE49-F238E27FC236}">
                <a16:creationId xmlns:a16="http://schemas.microsoft.com/office/drawing/2014/main" id="{9F1C9C92-6CAE-4186-88F8-04CC5384188A}"/>
              </a:ext>
            </a:extLst>
          </p:cNvPr>
          <p:cNvSpPr/>
          <p:nvPr/>
        </p:nvSpPr>
        <p:spPr>
          <a:xfrm>
            <a:off x="7476871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67" name="Arrow: Chevron 166">
            <a:extLst>
              <a:ext uri="{FF2B5EF4-FFF2-40B4-BE49-F238E27FC236}">
                <a16:creationId xmlns:a16="http://schemas.microsoft.com/office/drawing/2014/main" id="{41B37A68-0093-4FED-B805-C402860050B0}"/>
              </a:ext>
            </a:extLst>
          </p:cNvPr>
          <p:cNvSpPr/>
          <p:nvPr/>
        </p:nvSpPr>
        <p:spPr>
          <a:xfrm>
            <a:off x="7518882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73" name="Arrow: Chevron 172">
            <a:extLst>
              <a:ext uri="{FF2B5EF4-FFF2-40B4-BE49-F238E27FC236}">
                <a16:creationId xmlns:a16="http://schemas.microsoft.com/office/drawing/2014/main" id="{85F3F06D-9D0C-4F80-B1B3-6D2DD2B30747}"/>
              </a:ext>
            </a:extLst>
          </p:cNvPr>
          <p:cNvSpPr/>
          <p:nvPr/>
        </p:nvSpPr>
        <p:spPr>
          <a:xfrm>
            <a:off x="6457435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75" name="Arrow: Chevron 174">
            <a:extLst>
              <a:ext uri="{FF2B5EF4-FFF2-40B4-BE49-F238E27FC236}">
                <a16:creationId xmlns:a16="http://schemas.microsoft.com/office/drawing/2014/main" id="{B370BD45-EF6F-403F-AAFD-5B663C03468E}"/>
              </a:ext>
            </a:extLst>
          </p:cNvPr>
          <p:cNvSpPr/>
          <p:nvPr/>
        </p:nvSpPr>
        <p:spPr>
          <a:xfrm>
            <a:off x="6499446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90" name="Arrow: Chevron 189">
            <a:extLst>
              <a:ext uri="{FF2B5EF4-FFF2-40B4-BE49-F238E27FC236}">
                <a16:creationId xmlns:a16="http://schemas.microsoft.com/office/drawing/2014/main" id="{245C5816-D32C-407F-A53C-111747E5A606}"/>
              </a:ext>
            </a:extLst>
          </p:cNvPr>
          <p:cNvSpPr/>
          <p:nvPr/>
        </p:nvSpPr>
        <p:spPr>
          <a:xfrm>
            <a:off x="10661913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191" name="Arrow: Chevron 190">
            <a:extLst>
              <a:ext uri="{FF2B5EF4-FFF2-40B4-BE49-F238E27FC236}">
                <a16:creationId xmlns:a16="http://schemas.microsoft.com/office/drawing/2014/main" id="{2432C901-935F-4BF7-985B-F42FEBC72AE1}"/>
              </a:ext>
            </a:extLst>
          </p:cNvPr>
          <p:cNvSpPr/>
          <p:nvPr/>
        </p:nvSpPr>
        <p:spPr>
          <a:xfrm>
            <a:off x="10703924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361" name="Arrow: Chevron 360">
            <a:extLst>
              <a:ext uri="{FF2B5EF4-FFF2-40B4-BE49-F238E27FC236}">
                <a16:creationId xmlns:a16="http://schemas.microsoft.com/office/drawing/2014/main" id="{C2C97A98-BB63-4A58-A29E-DD62A7805CAF}"/>
              </a:ext>
            </a:extLst>
          </p:cNvPr>
          <p:cNvSpPr/>
          <p:nvPr/>
        </p:nvSpPr>
        <p:spPr>
          <a:xfrm>
            <a:off x="2252957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362" name="Arrow: Chevron 361">
            <a:extLst>
              <a:ext uri="{FF2B5EF4-FFF2-40B4-BE49-F238E27FC236}">
                <a16:creationId xmlns:a16="http://schemas.microsoft.com/office/drawing/2014/main" id="{2056F097-2376-4050-8D3B-B67731A39492}"/>
              </a:ext>
            </a:extLst>
          </p:cNvPr>
          <p:cNvSpPr/>
          <p:nvPr/>
        </p:nvSpPr>
        <p:spPr>
          <a:xfrm>
            <a:off x="2294968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415" name="Arrow: Chevron 414">
            <a:extLst>
              <a:ext uri="{FF2B5EF4-FFF2-40B4-BE49-F238E27FC236}">
                <a16:creationId xmlns:a16="http://schemas.microsoft.com/office/drawing/2014/main" id="{7BB868C6-6CC0-40A1-9883-ADD090B82C74}"/>
              </a:ext>
            </a:extLst>
          </p:cNvPr>
          <p:cNvSpPr/>
          <p:nvPr/>
        </p:nvSpPr>
        <p:spPr>
          <a:xfrm>
            <a:off x="8496307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416" name="Arrow: Chevron 415">
            <a:extLst>
              <a:ext uri="{FF2B5EF4-FFF2-40B4-BE49-F238E27FC236}">
                <a16:creationId xmlns:a16="http://schemas.microsoft.com/office/drawing/2014/main" id="{4E6714AE-813E-4265-99E5-CA0C94C0C11F}"/>
              </a:ext>
            </a:extLst>
          </p:cNvPr>
          <p:cNvSpPr/>
          <p:nvPr/>
        </p:nvSpPr>
        <p:spPr>
          <a:xfrm>
            <a:off x="8538318" y="2627118"/>
            <a:ext cx="45268" cy="124697"/>
          </a:xfrm>
          <a:prstGeom prst="chevron">
            <a:avLst/>
          </a:prstGeom>
          <a:solidFill>
            <a:schemeClr val="accent3"/>
          </a:solidFill>
          <a:ln w="6350" cap="sq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700" dirty="0" err="1">
              <a:solidFill>
                <a:schemeClr val="bg1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35AB1FD-BC2D-4CAC-8B69-D3A04BA98876}"/>
              </a:ext>
            </a:extLst>
          </p:cNvPr>
          <p:cNvSpPr>
            <a:spLocks/>
          </p:cNvSpPr>
          <p:nvPr/>
        </p:nvSpPr>
        <p:spPr>
          <a:xfrm>
            <a:off x="554736" y="1744775"/>
            <a:ext cx="766064" cy="1889383"/>
          </a:xfrm>
          <a:prstGeom prst="roundRect">
            <a:avLst>
              <a:gd name="adj" fmla="val 9638"/>
            </a:avLst>
          </a:prstGeom>
          <a:solidFill>
            <a:schemeClr val="tx2">
              <a:lumMod val="60000"/>
              <a:lumOff val="40000"/>
            </a:schemeClr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buSzPct val="100000"/>
            </a:pPr>
            <a:r>
              <a:rPr lang="ru-RU" sz="800" b="1" dirty="0">
                <a:solidFill>
                  <a:schemeClr val="bg1"/>
                </a:solidFill>
                <a:latin typeface="Verdana" panose="020B0604030504040204" pitchFamily="34" charset="0"/>
              </a:rPr>
              <a:t>Этапы внедрения сервисов «умного дома» 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272E5BC8-A6EB-41BF-BB62-6889C7A1E63D}"/>
              </a:ext>
            </a:extLst>
          </p:cNvPr>
          <p:cNvSpPr>
            <a:spLocks/>
          </p:cNvSpPr>
          <p:nvPr/>
        </p:nvSpPr>
        <p:spPr>
          <a:xfrm>
            <a:off x="554736" y="3794203"/>
            <a:ext cx="766064" cy="1889383"/>
          </a:xfrm>
          <a:prstGeom prst="roundRect">
            <a:avLst>
              <a:gd name="adj" fmla="val 9638"/>
            </a:avLst>
          </a:prstGeom>
          <a:solidFill>
            <a:schemeClr val="accent1">
              <a:lumMod val="50000"/>
            </a:schemeClr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buSzPct val="100000"/>
            </a:pPr>
            <a:r>
              <a:rPr lang="ru-RU" sz="800" b="1" dirty="0">
                <a:solidFill>
                  <a:schemeClr val="bg1"/>
                </a:solidFill>
                <a:latin typeface="Verdana" panose="020B0604030504040204" pitchFamily="34" charset="0"/>
              </a:rPr>
              <a:t>Роль </a:t>
            </a:r>
          </a:p>
          <a:p>
            <a:pPr>
              <a:buSzPct val="100000"/>
            </a:pPr>
            <a:r>
              <a:rPr lang="ru-RU" sz="800" b="1" dirty="0">
                <a:solidFill>
                  <a:schemeClr val="bg1"/>
                </a:solidFill>
                <a:latin typeface="Verdana" panose="020B0604030504040204" pitchFamily="34" charset="0"/>
              </a:rPr>
              <a:t>агрегатора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67AA9311-00C4-46D2-BF8F-168D38243D2A}"/>
              </a:ext>
            </a:extLst>
          </p:cNvPr>
          <p:cNvSpPr txBox="1">
            <a:spLocks/>
          </p:cNvSpPr>
          <p:nvPr/>
        </p:nvSpPr>
        <p:spPr>
          <a:xfrm>
            <a:off x="8627671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Прием обо-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рудования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на баланс УК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930000F7-08F7-44B8-B70A-0AC614034C3F}"/>
              </a:ext>
            </a:extLst>
          </p:cNvPr>
          <p:cNvSpPr txBox="1">
            <a:spLocks/>
          </p:cNvSpPr>
          <p:nvPr/>
        </p:nvSpPr>
        <p:spPr>
          <a:xfrm>
            <a:off x="8627671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Инспекция оборудова</a:t>
            </a:r>
            <a:r>
              <a:rPr lang="en-US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-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ния и согласование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CD0400-8F77-4519-9DA5-FF9173BE1316}"/>
              </a:ext>
            </a:extLst>
          </p:cNvPr>
          <p:cNvGrpSpPr/>
          <p:nvPr/>
        </p:nvGrpSpPr>
        <p:grpSpPr>
          <a:xfrm>
            <a:off x="8820680" y="3134650"/>
            <a:ext cx="457971" cy="364545"/>
            <a:chOff x="9106577" y="3247186"/>
            <a:chExt cx="409453" cy="364545"/>
          </a:xfrm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429BAF0-4FE7-4507-A5C8-95A08A68C0C5}"/>
                </a:ext>
              </a:extLst>
            </p:cNvPr>
            <p:cNvSpPr/>
            <p:nvPr/>
          </p:nvSpPr>
          <p:spPr>
            <a:xfrm>
              <a:off x="9106577" y="3494839"/>
              <a:ext cx="409453" cy="116892"/>
            </a:xfrm>
            <a:custGeom>
              <a:avLst/>
              <a:gdLst>
                <a:gd name="connsiteX0" fmla="*/ 0 w 409453"/>
                <a:gd name="connsiteY0" fmla="*/ 0 h 116892"/>
                <a:gd name="connsiteX1" fmla="*/ 0 w 409453"/>
                <a:gd name="connsiteY1" fmla="*/ 116892 h 116892"/>
                <a:gd name="connsiteX2" fmla="*/ 409454 w 409453"/>
                <a:gd name="connsiteY2" fmla="*/ 116892 h 116892"/>
                <a:gd name="connsiteX3" fmla="*/ 409454 w 409453"/>
                <a:gd name="connsiteY3" fmla="*/ 0 h 11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9453" h="116892">
                  <a:moveTo>
                    <a:pt x="0" y="0"/>
                  </a:moveTo>
                  <a:lnTo>
                    <a:pt x="0" y="116892"/>
                  </a:lnTo>
                  <a:lnTo>
                    <a:pt x="409454" y="116892"/>
                  </a:lnTo>
                  <a:lnTo>
                    <a:pt x="409454" y="0"/>
                  </a:ln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4A91989-D553-47CE-9998-ADFFDC090E34}"/>
                </a:ext>
              </a:extLst>
            </p:cNvPr>
            <p:cNvSpPr/>
            <p:nvPr/>
          </p:nvSpPr>
          <p:spPr>
            <a:xfrm>
              <a:off x="9311304" y="3247186"/>
              <a:ext cx="6604" cy="314354"/>
            </a:xfrm>
            <a:custGeom>
              <a:avLst/>
              <a:gdLst>
                <a:gd name="connsiteX0" fmla="*/ 0 w 6604"/>
                <a:gd name="connsiteY0" fmla="*/ 0 h 314354"/>
                <a:gd name="connsiteX1" fmla="*/ 0 w 6604"/>
                <a:gd name="connsiteY1" fmla="*/ 314355 h 31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04" h="314354">
                  <a:moveTo>
                    <a:pt x="0" y="0"/>
                  </a:moveTo>
                  <a:lnTo>
                    <a:pt x="0" y="314355"/>
                  </a:lnTo>
                </a:path>
              </a:pathLst>
            </a:custGeom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A281A62-FFD2-4875-9732-4375DACBAC60}"/>
                </a:ext>
              </a:extLst>
            </p:cNvPr>
            <p:cNvSpPr/>
            <p:nvPr/>
          </p:nvSpPr>
          <p:spPr>
            <a:xfrm>
              <a:off x="9248565" y="3498801"/>
              <a:ext cx="125477" cy="62738"/>
            </a:xfrm>
            <a:custGeom>
              <a:avLst/>
              <a:gdLst>
                <a:gd name="connsiteX0" fmla="*/ 125478 w 125477"/>
                <a:gd name="connsiteY0" fmla="*/ 0 h 62738"/>
                <a:gd name="connsiteX1" fmla="*/ 62739 w 125477"/>
                <a:gd name="connsiteY1" fmla="*/ 62739 h 62738"/>
                <a:gd name="connsiteX2" fmla="*/ 0 w 125477"/>
                <a:gd name="connsiteY2" fmla="*/ 0 h 6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5477" h="62738">
                  <a:moveTo>
                    <a:pt x="125478" y="0"/>
                  </a:moveTo>
                  <a:lnTo>
                    <a:pt x="62739" y="62739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53492185-493E-4A50-A4B9-2C0BB498737D}"/>
              </a:ext>
            </a:extLst>
          </p:cNvPr>
          <p:cNvSpPr/>
          <p:nvPr/>
        </p:nvSpPr>
        <p:spPr>
          <a:xfrm>
            <a:off x="8878665" y="5264326"/>
            <a:ext cx="342000" cy="305768"/>
          </a:xfrm>
          <a:custGeom>
            <a:avLst/>
            <a:gdLst>
              <a:gd name="connsiteX0" fmla="*/ 0 w 305768"/>
              <a:gd name="connsiteY0" fmla="*/ 0 h 305768"/>
              <a:gd name="connsiteX1" fmla="*/ 305769 w 305768"/>
              <a:gd name="connsiteY1" fmla="*/ 0 h 305768"/>
              <a:gd name="connsiteX2" fmla="*/ 305769 w 305768"/>
              <a:gd name="connsiteY2" fmla="*/ 305769 h 305768"/>
              <a:gd name="connsiteX3" fmla="*/ 0 w 305768"/>
              <a:gd name="connsiteY3" fmla="*/ 305769 h 30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768" h="305768">
                <a:moveTo>
                  <a:pt x="0" y="0"/>
                </a:moveTo>
                <a:lnTo>
                  <a:pt x="305769" y="0"/>
                </a:lnTo>
                <a:lnTo>
                  <a:pt x="305769" y="305769"/>
                </a:lnTo>
                <a:lnTo>
                  <a:pt x="0" y="305769"/>
                </a:lnTo>
                <a:close/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1A7EC3C-5535-477A-91B6-6B96B197F1CE}"/>
              </a:ext>
            </a:extLst>
          </p:cNvPr>
          <p:cNvSpPr/>
          <p:nvPr/>
        </p:nvSpPr>
        <p:spPr>
          <a:xfrm>
            <a:off x="8915072" y="5404881"/>
            <a:ext cx="152796" cy="4931"/>
          </a:xfrm>
          <a:custGeom>
            <a:avLst/>
            <a:gdLst>
              <a:gd name="connsiteX0" fmla="*/ 0 w 136609"/>
              <a:gd name="connsiteY0" fmla="*/ 0 h 4931"/>
              <a:gd name="connsiteX1" fmla="*/ 136609 w 136609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609" h="4931">
                <a:moveTo>
                  <a:pt x="0" y="0"/>
                </a:moveTo>
                <a:lnTo>
                  <a:pt x="136609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5A94BDEE-201F-41B5-AEC5-16D72CF3C02B}"/>
              </a:ext>
            </a:extLst>
          </p:cNvPr>
          <p:cNvSpPr/>
          <p:nvPr/>
        </p:nvSpPr>
        <p:spPr>
          <a:xfrm>
            <a:off x="8915072" y="5429540"/>
            <a:ext cx="152796" cy="4931"/>
          </a:xfrm>
          <a:custGeom>
            <a:avLst/>
            <a:gdLst>
              <a:gd name="connsiteX0" fmla="*/ 0 w 136609"/>
              <a:gd name="connsiteY0" fmla="*/ 0 h 4931"/>
              <a:gd name="connsiteX1" fmla="*/ 136609 w 136609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609" h="4931">
                <a:moveTo>
                  <a:pt x="0" y="0"/>
                </a:moveTo>
                <a:lnTo>
                  <a:pt x="136609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DCA78A5-4041-46EF-9986-83D5929938D7}"/>
              </a:ext>
            </a:extLst>
          </p:cNvPr>
          <p:cNvSpPr/>
          <p:nvPr/>
        </p:nvSpPr>
        <p:spPr>
          <a:xfrm>
            <a:off x="9100414" y="5394031"/>
            <a:ext cx="51851" cy="46358"/>
          </a:xfrm>
          <a:custGeom>
            <a:avLst/>
            <a:gdLst>
              <a:gd name="connsiteX0" fmla="*/ 0 w 46358"/>
              <a:gd name="connsiteY0" fmla="*/ 0 h 46358"/>
              <a:gd name="connsiteX1" fmla="*/ 46358 w 46358"/>
              <a:gd name="connsiteY1" fmla="*/ 0 h 46358"/>
              <a:gd name="connsiteX2" fmla="*/ 46358 w 46358"/>
              <a:gd name="connsiteY2" fmla="*/ 46358 h 46358"/>
              <a:gd name="connsiteX3" fmla="*/ 0 w 46358"/>
              <a:gd name="connsiteY3" fmla="*/ 46358 h 4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8" h="46358">
                <a:moveTo>
                  <a:pt x="0" y="0"/>
                </a:moveTo>
                <a:lnTo>
                  <a:pt x="46358" y="0"/>
                </a:lnTo>
                <a:lnTo>
                  <a:pt x="46358" y="46358"/>
                </a:lnTo>
                <a:lnTo>
                  <a:pt x="0" y="46358"/>
                </a:lnTo>
                <a:close/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CE94063B-9F65-47B7-BABF-C14DE545B8FE}"/>
              </a:ext>
            </a:extLst>
          </p:cNvPr>
          <p:cNvSpPr/>
          <p:nvPr/>
        </p:nvSpPr>
        <p:spPr>
          <a:xfrm>
            <a:off x="8915072" y="5514859"/>
            <a:ext cx="92671" cy="4931"/>
          </a:xfrm>
          <a:custGeom>
            <a:avLst/>
            <a:gdLst>
              <a:gd name="connsiteX0" fmla="*/ 0 w 82853"/>
              <a:gd name="connsiteY0" fmla="*/ 0 h 4931"/>
              <a:gd name="connsiteX1" fmla="*/ 82853 w 82853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853" h="4931">
                <a:moveTo>
                  <a:pt x="0" y="0"/>
                </a:moveTo>
                <a:lnTo>
                  <a:pt x="82853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C14FEAE0-FF9E-4B3E-B775-102A60696628}"/>
              </a:ext>
            </a:extLst>
          </p:cNvPr>
          <p:cNvSpPr/>
          <p:nvPr/>
        </p:nvSpPr>
        <p:spPr>
          <a:xfrm>
            <a:off x="9036426" y="5514859"/>
            <a:ext cx="31441" cy="4931"/>
          </a:xfrm>
          <a:custGeom>
            <a:avLst/>
            <a:gdLst>
              <a:gd name="connsiteX0" fmla="*/ 0 w 28110"/>
              <a:gd name="connsiteY0" fmla="*/ 0 h 4931"/>
              <a:gd name="connsiteX1" fmla="*/ 28111 w 28110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110" h="4931">
                <a:moveTo>
                  <a:pt x="0" y="0"/>
                </a:moveTo>
                <a:lnTo>
                  <a:pt x="28111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518D586E-C09B-454C-ADE3-051977471607}"/>
              </a:ext>
            </a:extLst>
          </p:cNvPr>
          <p:cNvSpPr/>
          <p:nvPr/>
        </p:nvSpPr>
        <p:spPr>
          <a:xfrm>
            <a:off x="8915072" y="5490200"/>
            <a:ext cx="152796" cy="4931"/>
          </a:xfrm>
          <a:custGeom>
            <a:avLst/>
            <a:gdLst>
              <a:gd name="connsiteX0" fmla="*/ 0 w 136609"/>
              <a:gd name="connsiteY0" fmla="*/ 0 h 4931"/>
              <a:gd name="connsiteX1" fmla="*/ 136609 w 136609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609" h="4931">
                <a:moveTo>
                  <a:pt x="0" y="0"/>
                </a:moveTo>
                <a:lnTo>
                  <a:pt x="136609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4B368C7-7160-4217-9864-41B28A60366F}"/>
              </a:ext>
            </a:extLst>
          </p:cNvPr>
          <p:cNvSpPr/>
          <p:nvPr/>
        </p:nvSpPr>
        <p:spPr>
          <a:xfrm>
            <a:off x="9100414" y="5479844"/>
            <a:ext cx="51851" cy="46358"/>
          </a:xfrm>
          <a:custGeom>
            <a:avLst/>
            <a:gdLst>
              <a:gd name="connsiteX0" fmla="*/ 0 w 46358"/>
              <a:gd name="connsiteY0" fmla="*/ 0 h 46358"/>
              <a:gd name="connsiteX1" fmla="*/ 46358 w 46358"/>
              <a:gd name="connsiteY1" fmla="*/ 0 h 46358"/>
              <a:gd name="connsiteX2" fmla="*/ 46358 w 46358"/>
              <a:gd name="connsiteY2" fmla="*/ 46358 h 46358"/>
              <a:gd name="connsiteX3" fmla="*/ 0 w 46358"/>
              <a:gd name="connsiteY3" fmla="*/ 46358 h 4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8" h="46358">
                <a:moveTo>
                  <a:pt x="0" y="0"/>
                </a:moveTo>
                <a:lnTo>
                  <a:pt x="46358" y="0"/>
                </a:lnTo>
                <a:lnTo>
                  <a:pt x="46358" y="46358"/>
                </a:lnTo>
                <a:lnTo>
                  <a:pt x="0" y="46358"/>
                </a:lnTo>
                <a:close/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9DD678EA-A8AF-4EA1-B350-B9A46071781A}"/>
              </a:ext>
            </a:extLst>
          </p:cNvPr>
          <p:cNvSpPr/>
          <p:nvPr/>
        </p:nvSpPr>
        <p:spPr>
          <a:xfrm>
            <a:off x="8915072" y="5319562"/>
            <a:ext cx="152796" cy="4931"/>
          </a:xfrm>
          <a:custGeom>
            <a:avLst/>
            <a:gdLst>
              <a:gd name="connsiteX0" fmla="*/ 0 w 136609"/>
              <a:gd name="connsiteY0" fmla="*/ 0 h 4931"/>
              <a:gd name="connsiteX1" fmla="*/ 136609 w 136609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609" h="4931">
                <a:moveTo>
                  <a:pt x="0" y="0"/>
                </a:moveTo>
                <a:lnTo>
                  <a:pt x="136609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A6786E8B-04F7-470F-83B0-B344A82FBADC}"/>
              </a:ext>
            </a:extLst>
          </p:cNvPr>
          <p:cNvSpPr/>
          <p:nvPr/>
        </p:nvSpPr>
        <p:spPr>
          <a:xfrm>
            <a:off x="8915072" y="5344221"/>
            <a:ext cx="56264" cy="4931"/>
          </a:xfrm>
          <a:custGeom>
            <a:avLst/>
            <a:gdLst>
              <a:gd name="connsiteX0" fmla="*/ 0 w 50303"/>
              <a:gd name="connsiteY0" fmla="*/ 0 h 4931"/>
              <a:gd name="connsiteX1" fmla="*/ 50304 w 50303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03" h="4931">
                <a:moveTo>
                  <a:pt x="0" y="0"/>
                </a:moveTo>
                <a:lnTo>
                  <a:pt x="50304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490B418-A70B-48F3-8EE7-60A9ADCB3436}"/>
              </a:ext>
            </a:extLst>
          </p:cNvPr>
          <p:cNvSpPr/>
          <p:nvPr/>
        </p:nvSpPr>
        <p:spPr>
          <a:xfrm>
            <a:off x="9024291" y="5344221"/>
            <a:ext cx="43577" cy="4931"/>
          </a:xfrm>
          <a:custGeom>
            <a:avLst/>
            <a:gdLst>
              <a:gd name="connsiteX0" fmla="*/ 0 w 38960"/>
              <a:gd name="connsiteY0" fmla="*/ 0 h 4931"/>
              <a:gd name="connsiteX1" fmla="*/ 38961 w 38960"/>
              <a:gd name="connsiteY1" fmla="*/ 0 h 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960" h="4931">
                <a:moveTo>
                  <a:pt x="0" y="0"/>
                </a:moveTo>
                <a:lnTo>
                  <a:pt x="38961" y="0"/>
                </a:lnTo>
              </a:path>
            </a:pathLst>
          </a:custGeom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11A3032E-7866-481F-9E4B-7EC340B9B236}"/>
              </a:ext>
            </a:extLst>
          </p:cNvPr>
          <p:cNvSpPr/>
          <p:nvPr/>
        </p:nvSpPr>
        <p:spPr>
          <a:xfrm>
            <a:off x="9100414" y="5308712"/>
            <a:ext cx="51300" cy="45865"/>
          </a:xfrm>
          <a:custGeom>
            <a:avLst/>
            <a:gdLst>
              <a:gd name="connsiteX0" fmla="*/ 0 w 45865"/>
              <a:gd name="connsiteY0" fmla="*/ 45865 h 45865"/>
              <a:gd name="connsiteX1" fmla="*/ 0 w 45865"/>
              <a:gd name="connsiteY1" fmla="*/ 0 h 45865"/>
              <a:gd name="connsiteX2" fmla="*/ 45865 w 45865"/>
              <a:gd name="connsiteY2" fmla="*/ 0 h 45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865" h="45865">
                <a:moveTo>
                  <a:pt x="0" y="45865"/>
                </a:moveTo>
                <a:lnTo>
                  <a:pt x="0" y="0"/>
                </a:lnTo>
                <a:lnTo>
                  <a:pt x="45865" y="0"/>
                </a:ln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508E8ADC-9472-4AB4-BD52-B33CBA90B1DA}"/>
              </a:ext>
            </a:extLst>
          </p:cNvPr>
          <p:cNvSpPr/>
          <p:nvPr/>
        </p:nvSpPr>
        <p:spPr>
          <a:xfrm>
            <a:off x="9127994" y="5315123"/>
            <a:ext cx="56264" cy="35508"/>
          </a:xfrm>
          <a:custGeom>
            <a:avLst/>
            <a:gdLst>
              <a:gd name="connsiteX0" fmla="*/ 0 w 50303"/>
              <a:gd name="connsiteY0" fmla="*/ 20220 h 35508"/>
              <a:gd name="connsiteX1" fmla="*/ 14795 w 50303"/>
              <a:gd name="connsiteY1" fmla="*/ 35509 h 35508"/>
              <a:gd name="connsiteX2" fmla="*/ 50304 w 50303"/>
              <a:gd name="connsiteY2" fmla="*/ 0 h 35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303" h="35508">
                <a:moveTo>
                  <a:pt x="0" y="20220"/>
                </a:moveTo>
                <a:lnTo>
                  <a:pt x="14795" y="35509"/>
                </a:lnTo>
                <a:lnTo>
                  <a:pt x="50304" y="0"/>
                </a:ln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5" name="Freeform 66">
            <a:extLst>
              <a:ext uri="{FF2B5EF4-FFF2-40B4-BE49-F238E27FC236}">
                <a16:creationId xmlns:a16="http://schemas.microsoft.com/office/drawing/2014/main" id="{9CC7D48E-F471-45D3-97D4-1F47020A2044}"/>
              </a:ext>
            </a:extLst>
          </p:cNvPr>
          <p:cNvSpPr>
            <a:spLocks/>
          </p:cNvSpPr>
          <p:nvPr/>
        </p:nvSpPr>
        <p:spPr bwMode="auto">
          <a:xfrm>
            <a:off x="5793132" y="3124837"/>
            <a:ext cx="386912" cy="318553"/>
          </a:xfrm>
          <a:custGeom>
            <a:avLst/>
            <a:gdLst>
              <a:gd name="T0" fmla="*/ 364 w 431"/>
              <a:gd name="T1" fmla="*/ 377 h 377"/>
              <a:gd name="T2" fmla="*/ 364 w 431"/>
              <a:gd name="T3" fmla="*/ 186 h 377"/>
              <a:gd name="T4" fmla="*/ 431 w 431"/>
              <a:gd name="T5" fmla="*/ 186 h 377"/>
              <a:gd name="T6" fmla="*/ 216 w 431"/>
              <a:gd name="T7" fmla="*/ 0 h 377"/>
              <a:gd name="T8" fmla="*/ 216 w 431"/>
              <a:gd name="T9" fmla="*/ 0 h 377"/>
              <a:gd name="T10" fmla="*/ 115 w 431"/>
              <a:gd name="T11" fmla="*/ 87 h 377"/>
              <a:gd name="T12" fmla="*/ 115 w 431"/>
              <a:gd name="T13" fmla="*/ 34 h 377"/>
              <a:gd name="T14" fmla="*/ 65 w 431"/>
              <a:gd name="T15" fmla="*/ 34 h 377"/>
              <a:gd name="T16" fmla="*/ 65 w 431"/>
              <a:gd name="T17" fmla="*/ 130 h 377"/>
              <a:gd name="T18" fmla="*/ 0 w 431"/>
              <a:gd name="T19" fmla="*/ 186 h 377"/>
              <a:gd name="T20" fmla="*/ 67 w 431"/>
              <a:gd name="T21" fmla="*/ 186 h 377"/>
              <a:gd name="T22" fmla="*/ 67 w 431"/>
              <a:gd name="T23" fmla="*/ 377 h 377"/>
              <a:gd name="T24" fmla="*/ 364 w 431"/>
              <a:gd name="T25" fmla="*/ 377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31" h="377">
                <a:moveTo>
                  <a:pt x="364" y="377"/>
                </a:moveTo>
                <a:lnTo>
                  <a:pt x="364" y="186"/>
                </a:lnTo>
                <a:lnTo>
                  <a:pt x="431" y="186"/>
                </a:lnTo>
                <a:lnTo>
                  <a:pt x="216" y="0"/>
                </a:lnTo>
                <a:lnTo>
                  <a:pt x="216" y="0"/>
                </a:lnTo>
                <a:lnTo>
                  <a:pt x="115" y="87"/>
                </a:lnTo>
                <a:lnTo>
                  <a:pt x="115" y="34"/>
                </a:lnTo>
                <a:lnTo>
                  <a:pt x="65" y="34"/>
                </a:lnTo>
                <a:lnTo>
                  <a:pt x="65" y="130"/>
                </a:lnTo>
                <a:lnTo>
                  <a:pt x="0" y="186"/>
                </a:lnTo>
                <a:lnTo>
                  <a:pt x="67" y="186"/>
                </a:lnTo>
                <a:lnTo>
                  <a:pt x="67" y="377"/>
                </a:lnTo>
                <a:lnTo>
                  <a:pt x="364" y="377"/>
                </a:lnTo>
                <a:close/>
              </a:path>
            </a:pathLst>
          </a:cu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9A95FC8A-97A1-4931-8F58-B6B488E3F9F2}"/>
              </a:ext>
            </a:extLst>
          </p:cNvPr>
          <p:cNvSpPr/>
          <p:nvPr/>
        </p:nvSpPr>
        <p:spPr>
          <a:xfrm>
            <a:off x="5940236" y="3284114"/>
            <a:ext cx="97994" cy="92237"/>
          </a:xfrm>
          <a:prstGeom prst="rect">
            <a:avLst/>
          </a:pr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700" dirty="0" err="1">
              <a:solidFill>
                <a:schemeClr val="tx1"/>
              </a:solidFill>
            </a:endParaRPr>
          </a:p>
        </p:txBody>
      </p: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4B5017B1-A4FE-4F57-95E4-12C54ACC7793}"/>
              </a:ext>
            </a:extLst>
          </p:cNvPr>
          <p:cNvGrpSpPr/>
          <p:nvPr/>
        </p:nvGrpSpPr>
        <p:grpSpPr>
          <a:xfrm>
            <a:off x="6051943" y="3377774"/>
            <a:ext cx="137637" cy="131233"/>
            <a:chOff x="-1173843" y="4447077"/>
            <a:chExt cx="182720" cy="185092"/>
          </a:xfrm>
        </p:grpSpPr>
        <p:sp>
          <p:nvSpPr>
            <p:cNvPr id="428" name="Oval 126">
              <a:extLst>
                <a:ext uri="{FF2B5EF4-FFF2-40B4-BE49-F238E27FC236}">
                  <a16:creationId xmlns:a16="http://schemas.microsoft.com/office/drawing/2014/main" id="{CA2E0615-74E8-460A-B93F-45FD68235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73843" y="4447077"/>
              <a:ext cx="182720" cy="185092"/>
            </a:xfrm>
            <a:prstGeom prst="ellipse">
              <a:avLst/>
            </a:prstGeom>
            <a:solidFill>
              <a:schemeClr val="bg1"/>
            </a:solidFill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29" name="Line 127">
              <a:extLst>
                <a:ext uri="{FF2B5EF4-FFF2-40B4-BE49-F238E27FC236}">
                  <a16:creationId xmlns:a16="http://schemas.microsoft.com/office/drawing/2014/main" id="{32513E15-666E-4FA7-AE11-6CA0E3FD29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083670" y="4494537"/>
              <a:ext cx="0" cy="92547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30" name="Line 128">
              <a:extLst>
                <a:ext uri="{FF2B5EF4-FFF2-40B4-BE49-F238E27FC236}">
                  <a16:creationId xmlns:a16="http://schemas.microsoft.com/office/drawing/2014/main" id="{4B034558-9B40-43BF-8129-CDB18459B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128755" y="4539622"/>
              <a:ext cx="92547" cy="0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9DF471BB-38C1-4B7A-BF98-BD926FEB0339}"/>
              </a:ext>
            </a:extLst>
          </p:cNvPr>
          <p:cNvSpPr txBox="1">
            <a:spLocks/>
          </p:cNvSpPr>
          <p:nvPr/>
        </p:nvSpPr>
        <p:spPr>
          <a:xfrm>
            <a:off x="5569363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Подключе-ние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домов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37B57E9-1B99-44A6-B62A-2C028AF0A852}"/>
              </a:ext>
            </a:extLst>
          </p:cNvPr>
          <p:cNvSpPr txBox="1">
            <a:spLocks/>
          </p:cNvSpPr>
          <p:nvPr/>
        </p:nvSpPr>
        <p:spPr>
          <a:xfrm>
            <a:off x="5569363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Координация с префек-турами для проведения ОСС</a:t>
            </a:r>
          </a:p>
          <a:p>
            <a:pPr>
              <a:buSzPct val="100000"/>
            </a:pPr>
            <a:endParaRPr lang="ru-RU" sz="800" dirty="0">
              <a:solidFill>
                <a:srgbClr val="000000"/>
              </a:solidFill>
              <a:latin typeface="Verdana" panose="020B0604030504040204" pitchFamily="34" charset="0"/>
              <a:sym typeface="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801A924-683B-4AA6-8CA9-5E7BB073D588}"/>
              </a:ext>
            </a:extLst>
          </p:cNvPr>
          <p:cNvGrpSpPr/>
          <p:nvPr/>
        </p:nvGrpSpPr>
        <p:grpSpPr>
          <a:xfrm>
            <a:off x="5807554" y="5248002"/>
            <a:ext cx="367604" cy="338416"/>
            <a:chOff x="6697315" y="5571121"/>
            <a:chExt cx="328660" cy="338416"/>
          </a:xfrm>
        </p:grpSpPr>
        <p:sp>
          <p:nvSpPr>
            <p:cNvPr id="436" name="Freeform 146">
              <a:extLst>
                <a:ext uri="{FF2B5EF4-FFF2-40B4-BE49-F238E27FC236}">
                  <a16:creationId xmlns:a16="http://schemas.microsoft.com/office/drawing/2014/main" id="{7E3B755C-6838-470A-A720-FEDE5353C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105" y="5571121"/>
              <a:ext cx="252507" cy="196019"/>
            </a:xfrm>
            <a:custGeom>
              <a:avLst/>
              <a:gdLst>
                <a:gd name="T0" fmla="*/ 141 w 147"/>
                <a:gd name="T1" fmla="*/ 110 h 110"/>
                <a:gd name="T2" fmla="*/ 6 w 147"/>
                <a:gd name="T3" fmla="*/ 110 h 110"/>
                <a:gd name="T4" fmla="*/ 0 w 147"/>
                <a:gd name="T5" fmla="*/ 104 h 110"/>
                <a:gd name="T6" fmla="*/ 0 w 147"/>
                <a:gd name="T7" fmla="*/ 6 h 110"/>
                <a:gd name="T8" fmla="*/ 6 w 147"/>
                <a:gd name="T9" fmla="*/ 0 h 110"/>
                <a:gd name="T10" fmla="*/ 141 w 147"/>
                <a:gd name="T11" fmla="*/ 0 h 110"/>
                <a:gd name="T12" fmla="*/ 147 w 147"/>
                <a:gd name="T13" fmla="*/ 6 h 110"/>
                <a:gd name="T14" fmla="*/ 147 w 147"/>
                <a:gd name="T15" fmla="*/ 104 h 110"/>
                <a:gd name="T16" fmla="*/ 141 w 147"/>
                <a:gd name="T17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110">
                  <a:moveTo>
                    <a:pt x="141" y="110"/>
                  </a:moveTo>
                  <a:cubicBezTo>
                    <a:pt x="6" y="110"/>
                    <a:pt x="6" y="110"/>
                    <a:pt x="6" y="110"/>
                  </a:cubicBezTo>
                  <a:cubicBezTo>
                    <a:pt x="3" y="110"/>
                    <a:pt x="0" y="108"/>
                    <a:pt x="0" y="10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45" y="0"/>
                    <a:pt x="147" y="2"/>
                    <a:pt x="147" y="6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7" y="108"/>
                    <a:pt x="145" y="110"/>
                    <a:pt x="141" y="110"/>
                  </a:cubicBez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37" name="Freeform 147">
              <a:extLst>
                <a:ext uri="{FF2B5EF4-FFF2-40B4-BE49-F238E27FC236}">
                  <a16:creationId xmlns:a16="http://schemas.microsoft.com/office/drawing/2014/main" id="{29147E8B-3D98-41E6-83DD-5320FDE11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315" y="5833274"/>
              <a:ext cx="73862" cy="76263"/>
            </a:xfrm>
            <a:custGeom>
              <a:avLst/>
              <a:gdLst>
                <a:gd name="T0" fmla="*/ 37 w 43"/>
                <a:gd name="T1" fmla="*/ 43 h 43"/>
                <a:gd name="T2" fmla="*/ 6 w 43"/>
                <a:gd name="T3" fmla="*/ 43 h 43"/>
                <a:gd name="T4" fmla="*/ 0 w 43"/>
                <a:gd name="T5" fmla="*/ 37 h 43"/>
                <a:gd name="T6" fmla="*/ 0 w 43"/>
                <a:gd name="T7" fmla="*/ 6 h 43"/>
                <a:gd name="T8" fmla="*/ 6 w 43"/>
                <a:gd name="T9" fmla="*/ 0 h 43"/>
                <a:gd name="T10" fmla="*/ 37 w 43"/>
                <a:gd name="T11" fmla="*/ 0 h 43"/>
                <a:gd name="T12" fmla="*/ 43 w 43"/>
                <a:gd name="T13" fmla="*/ 6 h 43"/>
                <a:gd name="T14" fmla="*/ 43 w 43"/>
                <a:gd name="T15" fmla="*/ 37 h 43"/>
                <a:gd name="T16" fmla="*/ 37 w 43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3">
                  <a:moveTo>
                    <a:pt x="37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3" y="43"/>
                    <a:pt x="0" y="41"/>
                    <a:pt x="0" y="3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1" y="0"/>
                    <a:pt x="43" y="3"/>
                    <a:pt x="43" y="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41"/>
                    <a:pt x="41" y="43"/>
                    <a:pt x="37" y="43"/>
                  </a:cubicBez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38" name="Freeform 148">
              <a:extLst>
                <a:ext uri="{FF2B5EF4-FFF2-40B4-BE49-F238E27FC236}">
                  <a16:creationId xmlns:a16="http://schemas.microsoft.com/office/drawing/2014/main" id="{CE8B0A43-C7C3-4E0C-A446-C39F505E8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4427" y="5833274"/>
              <a:ext cx="73862" cy="76263"/>
            </a:xfrm>
            <a:custGeom>
              <a:avLst/>
              <a:gdLst>
                <a:gd name="T0" fmla="*/ 37 w 43"/>
                <a:gd name="T1" fmla="*/ 43 h 43"/>
                <a:gd name="T2" fmla="*/ 6 w 43"/>
                <a:gd name="T3" fmla="*/ 43 h 43"/>
                <a:gd name="T4" fmla="*/ 0 w 43"/>
                <a:gd name="T5" fmla="*/ 37 h 43"/>
                <a:gd name="T6" fmla="*/ 0 w 43"/>
                <a:gd name="T7" fmla="*/ 6 h 43"/>
                <a:gd name="T8" fmla="*/ 6 w 43"/>
                <a:gd name="T9" fmla="*/ 0 h 43"/>
                <a:gd name="T10" fmla="*/ 37 w 43"/>
                <a:gd name="T11" fmla="*/ 0 h 43"/>
                <a:gd name="T12" fmla="*/ 43 w 43"/>
                <a:gd name="T13" fmla="*/ 6 h 43"/>
                <a:gd name="T14" fmla="*/ 43 w 43"/>
                <a:gd name="T15" fmla="*/ 37 h 43"/>
                <a:gd name="T16" fmla="*/ 37 w 43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3">
                  <a:moveTo>
                    <a:pt x="37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3" y="43"/>
                    <a:pt x="0" y="41"/>
                    <a:pt x="0" y="3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3" y="3"/>
                    <a:pt x="43" y="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41"/>
                    <a:pt x="40" y="43"/>
                    <a:pt x="37" y="43"/>
                  </a:cubicBez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39" name="Freeform 149">
              <a:extLst>
                <a:ext uri="{FF2B5EF4-FFF2-40B4-BE49-F238E27FC236}">
                  <a16:creationId xmlns:a16="http://schemas.microsoft.com/office/drawing/2014/main" id="{556BF31E-ED3A-445C-9282-9ADC09BFD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1540" y="5833274"/>
              <a:ext cx="74435" cy="76263"/>
            </a:xfrm>
            <a:custGeom>
              <a:avLst/>
              <a:gdLst>
                <a:gd name="T0" fmla="*/ 37 w 43"/>
                <a:gd name="T1" fmla="*/ 43 h 43"/>
                <a:gd name="T2" fmla="*/ 6 w 43"/>
                <a:gd name="T3" fmla="*/ 43 h 43"/>
                <a:gd name="T4" fmla="*/ 0 w 43"/>
                <a:gd name="T5" fmla="*/ 37 h 43"/>
                <a:gd name="T6" fmla="*/ 0 w 43"/>
                <a:gd name="T7" fmla="*/ 6 h 43"/>
                <a:gd name="T8" fmla="*/ 6 w 43"/>
                <a:gd name="T9" fmla="*/ 0 h 43"/>
                <a:gd name="T10" fmla="*/ 37 w 43"/>
                <a:gd name="T11" fmla="*/ 0 h 43"/>
                <a:gd name="T12" fmla="*/ 43 w 43"/>
                <a:gd name="T13" fmla="*/ 6 h 43"/>
                <a:gd name="T14" fmla="*/ 43 w 43"/>
                <a:gd name="T15" fmla="*/ 37 h 43"/>
                <a:gd name="T16" fmla="*/ 37 w 43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3">
                  <a:moveTo>
                    <a:pt x="37" y="43"/>
                  </a:moveTo>
                  <a:cubicBezTo>
                    <a:pt x="6" y="43"/>
                    <a:pt x="6" y="43"/>
                    <a:pt x="6" y="43"/>
                  </a:cubicBezTo>
                  <a:cubicBezTo>
                    <a:pt x="3" y="43"/>
                    <a:pt x="0" y="41"/>
                    <a:pt x="0" y="3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3" y="3"/>
                    <a:pt x="43" y="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41"/>
                    <a:pt x="40" y="43"/>
                    <a:pt x="37" y="43"/>
                  </a:cubicBez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0" name="Freeform 150">
              <a:extLst>
                <a:ext uri="{FF2B5EF4-FFF2-40B4-BE49-F238E27FC236}">
                  <a16:creationId xmlns:a16="http://schemas.microsoft.com/office/drawing/2014/main" id="{2511A94B-0AD6-4AA6-8A18-F3BB952F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105" y="5801101"/>
              <a:ext cx="252507" cy="32173"/>
            </a:xfrm>
            <a:custGeom>
              <a:avLst/>
              <a:gdLst>
                <a:gd name="T0" fmla="*/ 0 w 147"/>
                <a:gd name="T1" fmla="*/ 18 h 18"/>
                <a:gd name="T2" fmla="*/ 0 w 147"/>
                <a:gd name="T3" fmla="*/ 6 h 18"/>
                <a:gd name="T4" fmla="*/ 6 w 147"/>
                <a:gd name="T5" fmla="*/ 0 h 18"/>
                <a:gd name="T6" fmla="*/ 141 w 147"/>
                <a:gd name="T7" fmla="*/ 0 h 18"/>
                <a:gd name="T8" fmla="*/ 147 w 147"/>
                <a:gd name="T9" fmla="*/ 6 h 18"/>
                <a:gd name="T10" fmla="*/ 147 w 147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" h="18">
                  <a:moveTo>
                    <a:pt x="0" y="18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45" y="0"/>
                    <a:pt x="147" y="3"/>
                    <a:pt x="147" y="6"/>
                  </a:cubicBezTo>
                  <a:cubicBezTo>
                    <a:pt x="147" y="18"/>
                    <a:pt x="147" y="18"/>
                    <a:pt x="147" y="18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1" name="Line 151">
              <a:extLst>
                <a:ext uri="{FF2B5EF4-FFF2-40B4-BE49-F238E27FC236}">
                  <a16:creationId xmlns:a16="http://schemas.microsoft.com/office/drawing/2014/main" id="{D4BCB4EF-7843-4A73-B465-2114E9A35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2217" y="5767140"/>
              <a:ext cx="0" cy="66135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2" name="Line 152">
              <a:extLst>
                <a:ext uri="{FF2B5EF4-FFF2-40B4-BE49-F238E27FC236}">
                  <a16:creationId xmlns:a16="http://schemas.microsoft.com/office/drawing/2014/main" id="{AD61C590-C43B-4F2E-8C3A-571B1984C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1177" y="5872002"/>
              <a:ext cx="53250" cy="0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3" name="Line 153">
              <a:extLst>
                <a:ext uri="{FF2B5EF4-FFF2-40B4-BE49-F238E27FC236}">
                  <a16:creationId xmlns:a16="http://schemas.microsoft.com/office/drawing/2014/main" id="{30AC0EEF-AAA9-4022-9322-9912B3A27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8290" y="5872002"/>
              <a:ext cx="53250" cy="0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4" name="Freeform 154">
              <a:extLst>
                <a:ext uri="{FF2B5EF4-FFF2-40B4-BE49-F238E27FC236}">
                  <a16:creationId xmlns:a16="http://schemas.microsoft.com/office/drawing/2014/main" id="{A9EAC323-5BA2-4CBC-8F61-F8559FE9D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330" y="5690282"/>
              <a:ext cx="170056" cy="55410"/>
            </a:xfrm>
            <a:custGeom>
              <a:avLst/>
              <a:gdLst>
                <a:gd name="T0" fmla="*/ 0 w 99"/>
                <a:gd name="T1" fmla="*/ 31 h 31"/>
                <a:gd name="T2" fmla="*/ 13 w 99"/>
                <a:gd name="T3" fmla="*/ 10 h 31"/>
                <a:gd name="T4" fmla="*/ 34 w 99"/>
                <a:gd name="T5" fmla="*/ 0 h 31"/>
                <a:gd name="T6" fmla="*/ 50 w 99"/>
                <a:gd name="T7" fmla="*/ 3 h 31"/>
                <a:gd name="T8" fmla="*/ 65 w 99"/>
                <a:gd name="T9" fmla="*/ 0 h 31"/>
                <a:gd name="T10" fmla="*/ 87 w 99"/>
                <a:gd name="T11" fmla="*/ 10 h 31"/>
                <a:gd name="T12" fmla="*/ 99 w 99"/>
                <a:gd name="T1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31">
                  <a:moveTo>
                    <a:pt x="0" y="31"/>
                  </a:moveTo>
                  <a:cubicBezTo>
                    <a:pt x="0" y="31"/>
                    <a:pt x="1" y="15"/>
                    <a:pt x="13" y="1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40" y="3"/>
                    <a:pt x="50" y="3"/>
                  </a:cubicBezTo>
                  <a:cubicBezTo>
                    <a:pt x="59" y="3"/>
                    <a:pt x="65" y="0"/>
                    <a:pt x="65" y="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98" y="15"/>
                    <a:pt x="99" y="31"/>
                    <a:pt x="99" y="31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5" name="Freeform 155">
              <a:extLst>
                <a:ext uri="{FF2B5EF4-FFF2-40B4-BE49-F238E27FC236}">
                  <a16:creationId xmlns:a16="http://schemas.microsoft.com/office/drawing/2014/main" id="{2FFB8233-2284-489F-9DE0-DDE203A87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6145" y="5592570"/>
              <a:ext cx="70427" cy="76859"/>
            </a:xfrm>
            <a:custGeom>
              <a:avLst/>
              <a:gdLst>
                <a:gd name="T0" fmla="*/ 30 w 41"/>
                <a:gd name="T1" fmla="*/ 43 h 43"/>
                <a:gd name="T2" fmla="*/ 40 w 41"/>
                <a:gd name="T3" fmla="*/ 24 h 43"/>
                <a:gd name="T4" fmla="*/ 38 w 41"/>
                <a:gd name="T5" fmla="*/ 9 h 43"/>
                <a:gd name="T6" fmla="*/ 28 w 41"/>
                <a:gd name="T7" fmla="*/ 1 h 43"/>
                <a:gd name="T8" fmla="*/ 21 w 41"/>
                <a:gd name="T9" fmla="*/ 0 h 43"/>
                <a:gd name="T10" fmla="*/ 13 w 41"/>
                <a:gd name="T11" fmla="*/ 1 h 43"/>
                <a:gd name="T12" fmla="*/ 3 w 41"/>
                <a:gd name="T13" fmla="*/ 9 h 43"/>
                <a:gd name="T14" fmla="*/ 1 w 41"/>
                <a:gd name="T15" fmla="*/ 24 h 43"/>
                <a:gd name="T16" fmla="*/ 11 w 41"/>
                <a:gd name="T1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43">
                  <a:moveTo>
                    <a:pt x="30" y="43"/>
                  </a:moveTo>
                  <a:cubicBezTo>
                    <a:pt x="39" y="37"/>
                    <a:pt x="39" y="33"/>
                    <a:pt x="40" y="24"/>
                  </a:cubicBezTo>
                  <a:cubicBezTo>
                    <a:pt x="41" y="19"/>
                    <a:pt x="41" y="14"/>
                    <a:pt x="38" y="9"/>
                  </a:cubicBezTo>
                  <a:cubicBezTo>
                    <a:pt x="36" y="5"/>
                    <a:pt x="32" y="3"/>
                    <a:pt x="28" y="1"/>
                  </a:cubicBezTo>
                  <a:cubicBezTo>
                    <a:pt x="26" y="0"/>
                    <a:pt x="23" y="0"/>
                    <a:pt x="21" y="0"/>
                  </a:cubicBezTo>
                  <a:cubicBezTo>
                    <a:pt x="18" y="0"/>
                    <a:pt x="15" y="0"/>
                    <a:pt x="13" y="1"/>
                  </a:cubicBezTo>
                  <a:cubicBezTo>
                    <a:pt x="9" y="3"/>
                    <a:pt x="5" y="5"/>
                    <a:pt x="3" y="9"/>
                  </a:cubicBezTo>
                  <a:cubicBezTo>
                    <a:pt x="0" y="14"/>
                    <a:pt x="1" y="19"/>
                    <a:pt x="1" y="24"/>
                  </a:cubicBezTo>
                  <a:cubicBezTo>
                    <a:pt x="2" y="33"/>
                    <a:pt x="2" y="37"/>
                    <a:pt x="11" y="43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 dirty="0"/>
            </a:p>
          </p:txBody>
        </p:sp>
        <p:sp>
          <p:nvSpPr>
            <p:cNvPr id="446" name="Freeform 156">
              <a:extLst>
                <a:ext uri="{FF2B5EF4-FFF2-40B4-BE49-F238E27FC236}">
                  <a16:creationId xmlns:a16="http://schemas.microsoft.com/office/drawing/2014/main" id="{1BC510FF-7ECB-47A6-93DF-0EA29B642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2524" y="5695644"/>
              <a:ext cx="5154" cy="50047"/>
            </a:xfrm>
            <a:custGeom>
              <a:avLst/>
              <a:gdLst>
                <a:gd name="T0" fmla="*/ 0 w 3"/>
                <a:gd name="T1" fmla="*/ 0 h 28"/>
                <a:gd name="T2" fmla="*/ 0 w 3"/>
                <a:gd name="T3" fmla="*/ 16 h 28"/>
                <a:gd name="T4" fmla="*/ 3 w 3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8">
                  <a:moveTo>
                    <a:pt x="0" y="0"/>
                  </a:moveTo>
                  <a:cubicBezTo>
                    <a:pt x="3" y="3"/>
                    <a:pt x="1" y="12"/>
                    <a:pt x="0" y="16"/>
                  </a:cubicBezTo>
                  <a:cubicBezTo>
                    <a:pt x="0" y="16"/>
                    <a:pt x="3" y="23"/>
                    <a:pt x="3" y="28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47" name="Freeform 157">
              <a:extLst>
                <a:ext uri="{FF2B5EF4-FFF2-40B4-BE49-F238E27FC236}">
                  <a16:creationId xmlns:a16="http://schemas.microsoft.com/office/drawing/2014/main" id="{F37D6646-4905-4FC0-9768-B9FC09E4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040" y="5695644"/>
              <a:ext cx="5154" cy="50047"/>
            </a:xfrm>
            <a:custGeom>
              <a:avLst/>
              <a:gdLst>
                <a:gd name="T0" fmla="*/ 0 w 3"/>
                <a:gd name="T1" fmla="*/ 28 h 28"/>
                <a:gd name="T2" fmla="*/ 3 w 3"/>
                <a:gd name="T3" fmla="*/ 16 h 28"/>
                <a:gd name="T4" fmla="*/ 3 w 3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8">
                  <a:moveTo>
                    <a:pt x="0" y="28"/>
                  </a:moveTo>
                  <a:cubicBezTo>
                    <a:pt x="0" y="23"/>
                    <a:pt x="3" y="16"/>
                    <a:pt x="3" y="16"/>
                  </a:cubicBezTo>
                  <a:cubicBezTo>
                    <a:pt x="2" y="12"/>
                    <a:pt x="0" y="3"/>
                    <a:pt x="3" y="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5EAC541-9283-424E-A9FF-A44784B77F0A}"/>
              </a:ext>
            </a:extLst>
          </p:cNvPr>
          <p:cNvCxnSpPr>
            <a:cxnSpLocks/>
            <a:stCxn id="189" idx="0"/>
            <a:endCxn id="182" idx="2"/>
          </p:cNvCxnSpPr>
          <p:nvPr/>
        </p:nvCxnSpPr>
        <p:spPr>
          <a:xfrm flipV="1">
            <a:off x="5991357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FA77659D-DAD3-4F51-A93B-82F7B983FB2F}"/>
              </a:ext>
            </a:extLst>
          </p:cNvPr>
          <p:cNvGrpSpPr/>
          <p:nvPr/>
        </p:nvGrpSpPr>
        <p:grpSpPr>
          <a:xfrm>
            <a:off x="6788428" y="3112522"/>
            <a:ext cx="380663" cy="356428"/>
            <a:chOff x="545755" y="1066481"/>
            <a:chExt cx="542838" cy="540000"/>
          </a:xfrm>
        </p:grpSpPr>
        <p:sp>
          <p:nvSpPr>
            <p:cNvPr id="405" name="Freeform 208">
              <a:extLst>
                <a:ext uri="{FF2B5EF4-FFF2-40B4-BE49-F238E27FC236}">
                  <a16:creationId xmlns:a16="http://schemas.microsoft.com/office/drawing/2014/main" id="{0FFC31C9-E240-4B40-AF55-184412487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211" y="1388968"/>
              <a:ext cx="202382" cy="217513"/>
            </a:xfrm>
            <a:custGeom>
              <a:avLst/>
              <a:gdLst>
                <a:gd name="T0" fmla="*/ 71 w 71"/>
                <a:gd name="T1" fmla="*/ 77 h 77"/>
                <a:gd name="T2" fmla="*/ 46 w 71"/>
                <a:gd name="T3" fmla="*/ 21 h 77"/>
                <a:gd name="T4" fmla="*/ 0 w 71"/>
                <a:gd name="T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77">
                  <a:moveTo>
                    <a:pt x="71" y="77"/>
                  </a:moveTo>
                  <a:cubicBezTo>
                    <a:pt x="71" y="77"/>
                    <a:pt x="71" y="34"/>
                    <a:pt x="46" y="2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06" name="Freeform 209">
              <a:extLst>
                <a:ext uri="{FF2B5EF4-FFF2-40B4-BE49-F238E27FC236}">
                  <a16:creationId xmlns:a16="http://schemas.microsoft.com/office/drawing/2014/main" id="{71F767D8-D428-4EA2-BE55-8DD82158B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55" y="1405990"/>
              <a:ext cx="167391" cy="200491"/>
            </a:xfrm>
            <a:custGeom>
              <a:avLst/>
              <a:gdLst>
                <a:gd name="T0" fmla="*/ 0 w 59"/>
                <a:gd name="T1" fmla="*/ 71 h 71"/>
                <a:gd name="T2" fmla="*/ 25 w 59"/>
                <a:gd name="T3" fmla="*/ 15 h 71"/>
                <a:gd name="T4" fmla="*/ 59 w 59"/>
                <a:gd name="T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71">
                  <a:moveTo>
                    <a:pt x="0" y="71"/>
                  </a:moveTo>
                  <a:cubicBezTo>
                    <a:pt x="0" y="71"/>
                    <a:pt x="0" y="28"/>
                    <a:pt x="25" y="15"/>
                  </a:cubicBezTo>
                  <a:cubicBezTo>
                    <a:pt x="59" y="0"/>
                    <a:pt x="59" y="0"/>
                    <a:pt x="59" y="0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07" name="Freeform 210">
              <a:extLst>
                <a:ext uri="{FF2B5EF4-FFF2-40B4-BE49-F238E27FC236}">
                  <a16:creationId xmlns:a16="http://schemas.microsoft.com/office/drawing/2014/main" id="{FE8201DA-056F-4AAB-B8D0-2DF966E6E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34" y="1388968"/>
              <a:ext cx="85114" cy="113485"/>
            </a:xfrm>
            <a:custGeom>
              <a:avLst/>
              <a:gdLst>
                <a:gd name="T0" fmla="*/ 3 w 30"/>
                <a:gd name="T1" fmla="*/ 6 h 40"/>
                <a:gd name="T2" fmla="*/ 0 w 30"/>
                <a:gd name="T3" fmla="*/ 40 h 40"/>
                <a:gd name="T4" fmla="*/ 30 w 30"/>
                <a:gd name="T5" fmla="*/ 15 h 40"/>
                <a:gd name="T6" fmla="*/ 15 w 30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40">
                  <a:moveTo>
                    <a:pt x="3" y="6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24" y="34"/>
                    <a:pt x="30" y="15"/>
                    <a:pt x="30" y="15"/>
                  </a:cubicBezTo>
                  <a:cubicBezTo>
                    <a:pt x="18" y="12"/>
                    <a:pt x="15" y="0"/>
                    <a:pt x="15" y="0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08" name="Freeform 211">
              <a:extLst>
                <a:ext uri="{FF2B5EF4-FFF2-40B4-BE49-F238E27FC236}">
                  <a16:creationId xmlns:a16="http://schemas.microsoft.com/office/drawing/2014/main" id="{2D971E38-B335-4908-AFA2-02B71C140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654" y="1388968"/>
              <a:ext cx="87951" cy="113485"/>
            </a:xfrm>
            <a:custGeom>
              <a:avLst/>
              <a:gdLst>
                <a:gd name="T0" fmla="*/ 28 w 31"/>
                <a:gd name="T1" fmla="*/ 6 h 40"/>
                <a:gd name="T2" fmla="*/ 31 w 31"/>
                <a:gd name="T3" fmla="*/ 40 h 40"/>
                <a:gd name="T4" fmla="*/ 0 w 31"/>
                <a:gd name="T5" fmla="*/ 15 h 40"/>
                <a:gd name="T6" fmla="*/ 15 w 31"/>
                <a:gd name="T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40">
                  <a:moveTo>
                    <a:pt x="28" y="6"/>
                  </a:moveTo>
                  <a:cubicBezTo>
                    <a:pt x="31" y="40"/>
                    <a:pt x="31" y="40"/>
                    <a:pt x="31" y="40"/>
                  </a:cubicBezTo>
                  <a:cubicBezTo>
                    <a:pt x="6" y="34"/>
                    <a:pt x="0" y="15"/>
                    <a:pt x="0" y="15"/>
                  </a:cubicBezTo>
                  <a:cubicBezTo>
                    <a:pt x="12" y="12"/>
                    <a:pt x="15" y="0"/>
                    <a:pt x="15" y="0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09" name="Freeform 212">
              <a:extLst>
                <a:ext uri="{FF2B5EF4-FFF2-40B4-BE49-F238E27FC236}">
                  <a16:creationId xmlns:a16="http://schemas.microsoft.com/office/drawing/2014/main" id="{4B39372D-E78D-4643-A227-1D73D8603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725" y="1431525"/>
              <a:ext cx="87951" cy="174956"/>
            </a:xfrm>
            <a:custGeom>
              <a:avLst/>
              <a:gdLst>
                <a:gd name="T0" fmla="*/ 0 w 31"/>
                <a:gd name="T1" fmla="*/ 62 h 62"/>
                <a:gd name="T2" fmla="*/ 9 w 31"/>
                <a:gd name="T3" fmla="*/ 22 h 62"/>
                <a:gd name="T4" fmla="*/ 6 w 31"/>
                <a:gd name="T5" fmla="*/ 0 h 62"/>
                <a:gd name="T6" fmla="*/ 25 w 31"/>
                <a:gd name="T7" fmla="*/ 0 h 62"/>
                <a:gd name="T8" fmla="*/ 22 w 31"/>
                <a:gd name="T9" fmla="*/ 22 h 62"/>
                <a:gd name="T10" fmla="*/ 31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0" y="62"/>
                  </a:moveTo>
                  <a:cubicBezTo>
                    <a:pt x="0" y="49"/>
                    <a:pt x="9" y="22"/>
                    <a:pt x="9" y="22"/>
                  </a:cubicBezTo>
                  <a:cubicBezTo>
                    <a:pt x="0" y="12"/>
                    <a:pt x="6" y="0"/>
                    <a:pt x="6" y="0"/>
                  </a:cubicBezTo>
                  <a:cubicBezTo>
                    <a:pt x="6" y="0"/>
                    <a:pt x="16" y="3"/>
                    <a:pt x="25" y="0"/>
                  </a:cubicBezTo>
                  <a:cubicBezTo>
                    <a:pt x="25" y="0"/>
                    <a:pt x="31" y="12"/>
                    <a:pt x="22" y="22"/>
                  </a:cubicBezTo>
                  <a:cubicBezTo>
                    <a:pt x="22" y="22"/>
                    <a:pt x="31" y="49"/>
                    <a:pt x="31" y="62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10" name="Freeform 213">
              <a:extLst>
                <a:ext uri="{FF2B5EF4-FFF2-40B4-BE49-F238E27FC236}">
                  <a16:creationId xmlns:a16="http://schemas.microsoft.com/office/drawing/2014/main" id="{509BF54B-37C7-4749-8D36-877860F11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286" y="1066481"/>
              <a:ext cx="246830" cy="296953"/>
            </a:xfrm>
            <a:custGeom>
              <a:avLst/>
              <a:gdLst>
                <a:gd name="T0" fmla="*/ 59 w 87"/>
                <a:gd name="T1" fmla="*/ 105 h 105"/>
                <a:gd name="T2" fmla="*/ 85 w 87"/>
                <a:gd name="T3" fmla="*/ 51 h 105"/>
                <a:gd name="T4" fmla="*/ 82 w 87"/>
                <a:gd name="T5" fmla="*/ 20 h 105"/>
                <a:gd name="T6" fmla="*/ 60 w 87"/>
                <a:gd name="T7" fmla="*/ 3 h 105"/>
                <a:gd name="T8" fmla="*/ 44 w 87"/>
                <a:gd name="T9" fmla="*/ 0 h 105"/>
                <a:gd name="T10" fmla="*/ 28 w 87"/>
                <a:gd name="T11" fmla="*/ 3 h 105"/>
                <a:gd name="T12" fmla="*/ 5 w 87"/>
                <a:gd name="T13" fmla="*/ 20 h 105"/>
                <a:gd name="T14" fmla="*/ 2 w 87"/>
                <a:gd name="T15" fmla="*/ 51 h 105"/>
                <a:gd name="T16" fmla="*/ 28 w 87"/>
                <a:gd name="T17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05">
                  <a:moveTo>
                    <a:pt x="59" y="105"/>
                  </a:moveTo>
                  <a:cubicBezTo>
                    <a:pt x="81" y="95"/>
                    <a:pt x="83" y="70"/>
                    <a:pt x="85" y="51"/>
                  </a:cubicBezTo>
                  <a:cubicBezTo>
                    <a:pt x="86" y="41"/>
                    <a:pt x="87" y="30"/>
                    <a:pt x="82" y="20"/>
                  </a:cubicBezTo>
                  <a:cubicBezTo>
                    <a:pt x="77" y="12"/>
                    <a:pt x="69" y="6"/>
                    <a:pt x="60" y="3"/>
                  </a:cubicBezTo>
                  <a:cubicBezTo>
                    <a:pt x="55" y="1"/>
                    <a:pt x="49" y="0"/>
                    <a:pt x="44" y="0"/>
                  </a:cubicBezTo>
                  <a:cubicBezTo>
                    <a:pt x="38" y="0"/>
                    <a:pt x="33" y="1"/>
                    <a:pt x="28" y="3"/>
                  </a:cubicBezTo>
                  <a:cubicBezTo>
                    <a:pt x="18" y="6"/>
                    <a:pt x="10" y="12"/>
                    <a:pt x="5" y="20"/>
                  </a:cubicBezTo>
                  <a:cubicBezTo>
                    <a:pt x="0" y="30"/>
                    <a:pt x="1" y="41"/>
                    <a:pt x="2" y="51"/>
                  </a:cubicBezTo>
                  <a:cubicBezTo>
                    <a:pt x="4" y="70"/>
                    <a:pt x="7" y="95"/>
                    <a:pt x="28" y="105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11" name="Line 214">
              <a:extLst>
                <a:ext uri="{FF2B5EF4-FFF2-40B4-BE49-F238E27FC236}">
                  <a16:creationId xmlns:a16="http://schemas.microsoft.com/office/drawing/2014/main" id="{D8843F63-3F5A-4CCE-A807-0300D544C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191" y="1352085"/>
              <a:ext cx="0" cy="36883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12" name="Line 216">
              <a:extLst>
                <a:ext uri="{FF2B5EF4-FFF2-40B4-BE49-F238E27FC236}">
                  <a16:creationId xmlns:a16="http://schemas.microsoft.com/office/drawing/2014/main" id="{277C43CE-19C7-44FA-87DE-3D816134A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211" y="1352085"/>
              <a:ext cx="0" cy="36883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13" name="Freeform 217">
              <a:extLst>
                <a:ext uri="{FF2B5EF4-FFF2-40B4-BE49-F238E27FC236}">
                  <a16:creationId xmlns:a16="http://schemas.microsoft.com/office/drawing/2014/main" id="{D33F1EB5-90AD-4750-9DCB-428013F86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34" y="1151595"/>
              <a:ext cx="226970" cy="36883"/>
            </a:xfrm>
            <a:custGeom>
              <a:avLst/>
              <a:gdLst>
                <a:gd name="T0" fmla="*/ 80 w 80"/>
                <a:gd name="T1" fmla="*/ 13 h 13"/>
                <a:gd name="T2" fmla="*/ 64 w 80"/>
                <a:gd name="T3" fmla="*/ 4 h 13"/>
                <a:gd name="T4" fmla="*/ 40 w 80"/>
                <a:gd name="T5" fmla="*/ 13 h 13"/>
                <a:gd name="T6" fmla="*/ 15 w 80"/>
                <a:gd name="T7" fmla="*/ 4 h 13"/>
                <a:gd name="T8" fmla="*/ 0 w 80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13">
                  <a:moveTo>
                    <a:pt x="80" y="13"/>
                  </a:moveTo>
                  <a:cubicBezTo>
                    <a:pt x="80" y="13"/>
                    <a:pt x="76" y="0"/>
                    <a:pt x="64" y="4"/>
                  </a:cubicBezTo>
                  <a:cubicBezTo>
                    <a:pt x="55" y="7"/>
                    <a:pt x="52" y="13"/>
                    <a:pt x="40" y="13"/>
                  </a:cubicBezTo>
                  <a:cubicBezTo>
                    <a:pt x="27" y="13"/>
                    <a:pt x="24" y="7"/>
                    <a:pt x="15" y="4"/>
                  </a:cubicBezTo>
                  <a:cubicBezTo>
                    <a:pt x="3" y="0"/>
                    <a:pt x="0" y="13"/>
                    <a:pt x="0" y="13"/>
                  </a:cubicBez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A005C85E-5B44-47DB-976B-FC0FA0B48ED8}"/>
              </a:ext>
            </a:extLst>
          </p:cNvPr>
          <p:cNvCxnSpPr>
            <a:cxnSpLocks/>
          </p:cNvCxnSpPr>
          <p:nvPr/>
        </p:nvCxnSpPr>
        <p:spPr>
          <a:xfrm>
            <a:off x="6789260" y="3468950"/>
            <a:ext cx="37983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8182BEEC-A7CA-4AE1-AE7A-0C77D34FDB02}"/>
              </a:ext>
            </a:extLst>
          </p:cNvPr>
          <p:cNvGrpSpPr/>
          <p:nvPr/>
        </p:nvGrpSpPr>
        <p:grpSpPr>
          <a:xfrm>
            <a:off x="7105025" y="3399152"/>
            <a:ext cx="128132" cy="122170"/>
            <a:chOff x="-1173843" y="4447077"/>
            <a:chExt cx="182720" cy="185092"/>
          </a:xfrm>
        </p:grpSpPr>
        <p:sp>
          <p:nvSpPr>
            <p:cNvPr id="421" name="Oval 126">
              <a:extLst>
                <a:ext uri="{FF2B5EF4-FFF2-40B4-BE49-F238E27FC236}">
                  <a16:creationId xmlns:a16="http://schemas.microsoft.com/office/drawing/2014/main" id="{E65F7C1E-8464-479F-B3EF-23FA9442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73843" y="4447077"/>
              <a:ext cx="182720" cy="185092"/>
            </a:xfrm>
            <a:prstGeom prst="ellipse">
              <a:avLst/>
            </a:prstGeom>
            <a:solidFill>
              <a:schemeClr val="bg1"/>
            </a:solidFill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22" name="Line 127">
              <a:extLst>
                <a:ext uri="{FF2B5EF4-FFF2-40B4-BE49-F238E27FC236}">
                  <a16:creationId xmlns:a16="http://schemas.microsoft.com/office/drawing/2014/main" id="{E5327AA4-504D-4E26-8516-B87CDDFE93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083670" y="4494537"/>
              <a:ext cx="0" cy="92547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23" name="Line 128">
              <a:extLst>
                <a:ext uri="{FF2B5EF4-FFF2-40B4-BE49-F238E27FC236}">
                  <a16:creationId xmlns:a16="http://schemas.microsoft.com/office/drawing/2014/main" id="{03E65CCD-E893-44EA-93D0-B1D629D73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128755" y="4539622"/>
              <a:ext cx="92547" cy="0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F8C38826-40AD-46CF-8F96-620135C973B5}"/>
              </a:ext>
            </a:extLst>
          </p:cNvPr>
          <p:cNvSpPr txBox="1">
            <a:spLocks/>
          </p:cNvSpPr>
          <p:nvPr/>
        </p:nvSpPr>
        <p:spPr>
          <a:xfrm>
            <a:off x="6588799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Подключе-ние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поставщиков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7F6D5CD-47E8-40F4-9C40-CA78519516C4}"/>
              </a:ext>
            </a:extLst>
          </p:cNvPr>
          <p:cNvSpPr txBox="1">
            <a:spLocks/>
          </p:cNvSpPr>
          <p:nvPr/>
        </p:nvSpPr>
        <p:spPr>
          <a:xfrm>
            <a:off x="6588799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Поиск, закупочная процедура, контракто-вание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3DD046-C284-4503-B7B6-6DF948A31888}"/>
              </a:ext>
            </a:extLst>
          </p:cNvPr>
          <p:cNvGrpSpPr/>
          <p:nvPr/>
        </p:nvGrpSpPr>
        <p:grpSpPr>
          <a:xfrm>
            <a:off x="6826993" y="5246933"/>
            <a:ext cx="367600" cy="340554"/>
            <a:chOff x="7513870" y="5570052"/>
            <a:chExt cx="328656" cy="340554"/>
          </a:xfrm>
        </p:grpSpPr>
        <p:sp>
          <p:nvSpPr>
            <p:cNvPr id="456" name="Oval 71">
              <a:extLst>
                <a:ext uri="{FF2B5EF4-FFF2-40B4-BE49-F238E27FC236}">
                  <a16:creationId xmlns:a16="http://schemas.microsoft.com/office/drawing/2014/main" id="{2C1FCA0F-F3DB-43D5-B268-4268D29B8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3870" y="5570052"/>
              <a:ext cx="262372" cy="273018"/>
            </a:xfrm>
            <a:prstGeom prst="ellips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57" name="Freeform 72">
              <a:extLst>
                <a:ext uri="{FF2B5EF4-FFF2-40B4-BE49-F238E27FC236}">
                  <a16:creationId xmlns:a16="http://schemas.microsoft.com/office/drawing/2014/main" id="{7A3D0CBE-BC00-47FF-BF05-7A64F5CA8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199" y="5709435"/>
              <a:ext cx="149138" cy="156626"/>
            </a:xfrm>
            <a:custGeom>
              <a:avLst/>
              <a:gdLst>
                <a:gd name="T0" fmla="*/ 0 w 89"/>
                <a:gd name="T1" fmla="*/ 89 h 89"/>
                <a:gd name="T2" fmla="*/ 89 w 89"/>
                <a:gd name="T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9" h="89">
                  <a:moveTo>
                    <a:pt x="0" y="89"/>
                  </a:moveTo>
                  <a:cubicBezTo>
                    <a:pt x="49" y="89"/>
                    <a:pt x="89" y="49"/>
                    <a:pt x="89" y="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58" name="Freeform 73">
              <a:extLst>
                <a:ext uri="{FF2B5EF4-FFF2-40B4-BE49-F238E27FC236}">
                  <a16:creationId xmlns:a16="http://schemas.microsoft.com/office/drawing/2014/main" id="{75797763-7EE0-41FF-BB2F-889EC4117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719" y="5805709"/>
              <a:ext cx="100807" cy="104897"/>
            </a:xfrm>
            <a:custGeom>
              <a:avLst/>
              <a:gdLst>
                <a:gd name="T0" fmla="*/ 15 w 60"/>
                <a:gd name="T1" fmla="*/ 0 h 60"/>
                <a:gd name="T2" fmla="*/ 56 w 60"/>
                <a:gd name="T3" fmla="*/ 42 h 60"/>
                <a:gd name="T4" fmla="*/ 56 w 60"/>
                <a:gd name="T5" fmla="*/ 56 h 60"/>
                <a:gd name="T6" fmla="*/ 56 w 60"/>
                <a:gd name="T7" fmla="*/ 56 h 60"/>
                <a:gd name="T8" fmla="*/ 42 w 60"/>
                <a:gd name="T9" fmla="*/ 56 h 60"/>
                <a:gd name="T10" fmla="*/ 0 w 60"/>
                <a:gd name="T11" fmla="*/ 1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60">
                  <a:moveTo>
                    <a:pt x="15" y="0"/>
                  </a:moveTo>
                  <a:cubicBezTo>
                    <a:pt x="56" y="42"/>
                    <a:pt x="56" y="42"/>
                    <a:pt x="56" y="42"/>
                  </a:cubicBezTo>
                  <a:cubicBezTo>
                    <a:pt x="60" y="46"/>
                    <a:pt x="60" y="52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2" y="60"/>
                    <a:pt x="46" y="60"/>
                    <a:pt x="42" y="56"/>
                  </a:cubicBezTo>
                  <a:cubicBezTo>
                    <a:pt x="0" y="15"/>
                    <a:pt x="0" y="15"/>
                    <a:pt x="0" y="15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0" name="Line 105">
              <a:extLst>
                <a:ext uri="{FF2B5EF4-FFF2-40B4-BE49-F238E27FC236}">
                  <a16:creationId xmlns:a16="http://schemas.microsoft.com/office/drawing/2014/main" id="{ED9D6A73-2CFA-4AE5-8E34-2DD0AC5F1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966" y="5754193"/>
              <a:ext cx="25483" cy="0"/>
            </a:xfrm>
            <a:prstGeom prst="line">
              <a:avLst/>
            </a:pr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1" name="Freeform 106">
              <a:extLst>
                <a:ext uri="{FF2B5EF4-FFF2-40B4-BE49-F238E27FC236}">
                  <a16:creationId xmlns:a16="http://schemas.microsoft.com/office/drawing/2014/main" id="{A74C551A-4A0A-441B-96C0-C2646A04B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661" y="5741426"/>
              <a:ext cx="50967" cy="46651"/>
            </a:xfrm>
            <a:custGeom>
              <a:avLst/>
              <a:gdLst>
                <a:gd name="T0" fmla="*/ 68 w 68"/>
                <a:gd name="T1" fmla="*/ 59 h 60"/>
                <a:gd name="T2" fmla="*/ 46 w 68"/>
                <a:gd name="T3" fmla="*/ 49 h 60"/>
                <a:gd name="T4" fmla="*/ 17 w 68"/>
                <a:gd name="T5" fmla="*/ 0 h 60"/>
                <a:gd name="T6" fmla="*/ 0 w 68"/>
                <a:gd name="T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60">
                  <a:moveTo>
                    <a:pt x="68" y="59"/>
                  </a:moveTo>
                  <a:cubicBezTo>
                    <a:pt x="64" y="60"/>
                    <a:pt x="53" y="60"/>
                    <a:pt x="46" y="4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2" name="Line 107">
              <a:extLst>
                <a:ext uri="{FF2B5EF4-FFF2-40B4-BE49-F238E27FC236}">
                  <a16:creationId xmlns:a16="http://schemas.microsoft.com/office/drawing/2014/main" id="{D22AAEC8-AC39-420F-AD61-B706014D6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9393" y="5747810"/>
              <a:ext cx="13686" cy="24062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3" name="Line 108">
              <a:extLst>
                <a:ext uri="{FF2B5EF4-FFF2-40B4-BE49-F238E27FC236}">
                  <a16:creationId xmlns:a16="http://schemas.microsoft.com/office/drawing/2014/main" id="{B0D45393-4B48-4DC3-802A-E78C5A62C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1460" y="5763524"/>
              <a:ext cx="8494" cy="14732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4" name="Freeform 109">
              <a:extLst>
                <a:ext uri="{FF2B5EF4-FFF2-40B4-BE49-F238E27FC236}">
                  <a16:creationId xmlns:a16="http://schemas.microsoft.com/office/drawing/2014/main" id="{6C71A063-CE8D-490F-87E6-40562D106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2134" y="5771872"/>
              <a:ext cx="17461" cy="10312"/>
            </a:xfrm>
            <a:custGeom>
              <a:avLst/>
              <a:gdLst>
                <a:gd name="T0" fmla="*/ 23 w 23"/>
                <a:gd name="T1" fmla="*/ 7 h 13"/>
                <a:gd name="T2" fmla="*/ 0 w 23"/>
                <a:gd name="T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" h="13">
                  <a:moveTo>
                    <a:pt x="23" y="7"/>
                  </a:moveTo>
                  <a:cubicBezTo>
                    <a:pt x="18" y="9"/>
                    <a:pt x="8" y="13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5" name="Freeform 110">
              <a:extLst>
                <a:ext uri="{FF2B5EF4-FFF2-40B4-BE49-F238E27FC236}">
                  <a16:creationId xmlns:a16="http://schemas.microsoft.com/office/drawing/2014/main" id="{55FBA07E-830B-459B-97A6-BA0A66E3E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954" y="5778256"/>
              <a:ext cx="13214" cy="10803"/>
            </a:xfrm>
            <a:custGeom>
              <a:avLst/>
              <a:gdLst>
                <a:gd name="T0" fmla="*/ 18 w 18"/>
                <a:gd name="T1" fmla="*/ 7 h 14"/>
                <a:gd name="T2" fmla="*/ 0 w 18"/>
                <a:gd name="T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14">
                  <a:moveTo>
                    <a:pt x="18" y="7"/>
                  </a:moveTo>
                  <a:cubicBezTo>
                    <a:pt x="18" y="7"/>
                    <a:pt x="7" y="14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6" name="Line 111">
              <a:extLst>
                <a:ext uri="{FF2B5EF4-FFF2-40B4-BE49-F238E27FC236}">
                  <a16:creationId xmlns:a16="http://schemas.microsoft.com/office/drawing/2014/main" id="{A78AB743-0C0E-4C42-BF7E-598419112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67661" y="5664329"/>
              <a:ext cx="42944" cy="0"/>
            </a:xfrm>
            <a:prstGeom prst="line">
              <a:avLst/>
            </a:pr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7" name="Freeform 112">
              <a:extLst>
                <a:ext uri="{FF2B5EF4-FFF2-40B4-BE49-F238E27FC236}">
                  <a16:creationId xmlns:a16="http://schemas.microsoft.com/office/drawing/2014/main" id="{60B31DD9-3BC5-4CC5-9974-DD289986E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6515" y="5651561"/>
              <a:ext cx="30675" cy="104106"/>
            </a:xfrm>
            <a:custGeom>
              <a:avLst/>
              <a:gdLst>
                <a:gd name="T0" fmla="*/ 0 w 65"/>
                <a:gd name="T1" fmla="*/ 0 h 212"/>
                <a:gd name="T2" fmla="*/ 65 w 65"/>
                <a:gd name="T3" fmla="*/ 0 h 212"/>
                <a:gd name="T4" fmla="*/ 65 w 65"/>
                <a:gd name="T5" fmla="*/ 212 h 212"/>
                <a:gd name="T6" fmla="*/ 0 w 65"/>
                <a:gd name="T7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212">
                  <a:moveTo>
                    <a:pt x="0" y="0"/>
                  </a:moveTo>
                  <a:lnTo>
                    <a:pt x="65" y="0"/>
                  </a:lnTo>
                  <a:lnTo>
                    <a:pt x="65" y="212"/>
                  </a:lnTo>
                  <a:lnTo>
                    <a:pt x="0" y="212"/>
                  </a:ln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8" name="Freeform 113">
              <a:extLst>
                <a:ext uri="{FF2B5EF4-FFF2-40B4-BE49-F238E27FC236}">
                  <a16:creationId xmlns:a16="http://schemas.microsoft.com/office/drawing/2014/main" id="{F1D91CA7-3444-4764-9FB7-A8AD0D9F6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3393" y="5660400"/>
              <a:ext cx="30203" cy="103614"/>
            </a:xfrm>
            <a:custGeom>
              <a:avLst/>
              <a:gdLst>
                <a:gd name="T0" fmla="*/ 64 w 64"/>
                <a:gd name="T1" fmla="*/ 0 h 211"/>
                <a:gd name="T2" fmla="*/ 0 w 64"/>
                <a:gd name="T3" fmla="*/ 0 h 211"/>
                <a:gd name="T4" fmla="*/ 0 w 64"/>
                <a:gd name="T5" fmla="*/ 211 h 211"/>
                <a:gd name="T6" fmla="*/ 64 w 64"/>
                <a:gd name="T7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" h="211">
                  <a:moveTo>
                    <a:pt x="64" y="0"/>
                  </a:moveTo>
                  <a:lnTo>
                    <a:pt x="0" y="0"/>
                  </a:lnTo>
                  <a:lnTo>
                    <a:pt x="0" y="211"/>
                  </a:lnTo>
                  <a:lnTo>
                    <a:pt x="64" y="211"/>
                  </a:ln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69" name="Freeform 114">
              <a:extLst>
                <a:ext uri="{FF2B5EF4-FFF2-40B4-BE49-F238E27FC236}">
                  <a16:creationId xmlns:a16="http://schemas.microsoft.com/office/drawing/2014/main" id="{C5B41670-F8CC-4A6C-9A46-ECEEA9BF0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695" y="5656472"/>
              <a:ext cx="121754" cy="101650"/>
            </a:xfrm>
            <a:custGeom>
              <a:avLst/>
              <a:gdLst>
                <a:gd name="T0" fmla="*/ 133 w 163"/>
                <a:gd name="T1" fmla="*/ 131 h 131"/>
                <a:gd name="T2" fmla="*/ 86 w 163"/>
                <a:gd name="T3" fmla="*/ 43 h 131"/>
                <a:gd name="T4" fmla="*/ 62 w 163"/>
                <a:gd name="T5" fmla="*/ 41 h 131"/>
                <a:gd name="T6" fmla="*/ 35 w 163"/>
                <a:gd name="T7" fmla="*/ 69 h 131"/>
                <a:gd name="T8" fmla="*/ 0 w 163"/>
                <a:gd name="T9" fmla="*/ 61 h 131"/>
                <a:gd name="T10" fmla="*/ 35 w 163"/>
                <a:gd name="T11" fmla="*/ 15 h 131"/>
                <a:gd name="T12" fmla="*/ 59 w 163"/>
                <a:gd name="T13" fmla="*/ 0 h 131"/>
                <a:gd name="T14" fmla="*/ 111 w 163"/>
                <a:gd name="T15" fmla="*/ 0 h 131"/>
                <a:gd name="T16" fmla="*/ 163 w 163"/>
                <a:gd name="T17" fmla="*/ 2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3" h="131">
                  <a:moveTo>
                    <a:pt x="133" y="131"/>
                  </a:moveTo>
                  <a:cubicBezTo>
                    <a:pt x="86" y="43"/>
                    <a:pt x="86" y="43"/>
                    <a:pt x="86" y="43"/>
                  </a:cubicBezTo>
                  <a:cubicBezTo>
                    <a:pt x="82" y="43"/>
                    <a:pt x="62" y="41"/>
                    <a:pt x="62" y="41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12" y="86"/>
                    <a:pt x="0" y="61"/>
                    <a:pt x="0" y="61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7" y="0"/>
                    <a:pt x="59" y="0"/>
                    <a:pt x="59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63" y="23"/>
                    <a:pt x="163" y="23"/>
                    <a:pt x="163" y="23"/>
                  </a:cubicBez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0" name="Freeform 115">
              <a:extLst>
                <a:ext uri="{FF2B5EF4-FFF2-40B4-BE49-F238E27FC236}">
                  <a16:creationId xmlns:a16="http://schemas.microsoft.com/office/drawing/2014/main" id="{76659DA5-FC82-4B72-A78D-FC23C8EA2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8741" y="5734060"/>
              <a:ext cx="43416" cy="52544"/>
            </a:xfrm>
            <a:custGeom>
              <a:avLst/>
              <a:gdLst>
                <a:gd name="T0" fmla="*/ 58 w 58"/>
                <a:gd name="T1" fmla="*/ 28 h 68"/>
                <a:gd name="T2" fmla="*/ 25 w 58"/>
                <a:gd name="T3" fmla="*/ 38 h 68"/>
                <a:gd name="T4" fmla="*/ 0 w 58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" h="68">
                  <a:moveTo>
                    <a:pt x="58" y="28"/>
                  </a:moveTo>
                  <a:cubicBezTo>
                    <a:pt x="55" y="34"/>
                    <a:pt x="42" y="68"/>
                    <a:pt x="25" y="3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1" name="Oval 116">
              <a:extLst>
                <a:ext uri="{FF2B5EF4-FFF2-40B4-BE49-F238E27FC236}">
                  <a16:creationId xmlns:a16="http://schemas.microsoft.com/office/drawing/2014/main" id="{072C728C-393C-456B-8596-1B155FBBB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4630" y="5736024"/>
              <a:ext cx="4719" cy="4911"/>
            </a:xfrm>
            <a:prstGeom prst="ellipse">
              <a:avLst/>
            </a:pr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2" name="Oval 117">
              <a:extLst>
                <a:ext uri="{FF2B5EF4-FFF2-40B4-BE49-F238E27FC236}">
                  <a16:creationId xmlns:a16="http://schemas.microsoft.com/office/drawing/2014/main" id="{C38D313D-B1FA-417C-A2F0-3864E3841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0290" y="5726694"/>
              <a:ext cx="5191" cy="4911"/>
            </a:xfrm>
            <a:prstGeom prst="ellipse">
              <a:avLst/>
            </a:pr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4161AA2-A239-4597-842A-6F2E4C3AD613}"/>
              </a:ext>
            </a:extLst>
          </p:cNvPr>
          <p:cNvCxnSpPr>
            <a:cxnSpLocks/>
            <a:stCxn id="195" idx="0"/>
            <a:endCxn id="183" idx="2"/>
          </p:cNvCxnSpPr>
          <p:nvPr/>
        </p:nvCxnSpPr>
        <p:spPr>
          <a:xfrm flipV="1">
            <a:off x="7010793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16BCA814-7E4D-4660-AF1A-A91436183D38}"/>
              </a:ext>
            </a:extLst>
          </p:cNvPr>
          <p:cNvSpPr txBox="1">
            <a:spLocks/>
          </p:cNvSpPr>
          <p:nvPr/>
        </p:nvSpPr>
        <p:spPr>
          <a:xfrm>
            <a:off x="1364885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Проекти-рование зданий и инженерных сетей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C128DA8-4F12-4CB4-9D93-6E2CAB8709EE}"/>
              </a:ext>
            </a:extLst>
          </p:cNvPr>
          <p:cNvSpPr txBox="1">
            <a:spLocks/>
          </p:cNvSpPr>
          <p:nvPr/>
        </p:nvSpPr>
        <p:spPr>
          <a:xfrm>
            <a:off x="1364885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Доработка Смарт-стандарта и согласование тех. условий</a:t>
            </a:r>
          </a:p>
          <a:p>
            <a:pPr>
              <a:buSzPct val="100000"/>
            </a:pPr>
            <a:endParaRPr lang="ru-RU" sz="800" dirty="0">
              <a:solidFill>
                <a:srgbClr val="000000"/>
              </a:solidFill>
              <a:latin typeface="Verdana" panose="020B0604030504040204" pitchFamily="34" charset="0"/>
              <a:sym typeface=""/>
            </a:endParaRPr>
          </a:p>
        </p:txBody>
      </p:sp>
      <p:sp>
        <p:nvSpPr>
          <p:cNvPr id="278" name="Line 37">
            <a:extLst>
              <a:ext uri="{FF2B5EF4-FFF2-40B4-BE49-F238E27FC236}">
                <a16:creationId xmlns:a16="http://schemas.microsoft.com/office/drawing/2014/main" id="{245E994E-7B25-4494-A75C-481DCBC48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202460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9" name="Line 38">
            <a:extLst>
              <a:ext uri="{FF2B5EF4-FFF2-40B4-BE49-F238E27FC236}">
                <a16:creationId xmlns:a16="http://schemas.microsoft.com/office/drawing/2014/main" id="{2EA9FE3F-3972-4E30-B4C3-FBDD5E081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255719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0" name="Line 39">
            <a:extLst>
              <a:ext uri="{FF2B5EF4-FFF2-40B4-BE49-F238E27FC236}">
                <a16:creationId xmlns:a16="http://schemas.microsoft.com/office/drawing/2014/main" id="{6D35B924-8150-4353-AD49-ACD71C7E8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309914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1" name="Line 40">
            <a:extLst>
              <a:ext uri="{FF2B5EF4-FFF2-40B4-BE49-F238E27FC236}">
                <a16:creationId xmlns:a16="http://schemas.microsoft.com/office/drawing/2014/main" id="{41A8B3DA-C426-4282-95D8-202FF6EFF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416434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2" name="Line 41">
            <a:extLst>
              <a:ext uri="{FF2B5EF4-FFF2-40B4-BE49-F238E27FC236}">
                <a16:creationId xmlns:a16="http://schemas.microsoft.com/office/drawing/2014/main" id="{001E3F39-297F-4C5C-8F65-E2B39CA45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469694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3" name="Line 42">
            <a:extLst>
              <a:ext uri="{FF2B5EF4-FFF2-40B4-BE49-F238E27FC236}">
                <a16:creationId xmlns:a16="http://schemas.microsoft.com/office/drawing/2014/main" id="{201A4DE1-B345-4747-8286-C5B5F3B15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363174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4" name="Line 43">
            <a:extLst>
              <a:ext uri="{FF2B5EF4-FFF2-40B4-BE49-F238E27FC236}">
                <a16:creationId xmlns:a16="http://schemas.microsoft.com/office/drawing/2014/main" id="{0C025509-A9C0-4DDC-AF3F-0D4AAB463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6746" y="3522954"/>
            <a:ext cx="9927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5" name="Line 44">
            <a:extLst>
              <a:ext uri="{FF2B5EF4-FFF2-40B4-BE49-F238E27FC236}">
                <a16:creationId xmlns:a16="http://schemas.microsoft.com/office/drawing/2014/main" id="{C6C02B3C-3481-40A7-A0A4-48408D897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724" y="3416434"/>
            <a:ext cx="57577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6" name="Line 45">
            <a:extLst>
              <a:ext uri="{FF2B5EF4-FFF2-40B4-BE49-F238E27FC236}">
                <a16:creationId xmlns:a16="http://schemas.microsoft.com/office/drawing/2014/main" id="{1311B54D-EE8B-40CB-8BBD-847D4C23E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724" y="3469694"/>
            <a:ext cx="57577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7" name="Line 46">
            <a:extLst>
              <a:ext uri="{FF2B5EF4-FFF2-40B4-BE49-F238E27FC236}">
                <a16:creationId xmlns:a16="http://schemas.microsoft.com/office/drawing/2014/main" id="{8D722C7A-83DD-4496-B612-91D84E742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724" y="3363174"/>
            <a:ext cx="57577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8" name="Line 47">
            <a:extLst>
              <a:ext uri="{FF2B5EF4-FFF2-40B4-BE49-F238E27FC236}">
                <a16:creationId xmlns:a16="http://schemas.microsoft.com/office/drawing/2014/main" id="{27876FF7-EAC1-40FE-9131-9E0F67411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724" y="3522954"/>
            <a:ext cx="57577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89" name="Line 48">
            <a:extLst>
              <a:ext uri="{FF2B5EF4-FFF2-40B4-BE49-F238E27FC236}">
                <a16:creationId xmlns:a16="http://schemas.microsoft.com/office/drawing/2014/main" id="{3D074F74-5074-4A45-9F4E-6706E99B0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2455" y="3416434"/>
            <a:ext cx="5559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0" name="Line 49">
            <a:extLst>
              <a:ext uri="{FF2B5EF4-FFF2-40B4-BE49-F238E27FC236}">
                <a16:creationId xmlns:a16="http://schemas.microsoft.com/office/drawing/2014/main" id="{81F342F1-E20E-4869-B253-1E0C3DBB5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2455" y="3469694"/>
            <a:ext cx="5559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1" name="Line 50">
            <a:extLst>
              <a:ext uri="{FF2B5EF4-FFF2-40B4-BE49-F238E27FC236}">
                <a16:creationId xmlns:a16="http://schemas.microsoft.com/office/drawing/2014/main" id="{1CA47FCB-348E-4C0E-966C-B314BA0DD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2455" y="3522954"/>
            <a:ext cx="55591" cy="0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2" name="Line 51">
            <a:extLst>
              <a:ext uri="{FF2B5EF4-FFF2-40B4-BE49-F238E27FC236}">
                <a16:creationId xmlns:a16="http://schemas.microsoft.com/office/drawing/2014/main" id="{DF576DA6-3F05-4291-8142-8DD7EE09C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6381" y="3099677"/>
            <a:ext cx="0" cy="48588"/>
          </a:xfrm>
          <a:prstGeom prst="line">
            <a:avLst/>
          </a:pr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3" name="Freeform 52">
            <a:extLst>
              <a:ext uri="{FF2B5EF4-FFF2-40B4-BE49-F238E27FC236}">
                <a16:creationId xmlns:a16="http://schemas.microsoft.com/office/drawing/2014/main" id="{11F161EC-CEC2-4E56-B410-21D64BAD08FB}"/>
              </a:ext>
            </a:extLst>
          </p:cNvPr>
          <p:cNvSpPr>
            <a:spLocks/>
          </p:cNvSpPr>
          <p:nvPr/>
        </p:nvSpPr>
        <p:spPr bwMode="auto">
          <a:xfrm>
            <a:off x="1698030" y="3149199"/>
            <a:ext cx="177695" cy="384967"/>
          </a:xfrm>
          <a:custGeom>
            <a:avLst/>
            <a:gdLst>
              <a:gd name="T0" fmla="*/ 0 w 100"/>
              <a:gd name="T1" fmla="*/ 231 h 231"/>
              <a:gd name="T2" fmla="*/ 0 w 100"/>
              <a:gd name="T3" fmla="*/ 12 h 231"/>
              <a:gd name="T4" fmla="*/ 12 w 100"/>
              <a:gd name="T5" fmla="*/ 0 h 231"/>
              <a:gd name="T6" fmla="*/ 88 w 100"/>
              <a:gd name="T7" fmla="*/ 0 h 231"/>
              <a:gd name="T8" fmla="*/ 100 w 100"/>
              <a:gd name="T9" fmla="*/ 12 h 231"/>
              <a:gd name="T10" fmla="*/ 100 w 100"/>
              <a:gd name="T11" fmla="*/ 231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" h="231">
                <a:moveTo>
                  <a:pt x="0" y="231"/>
                </a:move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2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95" y="0"/>
                  <a:pt x="100" y="6"/>
                  <a:pt x="100" y="12"/>
                </a:cubicBezTo>
                <a:cubicBezTo>
                  <a:pt x="100" y="231"/>
                  <a:pt x="100" y="231"/>
                  <a:pt x="100" y="231"/>
                </a:cubicBez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4" name="Freeform 53">
            <a:extLst>
              <a:ext uri="{FF2B5EF4-FFF2-40B4-BE49-F238E27FC236}">
                <a16:creationId xmlns:a16="http://schemas.microsoft.com/office/drawing/2014/main" id="{1B5CF291-C925-43A2-A964-A1F909C58E4A}"/>
              </a:ext>
            </a:extLst>
          </p:cNvPr>
          <p:cNvSpPr>
            <a:spLocks/>
          </p:cNvSpPr>
          <p:nvPr/>
        </p:nvSpPr>
        <p:spPr bwMode="auto">
          <a:xfrm>
            <a:off x="1565008" y="3308045"/>
            <a:ext cx="96293" cy="226122"/>
          </a:xfrm>
          <a:custGeom>
            <a:avLst/>
            <a:gdLst>
              <a:gd name="T0" fmla="*/ 0 w 54"/>
              <a:gd name="T1" fmla="*/ 136 h 136"/>
              <a:gd name="T2" fmla="*/ 0 w 54"/>
              <a:gd name="T3" fmla="*/ 12 h 136"/>
              <a:gd name="T4" fmla="*/ 12 w 54"/>
              <a:gd name="T5" fmla="*/ 0 h 136"/>
              <a:gd name="T6" fmla="*/ 54 w 54"/>
              <a:gd name="T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136">
                <a:moveTo>
                  <a:pt x="0" y="136"/>
                </a:move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54" y="0"/>
                  <a:pt x="54" y="0"/>
                  <a:pt x="54" y="0"/>
                </a:cubicBez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5" name="Freeform 54">
            <a:extLst>
              <a:ext uri="{FF2B5EF4-FFF2-40B4-BE49-F238E27FC236}">
                <a16:creationId xmlns:a16="http://schemas.microsoft.com/office/drawing/2014/main" id="{55DFD27F-08A8-4AFD-93AD-89F6FE5681AB}"/>
              </a:ext>
            </a:extLst>
          </p:cNvPr>
          <p:cNvSpPr>
            <a:spLocks/>
          </p:cNvSpPr>
          <p:nvPr/>
        </p:nvSpPr>
        <p:spPr bwMode="auto">
          <a:xfrm>
            <a:off x="1912455" y="3361305"/>
            <a:ext cx="96293" cy="172862"/>
          </a:xfrm>
          <a:custGeom>
            <a:avLst/>
            <a:gdLst>
              <a:gd name="T0" fmla="*/ 54 w 54"/>
              <a:gd name="T1" fmla="*/ 104 h 104"/>
              <a:gd name="T2" fmla="*/ 54 w 54"/>
              <a:gd name="T3" fmla="*/ 12 h 104"/>
              <a:gd name="T4" fmla="*/ 42 w 54"/>
              <a:gd name="T5" fmla="*/ 0 h 104"/>
              <a:gd name="T6" fmla="*/ 0 w 54"/>
              <a:gd name="T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" h="104">
                <a:moveTo>
                  <a:pt x="54" y="104"/>
                </a:moveTo>
                <a:cubicBezTo>
                  <a:pt x="54" y="12"/>
                  <a:pt x="54" y="12"/>
                  <a:pt x="54" y="12"/>
                </a:cubicBezTo>
                <a:cubicBezTo>
                  <a:pt x="54" y="6"/>
                  <a:pt x="49" y="0"/>
                  <a:pt x="42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38" name="Line 922">
            <a:extLst>
              <a:ext uri="{FF2B5EF4-FFF2-40B4-BE49-F238E27FC236}">
                <a16:creationId xmlns:a16="http://schemas.microsoft.com/office/drawing/2014/main" id="{63CFFF70-E915-462C-B347-5CA316B99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1067" y="5498991"/>
            <a:ext cx="37777" cy="0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39" name="Line 923">
            <a:extLst>
              <a:ext uri="{FF2B5EF4-FFF2-40B4-BE49-F238E27FC236}">
                <a16:creationId xmlns:a16="http://schemas.microsoft.com/office/drawing/2014/main" id="{9A69185D-F518-4BD2-9E27-63C14068C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761" y="5498991"/>
            <a:ext cx="52306" cy="0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0" name="Line 924">
            <a:extLst>
              <a:ext uri="{FF2B5EF4-FFF2-40B4-BE49-F238E27FC236}">
                <a16:creationId xmlns:a16="http://schemas.microsoft.com/office/drawing/2014/main" id="{FC3F4824-E8E4-4169-A5D4-CE6CDC1EF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992" y="5498991"/>
            <a:ext cx="45769" cy="0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1" name="Freeform 925">
            <a:extLst>
              <a:ext uri="{FF2B5EF4-FFF2-40B4-BE49-F238E27FC236}">
                <a16:creationId xmlns:a16="http://schemas.microsoft.com/office/drawing/2014/main" id="{2A2D2244-1F2F-40CC-82F1-B422C9F57DC6}"/>
              </a:ext>
            </a:extLst>
          </p:cNvPr>
          <p:cNvSpPr>
            <a:spLocks/>
          </p:cNvSpPr>
          <p:nvPr/>
        </p:nvSpPr>
        <p:spPr bwMode="auto">
          <a:xfrm>
            <a:off x="1603079" y="5309070"/>
            <a:ext cx="50128" cy="182485"/>
          </a:xfrm>
          <a:custGeom>
            <a:avLst/>
            <a:gdLst>
              <a:gd name="T0" fmla="*/ 63 w 69"/>
              <a:gd name="T1" fmla="*/ 0 h 270"/>
              <a:gd name="T2" fmla="*/ 22 w 69"/>
              <a:gd name="T3" fmla="*/ 50 h 270"/>
              <a:gd name="T4" fmla="*/ 22 w 69"/>
              <a:gd name="T5" fmla="*/ 116 h 270"/>
              <a:gd name="T6" fmla="*/ 0 w 69"/>
              <a:gd name="T7" fmla="*/ 182 h 270"/>
              <a:gd name="T8" fmla="*/ 22 w 69"/>
              <a:gd name="T9" fmla="*/ 248 h 270"/>
              <a:gd name="T10" fmla="*/ 69 w 69"/>
              <a:gd name="T11" fmla="*/ 270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" h="270">
                <a:moveTo>
                  <a:pt x="63" y="0"/>
                </a:moveTo>
                <a:lnTo>
                  <a:pt x="22" y="50"/>
                </a:lnTo>
                <a:lnTo>
                  <a:pt x="22" y="116"/>
                </a:lnTo>
                <a:lnTo>
                  <a:pt x="0" y="182"/>
                </a:lnTo>
                <a:lnTo>
                  <a:pt x="22" y="248"/>
                </a:lnTo>
                <a:lnTo>
                  <a:pt x="69" y="270"/>
                </a:ln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2" name="Freeform 926">
            <a:extLst>
              <a:ext uri="{FF2B5EF4-FFF2-40B4-BE49-F238E27FC236}">
                <a16:creationId xmlns:a16="http://schemas.microsoft.com/office/drawing/2014/main" id="{D90ABC1B-C5F5-41B2-9C95-F284128470F1}"/>
              </a:ext>
            </a:extLst>
          </p:cNvPr>
          <p:cNvSpPr>
            <a:spLocks/>
          </p:cNvSpPr>
          <p:nvPr/>
        </p:nvSpPr>
        <p:spPr bwMode="auto">
          <a:xfrm>
            <a:off x="1675002" y="5275277"/>
            <a:ext cx="151835" cy="16897"/>
          </a:xfrm>
          <a:custGeom>
            <a:avLst/>
            <a:gdLst>
              <a:gd name="T0" fmla="*/ 209 w 209"/>
              <a:gd name="T1" fmla="*/ 0 h 25"/>
              <a:gd name="T2" fmla="*/ 77 w 209"/>
              <a:gd name="T3" fmla="*/ 0 h 25"/>
              <a:gd name="T4" fmla="*/ 0 w 209"/>
              <a:gd name="T5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9" h="25">
                <a:moveTo>
                  <a:pt x="209" y="0"/>
                </a:moveTo>
                <a:lnTo>
                  <a:pt x="77" y="0"/>
                </a:lnTo>
                <a:lnTo>
                  <a:pt x="0" y="25"/>
                </a:ln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3" name="Freeform 927">
            <a:extLst>
              <a:ext uri="{FF2B5EF4-FFF2-40B4-BE49-F238E27FC236}">
                <a16:creationId xmlns:a16="http://schemas.microsoft.com/office/drawing/2014/main" id="{AC17720C-FFB0-4159-B953-E980E7A8A165}"/>
              </a:ext>
            </a:extLst>
          </p:cNvPr>
          <p:cNvSpPr>
            <a:spLocks/>
          </p:cNvSpPr>
          <p:nvPr/>
        </p:nvSpPr>
        <p:spPr bwMode="auto">
          <a:xfrm>
            <a:off x="1849356" y="5279332"/>
            <a:ext cx="121323" cy="214251"/>
          </a:xfrm>
          <a:custGeom>
            <a:avLst/>
            <a:gdLst>
              <a:gd name="T0" fmla="*/ 0 w 167"/>
              <a:gd name="T1" fmla="*/ 317 h 317"/>
              <a:gd name="T2" fmla="*/ 35 w 167"/>
              <a:gd name="T3" fmla="*/ 303 h 317"/>
              <a:gd name="T4" fmla="*/ 57 w 167"/>
              <a:gd name="T5" fmla="*/ 248 h 317"/>
              <a:gd name="T6" fmla="*/ 90 w 167"/>
              <a:gd name="T7" fmla="*/ 248 h 317"/>
              <a:gd name="T8" fmla="*/ 145 w 167"/>
              <a:gd name="T9" fmla="*/ 226 h 317"/>
              <a:gd name="T10" fmla="*/ 167 w 167"/>
              <a:gd name="T11" fmla="*/ 160 h 317"/>
              <a:gd name="T12" fmla="*/ 156 w 167"/>
              <a:gd name="T13" fmla="*/ 71 h 317"/>
              <a:gd name="T14" fmla="*/ 101 w 167"/>
              <a:gd name="T15" fmla="*/ 27 h 317"/>
              <a:gd name="T16" fmla="*/ 11 w 167"/>
              <a:gd name="T1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7" h="317">
                <a:moveTo>
                  <a:pt x="0" y="317"/>
                </a:moveTo>
                <a:lnTo>
                  <a:pt x="35" y="303"/>
                </a:lnTo>
                <a:lnTo>
                  <a:pt x="57" y="248"/>
                </a:lnTo>
                <a:lnTo>
                  <a:pt x="90" y="248"/>
                </a:lnTo>
                <a:lnTo>
                  <a:pt x="145" y="226"/>
                </a:lnTo>
                <a:lnTo>
                  <a:pt x="167" y="160"/>
                </a:lnTo>
                <a:lnTo>
                  <a:pt x="156" y="71"/>
                </a:lnTo>
                <a:lnTo>
                  <a:pt x="101" y="27"/>
                </a:lnTo>
                <a:lnTo>
                  <a:pt x="11" y="0"/>
                </a:ln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4" name="Line 928">
            <a:extLst>
              <a:ext uri="{FF2B5EF4-FFF2-40B4-BE49-F238E27FC236}">
                <a16:creationId xmlns:a16="http://schemas.microsoft.com/office/drawing/2014/main" id="{5FDC2D2D-EA51-4E89-BCA8-B03FB59AB2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922" y="5498991"/>
            <a:ext cx="36324" cy="75021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5" name="Line 962">
            <a:extLst>
              <a:ext uri="{FF2B5EF4-FFF2-40B4-BE49-F238E27FC236}">
                <a16:creationId xmlns:a16="http://schemas.microsoft.com/office/drawing/2014/main" id="{7D29B7BD-031C-4E89-A9D8-AEF1D5CCC41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44997" y="5390851"/>
            <a:ext cx="45769" cy="56097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6" name="Line 963">
            <a:extLst>
              <a:ext uri="{FF2B5EF4-FFF2-40B4-BE49-F238E27FC236}">
                <a16:creationId xmlns:a16="http://schemas.microsoft.com/office/drawing/2014/main" id="{3B5E5097-1EA4-490E-8DF3-D8B10E256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0766" y="5380037"/>
            <a:ext cx="20342" cy="66912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7" name="Line 964">
            <a:extLst>
              <a:ext uri="{FF2B5EF4-FFF2-40B4-BE49-F238E27FC236}">
                <a16:creationId xmlns:a16="http://schemas.microsoft.com/office/drawing/2014/main" id="{C1967CD7-BF34-4F13-AF05-D16BCFCDA3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22731" y="5378009"/>
            <a:ext cx="31965" cy="54070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8" name="Line 965">
            <a:extLst>
              <a:ext uri="{FF2B5EF4-FFF2-40B4-BE49-F238E27FC236}">
                <a16:creationId xmlns:a16="http://schemas.microsoft.com/office/drawing/2014/main" id="{86A5EF5C-BFC4-4F1A-8FBC-F5FC3D3910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7090" y="5327320"/>
            <a:ext cx="35598" cy="28386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49" name="Line 966">
            <a:extLst>
              <a:ext uri="{FF2B5EF4-FFF2-40B4-BE49-F238E27FC236}">
                <a16:creationId xmlns:a16="http://schemas.microsoft.com/office/drawing/2014/main" id="{47E3C724-51B3-44B0-B477-53374297C0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50810" y="5368548"/>
            <a:ext cx="47948" cy="7435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0" name="Line 967">
            <a:extLst>
              <a:ext uri="{FF2B5EF4-FFF2-40B4-BE49-F238E27FC236}">
                <a16:creationId xmlns:a16="http://schemas.microsoft.com/office/drawing/2014/main" id="{B69C5D98-792C-4E67-8437-F2F7EDEF92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7005" y="5290147"/>
            <a:ext cx="4359" cy="75021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1" name="Line 968">
            <a:extLst>
              <a:ext uri="{FF2B5EF4-FFF2-40B4-BE49-F238E27FC236}">
                <a16:creationId xmlns:a16="http://schemas.microsoft.com/office/drawing/2014/main" id="{DF2DA3CA-27CD-4AE4-9819-A666EC71C5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735" y="5282712"/>
            <a:ext cx="76280" cy="44607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2" name="Line 969">
            <a:extLst>
              <a:ext uri="{FF2B5EF4-FFF2-40B4-BE49-F238E27FC236}">
                <a16:creationId xmlns:a16="http://schemas.microsoft.com/office/drawing/2014/main" id="{94EDF784-5B9B-4DC5-8A8E-59F70764C8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0940" y="5275277"/>
            <a:ext cx="5812" cy="44607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3" name="Line 970">
            <a:extLst>
              <a:ext uri="{FF2B5EF4-FFF2-40B4-BE49-F238E27FC236}">
                <a16:creationId xmlns:a16="http://schemas.microsoft.com/office/drawing/2014/main" id="{FF4C6613-AB09-4DE1-9E68-B0CFFD9AC6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7177" y="5297581"/>
            <a:ext cx="75554" cy="70966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4" name="Oval 971">
            <a:extLst>
              <a:ext uri="{FF2B5EF4-FFF2-40B4-BE49-F238E27FC236}">
                <a16:creationId xmlns:a16="http://schemas.microsoft.com/office/drawing/2014/main" id="{EE911F9A-E4E3-4845-AA41-BE1D002E9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844" y="5365168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5" name="Oval 972">
            <a:extLst>
              <a:ext uri="{FF2B5EF4-FFF2-40B4-BE49-F238E27FC236}">
                <a16:creationId xmlns:a16="http://schemas.microsoft.com/office/drawing/2014/main" id="{0A922D3C-B022-453B-9653-26232E0E2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758" y="5350299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6" name="Oval 973">
            <a:extLst>
              <a:ext uri="{FF2B5EF4-FFF2-40B4-BE49-F238E27FC236}">
                <a16:creationId xmlns:a16="http://schemas.microsoft.com/office/drawing/2014/main" id="{B1A968B1-3020-45D4-AC7D-C40561F4D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914" y="5424645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7" name="Oval 974">
            <a:extLst>
              <a:ext uri="{FF2B5EF4-FFF2-40B4-BE49-F238E27FC236}">
                <a16:creationId xmlns:a16="http://schemas.microsoft.com/office/drawing/2014/main" id="{FEEFE1A2-D151-4CA1-8927-0ACFA7A93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844" y="5484122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8" name="Oval 975">
            <a:extLst>
              <a:ext uri="{FF2B5EF4-FFF2-40B4-BE49-F238E27FC236}">
                <a16:creationId xmlns:a16="http://schemas.microsoft.com/office/drawing/2014/main" id="{5FF0074B-DD43-4B5C-817A-16A43AFF3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836" y="5260408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59" name="Oval 976">
            <a:extLst>
              <a:ext uri="{FF2B5EF4-FFF2-40B4-BE49-F238E27FC236}">
                <a16:creationId xmlns:a16="http://schemas.microsoft.com/office/drawing/2014/main" id="{B2790900-230F-497B-8F84-FAE76D5DB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35" y="5282712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0" name="Oval 977">
            <a:extLst>
              <a:ext uri="{FF2B5EF4-FFF2-40B4-BE49-F238E27FC236}">
                <a16:creationId xmlns:a16="http://schemas.microsoft.com/office/drawing/2014/main" id="{B82941C4-8A56-4F6C-8EBE-9A7D1A2B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27" y="5484122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1" name="Oval 978">
            <a:extLst>
              <a:ext uri="{FF2B5EF4-FFF2-40B4-BE49-F238E27FC236}">
                <a16:creationId xmlns:a16="http://schemas.microsoft.com/office/drawing/2014/main" id="{2B6D5C47-5DDC-4ED8-B433-24DDF094D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948" y="5319885"/>
            <a:ext cx="31965" cy="30414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2" name="Oval 979">
            <a:extLst>
              <a:ext uri="{FF2B5EF4-FFF2-40B4-BE49-F238E27FC236}">
                <a16:creationId xmlns:a16="http://schemas.microsoft.com/office/drawing/2014/main" id="{3EDA00B5-9545-4A4F-92CB-17F9C8ABE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010" y="5394906"/>
            <a:ext cx="31965" cy="29738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3" name="Line 980">
            <a:extLst>
              <a:ext uri="{FF2B5EF4-FFF2-40B4-BE49-F238E27FC236}">
                <a16:creationId xmlns:a16="http://schemas.microsoft.com/office/drawing/2014/main" id="{3EC75A8C-FE95-42B8-9C4F-0ADD8A1DB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3246" y="5451003"/>
            <a:ext cx="39956" cy="37173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4" name="Line 981">
            <a:extLst>
              <a:ext uri="{FF2B5EF4-FFF2-40B4-BE49-F238E27FC236}">
                <a16:creationId xmlns:a16="http://schemas.microsoft.com/office/drawing/2014/main" id="{C8497B03-720B-47A9-AECC-F22D2AA042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3246" y="5390851"/>
            <a:ext cx="39956" cy="37173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5" name="Line 982">
            <a:extLst>
              <a:ext uri="{FF2B5EF4-FFF2-40B4-BE49-F238E27FC236}">
                <a16:creationId xmlns:a16="http://schemas.microsoft.com/office/drawing/2014/main" id="{438FF436-2082-4747-808C-F0CE976F8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3290" y="5350299"/>
            <a:ext cx="23974" cy="74346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6" name="Line 983">
            <a:extLst>
              <a:ext uri="{FF2B5EF4-FFF2-40B4-BE49-F238E27FC236}">
                <a16:creationId xmlns:a16="http://schemas.microsoft.com/office/drawing/2014/main" id="{6C441DA5-C2CB-4C78-A511-DEC8CD3F41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2735" y="5342864"/>
            <a:ext cx="68289" cy="29738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7" name="Line 984">
            <a:extLst>
              <a:ext uri="{FF2B5EF4-FFF2-40B4-BE49-F238E27FC236}">
                <a16:creationId xmlns:a16="http://schemas.microsoft.com/office/drawing/2014/main" id="{DD2C56C1-0D5E-4C37-8850-C5FCB72916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4827" y="5394906"/>
            <a:ext cx="0" cy="89215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8" name="Freeform 985">
            <a:extLst>
              <a:ext uri="{FF2B5EF4-FFF2-40B4-BE49-F238E27FC236}">
                <a16:creationId xmlns:a16="http://schemas.microsoft.com/office/drawing/2014/main" id="{583F8B54-17D3-4456-A543-C7688C53564B}"/>
              </a:ext>
            </a:extLst>
          </p:cNvPr>
          <p:cNvSpPr>
            <a:spLocks/>
          </p:cNvSpPr>
          <p:nvPr/>
        </p:nvSpPr>
        <p:spPr bwMode="auto">
          <a:xfrm>
            <a:off x="1722948" y="5498991"/>
            <a:ext cx="55938" cy="44607"/>
          </a:xfrm>
          <a:custGeom>
            <a:avLst/>
            <a:gdLst>
              <a:gd name="T0" fmla="*/ 0 w 28"/>
              <a:gd name="T1" fmla="*/ 24 h 24"/>
              <a:gd name="T2" fmla="*/ 28 w 28"/>
              <a:gd name="T3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" h="24">
                <a:moveTo>
                  <a:pt x="0" y="24"/>
                </a:moveTo>
                <a:cubicBezTo>
                  <a:pt x="14" y="24"/>
                  <a:pt x="26" y="14"/>
                  <a:pt x="28" y="0"/>
                </a:cubicBez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69" name="Freeform 986">
            <a:extLst>
              <a:ext uri="{FF2B5EF4-FFF2-40B4-BE49-F238E27FC236}">
                <a16:creationId xmlns:a16="http://schemas.microsoft.com/office/drawing/2014/main" id="{7C54E472-AC59-4BBE-B3EE-1CB60A2FD410}"/>
              </a:ext>
            </a:extLst>
          </p:cNvPr>
          <p:cNvSpPr>
            <a:spLocks/>
          </p:cNvSpPr>
          <p:nvPr/>
        </p:nvSpPr>
        <p:spPr bwMode="auto">
          <a:xfrm>
            <a:off x="1672822" y="5513860"/>
            <a:ext cx="50128" cy="29738"/>
          </a:xfrm>
          <a:custGeom>
            <a:avLst/>
            <a:gdLst>
              <a:gd name="T0" fmla="*/ 0 w 25"/>
              <a:gd name="T1" fmla="*/ 0 h 16"/>
              <a:gd name="T2" fmla="*/ 25 w 25"/>
              <a:gd name="T3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" h="16">
                <a:moveTo>
                  <a:pt x="0" y="0"/>
                </a:moveTo>
                <a:cubicBezTo>
                  <a:pt x="4" y="9"/>
                  <a:pt x="14" y="16"/>
                  <a:pt x="25" y="16"/>
                </a:cubicBezTo>
              </a:path>
            </a:pathLst>
          </a:cu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0" name="Line 987">
            <a:extLst>
              <a:ext uri="{FF2B5EF4-FFF2-40B4-BE49-F238E27FC236}">
                <a16:creationId xmlns:a16="http://schemas.microsoft.com/office/drawing/2014/main" id="{1C3B8A7F-2882-4E16-B4A8-F80BA2ADD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80812" y="5446948"/>
            <a:ext cx="76280" cy="44607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1" name="Line 988">
            <a:extLst>
              <a:ext uri="{FF2B5EF4-FFF2-40B4-BE49-F238E27FC236}">
                <a16:creationId xmlns:a16="http://schemas.microsoft.com/office/drawing/2014/main" id="{7AEB1CDE-6730-4ADB-9450-8C367A966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8975" y="5415183"/>
            <a:ext cx="55938" cy="18924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2" name="Line 989">
            <a:extLst>
              <a:ext uri="{FF2B5EF4-FFF2-40B4-BE49-F238E27FC236}">
                <a16:creationId xmlns:a16="http://schemas.microsoft.com/office/drawing/2014/main" id="{5CC6F476-5A26-4FD0-A39B-5AE408A59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2822" y="5305016"/>
            <a:ext cx="52306" cy="22304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3" name="Line 990">
            <a:extLst>
              <a:ext uri="{FF2B5EF4-FFF2-40B4-BE49-F238E27FC236}">
                <a16:creationId xmlns:a16="http://schemas.microsoft.com/office/drawing/2014/main" id="{F404A335-E05C-49E1-BF84-617C47CA29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3163" y="5348271"/>
            <a:ext cx="35598" cy="48662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4" name="Line 991">
            <a:extLst>
              <a:ext uri="{FF2B5EF4-FFF2-40B4-BE49-F238E27FC236}">
                <a16:creationId xmlns:a16="http://schemas.microsoft.com/office/drawing/2014/main" id="{74484665-9842-4BFA-9996-41BD3757B8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9061" y="5420589"/>
            <a:ext cx="53759" cy="56097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5" name="Line 992">
            <a:extLst>
              <a:ext uri="{FF2B5EF4-FFF2-40B4-BE49-F238E27FC236}">
                <a16:creationId xmlns:a16="http://schemas.microsoft.com/office/drawing/2014/main" id="{7D619D3A-66F4-4A9C-987C-876AC22D93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3079" y="5413155"/>
            <a:ext cx="63931" cy="18924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76" name="Line 993">
            <a:extLst>
              <a:ext uri="{FF2B5EF4-FFF2-40B4-BE49-F238E27FC236}">
                <a16:creationId xmlns:a16="http://schemas.microsoft.com/office/drawing/2014/main" id="{593C41D1-C38D-456C-87D8-0228E1CA8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061" y="5342864"/>
            <a:ext cx="53759" cy="55422"/>
          </a:xfrm>
          <a:prstGeom prst="lin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0F30376-B52C-4C57-A0CB-AE7A3EA636EE}"/>
              </a:ext>
            </a:extLst>
          </p:cNvPr>
          <p:cNvCxnSpPr>
            <a:cxnSpLocks/>
            <a:stCxn id="206" idx="0"/>
            <a:endCxn id="177" idx="2"/>
          </p:cNvCxnSpPr>
          <p:nvPr/>
        </p:nvCxnSpPr>
        <p:spPr>
          <a:xfrm flipV="1">
            <a:off x="1786879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8463426A-76C2-458D-BF88-69C32289E58C}"/>
              </a:ext>
            </a:extLst>
          </p:cNvPr>
          <p:cNvSpPr txBox="1">
            <a:spLocks/>
          </p:cNvSpPr>
          <p:nvPr/>
        </p:nvSpPr>
        <p:spPr>
          <a:xfrm>
            <a:off x="7608235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Установка 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оборудова-ния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и доработка ИТ-систем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DCBC398-9D64-4C1E-A90B-C781F6855435}"/>
              </a:ext>
            </a:extLst>
          </p:cNvPr>
          <p:cNvSpPr txBox="1">
            <a:spLocks/>
          </p:cNvSpPr>
          <p:nvPr/>
        </p:nvSpPr>
        <p:spPr>
          <a:xfrm>
            <a:off x="7608235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Координация сторон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BBF99A-15EF-4772-A2D5-1376B901880E}"/>
              </a:ext>
            </a:extLst>
          </p:cNvPr>
          <p:cNvGrpSpPr/>
          <p:nvPr/>
        </p:nvGrpSpPr>
        <p:grpSpPr>
          <a:xfrm>
            <a:off x="7807864" y="3106735"/>
            <a:ext cx="444729" cy="420374"/>
            <a:chOff x="8295944" y="3219272"/>
            <a:chExt cx="397614" cy="420374"/>
          </a:xfrm>
        </p:grpSpPr>
        <p:sp>
          <p:nvSpPr>
            <p:cNvPr id="365" name="Freeform 111">
              <a:extLst>
                <a:ext uri="{FF2B5EF4-FFF2-40B4-BE49-F238E27FC236}">
                  <a16:creationId xmlns:a16="http://schemas.microsoft.com/office/drawing/2014/main" id="{27E7903D-E7AA-4CF8-99A2-19DF65A25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5944" y="3219272"/>
              <a:ext cx="397614" cy="420374"/>
            </a:xfrm>
            <a:custGeom>
              <a:avLst/>
              <a:gdLst>
                <a:gd name="T0" fmla="*/ 38 w 473"/>
                <a:gd name="T1" fmla="*/ 221 h 475"/>
                <a:gd name="T2" fmla="*/ 0 w 473"/>
                <a:gd name="T3" fmla="*/ 196 h 475"/>
                <a:gd name="T4" fmla="*/ 11 w 473"/>
                <a:gd name="T5" fmla="*/ 155 h 475"/>
                <a:gd name="T6" fmla="*/ 60 w 473"/>
                <a:gd name="T7" fmla="*/ 155 h 475"/>
                <a:gd name="T8" fmla="*/ 77 w 473"/>
                <a:gd name="T9" fmla="*/ 125 h 475"/>
                <a:gd name="T10" fmla="*/ 52 w 473"/>
                <a:gd name="T11" fmla="*/ 83 h 475"/>
                <a:gd name="T12" fmla="*/ 82 w 473"/>
                <a:gd name="T13" fmla="*/ 53 h 475"/>
                <a:gd name="T14" fmla="*/ 124 w 473"/>
                <a:gd name="T15" fmla="*/ 78 h 475"/>
                <a:gd name="T16" fmla="*/ 154 w 473"/>
                <a:gd name="T17" fmla="*/ 61 h 475"/>
                <a:gd name="T18" fmla="*/ 154 w 473"/>
                <a:gd name="T19" fmla="*/ 11 h 475"/>
                <a:gd name="T20" fmla="*/ 195 w 473"/>
                <a:gd name="T21" fmla="*/ 0 h 475"/>
                <a:gd name="T22" fmla="*/ 220 w 473"/>
                <a:gd name="T23" fmla="*/ 39 h 475"/>
                <a:gd name="T24" fmla="*/ 253 w 473"/>
                <a:gd name="T25" fmla="*/ 39 h 475"/>
                <a:gd name="T26" fmla="*/ 278 w 473"/>
                <a:gd name="T27" fmla="*/ 0 h 475"/>
                <a:gd name="T28" fmla="*/ 319 w 473"/>
                <a:gd name="T29" fmla="*/ 11 h 475"/>
                <a:gd name="T30" fmla="*/ 319 w 473"/>
                <a:gd name="T31" fmla="*/ 61 h 475"/>
                <a:gd name="T32" fmla="*/ 349 w 473"/>
                <a:gd name="T33" fmla="*/ 78 h 475"/>
                <a:gd name="T34" fmla="*/ 391 w 473"/>
                <a:gd name="T35" fmla="*/ 53 h 475"/>
                <a:gd name="T36" fmla="*/ 421 w 473"/>
                <a:gd name="T37" fmla="*/ 83 h 475"/>
                <a:gd name="T38" fmla="*/ 396 w 473"/>
                <a:gd name="T39" fmla="*/ 125 h 475"/>
                <a:gd name="T40" fmla="*/ 413 w 473"/>
                <a:gd name="T41" fmla="*/ 155 h 475"/>
                <a:gd name="T42" fmla="*/ 462 w 473"/>
                <a:gd name="T43" fmla="*/ 155 h 475"/>
                <a:gd name="T44" fmla="*/ 473 w 473"/>
                <a:gd name="T45" fmla="*/ 196 h 475"/>
                <a:gd name="T46" fmla="*/ 435 w 473"/>
                <a:gd name="T47" fmla="*/ 221 h 475"/>
                <a:gd name="T48" fmla="*/ 435 w 473"/>
                <a:gd name="T49" fmla="*/ 254 h 475"/>
                <a:gd name="T50" fmla="*/ 473 w 473"/>
                <a:gd name="T51" fmla="*/ 279 h 475"/>
                <a:gd name="T52" fmla="*/ 462 w 473"/>
                <a:gd name="T53" fmla="*/ 320 h 475"/>
                <a:gd name="T54" fmla="*/ 413 w 473"/>
                <a:gd name="T55" fmla="*/ 320 h 475"/>
                <a:gd name="T56" fmla="*/ 396 w 473"/>
                <a:gd name="T57" fmla="*/ 351 h 475"/>
                <a:gd name="T58" fmla="*/ 421 w 473"/>
                <a:gd name="T59" fmla="*/ 392 h 475"/>
                <a:gd name="T60" fmla="*/ 391 w 473"/>
                <a:gd name="T61" fmla="*/ 422 h 475"/>
                <a:gd name="T62" fmla="*/ 349 w 473"/>
                <a:gd name="T63" fmla="*/ 398 h 475"/>
                <a:gd name="T64" fmla="*/ 319 w 473"/>
                <a:gd name="T65" fmla="*/ 414 h 475"/>
                <a:gd name="T66" fmla="*/ 319 w 473"/>
                <a:gd name="T67" fmla="*/ 464 h 475"/>
                <a:gd name="T68" fmla="*/ 278 w 473"/>
                <a:gd name="T69" fmla="*/ 475 h 475"/>
                <a:gd name="T70" fmla="*/ 253 w 473"/>
                <a:gd name="T71" fmla="*/ 436 h 475"/>
                <a:gd name="T72" fmla="*/ 220 w 473"/>
                <a:gd name="T73" fmla="*/ 436 h 475"/>
                <a:gd name="T74" fmla="*/ 195 w 473"/>
                <a:gd name="T75" fmla="*/ 475 h 475"/>
                <a:gd name="T76" fmla="*/ 154 w 473"/>
                <a:gd name="T77" fmla="*/ 464 h 475"/>
                <a:gd name="T78" fmla="*/ 154 w 473"/>
                <a:gd name="T79" fmla="*/ 414 h 475"/>
                <a:gd name="T80" fmla="*/ 124 w 473"/>
                <a:gd name="T81" fmla="*/ 398 h 475"/>
                <a:gd name="T82" fmla="*/ 82 w 473"/>
                <a:gd name="T83" fmla="*/ 422 h 475"/>
                <a:gd name="T84" fmla="*/ 52 w 473"/>
                <a:gd name="T85" fmla="*/ 392 h 475"/>
                <a:gd name="T86" fmla="*/ 77 w 473"/>
                <a:gd name="T87" fmla="*/ 351 h 475"/>
                <a:gd name="T88" fmla="*/ 60 w 473"/>
                <a:gd name="T89" fmla="*/ 320 h 475"/>
                <a:gd name="T90" fmla="*/ 11 w 473"/>
                <a:gd name="T91" fmla="*/ 320 h 475"/>
                <a:gd name="T92" fmla="*/ 0 w 473"/>
                <a:gd name="T93" fmla="*/ 279 h 475"/>
                <a:gd name="T94" fmla="*/ 38 w 473"/>
                <a:gd name="T95" fmla="*/ 254 h 475"/>
                <a:gd name="T96" fmla="*/ 38 w 473"/>
                <a:gd name="T97" fmla="*/ 22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73" h="475">
                  <a:moveTo>
                    <a:pt x="38" y="221"/>
                  </a:moveTo>
                  <a:lnTo>
                    <a:pt x="0" y="196"/>
                  </a:lnTo>
                  <a:lnTo>
                    <a:pt x="11" y="155"/>
                  </a:lnTo>
                  <a:lnTo>
                    <a:pt x="60" y="155"/>
                  </a:lnTo>
                  <a:lnTo>
                    <a:pt x="77" y="125"/>
                  </a:lnTo>
                  <a:lnTo>
                    <a:pt x="52" y="83"/>
                  </a:lnTo>
                  <a:lnTo>
                    <a:pt x="82" y="53"/>
                  </a:lnTo>
                  <a:lnTo>
                    <a:pt x="124" y="78"/>
                  </a:lnTo>
                  <a:lnTo>
                    <a:pt x="154" y="61"/>
                  </a:lnTo>
                  <a:lnTo>
                    <a:pt x="154" y="11"/>
                  </a:lnTo>
                  <a:lnTo>
                    <a:pt x="195" y="0"/>
                  </a:lnTo>
                  <a:lnTo>
                    <a:pt x="220" y="39"/>
                  </a:lnTo>
                  <a:lnTo>
                    <a:pt x="253" y="39"/>
                  </a:lnTo>
                  <a:lnTo>
                    <a:pt x="278" y="0"/>
                  </a:lnTo>
                  <a:lnTo>
                    <a:pt x="319" y="11"/>
                  </a:lnTo>
                  <a:lnTo>
                    <a:pt x="319" y="61"/>
                  </a:lnTo>
                  <a:lnTo>
                    <a:pt x="349" y="78"/>
                  </a:lnTo>
                  <a:lnTo>
                    <a:pt x="391" y="53"/>
                  </a:lnTo>
                  <a:lnTo>
                    <a:pt x="421" y="83"/>
                  </a:lnTo>
                  <a:lnTo>
                    <a:pt x="396" y="125"/>
                  </a:lnTo>
                  <a:lnTo>
                    <a:pt x="413" y="155"/>
                  </a:lnTo>
                  <a:lnTo>
                    <a:pt x="462" y="155"/>
                  </a:lnTo>
                  <a:lnTo>
                    <a:pt x="473" y="196"/>
                  </a:lnTo>
                  <a:lnTo>
                    <a:pt x="435" y="221"/>
                  </a:lnTo>
                  <a:lnTo>
                    <a:pt x="435" y="254"/>
                  </a:lnTo>
                  <a:lnTo>
                    <a:pt x="473" y="279"/>
                  </a:lnTo>
                  <a:lnTo>
                    <a:pt x="462" y="320"/>
                  </a:lnTo>
                  <a:lnTo>
                    <a:pt x="413" y="320"/>
                  </a:lnTo>
                  <a:lnTo>
                    <a:pt x="396" y="351"/>
                  </a:lnTo>
                  <a:lnTo>
                    <a:pt x="421" y="392"/>
                  </a:lnTo>
                  <a:lnTo>
                    <a:pt x="391" y="422"/>
                  </a:lnTo>
                  <a:lnTo>
                    <a:pt x="349" y="398"/>
                  </a:lnTo>
                  <a:lnTo>
                    <a:pt x="319" y="414"/>
                  </a:lnTo>
                  <a:lnTo>
                    <a:pt x="319" y="464"/>
                  </a:lnTo>
                  <a:lnTo>
                    <a:pt x="278" y="475"/>
                  </a:lnTo>
                  <a:lnTo>
                    <a:pt x="253" y="436"/>
                  </a:lnTo>
                  <a:lnTo>
                    <a:pt x="220" y="436"/>
                  </a:lnTo>
                  <a:lnTo>
                    <a:pt x="195" y="475"/>
                  </a:lnTo>
                  <a:lnTo>
                    <a:pt x="154" y="464"/>
                  </a:lnTo>
                  <a:lnTo>
                    <a:pt x="154" y="414"/>
                  </a:lnTo>
                  <a:lnTo>
                    <a:pt x="124" y="398"/>
                  </a:lnTo>
                  <a:lnTo>
                    <a:pt x="82" y="422"/>
                  </a:lnTo>
                  <a:lnTo>
                    <a:pt x="52" y="392"/>
                  </a:lnTo>
                  <a:lnTo>
                    <a:pt x="77" y="351"/>
                  </a:lnTo>
                  <a:lnTo>
                    <a:pt x="60" y="320"/>
                  </a:lnTo>
                  <a:lnTo>
                    <a:pt x="11" y="320"/>
                  </a:lnTo>
                  <a:lnTo>
                    <a:pt x="0" y="279"/>
                  </a:lnTo>
                  <a:lnTo>
                    <a:pt x="38" y="254"/>
                  </a:lnTo>
                  <a:lnTo>
                    <a:pt x="38" y="221"/>
                  </a:lnTo>
                  <a:close/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66" name="Oval 112">
              <a:extLst>
                <a:ext uri="{FF2B5EF4-FFF2-40B4-BE49-F238E27FC236}">
                  <a16:creationId xmlns:a16="http://schemas.microsoft.com/office/drawing/2014/main" id="{C6E42D34-297E-493A-9BED-D49C523B8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330" y="3507782"/>
              <a:ext cx="56322" cy="58410"/>
            </a:xfrm>
            <a:prstGeom prst="ellips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67" name="Oval 113">
              <a:extLst>
                <a:ext uri="{FF2B5EF4-FFF2-40B4-BE49-F238E27FC236}">
                  <a16:creationId xmlns:a16="http://schemas.microsoft.com/office/drawing/2014/main" id="{6767D4B7-D37A-45A1-B617-4BDC0E020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2912" y="3312197"/>
              <a:ext cx="55481" cy="58410"/>
            </a:xfrm>
            <a:prstGeom prst="ellips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68" name="Oval 114">
              <a:extLst>
                <a:ext uri="{FF2B5EF4-FFF2-40B4-BE49-F238E27FC236}">
                  <a16:creationId xmlns:a16="http://schemas.microsoft.com/office/drawing/2014/main" id="{B3F0BA64-10ED-45C8-95D9-1F72F59CD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99" y="3410431"/>
              <a:ext cx="55481" cy="58410"/>
            </a:xfrm>
            <a:prstGeom prst="ellips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69" name="Line 115">
              <a:extLst>
                <a:ext uri="{FF2B5EF4-FFF2-40B4-BE49-F238E27FC236}">
                  <a16:creationId xmlns:a16="http://schemas.microsoft.com/office/drawing/2014/main" id="{C0623D5F-BB9D-478E-B927-0B6990E3BC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5628" y="3439636"/>
              <a:ext cx="204271" cy="0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70" name="Freeform 116">
              <a:extLst>
                <a:ext uri="{FF2B5EF4-FFF2-40B4-BE49-F238E27FC236}">
                  <a16:creationId xmlns:a16="http://schemas.microsoft.com/office/drawing/2014/main" id="{8436B424-C803-4917-BB20-32C24DD2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8850" y="3360872"/>
              <a:ext cx="93309" cy="39825"/>
            </a:xfrm>
            <a:custGeom>
              <a:avLst/>
              <a:gdLst>
                <a:gd name="T0" fmla="*/ 111 w 111"/>
                <a:gd name="T1" fmla="*/ 0 h 45"/>
                <a:gd name="T2" fmla="*/ 66 w 111"/>
                <a:gd name="T3" fmla="*/ 45 h 45"/>
                <a:gd name="T4" fmla="*/ 0 w 111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45">
                  <a:moveTo>
                    <a:pt x="111" y="0"/>
                  </a:moveTo>
                  <a:lnTo>
                    <a:pt x="66" y="45"/>
                  </a:lnTo>
                  <a:lnTo>
                    <a:pt x="0" y="45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71" name="Oval 117">
              <a:extLst>
                <a:ext uri="{FF2B5EF4-FFF2-40B4-BE49-F238E27FC236}">
                  <a16:creationId xmlns:a16="http://schemas.microsoft.com/office/drawing/2014/main" id="{3C27D9A3-7B22-498C-A624-A44116C7B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9603" y="3302462"/>
              <a:ext cx="55481" cy="58410"/>
            </a:xfrm>
            <a:prstGeom prst="ellips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72" name="Freeform 118">
              <a:extLst>
                <a:ext uri="{FF2B5EF4-FFF2-40B4-BE49-F238E27FC236}">
                  <a16:creationId xmlns:a16="http://schemas.microsoft.com/office/drawing/2014/main" id="{E05EF5E7-8809-4F85-B091-2B8A90D6D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4122" y="3478577"/>
              <a:ext cx="130296" cy="38940"/>
            </a:xfrm>
            <a:custGeom>
              <a:avLst/>
              <a:gdLst>
                <a:gd name="T0" fmla="*/ 155 w 155"/>
                <a:gd name="T1" fmla="*/ 44 h 44"/>
                <a:gd name="T2" fmla="*/ 110 w 155"/>
                <a:gd name="T3" fmla="*/ 0 h 44"/>
                <a:gd name="T4" fmla="*/ 0 w 155"/>
                <a:gd name="T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" h="44">
                  <a:moveTo>
                    <a:pt x="155" y="44"/>
                  </a:moveTo>
                  <a:lnTo>
                    <a:pt x="110" y="0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73" name="Freeform 119">
              <a:extLst>
                <a:ext uri="{FF2B5EF4-FFF2-40B4-BE49-F238E27FC236}">
                  <a16:creationId xmlns:a16="http://schemas.microsoft.com/office/drawing/2014/main" id="{8960FBE3-934B-43AB-9984-A9D8BD4BC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628" y="3351137"/>
              <a:ext cx="83221" cy="49560"/>
            </a:xfrm>
            <a:custGeom>
              <a:avLst/>
              <a:gdLst>
                <a:gd name="T0" fmla="*/ 99 w 99"/>
                <a:gd name="T1" fmla="*/ 0 h 56"/>
                <a:gd name="T2" fmla="*/ 44 w 99"/>
                <a:gd name="T3" fmla="*/ 56 h 56"/>
                <a:gd name="T4" fmla="*/ 0 w 99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56">
                  <a:moveTo>
                    <a:pt x="99" y="0"/>
                  </a:moveTo>
                  <a:lnTo>
                    <a:pt x="44" y="56"/>
                  </a:lnTo>
                  <a:lnTo>
                    <a:pt x="0" y="56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20E718-76AA-4CB7-B1A8-27A14A18590B}"/>
              </a:ext>
            </a:extLst>
          </p:cNvPr>
          <p:cNvGrpSpPr/>
          <p:nvPr/>
        </p:nvGrpSpPr>
        <p:grpSpPr>
          <a:xfrm>
            <a:off x="7846429" y="5246663"/>
            <a:ext cx="367600" cy="341095"/>
            <a:chOff x="8330423" y="5569782"/>
            <a:chExt cx="328656" cy="341095"/>
          </a:xfrm>
        </p:grpSpPr>
        <p:sp>
          <p:nvSpPr>
            <p:cNvPr id="475" name="Freeform 97">
              <a:extLst>
                <a:ext uri="{FF2B5EF4-FFF2-40B4-BE49-F238E27FC236}">
                  <a16:creationId xmlns:a16="http://schemas.microsoft.com/office/drawing/2014/main" id="{260E9E2A-3365-40AF-A31E-388D8180F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7687" y="5679611"/>
              <a:ext cx="114129" cy="231266"/>
            </a:xfrm>
            <a:custGeom>
              <a:avLst/>
              <a:gdLst>
                <a:gd name="T0" fmla="*/ 63 w 84"/>
                <a:gd name="T1" fmla="*/ 164 h 164"/>
                <a:gd name="T2" fmla="*/ 63 w 84"/>
                <a:gd name="T3" fmla="*/ 96 h 164"/>
                <a:gd name="T4" fmla="*/ 68 w 84"/>
                <a:gd name="T5" fmla="*/ 96 h 164"/>
                <a:gd name="T6" fmla="*/ 84 w 84"/>
                <a:gd name="T7" fmla="*/ 79 h 164"/>
                <a:gd name="T8" fmla="*/ 84 w 84"/>
                <a:gd name="T9" fmla="*/ 16 h 164"/>
                <a:gd name="T10" fmla="*/ 68 w 84"/>
                <a:gd name="T11" fmla="*/ 0 h 164"/>
                <a:gd name="T12" fmla="*/ 17 w 84"/>
                <a:gd name="T13" fmla="*/ 0 h 164"/>
                <a:gd name="T14" fmla="*/ 0 w 84"/>
                <a:gd name="T15" fmla="*/ 16 h 164"/>
                <a:gd name="T16" fmla="*/ 0 w 84"/>
                <a:gd name="T17" fmla="*/ 79 h 164"/>
                <a:gd name="T18" fmla="*/ 17 w 84"/>
                <a:gd name="T19" fmla="*/ 96 h 164"/>
                <a:gd name="T20" fmla="*/ 21 w 84"/>
                <a:gd name="T21" fmla="*/ 96 h 164"/>
                <a:gd name="T22" fmla="*/ 21 w 84"/>
                <a:gd name="T2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" h="164">
                  <a:moveTo>
                    <a:pt x="63" y="164"/>
                  </a:moveTo>
                  <a:cubicBezTo>
                    <a:pt x="63" y="96"/>
                    <a:pt x="63" y="96"/>
                    <a:pt x="63" y="96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77" y="96"/>
                    <a:pt x="84" y="88"/>
                    <a:pt x="84" y="7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7"/>
                    <a:pt x="77" y="0"/>
                    <a:pt x="6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88"/>
                    <a:pt x="8" y="96"/>
                    <a:pt x="17" y="96"/>
                  </a:cubicBezTo>
                  <a:cubicBezTo>
                    <a:pt x="21" y="96"/>
                    <a:pt x="21" y="96"/>
                    <a:pt x="21" y="96"/>
                  </a:cubicBezTo>
                  <a:cubicBezTo>
                    <a:pt x="21" y="164"/>
                    <a:pt x="21" y="164"/>
                    <a:pt x="21" y="164"/>
                  </a:cubicBez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6" name="Oval 98">
              <a:extLst>
                <a:ext uri="{FF2B5EF4-FFF2-40B4-BE49-F238E27FC236}">
                  <a16:creationId xmlns:a16="http://schemas.microsoft.com/office/drawing/2014/main" id="{F3688C1D-AC15-4D56-A496-857E32280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9139" y="5569782"/>
              <a:ext cx="72081" cy="75005"/>
            </a:xfrm>
            <a:prstGeom prst="ellipse">
              <a:avLst/>
            </a:pr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7" name="Line 99">
              <a:extLst>
                <a:ext uri="{FF2B5EF4-FFF2-40B4-BE49-F238E27FC236}">
                  <a16:creationId xmlns:a16="http://schemas.microsoft.com/office/drawing/2014/main" id="{8E33E59C-AE93-48A7-AAA1-E39CB4CB3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2139" y="5742116"/>
              <a:ext cx="63500" cy="0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8" name="Line 100">
              <a:extLst>
                <a:ext uri="{FF2B5EF4-FFF2-40B4-BE49-F238E27FC236}">
                  <a16:creationId xmlns:a16="http://schemas.microsoft.com/office/drawing/2014/main" id="{56C68409-8844-4C4E-A19D-E32A25B34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30423" y="5709077"/>
              <a:ext cx="32608" cy="33038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79" name="Line 101">
              <a:extLst>
                <a:ext uri="{FF2B5EF4-FFF2-40B4-BE49-F238E27FC236}">
                  <a16:creationId xmlns:a16="http://schemas.microsoft.com/office/drawing/2014/main" id="{865CDE6D-048A-4D05-A8A7-34F7BC516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0423" y="5743008"/>
              <a:ext cx="32608" cy="33038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80" name="Line 102">
              <a:extLst>
                <a:ext uri="{FF2B5EF4-FFF2-40B4-BE49-F238E27FC236}">
                  <a16:creationId xmlns:a16="http://schemas.microsoft.com/office/drawing/2014/main" id="{0BA6D780-31AC-4072-B4EE-1C13E69FA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94721" y="5742116"/>
              <a:ext cx="64358" cy="0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81" name="Line 103">
              <a:extLst>
                <a:ext uri="{FF2B5EF4-FFF2-40B4-BE49-F238E27FC236}">
                  <a16:creationId xmlns:a16="http://schemas.microsoft.com/office/drawing/2014/main" id="{625E89FF-16C4-4736-B54B-92F1374874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7329" y="5743008"/>
              <a:ext cx="31750" cy="33038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482" name="Line 104">
              <a:extLst>
                <a:ext uri="{FF2B5EF4-FFF2-40B4-BE49-F238E27FC236}">
                  <a16:creationId xmlns:a16="http://schemas.microsoft.com/office/drawing/2014/main" id="{08E80F3B-BB6A-4FD6-8C48-C8542253D6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27329" y="5709077"/>
              <a:ext cx="31750" cy="33038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986DC5E-CDBF-405C-8CF9-D774F3BE4482}"/>
              </a:ext>
            </a:extLst>
          </p:cNvPr>
          <p:cNvCxnSpPr>
            <a:cxnSpLocks/>
            <a:stCxn id="198" idx="0"/>
            <a:endCxn id="184" idx="2"/>
          </p:cNvCxnSpPr>
          <p:nvPr/>
        </p:nvCxnSpPr>
        <p:spPr>
          <a:xfrm flipV="1">
            <a:off x="8030229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1A703426-92FE-4C07-9602-DF0B1D5F3FEA}"/>
              </a:ext>
            </a:extLst>
          </p:cNvPr>
          <p:cNvSpPr txBox="1">
            <a:spLocks/>
          </p:cNvSpPr>
          <p:nvPr/>
        </p:nvSpPr>
        <p:spPr>
          <a:xfrm>
            <a:off x="9773841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Эксплуата-ция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обору-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дования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и системная поддержка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A5FB3EE-A494-4B3A-B0D6-5D06112001DB}"/>
              </a:ext>
            </a:extLst>
          </p:cNvPr>
          <p:cNvSpPr txBox="1">
            <a:spLocks/>
          </p:cNvSpPr>
          <p:nvPr/>
        </p:nvSpPr>
        <p:spPr>
          <a:xfrm>
            <a:off x="9773841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Обработка платежей</a:t>
            </a:r>
            <a:r>
              <a:rPr lang="en-US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и</a:t>
            </a:r>
            <a:r>
              <a:rPr lang="en-US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клиентская поддержка для жителей</a:t>
            </a:r>
          </a:p>
        </p:txBody>
      </p:sp>
      <p:sp>
        <p:nvSpPr>
          <p:cNvPr id="387" name="Freeform 443">
            <a:extLst>
              <a:ext uri="{FF2B5EF4-FFF2-40B4-BE49-F238E27FC236}">
                <a16:creationId xmlns:a16="http://schemas.microsoft.com/office/drawing/2014/main" id="{3F91F8AC-EB63-415D-9594-0E800DF6E3EC}"/>
              </a:ext>
            </a:extLst>
          </p:cNvPr>
          <p:cNvSpPr>
            <a:spLocks/>
          </p:cNvSpPr>
          <p:nvPr/>
        </p:nvSpPr>
        <p:spPr bwMode="auto">
          <a:xfrm>
            <a:off x="9973470" y="3107316"/>
            <a:ext cx="441497" cy="416169"/>
          </a:xfrm>
          <a:custGeom>
            <a:avLst/>
            <a:gdLst>
              <a:gd name="T0" fmla="*/ 227 w 248"/>
              <a:gd name="T1" fmla="*/ 153 h 248"/>
              <a:gd name="T2" fmla="*/ 234 w 248"/>
              <a:gd name="T3" fmla="*/ 148 h 248"/>
              <a:gd name="T4" fmla="*/ 240 w 248"/>
              <a:gd name="T5" fmla="*/ 148 h 248"/>
              <a:gd name="T6" fmla="*/ 248 w 248"/>
              <a:gd name="T7" fmla="*/ 140 h 248"/>
              <a:gd name="T8" fmla="*/ 248 w 248"/>
              <a:gd name="T9" fmla="*/ 108 h 248"/>
              <a:gd name="T10" fmla="*/ 240 w 248"/>
              <a:gd name="T11" fmla="*/ 100 h 248"/>
              <a:gd name="T12" fmla="*/ 234 w 248"/>
              <a:gd name="T13" fmla="*/ 100 h 248"/>
              <a:gd name="T14" fmla="*/ 227 w 248"/>
              <a:gd name="T15" fmla="*/ 95 h 248"/>
              <a:gd name="T16" fmla="*/ 217 w 248"/>
              <a:gd name="T17" fmla="*/ 72 h 248"/>
              <a:gd name="T18" fmla="*/ 219 w 248"/>
              <a:gd name="T19" fmla="*/ 63 h 248"/>
              <a:gd name="T20" fmla="*/ 223 w 248"/>
              <a:gd name="T21" fmla="*/ 59 h 248"/>
              <a:gd name="T22" fmla="*/ 223 w 248"/>
              <a:gd name="T23" fmla="*/ 48 h 248"/>
              <a:gd name="T24" fmla="*/ 200 w 248"/>
              <a:gd name="T25" fmla="*/ 25 h 248"/>
              <a:gd name="T26" fmla="*/ 189 w 248"/>
              <a:gd name="T27" fmla="*/ 25 h 248"/>
              <a:gd name="T28" fmla="*/ 185 w 248"/>
              <a:gd name="T29" fmla="*/ 29 h 248"/>
              <a:gd name="T30" fmla="*/ 176 w 248"/>
              <a:gd name="T31" fmla="*/ 31 h 248"/>
              <a:gd name="T32" fmla="*/ 153 w 248"/>
              <a:gd name="T33" fmla="*/ 21 h 248"/>
              <a:gd name="T34" fmla="*/ 148 w 248"/>
              <a:gd name="T35" fmla="*/ 14 h 248"/>
              <a:gd name="T36" fmla="*/ 148 w 248"/>
              <a:gd name="T37" fmla="*/ 8 h 248"/>
              <a:gd name="T38" fmla="*/ 140 w 248"/>
              <a:gd name="T39" fmla="*/ 0 h 248"/>
              <a:gd name="T40" fmla="*/ 108 w 248"/>
              <a:gd name="T41" fmla="*/ 0 h 248"/>
              <a:gd name="T42" fmla="*/ 100 w 248"/>
              <a:gd name="T43" fmla="*/ 8 h 248"/>
              <a:gd name="T44" fmla="*/ 100 w 248"/>
              <a:gd name="T45" fmla="*/ 14 h 248"/>
              <a:gd name="T46" fmla="*/ 95 w 248"/>
              <a:gd name="T47" fmla="*/ 21 h 248"/>
              <a:gd name="T48" fmla="*/ 72 w 248"/>
              <a:gd name="T49" fmla="*/ 31 h 248"/>
              <a:gd name="T50" fmla="*/ 63 w 248"/>
              <a:gd name="T51" fmla="*/ 29 h 248"/>
              <a:gd name="T52" fmla="*/ 59 w 248"/>
              <a:gd name="T53" fmla="*/ 25 h 248"/>
              <a:gd name="T54" fmla="*/ 48 w 248"/>
              <a:gd name="T55" fmla="*/ 25 h 248"/>
              <a:gd name="T56" fmla="*/ 25 w 248"/>
              <a:gd name="T57" fmla="*/ 48 h 248"/>
              <a:gd name="T58" fmla="*/ 25 w 248"/>
              <a:gd name="T59" fmla="*/ 59 h 248"/>
              <a:gd name="T60" fmla="*/ 29 w 248"/>
              <a:gd name="T61" fmla="*/ 63 h 248"/>
              <a:gd name="T62" fmla="*/ 31 w 248"/>
              <a:gd name="T63" fmla="*/ 72 h 248"/>
              <a:gd name="T64" fmla="*/ 21 w 248"/>
              <a:gd name="T65" fmla="*/ 95 h 248"/>
              <a:gd name="T66" fmla="*/ 14 w 248"/>
              <a:gd name="T67" fmla="*/ 100 h 248"/>
              <a:gd name="T68" fmla="*/ 8 w 248"/>
              <a:gd name="T69" fmla="*/ 100 h 248"/>
              <a:gd name="T70" fmla="*/ 0 w 248"/>
              <a:gd name="T71" fmla="*/ 108 h 248"/>
              <a:gd name="T72" fmla="*/ 0 w 248"/>
              <a:gd name="T73" fmla="*/ 140 h 248"/>
              <a:gd name="T74" fmla="*/ 8 w 248"/>
              <a:gd name="T75" fmla="*/ 148 h 248"/>
              <a:gd name="T76" fmla="*/ 14 w 248"/>
              <a:gd name="T77" fmla="*/ 148 h 248"/>
              <a:gd name="T78" fmla="*/ 21 w 248"/>
              <a:gd name="T79" fmla="*/ 153 h 248"/>
              <a:gd name="T80" fmla="*/ 31 w 248"/>
              <a:gd name="T81" fmla="*/ 176 h 248"/>
              <a:gd name="T82" fmla="*/ 29 w 248"/>
              <a:gd name="T83" fmla="*/ 185 h 248"/>
              <a:gd name="T84" fmla="*/ 25 w 248"/>
              <a:gd name="T85" fmla="*/ 189 h 248"/>
              <a:gd name="T86" fmla="*/ 25 w 248"/>
              <a:gd name="T87" fmla="*/ 200 h 248"/>
              <a:gd name="T88" fmla="*/ 48 w 248"/>
              <a:gd name="T89" fmla="*/ 223 h 248"/>
              <a:gd name="T90" fmla="*/ 59 w 248"/>
              <a:gd name="T91" fmla="*/ 223 h 248"/>
              <a:gd name="T92" fmla="*/ 63 w 248"/>
              <a:gd name="T93" fmla="*/ 219 h 248"/>
              <a:gd name="T94" fmla="*/ 72 w 248"/>
              <a:gd name="T95" fmla="*/ 217 h 248"/>
              <a:gd name="T96" fmla="*/ 95 w 248"/>
              <a:gd name="T97" fmla="*/ 227 h 248"/>
              <a:gd name="T98" fmla="*/ 100 w 248"/>
              <a:gd name="T99" fmla="*/ 234 h 248"/>
              <a:gd name="T100" fmla="*/ 100 w 248"/>
              <a:gd name="T101" fmla="*/ 240 h 248"/>
              <a:gd name="T102" fmla="*/ 108 w 248"/>
              <a:gd name="T103" fmla="*/ 248 h 248"/>
              <a:gd name="T104" fmla="*/ 140 w 248"/>
              <a:gd name="T105" fmla="*/ 248 h 248"/>
              <a:gd name="T106" fmla="*/ 148 w 248"/>
              <a:gd name="T107" fmla="*/ 240 h 248"/>
              <a:gd name="T108" fmla="*/ 148 w 248"/>
              <a:gd name="T109" fmla="*/ 234 h 248"/>
              <a:gd name="T110" fmla="*/ 153 w 248"/>
              <a:gd name="T111" fmla="*/ 227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48" h="248">
                <a:moveTo>
                  <a:pt x="227" y="153"/>
                </a:moveTo>
                <a:cubicBezTo>
                  <a:pt x="228" y="150"/>
                  <a:pt x="231" y="148"/>
                  <a:pt x="234" y="148"/>
                </a:cubicBezTo>
                <a:cubicBezTo>
                  <a:pt x="240" y="148"/>
                  <a:pt x="240" y="148"/>
                  <a:pt x="240" y="148"/>
                </a:cubicBezTo>
                <a:cubicBezTo>
                  <a:pt x="244" y="148"/>
                  <a:pt x="248" y="144"/>
                  <a:pt x="248" y="140"/>
                </a:cubicBezTo>
                <a:cubicBezTo>
                  <a:pt x="248" y="108"/>
                  <a:pt x="248" y="108"/>
                  <a:pt x="248" y="108"/>
                </a:cubicBezTo>
                <a:cubicBezTo>
                  <a:pt x="248" y="104"/>
                  <a:pt x="244" y="100"/>
                  <a:pt x="240" y="100"/>
                </a:cubicBezTo>
                <a:cubicBezTo>
                  <a:pt x="234" y="100"/>
                  <a:pt x="234" y="100"/>
                  <a:pt x="234" y="100"/>
                </a:cubicBezTo>
                <a:cubicBezTo>
                  <a:pt x="231" y="100"/>
                  <a:pt x="228" y="98"/>
                  <a:pt x="227" y="95"/>
                </a:cubicBezTo>
                <a:cubicBezTo>
                  <a:pt x="217" y="72"/>
                  <a:pt x="217" y="72"/>
                  <a:pt x="217" y="72"/>
                </a:cubicBezTo>
                <a:cubicBezTo>
                  <a:pt x="216" y="69"/>
                  <a:pt x="217" y="65"/>
                  <a:pt x="219" y="63"/>
                </a:cubicBezTo>
                <a:cubicBezTo>
                  <a:pt x="223" y="59"/>
                  <a:pt x="223" y="59"/>
                  <a:pt x="223" y="59"/>
                </a:cubicBezTo>
                <a:cubicBezTo>
                  <a:pt x="226" y="56"/>
                  <a:pt x="226" y="51"/>
                  <a:pt x="223" y="48"/>
                </a:cubicBezTo>
                <a:cubicBezTo>
                  <a:pt x="200" y="25"/>
                  <a:pt x="200" y="25"/>
                  <a:pt x="200" y="25"/>
                </a:cubicBezTo>
                <a:cubicBezTo>
                  <a:pt x="197" y="22"/>
                  <a:pt x="192" y="22"/>
                  <a:pt x="189" y="25"/>
                </a:cubicBezTo>
                <a:cubicBezTo>
                  <a:pt x="185" y="29"/>
                  <a:pt x="185" y="29"/>
                  <a:pt x="185" y="29"/>
                </a:cubicBezTo>
                <a:cubicBezTo>
                  <a:pt x="183" y="31"/>
                  <a:pt x="179" y="32"/>
                  <a:pt x="176" y="31"/>
                </a:cubicBezTo>
                <a:cubicBezTo>
                  <a:pt x="153" y="21"/>
                  <a:pt x="153" y="21"/>
                  <a:pt x="153" y="21"/>
                </a:cubicBezTo>
                <a:cubicBezTo>
                  <a:pt x="150" y="20"/>
                  <a:pt x="148" y="17"/>
                  <a:pt x="148" y="14"/>
                </a:cubicBezTo>
                <a:cubicBezTo>
                  <a:pt x="148" y="8"/>
                  <a:pt x="148" y="8"/>
                  <a:pt x="148" y="8"/>
                </a:cubicBezTo>
                <a:cubicBezTo>
                  <a:pt x="148" y="4"/>
                  <a:pt x="144" y="0"/>
                  <a:pt x="140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04" y="0"/>
                  <a:pt x="100" y="4"/>
                  <a:pt x="100" y="8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100" y="17"/>
                  <a:pt x="98" y="20"/>
                  <a:pt x="95" y="21"/>
                </a:cubicBezTo>
                <a:cubicBezTo>
                  <a:pt x="72" y="31"/>
                  <a:pt x="72" y="31"/>
                  <a:pt x="72" y="31"/>
                </a:cubicBezTo>
                <a:cubicBezTo>
                  <a:pt x="69" y="32"/>
                  <a:pt x="65" y="31"/>
                  <a:pt x="63" y="29"/>
                </a:cubicBezTo>
                <a:cubicBezTo>
                  <a:pt x="59" y="25"/>
                  <a:pt x="59" y="25"/>
                  <a:pt x="59" y="25"/>
                </a:cubicBezTo>
                <a:cubicBezTo>
                  <a:pt x="56" y="22"/>
                  <a:pt x="51" y="22"/>
                  <a:pt x="48" y="25"/>
                </a:cubicBezTo>
                <a:cubicBezTo>
                  <a:pt x="25" y="48"/>
                  <a:pt x="25" y="48"/>
                  <a:pt x="25" y="48"/>
                </a:cubicBezTo>
                <a:cubicBezTo>
                  <a:pt x="22" y="51"/>
                  <a:pt x="22" y="56"/>
                  <a:pt x="25" y="59"/>
                </a:cubicBezTo>
                <a:cubicBezTo>
                  <a:pt x="29" y="63"/>
                  <a:pt x="29" y="63"/>
                  <a:pt x="29" y="63"/>
                </a:cubicBezTo>
                <a:cubicBezTo>
                  <a:pt x="31" y="65"/>
                  <a:pt x="32" y="69"/>
                  <a:pt x="31" y="72"/>
                </a:cubicBezTo>
                <a:cubicBezTo>
                  <a:pt x="21" y="95"/>
                  <a:pt x="21" y="95"/>
                  <a:pt x="21" y="95"/>
                </a:cubicBezTo>
                <a:cubicBezTo>
                  <a:pt x="20" y="98"/>
                  <a:pt x="17" y="100"/>
                  <a:pt x="14" y="100"/>
                </a:cubicBezTo>
                <a:cubicBezTo>
                  <a:pt x="8" y="100"/>
                  <a:pt x="8" y="100"/>
                  <a:pt x="8" y="100"/>
                </a:cubicBezTo>
                <a:cubicBezTo>
                  <a:pt x="4" y="100"/>
                  <a:pt x="0" y="104"/>
                  <a:pt x="0" y="108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44"/>
                  <a:pt x="4" y="148"/>
                  <a:pt x="8" y="148"/>
                </a:cubicBezTo>
                <a:cubicBezTo>
                  <a:pt x="14" y="148"/>
                  <a:pt x="14" y="148"/>
                  <a:pt x="14" y="148"/>
                </a:cubicBezTo>
                <a:cubicBezTo>
                  <a:pt x="17" y="148"/>
                  <a:pt x="20" y="150"/>
                  <a:pt x="21" y="153"/>
                </a:cubicBezTo>
                <a:cubicBezTo>
                  <a:pt x="31" y="176"/>
                  <a:pt x="31" y="176"/>
                  <a:pt x="31" y="176"/>
                </a:cubicBezTo>
                <a:cubicBezTo>
                  <a:pt x="32" y="179"/>
                  <a:pt x="31" y="183"/>
                  <a:pt x="29" y="185"/>
                </a:cubicBezTo>
                <a:cubicBezTo>
                  <a:pt x="25" y="189"/>
                  <a:pt x="25" y="189"/>
                  <a:pt x="25" y="189"/>
                </a:cubicBezTo>
                <a:cubicBezTo>
                  <a:pt x="22" y="192"/>
                  <a:pt x="22" y="197"/>
                  <a:pt x="25" y="200"/>
                </a:cubicBezTo>
                <a:cubicBezTo>
                  <a:pt x="48" y="223"/>
                  <a:pt x="48" y="223"/>
                  <a:pt x="48" y="223"/>
                </a:cubicBezTo>
                <a:cubicBezTo>
                  <a:pt x="51" y="226"/>
                  <a:pt x="56" y="226"/>
                  <a:pt x="59" y="223"/>
                </a:cubicBezTo>
                <a:cubicBezTo>
                  <a:pt x="63" y="219"/>
                  <a:pt x="63" y="219"/>
                  <a:pt x="63" y="219"/>
                </a:cubicBezTo>
                <a:cubicBezTo>
                  <a:pt x="65" y="217"/>
                  <a:pt x="69" y="216"/>
                  <a:pt x="72" y="217"/>
                </a:cubicBezTo>
                <a:cubicBezTo>
                  <a:pt x="95" y="227"/>
                  <a:pt x="95" y="227"/>
                  <a:pt x="95" y="227"/>
                </a:cubicBezTo>
                <a:cubicBezTo>
                  <a:pt x="98" y="228"/>
                  <a:pt x="100" y="231"/>
                  <a:pt x="100" y="234"/>
                </a:cubicBezTo>
                <a:cubicBezTo>
                  <a:pt x="100" y="240"/>
                  <a:pt x="100" y="240"/>
                  <a:pt x="100" y="240"/>
                </a:cubicBezTo>
                <a:cubicBezTo>
                  <a:pt x="100" y="244"/>
                  <a:pt x="104" y="248"/>
                  <a:pt x="108" y="248"/>
                </a:cubicBezTo>
                <a:cubicBezTo>
                  <a:pt x="140" y="248"/>
                  <a:pt x="140" y="248"/>
                  <a:pt x="140" y="248"/>
                </a:cubicBezTo>
                <a:cubicBezTo>
                  <a:pt x="144" y="248"/>
                  <a:pt x="148" y="244"/>
                  <a:pt x="148" y="240"/>
                </a:cubicBezTo>
                <a:cubicBezTo>
                  <a:pt x="148" y="234"/>
                  <a:pt x="148" y="234"/>
                  <a:pt x="148" y="234"/>
                </a:cubicBezTo>
                <a:cubicBezTo>
                  <a:pt x="148" y="231"/>
                  <a:pt x="150" y="228"/>
                  <a:pt x="153" y="227"/>
                </a:cubicBezTo>
              </a:path>
            </a:pathLst>
          </a:cu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88" name="Freeform 444">
            <a:extLst>
              <a:ext uri="{FF2B5EF4-FFF2-40B4-BE49-F238E27FC236}">
                <a16:creationId xmlns:a16="http://schemas.microsoft.com/office/drawing/2014/main" id="{546053FB-97CE-436C-96CE-270E2E45BD6E}"/>
              </a:ext>
            </a:extLst>
          </p:cNvPr>
          <p:cNvSpPr>
            <a:spLocks/>
          </p:cNvSpPr>
          <p:nvPr/>
        </p:nvSpPr>
        <p:spPr bwMode="auto">
          <a:xfrm>
            <a:off x="10065906" y="3194931"/>
            <a:ext cx="259856" cy="244591"/>
          </a:xfrm>
          <a:custGeom>
            <a:avLst/>
            <a:gdLst>
              <a:gd name="T0" fmla="*/ 104 w 146"/>
              <a:gd name="T1" fmla="*/ 132 h 146"/>
              <a:gd name="T2" fmla="*/ 24 w 146"/>
              <a:gd name="T3" fmla="*/ 120 h 146"/>
              <a:gd name="T4" fmla="*/ 7 w 146"/>
              <a:gd name="T5" fmla="*/ 52 h 146"/>
              <a:gd name="T6" fmla="*/ 43 w 146"/>
              <a:gd name="T7" fmla="*/ 88 h 146"/>
              <a:gd name="T8" fmla="*/ 64 w 146"/>
              <a:gd name="T9" fmla="*/ 88 h 146"/>
              <a:gd name="T10" fmla="*/ 88 w 146"/>
              <a:gd name="T11" fmla="*/ 64 h 146"/>
              <a:gd name="T12" fmla="*/ 88 w 146"/>
              <a:gd name="T13" fmla="*/ 43 h 146"/>
              <a:gd name="T14" fmla="*/ 52 w 146"/>
              <a:gd name="T15" fmla="*/ 7 h 146"/>
              <a:gd name="T16" fmla="*/ 120 w 146"/>
              <a:gd name="T17" fmla="*/ 24 h 146"/>
              <a:gd name="T18" fmla="*/ 132 w 146"/>
              <a:gd name="T19" fmla="*/ 104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6" h="146">
                <a:moveTo>
                  <a:pt x="104" y="132"/>
                </a:moveTo>
                <a:cubicBezTo>
                  <a:pt x="79" y="146"/>
                  <a:pt x="46" y="142"/>
                  <a:pt x="24" y="120"/>
                </a:cubicBezTo>
                <a:cubicBezTo>
                  <a:pt x="6" y="102"/>
                  <a:pt x="0" y="75"/>
                  <a:pt x="7" y="52"/>
                </a:cubicBezTo>
                <a:cubicBezTo>
                  <a:pt x="43" y="88"/>
                  <a:pt x="43" y="88"/>
                  <a:pt x="43" y="88"/>
                </a:cubicBezTo>
                <a:cubicBezTo>
                  <a:pt x="52" y="88"/>
                  <a:pt x="55" y="88"/>
                  <a:pt x="64" y="88"/>
                </a:cubicBezTo>
                <a:cubicBezTo>
                  <a:pt x="88" y="64"/>
                  <a:pt x="88" y="64"/>
                  <a:pt x="88" y="64"/>
                </a:cubicBezTo>
                <a:cubicBezTo>
                  <a:pt x="88" y="55"/>
                  <a:pt x="88" y="51"/>
                  <a:pt x="88" y="43"/>
                </a:cubicBezTo>
                <a:cubicBezTo>
                  <a:pt x="52" y="7"/>
                  <a:pt x="52" y="7"/>
                  <a:pt x="52" y="7"/>
                </a:cubicBezTo>
                <a:cubicBezTo>
                  <a:pt x="76" y="0"/>
                  <a:pt x="102" y="5"/>
                  <a:pt x="120" y="24"/>
                </a:cubicBezTo>
                <a:cubicBezTo>
                  <a:pt x="142" y="45"/>
                  <a:pt x="146" y="78"/>
                  <a:pt x="132" y="104"/>
                </a:cubicBezTo>
              </a:path>
            </a:pathLst>
          </a:cu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89" name="Freeform 445">
            <a:extLst>
              <a:ext uri="{FF2B5EF4-FFF2-40B4-BE49-F238E27FC236}">
                <a16:creationId xmlns:a16="http://schemas.microsoft.com/office/drawing/2014/main" id="{7C7136A8-AFC1-48AD-A956-744CB06AE94F}"/>
              </a:ext>
            </a:extLst>
          </p:cNvPr>
          <p:cNvSpPr>
            <a:spLocks/>
          </p:cNvSpPr>
          <p:nvPr/>
        </p:nvSpPr>
        <p:spPr bwMode="auto">
          <a:xfrm>
            <a:off x="10231387" y="3350690"/>
            <a:ext cx="186812" cy="175838"/>
          </a:xfrm>
          <a:custGeom>
            <a:avLst/>
            <a:gdLst>
              <a:gd name="T0" fmla="*/ 46 w 105"/>
              <a:gd name="T1" fmla="*/ 0 h 105"/>
              <a:gd name="T2" fmla="*/ 93 w 105"/>
              <a:gd name="T3" fmla="*/ 48 h 105"/>
              <a:gd name="T4" fmla="*/ 93 w 105"/>
              <a:gd name="T5" fmla="*/ 93 h 105"/>
              <a:gd name="T6" fmla="*/ 93 w 105"/>
              <a:gd name="T7" fmla="*/ 93 h 105"/>
              <a:gd name="T8" fmla="*/ 48 w 105"/>
              <a:gd name="T9" fmla="*/ 93 h 105"/>
              <a:gd name="T10" fmla="*/ 0 w 105"/>
              <a:gd name="T11" fmla="*/ 46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5" h="105">
                <a:moveTo>
                  <a:pt x="46" y="0"/>
                </a:moveTo>
                <a:cubicBezTo>
                  <a:pt x="93" y="48"/>
                  <a:pt x="93" y="48"/>
                  <a:pt x="93" y="48"/>
                </a:cubicBezTo>
                <a:cubicBezTo>
                  <a:pt x="105" y="60"/>
                  <a:pt x="105" y="81"/>
                  <a:pt x="93" y="93"/>
                </a:cubicBezTo>
                <a:cubicBezTo>
                  <a:pt x="93" y="93"/>
                  <a:pt x="93" y="93"/>
                  <a:pt x="93" y="93"/>
                </a:cubicBezTo>
                <a:cubicBezTo>
                  <a:pt x="81" y="105"/>
                  <a:pt x="60" y="105"/>
                  <a:pt x="48" y="93"/>
                </a:cubicBezTo>
                <a:cubicBezTo>
                  <a:pt x="0" y="46"/>
                  <a:pt x="0" y="46"/>
                  <a:pt x="0" y="46"/>
                </a:cubicBezTo>
              </a:path>
            </a:pathLst>
          </a:cu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90" name="Freeform 446">
            <a:extLst>
              <a:ext uri="{FF2B5EF4-FFF2-40B4-BE49-F238E27FC236}">
                <a16:creationId xmlns:a16="http://schemas.microsoft.com/office/drawing/2014/main" id="{A8C1713F-AEF1-4FB6-A36E-9C0747BB824C}"/>
              </a:ext>
            </a:extLst>
          </p:cNvPr>
          <p:cNvSpPr>
            <a:spLocks/>
          </p:cNvSpPr>
          <p:nvPr/>
        </p:nvSpPr>
        <p:spPr bwMode="auto">
          <a:xfrm>
            <a:off x="10327702" y="3441347"/>
            <a:ext cx="53005" cy="49891"/>
          </a:xfrm>
          <a:custGeom>
            <a:avLst/>
            <a:gdLst>
              <a:gd name="T0" fmla="*/ 25 w 30"/>
              <a:gd name="T1" fmla="*/ 5 h 30"/>
              <a:gd name="T2" fmla="*/ 25 w 30"/>
              <a:gd name="T3" fmla="*/ 25 h 30"/>
              <a:gd name="T4" fmla="*/ 5 w 30"/>
              <a:gd name="T5" fmla="*/ 25 h 30"/>
              <a:gd name="T6" fmla="*/ 5 w 30"/>
              <a:gd name="T7" fmla="*/ 5 h 30"/>
              <a:gd name="T8" fmla="*/ 25 w 30"/>
              <a:gd name="T9" fmla="*/ 5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30">
                <a:moveTo>
                  <a:pt x="25" y="5"/>
                </a:moveTo>
                <a:cubicBezTo>
                  <a:pt x="30" y="11"/>
                  <a:pt x="30" y="19"/>
                  <a:pt x="25" y="25"/>
                </a:cubicBezTo>
                <a:cubicBezTo>
                  <a:pt x="19" y="30"/>
                  <a:pt x="11" y="30"/>
                  <a:pt x="5" y="25"/>
                </a:cubicBezTo>
                <a:cubicBezTo>
                  <a:pt x="0" y="19"/>
                  <a:pt x="0" y="11"/>
                  <a:pt x="5" y="5"/>
                </a:cubicBezTo>
                <a:cubicBezTo>
                  <a:pt x="11" y="0"/>
                  <a:pt x="19" y="0"/>
                  <a:pt x="25" y="5"/>
                </a:cubicBezTo>
                <a:close/>
              </a:path>
            </a:pathLst>
          </a:custGeom>
          <a:noFill/>
          <a:ln w="6350" cap="rnd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495" name="Oval 699">
            <a:extLst>
              <a:ext uri="{FF2B5EF4-FFF2-40B4-BE49-F238E27FC236}">
                <a16:creationId xmlns:a16="http://schemas.microsoft.com/office/drawing/2014/main" id="{86D235D1-4F5E-4A3A-A541-F1102461F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6318" y="5271848"/>
            <a:ext cx="223317" cy="74874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496" name="Freeform 700">
            <a:extLst>
              <a:ext uri="{FF2B5EF4-FFF2-40B4-BE49-F238E27FC236}">
                <a16:creationId xmlns:a16="http://schemas.microsoft.com/office/drawing/2014/main" id="{0E804BF9-4CBF-4545-AC9A-C50B0FB8A1B9}"/>
              </a:ext>
            </a:extLst>
          </p:cNvPr>
          <p:cNvSpPr>
            <a:spLocks/>
          </p:cNvSpPr>
          <p:nvPr/>
        </p:nvSpPr>
        <p:spPr bwMode="auto">
          <a:xfrm>
            <a:off x="10231724" y="5308947"/>
            <a:ext cx="147911" cy="74874"/>
          </a:xfrm>
          <a:custGeom>
            <a:avLst/>
            <a:gdLst>
              <a:gd name="T0" fmla="*/ 74 w 74"/>
              <a:gd name="T1" fmla="*/ 0 h 40"/>
              <a:gd name="T2" fmla="*/ 74 w 74"/>
              <a:gd name="T3" fmla="*/ 20 h 40"/>
              <a:gd name="T4" fmla="*/ 18 w 74"/>
              <a:gd name="T5" fmla="*/ 40 h 40"/>
              <a:gd name="T6" fmla="*/ 0 w 74"/>
              <a:gd name="T7" fmla="*/ 39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" h="40">
                <a:moveTo>
                  <a:pt x="74" y="0"/>
                </a:moveTo>
                <a:cubicBezTo>
                  <a:pt x="74" y="20"/>
                  <a:pt x="74" y="20"/>
                  <a:pt x="74" y="20"/>
                </a:cubicBezTo>
                <a:cubicBezTo>
                  <a:pt x="74" y="31"/>
                  <a:pt x="49" y="40"/>
                  <a:pt x="18" y="40"/>
                </a:cubicBezTo>
                <a:cubicBezTo>
                  <a:pt x="12" y="40"/>
                  <a:pt x="6" y="40"/>
                  <a:pt x="0" y="39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497" name="Freeform 701">
            <a:extLst>
              <a:ext uri="{FF2B5EF4-FFF2-40B4-BE49-F238E27FC236}">
                <a16:creationId xmlns:a16="http://schemas.microsoft.com/office/drawing/2014/main" id="{A1EDF8A1-49A2-4B03-A40E-C3EC8D7A3CC7}"/>
              </a:ext>
            </a:extLst>
          </p:cNvPr>
          <p:cNvSpPr>
            <a:spLocks/>
          </p:cNvSpPr>
          <p:nvPr/>
        </p:nvSpPr>
        <p:spPr bwMode="auto">
          <a:xfrm>
            <a:off x="10252025" y="5361561"/>
            <a:ext cx="127610" cy="59359"/>
          </a:xfrm>
          <a:custGeom>
            <a:avLst/>
            <a:gdLst>
              <a:gd name="T0" fmla="*/ 59 w 64"/>
              <a:gd name="T1" fmla="*/ 0 h 32"/>
              <a:gd name="T2" fmla="*/ 64 w 64"/>
              <a:gd name="T3" fmla="*/ 8 h 32"/>
              <a:gd name="T4" fmla="*/ 64 w 64"/>
              <a:gd name="T5" fmla="*/ 12 h 32"/>
              <a:gd name="T6" fmla="*/ 8 w 64"/>
              <a:gd name="T7" fmla="*/ 32 h 32"/>
              <a:gd name="T8" fmla="*/ 0 w 64"/>
              <a:gd name="T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32">
                <a:moveTo>
                  <a:pt x="59" y="0"/>
                </a:moveTo>
                <a:cubicBezTo>
                  <a:pt x="62" y="2"/>
                  <a:pt x="64" y="5"/>
                  <a:pt x="64" y="8"/>
                </a:cubicBezTo>
                <a:cubicBezTo>
                  <a:pt x="64" y="12"/>
                  <a:pt x="64" y="12"/>
                  <a:pt x="64" y="12"/>
                </a:cubicBezTo>
                <a:cubicBezTo>
                  <a:pt x="64" y="23"/>
                  <a:pt x="39" y="32"/>
                  <a:pt x="8" y="32"/>
                </a:cubicBezTo>
                <a:cubicBezTo>
                  <a:pt x="5" y="32"/>
                  <a:pt x="3" y="32"/>
                  <a:pt x="0" y="32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498" name="Freeform 702">
            <a:extLst>
              <a:ext uri="{FF2B5EF4-FFF2-40B4-BE49-F238E27FC236}">
                <a16:creationId xmlns:a16="http://schemas.microsoft.com/office/drawing/2014/main" id="{F7EAFA9A-5679-47EE-99E8-72735D1D1411}"/>
              </a:ext>
            </a:extLst>
          </p:cNvPr>
          <p:cNvSpPr>
            <a:spLocks/>
          </p:cNvSpPr>
          <p:nvPr/>
        </p:nvSpPr>
        <p:spPr bwMode="auto">
          <a:xfrm>
            <a:off x="10260001" y="5398660"/>
            <a:ext cx="119634" cy="59359"/>
          </a:xfrm>
          <a:custGeom>
            <a:avLst/>
            <a:gdLst>
              <a:gd name="T0" fmla="*/ 55 w 60"/>
              <a:gd name="T1" fmla="*/ 0 h 32"/>
              <a:gd name="T2" fmla="*/ 60 w 60"/>
              <a:gd name="T3" fmla="*/ 8 h 32"/>
              <a:gd name="T4" fmla="*/ 60 w 60"/>
              <a:gd name="T5" fmla="*/ 12 h 32"/>
              <a:gd name="T6" fmla="*/ 4 w 60"/>
              <a:gd name="T7" fmla="*/ 32 h 32"/>
              <a:gd name="T8" fmla="*/ 0 w 60"/>
              <a:gd name="T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32">
                <a:moveTo>
                  <a:pt x="55" y="0"/>
                </a:moveTo>
                <a:cubicBezTo>
                  <a:pt x="58" y="2"/>
                  <a:pt x="60" y="5"/>
                  <a:pt x="60" y="8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23"/>
                  <a:pt x="35" y="32"/>
                  <a:pt x="4" y="32"/>
                </a:cubicBezTo>
                <a:cubicBezTo>
                  <a:pt x="3" y="32"/>
                  <a:pt x="1" y="32"/>
                  <a:pt x="0" y="32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499" name="Freeform 703">
            <a:extLst>
              <a:ext uri="{FF2B5EF4-FFF2-40B4-BE49-F238E27FC236}">
                <a16:creationId xmlns:a16="http://schemas.microsoft.com/office/drawing/2014/main" id="{55B1FCFD-DFBD-4D6B-B156-CCBE112B78D4}"/>
              </a:ext>
            </a:extLst>
          </p:cNvPr>
          <p:cNvSpPr>
            <a:spLocks/>
          </p:cNvSpPr>
          <p:nvPr/>
        </p:nvSpPr>
        <p:spPr bwMode="auto">
          <a:xfrm>
            <a:off x="10254200" y="5435760"/>
            <a:ext cx="125435" cy="59359"/>
          </a:xfrm>
          <a:custGeom>
            <a:avLst/>
            <a:gdLst>
              <a:gd name="T0" fmla="*/ 58 w 63"/>
              <a:gd name="T1" fmla="*/ 0 h 32"/>
              <a:gd name="T2" fmla="*/ 63 w 63"/>
              <a:gd name="T3" fmla="*/ 8 h 32"/>
              <a:gd name="T4" fmla="*/ 63 w 63"/>
              <a:gd name="T5" fmla="*/ 12 h 32"/>
              <a:gd name="T6" fmla="*/ 7 w 63"/>
              <a:gd name="T7" fmla="*/ 32 h 32"/>
              <a:gd name="T8" fmla="*/ 0 w 63"/>
              <a:gd name="T9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" h="32">
                <a:moveTo>
                  <a:pt x="58" y="0"/>
                </a:moveTo>
                <a:cubicBezTo>
                  <a:pt x="61" y="2"/>
                  <a:pt x="63" y="5"/>
                  <a:pt x="63" y="8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23"/>
                  <a:pt x="38" y="32"/>
                  <a:pt x="7" y="32"/>
                </a:cubicBezTo>
                <a:cubicBezTo>
                  <a:pt x="5" y="32"/>
                  <a:pt x="2" y="32"/>
                  <a:pt x="0" y="32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500" name="Freeform 704">
            <a:extLst>
              <a:ext uri="{FF2B5EF4-FFF2-40B4-BE49-F238E27FC236}">
                <a16:creationId xmlns:a16="http://schemas.microsoft.com/office/drawing/2014/main" id="{17769880-2358-40EE-BF39-57F4FBE2B357}"/>
              </a:ext>
            </a:extLst>
          </p:cNvPr>
          <p:cNvSpPr>
            <a:spLocks/>
          </p:cNvSpPr>
          <p:nvPr/>
        </p:nvSpPr>
        <p:spPr bwMode="auto">
          <a:xfrm>
            <a:off x="10233900" y="5472860"/>
            <a:ext cx="145735" cy="59359"/>
          </a:xfrm>
          <a:custGeom>
            <a:avLst/>
            <a:gdLst>
              <a:gd name="T0" fmla="*/ 68 w 73"/>
              <a:gd name="T1" fmla="*/ 0 h 32"/>
              <a:gd name="T2" fmla="*/ 73 w 73"/>
              <a:gd name="T3" fmla="*/ 8 h 32"/>
              <a:gd name="T4" fmla="*/ 73 w 73"/>
              <a:gd name="T5" fmla="*/ 12 h 32"/>
              <a:gd name="T6" fmla="*/ 17 w 73"/>
              <a:gd name="T7" fmla="*/ 32 h 32"/>
              <a:gd name="T8" fmla="*/ 0 w 73"/>
              <a:gd name="T9" fmla="*/ 31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3" h="32">
                <a:moveTo>
                  <a:pt x="68" y="0"/>
                </a:moveTo>
                <a:cubicBezTo>
                  <a:pt x="71" y="2"/>
                  <a:pt x="73" y="5"/>
                  <a:pt x="73" y="8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23"/>
                  <a:pt x="48" y="32"/>
                  <a:pt x="17" y="32"/>
                </a:cubicBezTo>
                <a:cubicBezTo>
                  <a:pt x="11" y="32"/>
                  <a:pt x="5" y="32"/>
                  <a:pt x="0" y="31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501" name="Oval 705">
            <a:extLst>
              <a:ext uri="{FF2B5EF4-FFF2-40B4-BE49-F238E27FC236}">
                <a16:creationId xmlns:a16="http://schemas.microsoft.com/office/drawing/2014/main" id="{3F141F8B-BEB5-4D8F-93E7-E5498343A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2033" y="5354141"/>
            <a:ext cx="224042" cy="208432"/>
          </a:xfrm>
          <a:prstGeom prst="ellipse">
            <a:avLst/>
          </a:prstGeom>
          <a:noFill/>
          <a:ln w="6350" cap="flat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502" name="Line 709">
            <a:extLst>
              <a:ext uri="{FF2B5EF4-FFF2-40B4-BE49-F238E27FC236}">
                <a16:creationId xmlns:a16="http://schemas.microsoft.com/office/drawing/2014/main" id="{AA6605DA-690B-4937-B5D7-9477D34F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56318" y="5308947"/>
            <a:ext cx="0" cy="22260"/>
          </a:xfrm>
          <a:prstGeom prst="line">
            <a:avLst/>
          </a:pr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504" name="Line 1085">
            <a:extLst>
              <a:ext uri="{FF2B5EF4-FFF2-40B4-BE49-F238E27FC236}">
                <a16:creationId xmlns:a16="http://schemas.microsoft.com/office/drawing/2014/main" id="{30A3CADE-DFDB-4A4F-858C-AFF09ED4B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84137" y="5487858"/>
            <a:ext cx="61391" cy="0"/>
          </a:xfrm>
          <a:prstGeom prst="line">
            <a:avLst/>
          </a:pr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505" name="Freeform 1086">
            <a:extLst>
              <a:ext uri="{FF2B5EF4-FFF2-40B4-BE49-F238E27FC236}">
                <a16:creationId xmlns:a16="http://schemas.microsoft.com/office/drawing/2014/main" id="{493D0C5D-9430-49AF-AF4F-668B34E03D79}"/>
              </a:ext>
            </a:extLst>
          </p:cNvPr>
          <p:cNvSpPr>
            <a:spLocks/>
          </p:cNvSpPr>
          <p:nvPr/>
        </p:nvSpPr>
        <p:spPr bwMode="auto">
          <a:xfrm>
            <a:off x="10084137" y="5410243"/>
            <a:ext cx="82484" cy="106904"/>
          </a:xfrm>
          <a:custGeom>
            <a:avLst/>
            <a:gdLst>
              <a:gd name="T0" fmla="*/ 25 w 109"/>
              <a:gd name="T1" fmla="*/ 153 h 153"/>
              <a:gd name="T2" fmla="*/ 25 w 109"/>
              <a:gd name="T3" fmla="*/ 0 h 153"/>
              <a:gd name="T4" fmla="*/ 73 w 109"/>
              <a:gd name="T5" fmla="*/ 0 h 153"/>
              <a:gd name="T6" fmla="*/ 109 w 109"/>
              <a:gd name="T7" fmla="*/ 36 h 153"/>
              <a:gd name="T8" fmla="*/ 109 w 109"/>
              <a:gd name="T9" fmla="*/ 40 h 153"/>
              <a:gd name="T10" fmla="*/ 73 w 109"/>
              <a:gd name="T11" fmla="*/ 76 h 153"/>
              <a:gd name="T12" fmla="*/ 0 w 109"/>
              <a:gd name="T13" fmla="*/ 76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9" h="153">
                <a:moveTo>
                  <a:pt x="25" y="153"/>
                </a:moveTo>
                <a:cubicBezTo>
                  <a:pt x="25" y="0"/>
                  <a:pt x="25" y="0"/>
                  <a:pt x="25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93" y="0"/>
                  <a:pt x="109" y="16"/>
                  <a:pt x="109" y="36"/>
                </a:cubicBezTo>
                <a:cubicBezTo>
                  <a:pt x="109" y="40"/>
                  <a:pt x="109" y="40"/>
                  <a:pt x="109" y="40"/>
                </a:cubicBezTo>
                <a:cubicBezTo>
                  <a:pt x="109" y="60"/>
                  <a:pt x="93" y="76"/>
                  <a:pt x="73" y="76"/>
                </a:cubicBezTo>
                <a:cubicBezTo>
                  <a:pt x="0" y="76"/>
                  <a:pt x="0" y="76"/>
                  <a:pt x="0" y="76"/>
                </a:cubicBezTo>
              </a:path>
            </a:pathLst>
          </a:custGeom>
          <a:noFill/>
          <a:ln w="6350" cap="rnd">
            <a:solidFill>
              <a:schemeClr val="accent1">
                <a:lumMod val="5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C2AC74A-0AAA-4A29-AE2A-C355F58B07A2}"/>
              </a:ext>
            </a:extLst>
          </p:cNvPr>
          <p:cNvCxnSpPr>
            <a:cxnSpLocks/>
            <a:stCxn id="201" idx="0"/>
            <a:endCxn id="186" idx="2"/>
          </p:cNvCxnSpPr>
          <p:nvPr/>
        </p:nvCxnSpPr>
        <p:spPr>
          <a:xfrm flipV="1">
            <a:off x="10195835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54A16C42-17F6-453E-984A-9C4D7121DB8E}"/>
              </a:ext>
            </a:extLst>
          </p:cNvPr>
          <p:cNvSpPr txBox="1">
            <a:spLocks/>
          </p:cNvSpPr>
          <p:nvPr/>
        </p:nvSpPr>
        <p:spPr>
          <a:xfrm>
            <a:off x="10793275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Доработка сервисов для повышения удовлетво</a:t>
            </a:r>
            <a:r>
              <a:rPr lang="en-US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-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ренности пользова-телей 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CAB13E-8402-479E-93FC-C1E8F13A6FC8}"/>
              </a:ext>
            </a:extLst>
          </p:cNvPr>
          <p:cNvSpPr txBox="1">
            <a:spLocks/>
          </p:cNvSpPr>
          <p:nvPr/>
        </p:nvSpPr>
        <p:spPr>
          <a:xfrm>
            <a:off x="10793275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Сбор обратной связи и обработка жалоб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9803CCF-2BE6-4409-AE44-C8F2809BAEF8}"/>
              </a:ext>
            </a:extLst>
          </p:cNvPr>
          <p:cNvGrpSpPr/>
          <p:nvPr/>
        </p:nvGrpSpPr>
        <p:grpSpPr>
          <a:xfrm>
            <a:off x="11020134" y="3133674"/>
            <a:ext cx="390270" cy="366496"/>
            <a:chOff x="11100744" y="3220640"/>
            <a:chExt cx="397614" cy="417638"/>
          </a:xfrm>
        </p:grpSpPr>
        <p:sp>
          <p:nvSpPr>
            <p:cNvPr id="392" name="Line 1559">
              <a:extLst>
                <a:ext uri="{FF2B5EF4-FFF2-40B4-BE49-F238E27FC236}">
                  <a16:creationId xmlns:a16="http://schemas.microsoft.com/office/drawing/2014/main" id="{0DA2725B-F6AC-4F6F-8DB4-DF373D914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38030" y="3220640"/>
              <a:ext cx="160328" cy="167826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3" name="Freeform 1560">
              <a:extLst>
                <a:ext uri="{FF2B5EF4-FFF2-40B4-BE49-F238E27FC236}">
                  <a16:creationId xmlns:a16="http://schemas.microsoft.com/office/drawing/2014/main" id="{4FF1B4F0-2723-4217-B19A-04C4B8D80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7424" y="3220640"/>
              <a:ext cx="120932" cy="127316"/>
            </a:xfrm>
            <a:custGeom>
              <a:avLst/>
              <a:gdLst>
                <a:gd name="T0" fmla="*/ 132 w 132"/>
                <a:gd name="T1" fmla="*/ 132 h 132"/>
                <a:gd name="T2" fmla="*/ 132 w 132"/>
                <a:gd name="T3" fmla="*/ 0 h 132"/>
                <a:gd name="T4" fmla="*/ 0 w 132"/>
                <a:gd name="T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132" y="0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4" name="Line 1561">
              <a:extLst>
                <a:ext uri="{FF2B5EF4-FFF2-40B4-BE49-F238E27FC236}">
                  <a16:creationId xmlns:a16="http://schemas.microsoft.com/office/drawing/2014/main" id="{AC6EC7F6-E53E-4693-ABF6-E4B888740A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338030" y="3470452"/>
              <a:ext cx="160328" cy="167826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5" name="Freeform 1562">
              <a:extLst>
                <a:ext uri="{FF2B5EF4-FFF2-40B4-BE49-F238E27FC236}">
                  <a16:creationId xmlns:a16="http://schemas.microsoft.com/office/drawing/2014/main" id="{C455D65D-A4FE-4BF5-B280-D095E9D7A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7424" y="3513856"/>
              <a:ext cx="120932" cy="124422"/>
            </a:xfrm>
            <a:custGeom>
              <a:avLst/>
              <a:gdLst>
                <a:gd name="T0" fmla="*/ 0 w 132"/>
                <a:gd name="T1" fmla="*/ 129 h 129"/>
                <a:gd name="T2" fmla="*/ 132 w 132"/>
                <a:gd name="T3" fmla="*/ 129 h 129"/>
                <a:gd name="T4" fmla="*/ 132 w 132"/>
                <a:gd name="T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129">
                  <a:moveTo>
                    <a:pt x="0" y="129"/>
                  </a:moveTo>
                  <a:lnTo>
                    <a:pt x="132" y="129"/>
                  </a:lnTo>
                  <a:lnTo>
                    <a:pt x="132" y="0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6" name="Line 1563">
              <a:extLst>
                <a:ext uri="{FF2B5EF4-FFF2-40B4-BE49-F238E27FC236}">
                  <a16:creationId xmlns:a16="http://schemas.microsoft.com/office/drawing/2014/main" id="{B485796D-1E91-4FAE-A8B6-8202DF8F6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0744" y="3220640"/>
              <a:ext cx="159411" cy="167826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7" name="Freeform 1564">
              <a:extLst>
                <a:ext uri="{FF2B5EF4-FFF2-40B4-BE49-F238E27FC236}">
                  <a16:creationId xmlns:a16="http://schemas.microsoft.com/office/drawing/2014/main" id="{B871192E-596C-484E-8B98-98F4E17D6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0744" y="3220640"/>
              <a:ext cx="119100" cy="127316"/>
            </a:xfrm>
            <a:custGeom>
              <a:avLst/>
              <a:gdLst>
                <a:gd name="T0" fmla="*/ 0 w 130"/>
                <a:gd name="T1" fmla="*/ 132 h 132"/>
                <a:gd name="T2" fmla="*/ 0 w 130"/>
                <a:gd name="T3" fmla="*/ 0 h 132"/>
                <a:gd name="T4" fmla="*/ 130 w 130"/>
                <a:gd name="T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132">
                  <a:moveTo>
                    <a:pt x="0" y="132"/>
                  </a:moveTo>
                  <a:lnTo>
                    <a:pt x="0" y="0"/>
                  </a:lnTo>
                  <a:lnTo>
                    <a:pt x="130" y="0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8" name="Line 1565">
              <a:extLst>
                <a:ext uri="{FF2B5EF4-FFF2-40B4-BE49-F238E27FC236}">
                  <a16:creationId xmlns:a16="http://schemas.microsoft.com/office/drawing/2014/main" id="{F12CDF76-A905-4E8C-A0C1-27131E22E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00744" y="3470452"/>
              <a:ext cx="159411" cy="167826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99" name="Freeform 1566">
              <a:extLst>
                <a:ext uri="{FF2B5EF4-FFF2-40B4-BE49-F238E27FC236}">
                  <a16:creationId xmlns:a16="http://schemas.microsoft.com/office/drawing/2014/main" id="{59848E94-A418-459B-ACB0-1336B09EF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0744" y="3513856"/>
              <a:ext cx="119100" cy="124422"/>
            </a:xfrm>
            <a:custGeom>
              <a:avLst/>
              <a:gdLst>
                <a:gd name="T0" fmla="*/ 130 w 130"/>
                <a:gd name="T1" fmla="*/ 129 h 129"/>
                <a:gd name="T2" fmla="*/ 0 w 130"/>
                <a:gd name="T3" fmla="*/ 129 h 129"/>
                <a:gd name="T4" fmla="*/ 0 w 130"/>
                <a:gd name="T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0" h="129">
                  <a:moveTo>
                    <a:pt x="130" y="129"/>
                  </a:moveTo>
                  <a:lnTo>
                    <a:pt x="0" y="129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C709EC-57FD-4A7A-86B2-4B6A6E256C5E}"/>
              </a:ext>
            </a:extLst>
          </p:cNvPr>
          <p:cNvGrpSpPr/>
          <p:nvPr/>
        </p:nvGrpSpPr>
        <p:grpSpPr>
          <a:xfrm>
            <a:off x="11031467" y="5245959"/>
            <a:ext cx="367605" cy="342503"/>
            <a:chOff x="11135221" y="5569078"/>
            <a:chExt cx="328660" cy="342503"/>
          </a:xfrm>
        </p:grpSpPr>
        <p:sp>
          <p:nvSpPr>
            <p:cNvPr id="507" name="Freeform 511">
              <a:extLst>
                <a:ext uri="{FF2B5EF4-FFF2-40B4-BE49-F238E27FC236}">
                  <a16:creationId xmlns:a16="http://schemas.microsoft.com/office/drawing/2014/main" id="{42CE5CB3-74C5-4117-BDFD-7034B0CB7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3807" y="5756456"/>
              <a:ext cx="31488" cy="22526"/>
            </a:xfrm>
            <a:custGeom>
              <a:avLst/>
              <a:gdLst>
                <a:gd name="T0" fmla="*/ 16 w 24"/>
                <a:gd name="T1" fmla="*/ 16 h 16"/>
                <a:gd name="T2" fmla="*/ 8 w 24"/>
                <a:gd name="T3" fmla="*/ 16 h 16"/>
                <a:gd name="T4" fmla="*/ 0 w 24"/>
                <a:gd name="T5" fmla="*/ 8 h 16"/>
                <a:gd name="T6" fmla="*/ 0 w 24"/>
                <a:gd name="T7" fmla="*/ 8 h 16"/>
                <a:gd name="T8" fmla="*/ 8 w 24"/>
                <a:gd name="T9" fmla="*/ 0 h 16"/>
                <a:gd name="T10" fmla="*/ 16 w 24"/>
                <a:gd name="T11" fmla="*/ 0 h 16"/>
                <a:gd name="T12" fmla="*/ 24 w 24"/>
                <a:gd name="T13" fmla="*/ 8 h 16"/>
                <a:gd name="T14" fmla="*/ 24 w 24"/>
                <a:gd name="T15" fmla="*/ 8 h 16"/>
                <a:gd name="T16" fmla="*/ 16 w 24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16"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4" y="4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12"/>
                    <a:pt x="20" y="16"/>
                    <a:pt x="16" y="16"/>
                  </a:cubicBez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08" name="Freeform 512">
              <a:extLst>
                <a:ext uri="{FF2B5EF4-FFF2-40B4-BE49-F238E27FC236}">
                  <a16:creationId xmlns:a16="http://schemas.microsoft.com/office/drawing/2014/main" id="{7940A39F-370D-447B-B5AD-B952AC0F8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2946" y="5674030"/>
              <a:ext cx="26568" cy="66043"/>
            </a:xfrm>
            <a:custGeom>
              <a:avLst/>
              <a:gdLst>
                <a:gd name="T0" fmla="*/ 20 w 20"/>
                <a:gd name="T1" fmla="*/ 48 h 48"/>
                <a:gd name="T2" fmla="*/ 0 w 20"/>
                <a:gd name="T3" fmla="*/ 30 h 48"/>
                <a:gd name="T4" fmla="*/ 0 w 20"/>
                <a:gd name="T5" fmla="*/ 18 h 48"/>
                <a:gd name="T6" fmla="*/ 20 w 20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48">
                  <a:moveTo>
                    <a:pt x="20" y="48"/>
                  </a:moveTo>
                  <a:cubicBezTo>
                    <a:pt x="8" y="48"/>
                    <a:pt x="0" y="40"/>
                    <a:pt x="0" y="3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20" y="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09" name="Freeform 513">
              <a:extLst>
                <a:ext uri="{FF2B5EF4-FFF2-40B4-BE49-F238E27FC236}">
                  <a16:creationId xmlns:a16="http://schemas.microsoft.com/office/drawing/2014/main" id="{B2EE2A20-213D-4081-AB33-E9887C5F0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9588" y="5674030"/>
              <a:ext cx="26568" cy="66043"/>
            </a:xfrm>
            <a:custGeom>
              <a:avLst/>
              <a:gdLst>
                <a:gd name="T0" fmla="*/ 0 w 20"/>
                <a:gd name="T1" fmla="*/ 48 h 48"/>
                <a:gd name="T2" fmla="*/ 20 w 20"/>
                <a:gd name="T3" fmla="*/ 30 h 48"/>
                <a:gd name="T4" fmla="*/ 20 w 20"/>
                <a:gd name="T5" fmla="*/ 18 h 48"/>
                <a:gd name="T6" fmla="*/ 0 w 20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48">
                  <a:moveTo>
                    <a:pt x="0" y="48"/>
                  </a:moveTo>
                  <a:cubicBezTo>
                    <a:pt x="12" y="48"/>
                    <a:pt x="20" y="40"/>
                    <a:pt x="20" y="30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8"/>
                    <a:pt x="12" y="0"/>
                    <a:pt x="0" y="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0" name="Freeform 514">
              <a:extLst>
                <a:ext uri="{FF2B5EF4-FFF2-40B4-BE49-F238E27FC236}">
                  <a16:creationId xmlns:a16="http://schemas.microsoft.com/office/drawing/2014/main" id="{F2B01DB8-C166-4D55-B53F-B0F326074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5221" y="5833763"/>
              <a:ext cx="105781" cy="77818"/>
            </a:xfrm>
            <a:custGeom>
              <a:avLst/>
              <a:gdLst>
                <a:gd name="T0" fmla="*/ 80 w 80"/>
                <a:gd name="T1" fmla="*/ 0 h 56"/>
                <a:gd name="T2" fmla="*/ 28 w 80"/>
                <a:gd name="T3" fmla="*/ 16 h 56"/>
                <a:gd name="T4" fmla="*/ 0 w 80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56">
                  <a:moveTo>
                    <a:pt x="80" y="0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16" y="20"/>
                    <a:pt x="0" y="34"/>
                    <a:pt x="0" y="56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1" name="Freeform 515">
              <a:extLst>
                <a:ext uri="{FF2B5EF4-FFF2-40B4-BE49-F238E27FC236}">
                  <a16:creationId xmlns:a16="http://schemas.microsoft.com/office/drawing/2014/main" id="{9FC25B45-64F5-44FE-985A-D6279CA81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9514" y="5569078"/>
              <a:ext cx="180074" cy="198642"/>
            </a:xfrm>
            <a:custGeom>
              <a:avLst/>
              <a:gdLst>
                <a:gd name="T0" fmla="*/ 56 w 136"/>
                <a:gd name="T1" fmla="*/ 144 h 144"/>
                <a:gd name="T2" fmla="*/ 24 w 136"/>
                <a:gd name="T3" fmla="*/ 144 h 144"/>
                <a:gd name="T4" fmla="*/ 0 w 136"/>
                <a:gd name="T5" fmla="*/ 120 h 144"/>
                <a:gd name="T6" fmla="*/ 0 w 136"/>
                <a:gd name="T7" fmla="*/ 100 h 144"/>
                <a:gd name="T8" fmla="*/ 0 w 136"/>
                <a:gd name="T9" fmla="*/ 68 h 144"/>
                <a:gd name="T10" fmla="*/ 68 w 136"/>
                <a:gd name="T11" fmla="*/ 0 h 144"/>
                <a:gd name="T12" fmla="*/ 136 w 136"/>
                <a:gd name="T13" fmla="*/ 68 h 144"/>
                <a:gd name="T14" fmla="*/ 136 w 136"/>
                <a:gd name="T15" fmla="*/ 12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144">
                  <a:moveTo>
                    <a:pt x="56" y="144"/>
                  </a:move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0" y="133"/>
                    <a:pt x="0" y="12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30"/>
                    <a:pt x="30" y="0"/>
                    <a:pt x="68" y="0"/>
                  </a:cubicBezTo>
                  <a:cubicBezTo>
                    <a:pt x="106" y="0"/>
                    <a:pt x="136" y="30"/>
                    <a:pt x="136" y="68"/>
                  </a:cubicBezTo>
                  <a:cubicBezTo>
                    <a:pt x="136" y="124"/>
                    <a:pt x="136" y="124"/>
                    <a:pt x="136" y="124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2" name="Freeform 516">
              <a:extLst>
                <a:ext uri="{FF2B5EF4-FFF2-40B4-BE49-F238E27FC236}">
                  <a16:creationId xmlns:a16="http://schemas.microsoft.com/office/drawing/2014/main" id="{50108B74-78CE-4A30-9BDB-834F25DF5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0671" y="5607474"/>
              <a:ext cx="137762" cy="138230"/>
            </a:xfrm>
            <a:custGeom>
              <a:avLst/>
              <a:gdLst>
                <a:gd name="T0" fmla="*/ 2 w 104"/>
                <a:gd name="T1" fmla="*/ 100 h 100"/>
                <a:gd name="T2" fmla="*/ 0 w 104"/>
                <a:gd name="T3" fmla="*/ 84 h 100"/>
                <a:gd name="T4" fmla="*/ 0 w 104"/>
                <a:gd name="T5" fmla="*/ 48 h 100"/>
                <a:gd name="T6" fmla="*/ 76 w 104"/>
                <a:gd name="T7" fmla="*/ 0 h 100"/>
                <a:gd name="T8" fmla="*/ 76 w 104"/>
                <a:gd name="T9" fmla="*/ 12 h 100"/>
                <a:gd name="T10" fmla="*/ 104 w 104"/>
                <a:gd name="T11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0">
                  <a:moveTo>
                    <a:pt x="2" y="100"/>
                  </a:moveTo>
                  <a:cubicBezTo>
                    <a:pt x="1" y="95"/>
                    <a:pt x="0" y="90"/>
                    <a:pt x="0" y="8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53" y="48"/>
                    <a:pt x="76" y="24"/>
                    <a:pt x="76" y="0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6" y="40"/>
                    <a:pt x="96" y="40"/>
                    <a:pt x="104" y="4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3" name="Freeform 517">
              <a:extLst>
                <a:ext uri="{FF2B5EF4-FFF2-40B4-BE49-F238E27FC236}">
                  <a16:creationId xmlns:a16="http://schemas.microsoft.com/office/drawing/2014/main" id="{1FD7E819-12C0-484E-83A6-361854C96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1002" y="5684781"/>
              <a:ext cx="127429" cy="121848"/>
            </a:xfrm>
            <a:custGeom>
              <a:avLst/>
              <a:gdLst>
                <a:gd name="T0" fmla="*/ 96 w 96"/>
                <a:gd name="T1" fmla="*/ 0 h 88"/>
                <a:gd name="T2" fmla="*/ 96 w 96"/>
                <a:gd name="T3" fmla="*/ 28 h 88"/>
                <a:gd name="T4" fmla="*/ 44 w 96"/>
                <a:gd name="T5" fmla="*/ 88 h 88"/>
                <a:gd name="T6" fmla="*/ 0 w 96"/>
                <a:gd name="T7" fmla="*/ 6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8">
                  <a:moveTo>
                    <a:pt x="96" y="0"/>
                  </a:moveTo>
                  <a:cubicBezTo>
                    <a:pt x="96" y="28"/>
                    <a:pt x="96" y="28"/>
                    <a:pt x="96" y="28"/>
                  </a:cubicBezTo>
                  <a:cubicBezTo>
                    <a:pt x="96" y="61"/>
                    <a:pt x="73" y="88"/>
                    <a:pt x="44" y="88"/>
                  </a:cubicBezTo>
                  <a:cubicBezTo>
                    <a:pt x="25" y="88"/>
                    <a:pt x="9" y="77"/>
                    <a:pt x="0" y="60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4" name="Line 518">
              <a:extLst>
                <a:ext uri="{FF2B5EF4-FFF2-40B4-BE49-F238E27FC236}">
                  <a16:creationId xmlns:a16="http://schemas.microsoft.com/office/drawing/2014/main" id="{801BEF11-3F54-4AD6-9C9E-BC0981515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1826" y="5784102"/>
              <a:ext cx="0" cy="33278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5" name="Line 519">
              <a:extLst>
                <a:ext uri="{FF2B5EF4-FFF2-40B4-BE49-F238E27FC236}">
                  <a16:creationId xmlns:a16="http://schemas.microsoft.com/office/drawing/2014/main" id="{4372A911-B7FC-4234-AD5E-027A1BB1E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7276" y="5784102"/>
              <a:ext cx="0" cy="38910"/>
            </a:xfrm>
            <a:prstGeom prst="line">
              <a:avLst/>
            </a:pr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6" name="Freeform 520">
              <a:extLst>
                <a:ext uri="{FF2B5EF4-FFF2-40B4-BE49-F238E27FC236}">
                  <a16:creationId xmlns:a16="http://schemas.microsoft.com/office/drawing/2014/main" id="{40491194-B6C9-46F1-8BEA-E4330CADD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1002" y="5817379"/>
              <a:ext cx="58549" cy="94202"/>
            </a:xfrm>
            <a:custGeom>
              <a:avLst/>
              <a:gdLst>
                <a:gd name="T0" fmla="*/ 22 w 119"/>
                <a:gd name="T1" fmla="*/ 0 h 184"/>
                <a:gd name="T2" fmla="*/ 119 w 119"/>
                <a:gd name="T3" fmla="*/ 130 h 184"/>
                <a:gd name="T4" fmla="*/ 43 w 119"/>
                <a:gd name="T5" fmla="*/ 184 h 184"/>
                <a:gd name="T6" fmla="*/ 0 w 119"/>
                <a:gd name="T7" fmla="*/ 32 h 184"/>
                <a:gd name="T8" fmla="*/ 22 w 119"/>
                <a:gd name="T9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184">
                  <a:moveTo>
                    <a:pt x="22" y="0"/>
                  </a:moveTo>
                  <a:lnTo>
                    <a:pt x="119" y="130"/>
                  </a:lnTo>
                  <a:lnTo>
                    <a:pt x="43" y="184"/>
                  </a:lnTo>
                  <a:lnTo>
                    <a:pt x="0" y="32"/>
                  </a:lnTo>
                  <a:lnTo>
                    <a:pt x="22" y="0"/>
                  </a:ln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7" name="Freeform 521">
              <a:extLst>
                <a:ext uri="{FF2B5EF4-FFF2-40B4-BE49-F238E27FC236}">
                  <a16:creationId xmlns:a16="http://schemas.microsoft.com/office/drawing/2014/main" id="{2584F097-F9B0-4CBE-B381-F20AD65FE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7608" y="5833763"/>
              <a:ext cx="106273" cy="77818"/>
            </a:xfrm>
            <a:custGeom>
              <a:avLst/>
              <a:gdLst>
                <a:gd name="T0" fmla="*/ 0 w 80"/>
                <a:gd name="T1" fmla="*/ 0 h 56"/>
                <a:gd name="T2" fmla="*/ 52 w 80"/>
                <a:gd name="T3" fmla="*/ 16 h 56"/>
                <a:gd name="T4" fmla="*/ 80 w 80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0" h="56">
                  <a:moveTo>
                    <a:pt x="0" y="0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64" y="20"/>
                    <a:pt x="80" y="34"/>
                    <a:pt x="80" y="56"/>
                  </a:cubicBezTo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518" name="Freeform 522">
              <a:extLst>
                <a:ext uri="{FF2B5EF4-FFF2-40B4-BE49-F238E27FC236}">
                  <a16:creationId xmlns:a16="http://schemas.microsoft.com/office/drawing/2014/main" id="{EA87449C-9CA9-4B13-B5E3-14306B3C2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51" y="5817379"/>
              <a:ext cx="58057" cy="94202"/>
            </a:xfrm>
            <a:custGeom>
              <a:avLst/>
              <a:gdLst>
                <a:gd name="T0" fmla="*/ 97 w 118"/>
                <a:gd name="T1" fmla="*/ 0 h 184"/>
                <a:gd name="T2" fmla="*/ 0 w 118"/>
                <a:gd name="T3" fmla="*/ 130 h 184"/>
                <a:gd name="T4" fmla="*/ 75 w 118"/>
                <a:gd name="T5" fmla="*/ 184 h 184"/>
                <a:gd name="T6" fmla="*/ 118 w 118"/>
                <a:gd name="T7" fmla="*/ 32 h 184"/>
                <a:gd name="T8" fmla="*/ 97 w 118"/>
                <a:gd name="T9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4">
                  <a:moveTo>
                    <a:pt x="97" y="0"/>
                  </a:moveTo>
                  <a:lnTo>
                    <a:pt x="0" y="130"/>
                  </a:lnTo>
                  <a:lnTo>
                    <a:pt x="75" y="184"/>
                  </a:lnTo>
                  <a:lnTo>
                    <a:pt x="118" y="32"/>
                  </a:lnTo>
                  <a:lnTo>
                    <a:pt x="97" y="0"/>
                  </a:lnTo>
                  <a:close/>
                </a:path>
              </a:pathLst>
            </a:custGeom>
            <a:noFill/>
            <a:ln w="6350" cap="rnd">
              <a:solidFill>
                <a:schemeClr val="accent1">
                  <a:lumMod val="5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AF91169-5DD7-4C48-A7EF-9B8135AD68C6}"/>
              </a:ext>
            </a:extLst>
          </p:cNvPr>
          <p:cNvCxnSpPr>
            <a:cxnSpLocks/>
            <a:stCxn id="204" idx="0"/>
            <a:endCxn id="187" idx="2"/>
          </p:cNvCxnSpPr>
          <p:nvPr/>
        </p:nvCxnSpPr>
        <p:spPr>
          <a:xfrm flipV="1">
            <a:off x="11215269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0EB9D3DE-174C-4FA9-A602-C2D1812F2743}"/>
              </a:ext>
            </a:extLst>
          </p:cNvPr>
          <p:cNvCxnSpPr>
            <a:cxnSpLocks/>
            <a:stCxn id="417" idx="0"/>
            <a:endCxn id="378" idx="2"/>
          </p:cNvCxnSpPr>
          <p:nvPr/>
        </p:nvCxnSpPr>
        <p:spPr>
          <a:xfrm flipV="1">
            <a:off x="9049665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Freeform 5">
            <a:extLst>
              <a:ext uri="{FF2B5EF4-FFF2-40B4-BE49-F238E27FC236}">
                <a16:creationId xmlns:a16="http://schemas.microsoft.com/office/drawing/2014/main" id="{3313DAA5-1E20-44B3-9E3D-4AF49764B1AE}"/>
              </a:ext>
            </a:extLst>
          </p:cNvPr>
          <p:cNvSpPr>
            <a:spLocks/>
          </p:cNvSpPr>
          <p:nvPr/>
        </p:nvSpPr>
        <p:spPr bwMode="auto">
          <a:xfrm>
            <a:off x="2629334" y="3150339"/>
            <a:ext cx="353961" cy="379314"/>
          </a:xfrm>
          <a:custGeom>
            <a:avLst/>
            <a:gdLst>
              <a:gd name="T0" fmla="*/ 120 w 144"/>
              <a:gd name="T1" fmla="*/ 0 h 164"/>
              <a:gd name="T2" fmla="*/ 136 w 144"/>
              <a:gd name="T3" fmla="*/ 0 h 164"/>
              <a:gd name="T4" fmla="*/ 144 w 144"/>
              <a:gd name="T5" fmla="*/ 8 h 164"/>
              <a:gd name="T6" fmla="*/ 144 w 144"/>
              <a:gd name="T7" fmla="*/ 156 h 164"/>
              <a:gd name="T8" fmla="*/ 136 w 144"/>
              <a:gd name="T9" fmla="*/ 164 h 164"/>
              <a:gd name="T10" fmla="*/ 8 w 144"/>
              <a:gd name="T11" fmla="*/ 164 h 164"/>
              <a:gd name="T12" fmla="*/ 0 w 144"/>
              <a:gd name="T13" fmla="*/ 156 h 164"/>
              <a:gd name="T14" fmla="*/ 0 w 144"/>
              <a:gd name="T15" fmla="*/ 8 h 164"/>
              <a:gd name="T16" fmla="*/ 8 w 144"/>
              <a:gd name="T17" fmla="*/ 0 h 164"/>
              <a:gd name="T18" fmla="*/ 24 w 144"/>
              <a:gd name="T19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4" h="164">
                <a:moveTo>
                  <a:pt x="120" y="0"/>
                </a:moveTo>
                <a:cubicBezTo>
                  <a:pt x="136" y="0"/>
                  <a:pt x="136" y="0"/>
                  <a:pt x="136" y="0"/>
                </a:cubicBezTo>
                <a:cubicBezTo>
                  <a:pt x="140" y="0"/>
                  <a:pt x="144" y="4"/>
                  <a:pt x="144" y="8"/>
                </a:cubicBezTo>
                <a:cubicBezTo>
                  <a:pt x="144" y="156"/>
                  <a:pt x="144" y="156"/>
                  <a:pt x="144" y="156"/>
                </a:cubicBezTo>
                <a:cubicBezTo>
                  <a:pt x="144" y="160"/>
                  <a:pt x="140" y="164"/>
                  <a:pt x="136" y="164"/>
                </a:cubicBezTo>
                <a:cubicBezTo>
                  <a:pt x="8" y="164"/>
                  <a:pt x="8" y="164"/>
                  <a:pt x="8" y="164"/>
                </a:cubicBezTo>
                <a:cubicBezTo>
                  <a:pt x="4" y="164"/>
                  <a:pt x="0" y="160"/>
                  <a:pt x="0" y="156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24" y="0"/>
                  <a:pt x="24" y="0"/>
                  <a:pt x="24" y="0"/>
                </a:cubicBez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8" name="Freeform 6">
            <a:extLst>
              <a:ext uri="{FF2B5EF4-FFF2-40B4-BE49-F238E27FC236}">
                <a16:creationId xmlns:a16="http://schemas.microsoft.com/office/drawing/2014/main" id="{546E3AA4-7D26-4122-BC99-1E211E69C6B3}"/>
              </a:ext>
            </a:extLst>
          </p:cNvPr>
          <p:cNvSpPr>
            <a:spLocks/>
          </p:cNvSpPr>
          <p:nvPr/>
        </p:nvSpPr>
        <p:spPr bwMode="auto">
          <a:xfrm>
            <a:off x="2668796" y="3187482"/>
            <a:ext cx="275038" cy="306152"/>
          </a:xfrm>
          <a:custGeom>
            <a:avLst/>
            <a:gdLst>
              <a:gd name="T0" fmla="*/ 214 w 230"/>
              <a:gd name="T1" fmla="*/ 0 h 272"/>
              <a:gd name="T2" fmla="*/ 230 w 230"/>
              <a:gd name="T3" fmla="*/ 0 h 272"/>
              <a:gd name="T4" fmla="*/ 230 w 230"/>
              <a:gd name="T5" fmla="*/ 272 h 272"/>
              <a:gd name="T6" fmla="*/ 0 w 230"/>
              <a:gd name="T7" fmla="*/ 272 h 272"/>
              <a:gd name="T8" fmla="*/ 0 w 230"/>
              <a:gd name="T9" fmla="*/ 0 h 272"/>
              <a:gd name="T10" fmla="*/ 16 w 230"/>
              <a:gd name="T11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" h="272">
                <a:moveTo>
                  <a:pt x="214" y="0"/>
                </a:moveTo>
                <a:lnTo>
                  <a:pt x="230" y="0"/>
                </a:lnTo>
                <a:lnTo>
                  <a:pt x="230" y="272"/>
                </a:lnTo>
                <a:lnTo>
                  <a:pt x="0" y="272"/>
                </a:lnTo>
                <a:lnTo>
                  <a:pt x="0" y="0"/>
                </a:lnTo>
                <a:lnTo>
                  <a:pt x="16" y="0"/>
                </a:ln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299" name="Freeform 7">
            <a:extLst>
              <a:ext uri="{FF2B5EF4-FFF2-40B4-BE49-F238E27FC236}">
                <a16:creationId xmlns:a16="http://schemas.microsoft.com/office/drawing/2014/main" id="{C79E0A8F-D1BD-432B-A758-076C3C9A9508}"/>
              </a:ext>
            </a:extLst>
          </p:cNvPr>
          <p:cNvSpPr>
            <a:spLocks/>
          </p:cNvSpPr>
          <p:nvPr/>
        </p:nvSpPr>
        <p:spPr bwMode="auto">
          <a:xfrm>
            <a:off x="2708257" y="3104191"/>
            <a:ext cx="196113" cy="92296"/>
          </a:xfrm>
          <a:custGeom>
            <a:avLst/>
            <a:gdLst>
              <a:gd name="T0" fmla="*/ 68 w 80"/>
              <a:gd name="T1" fmla="*/ 16 h 40"/>
              <a:gd name="T2" fmla="*/ 56 w 80"/>
              <a:gd name="T3" fmla="*/ 16 h 40"/>
              <a:gd name="T4" fmla="*/ 40 w 80"/>
              <a:gd name="T5" fmla="*/ 0 h 40"/>
              <a:gd name="T6" fmla="*/ 24 w 80"/>
              <a:gd name="T7" fmla="*/ 16 h 40"/>
              <a:gd name="T8" fmla="*/ 12 w 80"/>
              <a:gd name="T9" fmla="*/ 16 h 40"/>
              <a:gd name="T10" fmla="*/ 0 w 80"/>
              <a:gd name="T11" fmla="*/ 28 h 40"/>
              <a:gd name="T12" fmla="*/ 0 w 80"/>
              <a:gd name="T13" fmla="*/ 40 h 40"/>
              <a:gd name="T14" fmla="*/ 80 w 80"/>
              <a:gd name="T15" fmla="*/ 40 h 40"/>
              <a:gd name="T16" fmla="*/ 80 w 80"/>
              <a:gd name="T17" fmla="*/ 28 h 40"/>
              <a:gd name="T18" fmla="*/ 68 w 80"/>
              <a:gd name="T19" fmla="*/ 16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" h="40">
                <a:moveTo>
                  <a:pt x="68" y="16"/>
                </a:moveTo>
                <a:cubicBezTo>
                  <a:pt x="56" y="16"/>
                  <a:pt x="56" y="16"/>
                  <a:pt x="56" y="16"/>
                </a:cubicBezTo>
                <a:cubicBezTo>
                  <a:pt x="56" y="7"/>
                  <a:pt x="49" y="0"/>
                  <a:pt x="40" y="0"/>
                </a:cubicBezTo>
                <a:cubicBezTo>
                  <a:pt x="31" y="0"/>
                  <a:pt x="24" y="7"/>
                  <a:pt x="24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5" y="16"/>
                  <a:pt x="0" y="21"/>
                  <a:pt x="0" y="28"/>
                </a:cubicBezTo>
                <a:cubicBezTo>
                  <a:pt x="0" y="40"/>
                  <a:pt x="0" y="40"/>
                  <a:pt x="0" y="40"/>
                </a:cubicBezTo>
                <a:cubicBezTo>
                  <a:pt x="80" y="40"/>
                  <a:pt x="80" y="40"/>
                  <a:pt x="80" y="40"/>
                </a:cubicBezTo>
                <a:cubicBezTo>
                  <a:pt x="80" y="28"/>
                  <a:pt x="80" y="28"/>
                  <a:pt x="80" y="28"/>
                </a:cubicBezTo>
                <a:cubicBezTo>
                  <a:pt x="80" y="21"/>
                  <a:pt x="75" y="16"/>
                  <a:pt x="68" y="16"/>
                </a:cubicBezTo>
                <a:close/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00" name="Line 8">
            <a:extLst>
              <a:ext uri="{FF2B5EF4-FFF2-40B4-BE49-F238E27FC236}">
                <a16:creationId xmlns:a16="http://schemas.microsoft.com/office/drawing/2014/main" id="{C7DF94A9-E378-4B8A-A80F-665944147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6315" y="3132330"/>
            <a:ext cx="0" cy="18009"/>
          </a:xfrm>
          <a:prstGeom prst="line">
            <a:avLst/>
          </a:pr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01" name="Freeform 9">
            <a:extLst>
              <a:ext uri="{FF2B5EF4-FFF2-40B4-BE49-F238E27FC236}">
                <a16:creationId xmlns:a16="http://schemas.microsoft.com/office/drawing/2014/main" id="{63B97628-A47A-49B9-82CD-AF075734097C}"/>
              </a:ext>
            </a:extLst>
          </p:cNvPr>
          <p:cNvSpPr>
            <a:spLocks/>
          </p:cNvSpPr>
          <p:nvPr/>
        </p:nvSpPr>
        <p:spPr bwMode="auto">
          <a:xfrm>
            <a:off x="2747719" y="3289909"/>
            <a:ext cx="117190" cy="110305"/>
          </a:xfrm>
          <a:custGeom>
            <a:avLst/>
            <a:gdLst>
              <a:gd name="T0" fmla="*/ 98 w 98"/>
              <a:gd name="T1" fmla="*/ 49 h 98"/>
              <a:gd name="T2" fmla="*/ 98 w 98"/>
              <a:gd name="T3" fmla="*/ 98 h 98"/>
              <a:gd name="T4" fmla="*/ 0 w 98"/>
              <a:gd name="T5" fmla="*/ 98 h 98"/>
              <a:gd name="T6" fmla="*/ 0 w 98"/>
              <a:gd name="T7" fmla="*/ 0 h 98"/>
              <a:gd name="T8" fmla="*/ 74 w 98"/>
              <a:gd name="T9" fmla="*/ 0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8" h="98">
                <a:moveTo>
                  <a:pt x="98" y="49"/>
                </a:moveTo>
                <a:lnTo>
                  <a:pt x="98" y="98"/>
                </a:lnTo>
                <a:lnTo>
                  <a:pt x="0" y="98"/>
                </a:lnTo>
                <a:lnTo>
                  <a:pt x="0" y="0"/>
                </a:lnTo>
                <a:lnTo>
                  <a:pt x="74" y="0"/>
                </a:ln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302" name="Freeform 10">
            <a:extLst>
              <a:ext uri="{FF2B5EF4-FFF2-40B4-BE49-F238E27FC236}">
                <a16:creationId xmlns:a16="http://schemas.microsoft.com/office/drawing/2014/main" id="{7B125F82-BA1D-4307-AD95-12CEDDD83E84}"/>
              </a:ext>
            </a:extLst>
          </p:cNvPr>
          <p:cNvSpPr>
            <a:spLocks/>
          </p:cNvSpPr>
          <p:nvPr/>
        </p:nvSpPr>
        <p:spPr bwMode="auto">
          <a:xfrm>
            <a:off x="2776418" y="3289909"/>
            <a:ext cx="99253" cy="83291"/>
          </a:xfrm>
          <a:custGeom>
            <a:avLst/>
            <a:gdLst>
              <a:gd name="T0" fmla="*/ 0 w 83"/>
              <a:gd name="T1" fmla="*/ 49 h 74"/>
              <a:gd name="T2" fmla="*/ 25 w 83"/>
              <a:gd name="T3" fmla="*/ 74 h 74"/>
              <a:gd name="T4" fmla="*/ 83 w 83"/>
              <a:gd name="T5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3" h="74">
                <a:moveTo>
                  <a:pt x="0" y="49"/>
                </a:moveTo>
                <a:lnTo>
                  <a:pt x="25" y="74"/>
                </a:lnTo>
                <a:lnTo>
                  <a:pt x="83" y="0"/>
                </a:lnTo>
              </a:path>
            </a:pathLst>
          </a:custGeom>
          <a:noFill/>
          <a:ln w="6350" cap="flat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70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595F673-3622-4B43-BB42-0E60E4F2FA5C}"/>
              </a:ext>
            </a:extLst>
          </p:cNvPr>
          <p:cNvSpPr txBox="1">
            <a:spLocks/>
          </p:cNvSpPr>
          <p:nvPr/>
        </p:nvSpPr>
        <p:spPr>
          <a:xfrm>
            <a:off x="2384321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Утверждение проектной документа-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ции</a:t>
            </a:r>
            <a:endParaRPr lang="ru-RU" sz="800" dirty="0">
              <a:solidFill>
                <a:srgbClr val="000000"/>
              </a:solidFill>
              <a:latin typeface="Verdana" panose="020B0604030504040204" pitchFamily="34" charset="0"/>
              <a:sym typeface="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595887AE-A350-46FB-9556-5B19C5793B43}"/>
              </a:ext>
            </a:extLst>
          </p:cNvPr>
          <p:cNvSpPr txBox="1">
            <a:spLocks/>
          </p:cNvSpPr>
          <p:nvPr/>
        </p:nvSpPr>
        <p:spPr>
          <a:xfrm>
            <a:off x="2384321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Согласова-ние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 проектных решений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C0D827-16FB-4EDC-BF9A-60FA5CCA38FD}"/>
              </a:ext>
            </a:extLst>
          </p:cNvPr>
          <p:cNvGrpSpPr/>
          <p:nvPr/>
        </p:nvGrpSpPr>
        <p:grpSpPr>
          <a:xfrm>
            <a:off x="2593604" y="5227034"/>
            <a:ext cx="425422" cy="380352"/>
            <a:chOff x="4683218" y="3239282"/>
            <a:chExt cx="380352" cy="380352"/>
          </a:xfrm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48591AC-EBDA-43B1-9A06-8B1C9314CFFE}"/>
                </a:ext>
              </a:extLst>
            </p:cNvPr>
            <p:cNvSpPr/>
            <p:nvPr/>
          </p:nvSpPr>
          <p:spPr>
            <a:xfrm>
              <a:off x="4683218" y="3239282"/>
              <a:ext cx="380352" cy="380352"/>
            </a:xfrm>
            <a:custGeom>
              <a:avLst/>
              <a:gdLst>
                <a:gd name="connsiteX0" fmla="*/ 0 w 380352"/>
                <a:gd name="connsiteY0" fmla="*/ 0 h 380352"/>
                <a:gd name="connsiteX1" fmla="*/ 380353 w 380352"/>
                <a:gd name="connsiteY1" fmla="*/ 0 h 380352"/>
                <a:gd name="connsiteX2" fmla="*/ 380353 w 380352"/>
                <a:gd name="connsiteY2" fmla="*/ 380353 h 380352"/>
                <a:gd name="connsiteX3" fmla="*/ 0 w 380352"/>
                <a:gd name="connsiteY3" fmla="*/ 380353 h 38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352" h="380352">
                  <a:moveTo>
                    <a:pt x="0" y="0"/>
                  </a:moveTo>
                  <a:lnTo>
                    <a:pt x="380353" y="0"/>
                  </a:lnTo>
                  <a:lnTo>
                    <a:pt x="380353" y="380353"/>
                  </a:lnTo>
                  <a:lnTo>
                    <a:pt x="0" y="380353"/>
                  </a:lnTo>
                  <a:close/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C5D4B-DB38-4F98-8F54-09C498AE49AB}"/>
                </a:ext>
              </a:extLst>
            </p:cNvPr>
            <p:cNvSpPr/>
            <p:nvPr/>
          </p:nvSpPr>
          <p:spPr>
            <a:xfrm>
              <a:off x="4723707" y="3414122"/>
              <a:ext cx="169931" cy="6134"/>
            </a:xfrm>
            <a:custGeom>
              <a:avLst/>
              <a:gdLst>
                <a:gd name="connsiteX0" fmla="*/ 0 w 169931"/>
                <a:gd name="connsiteY0" fmla="*/ 0 h 6134"/>
                <a:gd name="connsiteX1" fmla="*/ 169932 w 169931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931" h="6134">
                  <a:moveTo>
                    <a:pt x="0" y="0"/>
                  </a:moveTo>
                  <a:lnTo>
                    <a:pt x="169932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0AD397C-2B56-4F52-AF30-2EE80D27DB96}"/>
                </a:ext>
              </a:extLst>
            </p:cNvPr>
            <p:cNvSpPr/>
            <p:nvPr/>
          </p:nvSpPr>
          <p:spPr>
            <a:xfrm>
              <a:off x="4723707" y="3444795"/>
              <a:ext cx="169931" cy="6134"/>
            </a:xfrm>
            <a:custGeom>
              <a:avLst/>
              <a:gdLst>
                <a:gd name="connsiteX0" fmla="*/ 0 w 169931"/>
                <a:gd name="connsiteY0" fmla="*/ 0 h 6134"/>
                <a:gd name="connsiteX1" fmla="*/ 169932 w 169931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931" h="6134">
                  <a:moveTo>
                    <a:pt x="0" y="0"/>
                  </a:moveTo>
                  <a:lnTo>
                    <a:pt x="169932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BCA885F-DC97-42B3-A3F6-D1FDA8B2CF16}"/>
                </a:ext>
              </a:extLst>
            </p:cNvPr>
            <p:cNvSpPr/>
            <p:nvPr/>
          </p:nvSpPr>
          <p:spPr>
            <a:xfrm>
              <a:off x="4929834" y="3400625"/>
              <a:ext cx="57666" cy="57666"/>
            </a:xfrm>
            <a:custGeom>
              <a:avLst/>
              <a:gdLst>
                <a:gd name="connsiteX0" fmla="*/ 0 w 57666"/>
                <a:gd name="connsiteY0" fmla="*/ 0 h 57666"/>
                <a:gd name="connsiteX1" fmla="*/ 57666 w 57666"/>
                <a:gd name="connsiteY1" fmla="*/ 0 h 57666"/>
                <a:gd name="connsiteX2" fmla="*/ 57666 w 57666"/>
                <a:gd name="connsiteY2" fmla="*/ 57666 h 57666"/>
                <a:gd name="connsiteX3" fmla="*/ 0 w 57666"/>
                <a:gd name="connsiteY3" fmla="*/ 57666 h 5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66" h="57666">
                  <a:moveTo>
                    <a:pt x="0" y="0"/>
                  </a:moveTo>
                  <a:lnTo>
                    <a:pt x="57666" y="0"/>
                  </a:lnTo>
                  <a:lnTo>
                    <a:pt x="57666" y="57666"/>
                  </a:lnTo>
                  <a:lnTo>
                    <a:pt x="0" y="57666"/>
                  </a:lnTo>
                  <a:close/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3F17FEA-3DD8-4B66-B9A3-BF400C601954}"/>
                </a:ext>
              </a:extLst>
            </p:cNvPr>
            <p:cNvSpPr/>
            <p:nvPr/>
          </p:nvSpPr>
          <p:spPr>
            <a:xfrm>
              <a:off x="4723707" y="3550926"/>
              <a:ext cx="103063" cy="6134"/>
            </a:xfrm>
            <a:custGeom>
              <a:avLst/>
              <a:gdLst>
                <a:gd name="connsiteX0" fmla="*/ 0 w 103063"/>
                <a:gd name="connsiteY0" fmla="*/ 0 h 6134"/>
                <a:gd name="connsiteX1" fmla="*/ 103063 w 103063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063" h="6134">
                  <a:moveTo>
                    <a:pt x="0" y="0"/>
                  </a:moveTo>
                  <a:lnTo>
                    <a:pt x="103063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B2069CE-483A-4C93-91DB-D6B8548D4CB6}"/>
                </a:ext>
              </a:extLst>
            </p:cNvPr>
            <p:cNvSpPr/>
            <p:nvPr/>
          </p:nvSpPr>
          <p:spPr>
            <a:xfrm>
              <a:off x="4858671" y="3550926"/>
              <a:ext cx="34967" cy="6134"/>
            </a:xfrm>
            <a:custGeom>
              <a:avLst/>
              <a:gdLst>
                <a:gd name="connsiteX0" fmla="*/ 0 w 34967"/>
                <a:gd name="connsiteY0" fmla="*/ 0 h 6134"/>
                <a:gd name="connsiteX1" fmla="*/ 34968 w 34967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967" h="6134">
                  <a:moveTo>
                    <a:pt x="0" y="0"/>
                  </a:moveTo>
                  <a:lnTo>
                    <a:pt x="34968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42933C7-EB77-4FDF-A3A8-AC909A82E3F7}"/>
                </a:ext>
              </a:extLst>
            </p:cNvPr>
            <p:cNvSpPr/>
            <p:nvPr/>
          </p:nvSpPr>
          <p:spPr>
            <a:xfrm>
              <a:off x="4723707" y="3520252"/>
              <a:ext cx="169931" cy="6134"/>
            </a:xfrm>
            <a:custGeom>
              <a:avLst/>
              <a:gdLst>
                <a:gd name="connsiteX0" fmla="*/ 0 w 169931"/>
                <a:gd name="connsiteY0" fmla="*/ 0 h 6134"/>
                <a:gd name="connsiteX1" fmla="*/ 169932 w 169931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931" h="6134">
                  <a:moveTo>
                    <a:pt x="0" y="0"/>
                  </a:moveTo>
                  <a:lnTo>
                    <a:pt x="169932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EB2958C-4865-4E47-9C18-62C57BB9DF58}"/>
                </a:ext>
              </a:extLst>
            </p:cNvPr>
            <p:cNvSpPr/>
            <p:nvPr/>
          </p:nvSpPr>
          <p:spPr>
            <a:xfrm>
              <a:off x="4929834" y="3507369"/>
              <a:ext cx="57666" cy="57666"/>
            </a:xfrm>
            <a:custGeom>
              <a:avLst/>
              <a:gdLst>
                <a:gd name="connsiteX0" fmla="*/ 0 w 57666"/>
                <a:gd name="connsiteY0" fmla="*/ 0 h 57666"/>
                <a:gd name="connsiteX1" fmla="*/ 57666 w 57666"/>
                <a:gd name="connsiteY1" fmla="*/ 0 h 57666"/>
                <a:gd name="connsiteX2" fmla="*/ 57666 w 57666"/>
                <a:gd name="connsiteY2" fmla="*/ 57666 h 57666"/>
                <a:gd name="connsiteX3" fmla="*/ 0 w 57666"/>
                <a:gd name="connsiteY3" fmla="*/ 57666 h 5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66" h="57666">
                  <a:moveTo>
                    <a:pt x="0" y="0"/>
                  </a:moveTo>
                  <a:lnTo>
                    <a:pt x="57666" y="0"/>
                  </a:lnTo>
                  <a:lnTo>
                    <a:pt x="57666" y="57666"/>
                  </a:lnTo>
                  <a:lnTo>
                    <a:pt x="0" y="57666"/>
                  </a:lnTo>
                  <a:close/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567B432-52E1-4243-9F4B-5E678E612E21}"/>
                </a:ext>
              </a:extLst>
            </p:cNvPr>
            <p:cNvSpPr/>
            <p:nvPr/>
          </p:nvSpPr>
          <p:spPr>
            <a:xfrm>
              <a:off x="4723707" y="3307991"/>
              <a:ext cx="169931" cy="6134"/>
            </a:xfrm>
            <a:custGeom>
              <a:avLst/>
              <a:gdLst>
                <a:gd name="connsiteX0" fmla="*/ 0 w 169931"/>
                <a:gd name="connsiteY0" fmla="*/ 0 h 6134"/>
                <a:gd name="connsiteX1" fmla="*/ 169932 w 169931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9931" h="6134">
                  <a:moveTo>
                    <a:pt x="0" y="0"/>
                  </a:moveTo>
                  <a:lnTo>
                    <a:pt x="169932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87091AA-F63B-42BF-BFC3-AC596ECC6415}"/>
                </a:ext>
              </a:extLst>
            </p:cNvPr>
            <p:cNvSpPr/>
            <p:nvPr/>
          </p:nvSpPr>
          <p:spPr>
            <a:xfrm>
              <a:off x="4723707" y="3338665"/>
              <a:ext cx="62574" cy="6134"/>
            </a:xfrm>
            <a:custGeom>
              <a:avLst/>
              <a:gdLst>
                <a:gd name="connsiteX0" fmla="*/ 0 w 62574"/>
                <a:gd name="connsiteY0" fmla="*/ 0 h 6134"/>
                <a:gd name="connsiteX1" fmla="*/ 62574 w 62574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574" h="6134">
                  <a:moveTo>
                    <a:pt x="0" y="0"/>
                  </a:moveTo>
                  <a:lnTo>
                    <a:pt x="62574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04FC4AD-864E-43BB-9EDA-B88625634B39}"/>
                </a:ext>
              </a:extLst>
            </p:cNvPr>
            <p:cNvSpPr/>
            <p:nvPr/>
          </p:nvSpPr>
          <p:spPr>
            <a:xfrm>
              <a:off x="4845175" y="3338665"/>
              <a:ext cx="48464" cy="6134"/>
            </a:xfrm>
            <a:custGeom>
              <a:avLst/>
              <a:gdLst>
                <a:gd name="connsiteX0" fmla="*/ 0 w 48464"/>
                <a:gd name="connsiteY0" fmla="*/ 0 h 6134"/>
                <a:gd name="connsiteX1" fmla="*/ 48464 w 48464"/>
                <a:gd name="connsiteY1" fmla="*/ 0 h 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464" h="6134">
                  <a:moveTo>
                    <a:pt x="0" y="0"/>
                  </a:moveTo>
                  <a:lnTo>
                    <a:pt x="48464" y="0"/>
                  </a:lnTo>
                </a:path>
              </a:pathLst>
            </a:custGeom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C1324C8-FC2A-45DD-AD7F-C169557D1826}"/>
                </a:ext>
              </a:extLst>
            </p:cNvPr>
            <p:cNvSpPr/>
            <p:nvPr/>
          </p:nvSpPr>
          <p:spPr>
            <a:xfrm>
              <a:off x="4929834" y="3294495"/>
              <a:ext cx="57052" cy="57052"/>
            </a:xfrm>
            <a:custGeom>
              <a:avLst/>
              <a:gdLst>
                <a:gd name="connsiteX0" fmla="*/ 0 w 57052"/>
                <a:gd name="connsiteY0" fmla="*/ 57053 h 57052"/>
                <a:gd name="connsiteX1" fmla="*/ 0 w 57052"/>
                <a:gd name="connsiteY1" fmla="*/ 0 h 57052"/>
                <a:gd name="connsiteX2" fmla="*/ 57053 w 57052"/>
                <a:gd name="connsiteY2" fmla="*/ 0 h 5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052" h="57052">
                  <a:moveTo>
                    <a:pt x="0" y="57053"/>
                  </a:moveTo>
                  <a:lnTo>
                    <a:pt x="0" y="0"/>
                  </a:lnTo>
                  <a:lnTo>
                    <a:pt x="57053" y="0"/>
                  </a:ln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2032465-DE4B-4380-96C9-6F46A9E70547}"/>
                </a:ext>
              </a:extLst>
            </p:cNvPr>
            <p:cNvSpPr/>
            <p:nvPr/>
          </p:nvSpPr>
          <p:spPr>
            <a:xfrm>
              <a:off x="4960508" y="3302470"/>
              <a:ext cx="62574" cy="44169"/>
            </a:xfrm>
            <a:custGeom>
              <a:avLst/>
              <a:gdLst>
                <a:gd name="connsiteX0" fmla="*/ 0 w 62574"/>
                <a:gd name="connsiteY0" fmla="*/ 25152 h 44169"/>
                <a:gd name="connsiteX1" fmla="*/ 18404 w 62574"/>
                <a:gd name="connsiteY1" fmla="*/ 44170 h 44169"/>
                <a:gd name="connsiteX2" fmla="*/ 62574 w 62574"/>
                <a:gd name="connsiteY2" fmla="*/ 0 h 4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574" h="44169">
                  <a:moveTo>
                    <a:pt x="0" y="25152"/>
                  </a:moveTo>
                  <a:lnTo>
                    <a:pt x="18404" y="44170"/>
                  </a:lnTo>
                  <a:lnTo>
                    <a:pt x="62574" y="0"/>
                  </a:lnTo>
                </a:path>
              </a:pathLst>
            </a:custGeom>
            <a:noFill/>
            <a:ln w="6350" cap="flat">
              <a:solidFill>
                <a:schemeClr val="accent1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6FB13A3B-5F7F-48D6-B0E2-31B3D370DC0F}"/>
              </a:ext>
            </a:extLst>
          </p:cNvPr>
          <p:cNvCxnSpPr>
            <a:cxnSpLocks/>
            <a:stCxn id="380" idx="0"/>
            <a:endCxn id="179" idx="2"/>
          </p:cNvCxnSpPr>
          <p:nvPr/>
        </p:nvCxnSpPr>
        <p:spPr>
          <a:xfrm flipV="1">
            <a:off x="2806315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ineBasicDefault 8">
            <a:extLst>
              <a:ext uri="{FF2B5EF4-FFF2-40B4-BE49-F238E27FC236}">
                <a16:creationId xmlns:a16="http://schemas.microsoft.com/office/drawing/2014/main" id="{ED62D910-1253-4233-B848-56BAAA225ECA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418271" y="1744775"/>
            <a:ext cx="0" cy="3999774"/>
          </a:xfrm>
          <a:prstGeom prst="straightConnector1">
            <a:avLst/>
          </a:prstGeom>
          <a:ln w="6350" cap="sq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5AB35C4-9479-4FE6-AA2A-F7B71EF478CE}"/>
              </a:ext>
            </a:extLst>
          </p:cNvPr>
          <p:cNvSpPr/>
          <p:nvPr/>
        </p:nvSpPr>
        <p:spPr>
          <a:xfrm>
            <a:off x="5369517" y="2421179"/>
            <a:ext cx="97509" cy="536575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40586FC-48F6-47D5-8800-B7D2F7F1ACF0}"/>
              </a:ext>
            </a:extLst>
          </p:cNvPr>
          <p:cNvGrpSpPr>
            <a:grpSpLocks/>
          </p:cNvGrpSpPr>
          <p:nvPr/>
        </p:nvGrpSpPr>
        <p:grpSpPr>
          <a:xfrm>
            <a:off x="5311265" y="2536585"/>
            <a:ext cx="214013" cy="305763"/>
            <a:chOff x="2674302" y="4399710"/>
            <a:chExt cx="657786" cy="657288"/>
          </a:xfrm>
        </p:grpSpPr>
        <p:sp>
          <p:nvSpPr>
            <p:cNvPr id="115" name="Arrow: Chevron 114">
              <a:extLst>
                <a:ext uri="{FF2B5EF4-FFF2-40B4-BE49-F238E27FC236}">
                  <a16:creationId xmlns:a16="http://schemas.microsoft.com/office/drawing/2014/main" id="{5C3C8F99-7CEC-456C-93C2-1997836F72E8}"/>
                </a:ext>
              </a:extLst>
            </p:cNvPr>
            <p:cNvSpPr/>
            <p:nvPr/>
          </p:nvSpPr>
          <p:spPr>
            <a:xfrm>
              <a:off x="2674302" y="4399710"/>
              <a:ext cx="341165" cy="657288"/>
            </a:xfrm>
            <a:prstGeom prst="chevron">
              <a:avLst/>
            </a:prstGeom>
            <a:solidFill>
              <a:schemeClr val="accent3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700" dirty="0" err="1">
                <a:solidFill>
                  <a:schemeClr val="bg1"/>
                </a:solidFill>
              </a:endParaRPr>
            </a:p>
          </p:txBody>
        </p:sp>
        <p:sp>
          <p:nvSpPr>
            <p:cNvPr id="116" name="Arrow: Chevron 115">
              <a:extLst>
                <a:ext uri="{FF2B5EF4-FFF2-40B4-BE49-F238E27FC236}">
                  <a16:creationId xmlns:a16="http://schemas.microsoft.com/office/drawing/2014/main" id="{C5A92D94-0393-47D0-94F0-BF1326516667}"/>
                </a:ext>
              </a:extLst>
            </p:cNvPr>
            <p:cNvSpPr/>
            <p:nvPr/>
          </p:nvSpPr>
          <p:spPr>
            <a:xfrm>
              <a:off x="2990923" y="4399710"/>
              <a:ext cx="341165" cy="657288"/>
            </a:xfrm>
            <a:prstGeom prst="chevron">
              <a:avLst/>
            </a:prstGeom>
            <a:solidFill>
              <a:schemeClr val="accent3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7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C41A5E8F-2D79-46C4-AA3F-E3C6DA14E794}"/>
              </a:ext>
            </a:extLst>
          </p:cNvPr>
          <p:cNvGrpSpPr/>
          <p:nvPr/>
        </p:nvGrpSpPr>
        <p:grpSpPr>
          <a:xfrm>
            <a:off x="4622822" y="3384693"/>
            <a:ext cx="444729" cy="173265"/>
            <a:chOff x="1820450" y="4780273"/>
            <a:chExt cx="554140" cy="229366"/>
          </a:xfrm>
        </p:grpSpPr>
        <p:sp>
          <p:nvSpPr>
            <p:cNvPr id="304" name="Freeform 64">
              <a:extLst>
                <a:ext uri="{FF2B5EF4-FFF2-40B4-BE49-F238E27FC236}">
                  <a16:creationId xmlns:a16="http://schemas.microsoft.com/office/drawing/2014/main" id="{7B086FEE-00ED-4CA6-A726-B390A1B4D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911" y="4780273"/>
              <a:ext cx="486679" cy="229366"/>
            </a:xfrm>
            <a:custGeom>
              <a:avLst/>
              <a:gdLst>
                <a:gd name="T0" fmla="*/ 162 w 240"/>
                <a:gd name="T1" fmla="*/ 30 h 113"/>
                <a:gd name="T2" fmla="*/ 211 w 240"/>
                <a:gd name="T3" fmla="*/ 5 h 113"/>
                <a:gd name="T4" fmla="*/ 236 w 240"/>
                <a:gd name="T5" fmla="*/ 11 h 113"/>
                <a:gd name="T6" fmla="*/ 227 w 240"/>
                <a:gd name="T7" fmla="*/ 35 h 113"/>
                <a:gd name="T8" fmla="*/ 126 w 240"/>
                <a:gd name="T9" fmla="*/ 90 h 113"/>
                <a:gd name="T10" fmla="*/ 121 w 240"/>
                <a:gd name="T11" fmla="*/ 91 h 113"/>
                <a:gd name="T12" fmla="*/ 27 w 240"/>
                <a:gd name="T13" fmla="*/ 93 h 113"/>
                <a:gd name="T14" fmla="*/ 0 w 240"/>
                <a:gd name="T1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" h="113">
                  <a:moveTo>
                    <a:pt x="162" y="30"/>
                  </a:moveTo>
                  <a:cubicBezTo>
                    <a:pt x="211" y="5"/>
                    <a:pt x="211" y="5"/>
                    <a:pt x="211" y="5"/>
                  </a:cubicBezTo>
                  <a:cubicBezTo>
                    <a:pt x="220" y="0"/>
                    <a:pt x="231" y="2"/>
                    <a:pt x="236" y="11"/>
                  </a:cubicBezTo>
                  <a:cubicBezTo>
                    <a:pt x="240" y="19"/>
                    <a:pt x="236" y="30"/>
                    <a:pt x="227" y="35"/>
                  </a:cubicBezTo>
                  <a:cubicBezTo>
                    <a:pt x="126" y="90"/>
                    <a:pt x="126" y="90"/>
                    <a:pt x="126" y="90"/>
                  </a:cubicBezTo>
                  <a:cubicBezTo>
                    <a:pt x="121" y="91"/>
                    <a:pt x="121" y="91"/>
                    <a:pt x="121" y="91"/>
                  </a:cubicBezTo>
                  <a:cubicBezTo>
                    <a:pt x="27" y="93"/>
                    <a:pt x="27" y="93"/>
                    <a:pt x="27" y="93"/>
                  </a:cubicBezTo>
                  <a:cubicBezTo>
                    <a:pt x="27" y="93"/>
                    <a:pt x="15" y="97"/>
                    <a:pt x="0" y="113"/>
                  </a:cubicBez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05" name="Freeform 65">
              <a:extLst>
                <a:ext uri="{FF2B5EF4-FFF2-40B4-BE49-F238E27FC236}">
                  <a16:creationId xmlns:a16="http://schemas.microsoft.com/office/drawing/2014/main" id="{F37A871A-AC28-4BFE-88B0-204CEFE1C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450" y="4800511"/>
              <a:ext cx="363323" cy="109864"/>
            </a:xfrm>
            <a:custGeom>
              <a:avLst/>
              <a:gdLst>
                <a:gd name="T0" fmla="*/ 0 w 179"/>
                <a:gd name="T1" fmla="*/ 54 h 54"/>
                <a:gd name="T2" fmla="*/ 42 w 179"/>
                <a:gd name="T3" fmla="*/ 15 h 54"/>
                <a:gd name="T4" fmla="*/ 88 w 179"/>
                <a:gd name="T5" fmla="*/ 8 h 54"/>
                <a:gd name="T6" fmla="*/ 122 w 179"/>
                <a:gd name="T7" fmla="*/ 12 h 54"/>
                <a:gd name="T8" fmla="*/ 159 w 179"/>
                <a:gd name="T9" fmla="*/ 12 h 54"/>
                <a:gd name="T10" fmla="*/ 179 w 179"/>
                <a:gd name="T11" fmla="*/ 30 h 54"/>
                <a:gd name="T12" fmla="*/ 159 w 179"/>
                <a:gd name="T13" fmla="*/ 47 h 54"/>
                <a:gd name="T14" fmla="*/ 108 w 179"/>
                <a:gd name="T15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54">
                  <a:moveTo>
                    <a:pt x="0" y="54"/>
                  </a:moveTo>
                  <a:cubicBezTo>
                    <a:pt x="42" y="15"/>
                    <a:pt x="42" y="15"/>
                    <a:pt x="42" y="15"/>
                  </a:cubicBezTo>
                  <a:cubicBezTo>
                    <a:pt x="63" y="0"/>
                    <a:pt x="88" y="8"/>
                    <a:pt x="88" y="8"/>
                  </a:cubicBezTo>
                  <a:cubicBezTo>
                    <a:pt x="100" y="11"/>
                    <a:pt x="122" y="12"/>
                    <a:pt x="122" y="12"/>
                  </a:cubicBezTo>
                  <a:cubicBezTo>
                    <a:pt x="159" y="12"/>
                    <a:pt x="159" y="12"/>
                    <a:pt x="159" y="12"/>
                  </a:cubicBezTo>
                  <a:cubicBezTo>
                    <a:pt x="170" y="12"/>
                    <a:pt x="179" y="20"/>
                    <a:pt x="179" y="30"/>
                  </a:cubicBezTo>
                  <a:cubicBezTo>
                    <a:pt x="179" y="39"/>
                    <a:pt x="170" y="47"/>
                    <a:pt x="159" y="47"/>
                  </a:cubicBezTo>
                  <a:cubicBezTo>
                    <a:pt x="108" y="47"/>
                    <a:pt x="108" y="47"/>
                    <a:pt x="108" y="47"/>
                  </a:cubicBez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FF73CC82-315E-4AB3-B134-540824C535C5}"/>
              </a:ext>
            </a:extLst>
          </p:cNvPr>
          <p:cNvGrpSpPr/>
          <p:nvPr/>
        </p:nvGrpSpPr>
        <p:grpSpPr>
          <a:xfrm>
            <a:off x="4726796" y="3075886"/>
            <a:ext cx="291283" cy="285212"/>
            <a:chOff x="5761038" y="627063"/>
            <a:chExt cx="709613" cy="738188"/>
          </a:xfrm>
        </p:grpSpPr>
        <p:sp>
          <p:nvSpPr>
            <p:cNvPr id="309" name="Line 37">
              <a:extLst>
                <a:ext uri="{FF2B5EF4-FFF2-40B4-BE49-F238E27FC236}">
                  <a16:creationId xmlns:a16="http://schemas.microsoft.com/office/drawing/2014/main" id="{D73289E5-5CE3-4367-915E-C66EA6222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801688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0" name="Line 38">
              <a:extLst>
                <a:ext uri="{FF2B5EF4-FFF2-40B4-BE49-F238E27FC236}">
                  <a16:creationId xmlns:a16="http://schemas.microsoft.com/office/drawing/2014/main" id="{DAE881EB-7733-4A32-A53E-5708DF813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892175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1" name="Line 39">
              <a:extLst>
                <a:ext uri="{FF2B5EF4-FFF2-40B4-BE49-F238E27FC236}">
                  <a16:creationId xmlns:a16="http://schemas.microsoft.com/office/drawing/2014/main" id="{0362D437-D366-42D3-B06F-90F1BBE9A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984250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2" name="Line 40">
              <a:extLst>
                <a:ext uri="{FF2B5EF4-FFF2-40B4-BE49-F238E27FC236}">
                  <a16:creationId xmlns:a16="http://schemas.microsoft.com/office/drawing/2014/main" id="{7026E3C5-0344-433E-8ADD-C514F043C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1165225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3" name="Line 41">
              <a:extLst>
                <a:ext uri="{FF2B5EF4-FFF2-40B4-BE49-F238E27FC236}">
                  <a16:creationId xmlns:a16="http://schemas.microsoft.com/office/drawing/2014/main" id="{EAF596BB-9929-46E2-8A96-6ED36F375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1255713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4" name="Line 42">
              <a:extLst>
                <a:ext uri="{FF2B5EF4-FFF2-40B4-BE49-F238E27FC236}">
                  <a16:creationId xmlns:a16="http://schemas.microsoft.com/office/drawing/2014/main" id="{90911178-DAE6-4671-8151-C8F6CFC9E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1074738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5" name="Line 43">
              <a:extLst>
                <a:ext uri="{FF2B5EF4-FFF2-40B4-BE49-F238E27FC236}">
                  <a16:creationId xmlns:a16="http://schemas.microsoft.com/office/drawing/2014/main" id="{5BBA84BE-5C63-411A-B01A-6B8EE0887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1346200"/>
              <a:ext cx="15875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6" name="Line 44">
              <a:extLst>
                <a:ext uri="{FF2B5EF4-FFF2-40B4-BE49-F238E27FC236}">
                  <a16:creationId xmlns:a16="http://schemas.microsoft.com/office/drawing/2014/main" id="{7B52DFA0-211A-475A-9920-1DE5F7B77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951" y="1165225"/>
              <a:ext cx="92075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7" name="Line 45">
              <a:extLst>
                <a:ext uri="{FF2B5EF4-FFF2-40B4-BE49-F238E27FC236}">
                  <a16:creationId xmlns:a16="http://schemas.microsoft.com/office/drawing/2014/main" id="{195A3D1E-1629-4328-946C-7CD57D93C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951" y="1255713"/>
              <a:ext cx="92075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8" name="Line 46">
              <a:extLst>
                <a:ext uri="{FF2B5EF4-FFF2-40B4-BE49-F238E27FC236}">
                  <a16:creationId xmlns:a16="http://schemas.microsoft.com/office/drawing/2014/main" id="{B19A7B12-3809-40F4-BF36-A62D0BBD6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951" y="1074738"/>
              <a:ext cx="92075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19" name="Line 47">
              <a:extLst>
                <a:ext uri="{FF2B5EF4-FFF2-40B4-BE49-F238E27FC236}">
                  <a16:creationId xmlns:a16="http://schemas.microsoft.com/office/drawing/2014/main" id="{9C2B7641-699B-45F7-9E73-5A4F4D602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951" y="1346200"/>
              <a:ext cx="92075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0" name="Line 48">
              <a:extLst>
                <a:ext uri="{FF2B5EF4-FFF2-40B4-BE49-F238E27FC236}">
                  <a16:creationId xmlns:a16="http://schemas.microsoft.com/office/drawing/2014/main" id="{6A61E1DB-2C01-487E-9F51-303230ABD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6663" y="1165225"/>
              <a:ext cx="8890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1" name="Line 49">
              <a:extLst>
                <a:ext uri="{FF2B5EF4-FFF2-40B4-BE49-F238E27FC236}">
                  <a16:creationId xmlns:a16="http://schemas.microsoft.com/office/drawing/2014/main" id="{5089FD58-80BE-40FE-A3FD-BA0D5AE94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6663" y="1255713"/>
              <a:ext cx="8890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2" name="Line 50">
              <a:extLst>
                <a:ext uri="{FF2B5EF4-FFF2-40B4-BE49-F238E27FC236}">
                  <a16:creationId xmlns:a16="http://schemas.microsoft.com/office/drawing/2014/main" id="{175845E9-F208-48A8-A5D5-F631A1098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6663" y="1346200"/>
              <a:ext cx="88900" cy="0"/>
            </a:xfrm>
            <a:prstGeom prst="line">
              <a:avLst/>
            </a:pr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3" name="Line 51">
              <a:extLst>
                <a:ext uri="{FF2B5EF4-FFF2-40B4-BE49-F238E27FC236}">
                  <a16:creationId xmlns:a16="http://schemas.microsoft.com/office/drawing/2014/main" id="{8457D62E-D06E-43E8-B795-AFF0B915E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1" y="627063"/>
              <a:ext cx="0" cy="82550"/>
            </a:xfrm>
            <a:prstGeom prst="line">
              <a:avLst/>
            </a:prstGeom>
            <a:noFill/>
            <a:ln w="6350" cap="rnd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4" name="Freeform 52">
              <a:extLst>
                <a:ext uri="{FF2B5EF4-FFF2-40B4-BE49-F238E27FC236}">
                  <a16:creationId xmlns:a16="http://schemas.microsoft.com/office/drawing/2014/main" id="{7D0C3C64-C0A0-48DA-AF67-C79AE23C6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763" y="711200"/>
              <a:ext cx="284163" cy="654050"/>
            </a:xfrm>
            <a:custGeom>
              <a:avLst/>
              <a:gdLst>
                <a:gd name="T0" fmla="*/ 0 w 100"/>
                <a:gd name="T1" fmla="*/ 231 h 231"/>
                <a:gd name="T2" fmla="*/ 0 w 100"/>
                <a:gd name="T3" fmla="*/ 12 h 231"/>
                <a:gd name="T4" fmla="*/ 12 w 100"/>
                <a:gd name="T5" fmla="*/ 0 h 231"/>
                <a:gd name="T6" fmla="*/ 88 w 100"/>
                <a:gd name="T7" fmla="*/ 0 h 231"/>
                <a:gd name="T8" fmla="*/ 100 w 100"/>
                <a:gd name="T9" fmla="*/ 12 h 231"/>
                <a:gd name="T10" fmla="*/ 100 w 100"/>
                <a:gd name="T11" fmla="*/ 23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" h="231">
                  <a:moveTo>
                    <a:pt x="0" y="231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5" y="0"/>
                    <a:pt x="100" y="6"/>
                    <a:pt x="100" y="12"/>
                  </a:cubicBezTo>
                  <a:cubicBezTo>
                    <a:pt x="100" y="231"/>
                    <a:pt x="100" y="231"/>
                    <a:pt x="100" y="231"/>
                  </a:cubicBez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5" name="Freeform 53">
              <a:extLst>
                <a:ext uri="{FF2B5EF4-FFF2-40B4-BE49-F238E27FC236}">
                  <a16:creationId xmlns:a16="http://schemas.microsoft.com/office/drawing/2014/main" id="{A7150398-68F7-4B9E-9EEC-F3C3F070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1038" y="981075"/>
              <a:ext cx="153988" cy="384175"/>
            </a:xfrm>
            <a:custGeom>
              <a:avLst/>
              <a:gdLst>
                <a:gd name="T0" fmla="*/ 0 w 54"/>
                <a:gd name="T1" fmla="*/ 136 h 136"/>
                <a:gd name="T2" fmla="*/ 0 w 54"/>
                <a:gd name="T3" fmla="*/ 12 h 136"/>
                <a:gd name="T4" fmla="*/ 12 w 54"/>
                <a:gd name="T5" fmla="*/ 0 h 136"/>
                <a:gd name="T6" fmla="*/ 54 w 54"/>
                <a:gd name="T7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36">
                  <a:moveTo>
                    <a:pt x="0" y="136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  <p:sp>
          <p:nvSpPr>
            <p:cNvPr id="326" name="Freeform 54">
              <a:extLst>
                <a:ext uri="{FF2B5EF4-FFF2-40B4-BE49-F238E27FC236}">
                  <a16:creationId xmlns:a16="http://schemas.microsoft.com/office/drawing/2014/main" id="{2300613C-4473-42A3-BE4E-F9D78D795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6663" y="1071563"/>
              <a:ext cx="153988" cy="293688"/>
            </a:xfrm>
            <a:custGeom>
              <a:avLst/>
              <a:gdLst>
                <a:gd name="T0" fmla="*/ 54 w 54"/>
                <a:gd name="T1" fmla="*/ 104 h 104"/>
                <a:gd name="T2" fmla="*/ 54 w 54"/>
                <a:gd name="T3" fmla="*/ 12 h 104"/>
                <a:gd name="T4" fmla="*/ 42 w 54"/>
                <a:gd name="T5" fmla="*/ 0 h 104"/>
                <a:gd name="T6" fmla="*/ 0 w 54"/>
                <a:gd name="T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104">
                  <a:moveTo>
                    <a:pt x="54" y="104"/>
                  </a:moveTo>
                  <a:cubicBezTo>
                    <a:pt x="54" y="12"/>
                    <a:pt x="54" y="12"/>
                    <a:pt x="54" y="12"/>
                  </a:cubicBezTo>
                  <a:cubicBezTo>
                    <a:pt x="54" y="6"/>
                    <a:pt x="49" y="0"/>
                    <a:pt x="4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700"/>
            </a:p>
          </p:txBody>
        </p:sp>
      </p:grpSp>
      <p:sp>
        <p:nvSpPr>
          <p:cNvPr id="489" name="TextBox 488">
            <a:extLst>
              <a:ext uri="{FF2B5EF4-FFF2-40B4-BE49-F238E27FC236}">
                <a16:creationId xmlns:a16="http://schemas.microsoft.com/office/drawing/2014/main" id="{8DC29033-DCD1-45F3-90F2-3B7A792FBF88}"/>
              </a:ext>
            </a:extLst>
          </p:cNvPr>
          <p:cNvSpPr txBox="1">
            <a:spLocks/>
          </p:cNvSpPr>
          <p:nvPr/>
        </p:nvSpPr>
        <p:spPr>
          <a:xfrm>
            <a:off x="4423193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Прием зданий </a:t>
            </a:r>
            <a:b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</a:b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на баланс города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EA95C387-4419-405A-A317-AFADAC352578}"/>
              </a:ext>
            </a:extLst>
          </p:cNvPr>
          <p:cNvSpPr txBox="1">
            <a:spLocks/>
          </p:cNvSpPr>
          <p:nvPr/>
        </p:nvSpPr>
        <p:spPr>
          <a:xfrm>
            <a:off x="4423193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Проверка зданий </a:t>
            </a:r>
            <a:b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</a:b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на соответ-ствие Смарт-стандарту </a:t>
            </a:r>
            <a:b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</a:b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и тех. условиям</a:t>
            </a:r>
          </a:p>
        </p:txBody>
      </p:sp>
      <p:pic>
        <p:nvPicPr>
          <p:cNvPr id="17" name="CustomIcon">
            <a:extLst>
              <a:ext uri="{FF2B5EF4-FFF2-40B4-BE49-F238E27FC236}">
                <a16:creationId xmlns:a16="http://schemas.microsoft.com/office/drawing/2014/main" id="{83C8A4B1-39E0-4735-A834-C6E94B2C9C6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4088" y="5237416"/>
            <a:ext cx="402198" cy="359589"/>
          </a:xfrm>
          <a:prstGeom prst="rect">
            <a:avLst/>
          </a:prstGeom>
        </p:spPr>
      </p:pic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6BC2A4B0-54AE-4D25-8BFE-CEE3F75E75FB}"/>
              </a:ext>
            </a:extLst>
          </p:cNvPr>
          <p:cNvCxnSpPr>
            <a:cxnSpLocks/>
            <a:stCxn id="391" idx="0"/>
            <a:endCxn id="489" idx="2"/>
          </p:cNvCxnSpPr>
          <p:nvPr/>
        </p:nvCxnSpPr>
        <p:spPr>
          <a:xfrm flipV="1">
            <a:off x="4845187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CustomIcon">
            <a:extLst>
              <a:ext uri="{FF2B5EF4-FFF2-40B4-BE49-F238E27FC236}">
                <a16:creationId xmlns:a16="http://schemas.microsoft.com/office/drawing/2014/main" id="{04BDE8A1-BF5A-4B8F-9C6F-7CCF6BB5666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89947" y="3106100"/>
            <a:ext cx="471608" cy="421645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B66ADD09-BABC-4D3D-B370-718805A08901}"/>
              </a:ext>
            </a:extLst>
          </p:cNvPr>
          <p:cNvSpPr txBox="1">
            <a:spLocks/>
          </p:cNvSpPr>
          <p:nvPr/>
        </p:nvSpPr>
        <p:spPr>
          <a:xfrm>
            <a:off x="3403757" y="1744775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Строи-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тельно</a:t>
            </a: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-монтажные работы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91AD5697-F739-4F7B-A3FD-70BFBFF3FC1E}"/>
              </a:ext>
            </a:extLst>
          </p:cNvPr>
          <p:cNvSpPr txBox="1">
            <a:spLocks/>
          </p:cNvSpPr>
          <p:nvPr/>
        </p:nvSpPr>
        <p:spPr>
          <a:xfrm>
            <a:off x="3403757" y="3794203"/>
            <a:ext cx="843987" cy="1889383"/>
          </a:xfrm>
          <a:prstGeom prst="roundRect">
            <a:avLst>
              <a:gd name="adj" fmla="val 11638"/>
            </a:avLst>
          </a:prstGeom>
          <a:noFill/>
          <a:ln w="6350">
            <a:solidFill>
              <a:schemeClr val="accent1">
                <a:lumMod val="50000"/>
              </a:schemeClr>
            </a:solidFill>
          </a:ln>
        </p:spPr>
        <p:txBody>
          <a:bodyPr vert="horz" wrap="square" lIns="36000" tIns="36000" rIns="36000" bIns="3600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800" dirty="0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Тех. надзор за процессом строитель-</a:t>
            </a:r>
            <a:r>
              <a:rPr lang="ru-RU" sz="800" dirty="0" err="1">
                <a:solidFill>
                  <a:srgbClr val="000000"/>
                </a:solidFill>
                <a:latin typeface="Verdana" panose="020B0604030504040204" pitchFamily="34" charset="0"/>
                <a:sym typeface=""/>
              </a:rPr>
              <a:t>ства</a:t>
            </a:r>
            <a:endParaRPr lang="ru-RU" sz="800" dirty="0">
              <a:solidFill>
                <a:srgbClr val="000000"/>
              </a:solidFill>
              <a:latin typeface="Verdana" panose="020B0604030504040204" pitchFamily="34" charset="0"/>
              <a:sym typeface=""/>
            </a:endParaRPr>
          </a:p>
        </p:txBody>
      </p:sp>
      <p:pic>
        <p:nvPicPr>
          <p:cNvPr id="19" name="CustomIcon">
            <a:extLst>
              <a:ext uri="{FF2B5EF4-FFF2-40B4-BE49-F238E27FC236}">
                <a16:creationId xmlns:a16="http://schemas.microsoft.com/office/drawing/2014/main" id="{5807CE0B-9DF6-4C0E-A3D1-448743FCBB6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15316" y="5229069"/>
            <a:ext cx="420871" cy="376283"/>
          </a:xfrm>
          <a:prstGeom prst="rect">
            <a:avLst/>
          </a:prstGeom>
        </p:spPr>
      </p:pic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63E463A9-3C4F-428E-905F-456D9481840E}"/>
              </a:ext>
            </a:extLst>
          </p:cNvPr>
          <p:cNvCxnSpPr>
            <a:cxnSpLocks/>
            <a:stCxn id="384" idx="0"/>
            <a:endCxn id="180" idx="2"/>
          </p:cNvCxnSpPr>
          <p:nvPr/>
        </p:nvCxnSpPr>
        <p:spPr>
          <a:xfrm flipV="1">
            <a:off x="3825751" y="3634158"/>
            <a:ext cx="0" cy="160045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LineBasicDefault 8">
            <a:extLst>
              <a:ext uri="{FF2B5EF4-FFF2-40B4-BE49-F238E27FC236}">
                <a16:creationId xmlns:a16="http://schemas.microsoft.com/office/drawing/2014/main" id="{4C230D0C-B21B-4651-BB7D-A36F84B4935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9622749" y="1744775"/>
            <a:ext cx="0" cy="3999774"/>
          </a:xfrm>
          <a:prstGeom prst="straightConnector1">
            <a:avLst/>
          </a:prstGeom>
          <a:ln w="6350" cap="sq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1" name="Rectangle 540">
            <a:extLst>
              <a:ext uri="{FF2B5EF4-FFF2-40B4-BE49-F238E27FC236}">
                <a16:creationId xmlns:a16="http://schemas.microsoft.com/office/drawing/2014/main" id="{B6CE6BB5-CA7E-48C7-9EF6-6CE011E3259C}"/>
              </a:ext>
            </a:extLst>
          </p:cNvPr>
          <p:cNvSpPr/>
          <p:nvPr/>
        </p:nvSpPr>
        <p:spPr>
          <a:xfrm>
            <a:off x="9573995" y="2421179"/>
            <a:ext cx="97509" cy="536575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576DD56F-91B2-493B-BD81-8135CEAE1AD3}"/>
              </a:ext>
            </a:extLst>
          </p:cNvPr>
          <p:cNvGrpSpPr>
            <a:grpSpLocks/>
          </p:cNvGrpSpPr>
          <p:nvPr/>
        </p:nvGrpSpPr>
        <p:grpSpPr>
          <a:xfrm>
            <a:off x="9515743" y="2536585"/>
            <a:ext cx="214013" cy="305763"/>
            <a:chOff x="2674302" y="4399710"/>
            <a:chExt cx="657786" cy="657288"/>
          </a:xfrm>
        </p:grpSpPr>
        <p:sp>
          <p:nvSpPr>
            <p:cNvPr id="543" name="Arrow: Chevron 542">
              <a:extLst>
                <a:ext uri="{FF2B5EF4-FFF2-40B4-BE49-F238E27FC236}">
                  <a16:creationId xmlns:a16="http://schemas.microsoft.com/office/drawing/2014/main" id="{B05D8DE2-CB9B-4CED-8B32-3761D744B2CE}"/>
                </a:ext>
              </a:extLst>
            </p:cNvPr>
            <p:cNvSpPr/>
            <p:nvPr/>
          </p:nvSpPr>
          <p:spPr>
            <a:xfrm>
              <a:off x="2674302" y="4399710"/>
              <a:ext cx="341165" cy="657288"/>
            </a:xfrm>
            <a:prstGeom prst="chevron">
              <a:avLst/>
            </a:prstGeom>
            <a:solidFill>
              <a:schemeClr val="accent3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700" dirty="0" err="1">
                <a:solidFill>
                  <a:schemeClr val="bg1"/>
                </a:solidFill>
              </a:endParaRPr>
            </a:p>
          </p:txBody>
        </p:sp>
        <p:sp>
          <p:nvSpPr>
            <p:cNvPr id="544" name="Arrow: Chevron 543">
              <a:extLst>
                <a:ext uri="{FF2B5EF4-FFF2-40B4-BE49-F238E27FC236}">
                  <a16:creationId xmlns:a16="http://schemas.microsoft.com/office/drawing/2014/main" id="{30455D40-37D6-4BFC-B174-A915C72E7F29}"/>
                </a:ext>
              </a:extLst>
            </p:cNvPr>
            <p:cNvSpPr/>
            <p:nvPr/>
          </p:nvSpPr>
          <p:spPr>
            <a:xfrm>
              <a:off x="2990923" y="4399710"/>
              <a:ext cx="341165" cy="657288"/>
            </a:xfrm>
            <a:prstGeom prst="chevron">
              <a:avLst/>
            </a:prstGeom>
            <a:solidFill>
              <a:schemeClr val="accent3"/>
            </a:solidFill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7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43" name="TextBox 342">
            <a:extLst>
              <a:ext uri="{FF2B5EF4-FFF2-40B4-BE49-F238E27FC236}">
                <a16:creationId xmlns:a16="http://schemas.microsoft.com/office/drawing/2014/main" id="{7B3AA788-4289-4BB8-9A52-C679FD75A254}"/>
              </a:ext>
            </a:extLst>
          </p:cNvPr>
          <p:cNvSpPr txBox="1">
            <a:spLocks/>
          </p:cNvSpPr>
          <p:nvPr/>
        </p:nvSpPr>
        <p:spPr>
          <a:xfrm>
            <a:off x="510480" y="5792638"/>
            <a:ext cx="11329355" cy="319556"/>
          </a:xfrm>
          <a:prstGeom prst="roundRect">
            <a:avLst>
              <a:gd name="adj" fmla="val 11599"/>
            </a:avLst>
          </a:prstGeom>
          <a:solidFill>
            <a:schemeClr val="accent2">
              <a:lumMod val="20000"/>
              <a:lumOff val="80000"/>
            </a:schemeClr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lang="ru-RU" sz="1000" dirty="0">
                <a:latin typeface="+mj-lt"/>
              </a:rPr>
              <a:t>В рамках ДИТ уже имеется опыт организации </a:t>
            </a:r>
            <a:r>
              <a:rPr lang="ru-RU" sz="1000" b="1" dirty="0">
                <a:solidFill>
                  <a:schemeClr val="accent3"/>
                </a:solidFill>
                <a:latin typeface="+mj-lt"/>
              </a:rPr>
              <a:t>КП МПТЦ</a:t>
            </a:r>
            <a:r>
              <a:rPr lang="ru-RU" sz="1000" dirty="0">
                <a:latin typeface="+mj-lt"/>
              </a:rPr>
              <a:t>, которая участвует во </a:t>
            </a:r>
            <a:r>
              <a:rPr lang="ru-RU" sz="1000" b="1" dirty="0">
                <a:solidFill>
                  <a:schemeClr val="accent3"/>
                </a:solidFill>
                <a:latin typeface="+mj-lt"/>
              </a:rPr>
              <a:t>всех этапах создания инфраструктуры связи </a:t>
            </a:r>
            <a:r>
              <a:rPr lang="ru-RU" sz="1000" dirty="0">
                <a:latin typeface="+mj-lt"/>
              </a:rPr>
              <a:t>– от строительства до эксплуатации</a:t>
            </a:r>
            <a:endParaRPr kumimoji="0" lang="ru-RU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578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1C0E5BE2-4064-4007-8B9D-780ED5960C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95" imgH="396" progId="TCLayout.ActiveDocument.1">
                  <p:embed/>
                </p:oleObj>
              </mc:Choice>
              <mc:Fallback>
                <p:oleObj name="think-cell Slide" r:id="rId18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0E5BE2-4064-4007-8B9D-780ED5960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CC7C81E1-FDC9-4106-B1C4-18E2134F021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КП МПТЦ координирует деятельность всех вовлеченных сторон для создания инфраструктуры связи 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4022DF-38A4-40FD-A7BD-F848F899F43D}"/>
              </a:ext>
            </a:extLst>
          </p:cNvPr>
          <p:cNvSpPr>
            <a:spLocks/>
          </p:cNvSpPr>
          <p:nvPr/>
        </p:nvSpPr>
        <p:spPr>
          <a:xfrm>
            <a:off x="5667118" y="1358619"/>
            <a:ext cx="1420628" cy="515291"/>
          </a:xfrm>
          <a:prstGeom prst="round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ru-RU" sz="1100" b="1" dirty="0">
                <a:solidFill>
                  <a:schemeClr val="bg1"/>
                </a:solidFill>
              </a:rPr>
              <a:t>КП МПТЦ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2D34D9-4EEF-41AC-898D-ADD293D0BCE6}"/>
              </a:ext>
            </a:extLst>
          </p:cNvPr>
          <p:cNvSpPr txBox="1">
            <a:spLocks/>
          </p:cNvSpPr>
          <p:nvPr/>
        </p:nvSpPr>
        <p:spPr>
          <a:xfrm>
            <a:off x="554734" y="5301295"/>
            <a:ext cx="11082528" cy="779614"/>
          </a:xfrm>
          <a:prstGeom prst="roundRect">
            <a:avLst>
              <a:gd name="adj" fmla="val 11599"/>
            </a:avLst>
          </a:prstGeom>
          <a:solidFill>
            <a:schemeClr val="tx2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rPr>
              <a:t>КП «МПТЦ»  играет ключевую координирующую роль и выполняет функцию «единого окна» по всем вопросам связи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ru-RU" sz="1100" b="1" dirty="0">
                <a:solidFill>
                  <a:schemeClr val="bg1"/>
                </a:solidFill>
                <a:latin typeface="+mn-lt"/>
              </a:rPr>
              <a:t>Сроки предоставления услуг КП «МПТЦ» четко регламентированы и транслируются во внутренние КПЭ для сотрудников, тем самым предотвращая задержки на согласование на этапе строительства</a:t>
            </a:r>
            <a:endParaRPr kumimoji="0" lang="ru-RU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27C2DC9-3F1A-4D62-BC26-96006282693B}"/>
              </a:ext>
            </a:extLst>
          </p:cNvPr>
          <p:cNvSpPr>
            <a:spLocks/>
          </p:cNvSpPr>
          <p:nvPr/>
        </p:nvSpPr>
        <p:spPr>
          <a:xfrm>
            <a:off x="5667118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Департамент гор. имущества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12D63E-1879-4DA7-9F30-03998D6269B4}"/>
              </a:ext>
            </a:extLst>
          </p:cNvPr>
          <p:cNvSpPr>
            <a:spLocks/>
          </p:cNvSpPr>
          <p:nvPr/>
        </p:nvSpPr>
        <p:spPr>
          <a:xfrm>
            <a:off x="7183624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Департамент кап. 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ru-RU" sz="1100" dirty="0">
                <a:solidFill>
                  <a:schemeClr val="bg1"/>
                </a:solidFill>
              </a:rPr>
              <a:t>ремонта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D6239DF-E7C3-4736-9720-7A019A40B682}"/>
              </a:ext>
            </a:extLst>
          </p:cNvPr>
          <p:cNvSpPr>
            <a:spLocks/>
          </p:cNvSpPr>
          <p:nvPr/>
        </p:nvSpPr>
        <p:spPr>
          <a:xfrm>
            <a:off x="8700130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ДЖКХ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CE8A87D-FE05-4E2F-99A0-8662BA8A7FB0}"/>
              </a:ext>
            </a:extLst>
          </p:cNvPr>
          <p:cNvSpPr>
            <a:spLocks/>
          </p:cNvSpPr>
          <p:nvPr/>
        </p:nvSpPr>
        <p:spPr>
          <a:xfrm>
            <a:off x="1117600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Департамент строи</a:t>
            </a:r>
            <a:r>
              <a:rPr lang="en-US" sz="1100" dirty="0">
                <a:solidFill>
                  <a:schemeClr val="bg1"/>
                </a:solidFill>
              </a:rPr>
              <a:t>-</a:t>
            </a:r>
            <a:r>
              <a:rPr lang="ru-RU" sz="1100" dirty="0" err="1">
                <a:solidFill>
                  <a:schemeClr val="bg1"/>
                </a:solidFill>
              </a:rPr>
              <a:t>тельства</a:t>
            </a: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59BFE76-00B1-4C76-B153-611B034D398C}"/>
              </a:ext>
            </a:extLst>
          </p:cNvPr>
          <p:cNvSpPr>
            <a:spLocks/>
          </p:cNvSpPr>
          <p:nvPr/>
        </p:nvSpPr>
        <p:spPr>
          <a:xfrm>
            <a:off x="4150612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ДРНТ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CEA1C00-FFEA-4008-9321-D591DCB972F3}"/>
              </a:ext>
            </a:extLst>
          </p:cNvPr>
          <p:cNvSpPr>
            <a:spLocks/>
          </p:cNvSpPr>
          <p:nvPr/>
        </p:nvSpPr>
        <p:spPr>
          <a:xfrm>
            <a:off x="2634106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Фонд реновации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643DFE3-6022-4214-A2AF-9A8ACA39359F}"/>
              </a:ext>
            </a:extLst>
          </p:cNvPr>
          <p:cNvSpPr>
            <a:spLocks/>
          </p:cNvSpPr>
          <p:nvPr/>
        </p:nvSpPr>
        <p:spPr>
          <a:xfrm>
            <a:off x="10216634" y="2074899"/>
            <a:ext cx="1420628" cy="78961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25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100" dirty="0">
                <a:solidFill>
                  <a:schemeClr val="bg1"/>
                </a:solidFill>
              </a:rPr>
              <a:t>Операторы связи</a:t>
            </a:r>
          </a:p>
        </p:txBody>
      </p:sp>
      <p:cxnSp>
        <p:nvCxnSpPr>
          <p:cNvPr id="47" name="LineBasicDefault 47">
            <a:extLst>
              <a:ext uri="{FF2B5EF4-FFF2-40B4-BE49-F238E27FC236}">
                <a16:creationId xmlns:a16="http://schemas.microsoft.com/office/drawing/2014/main" id="{4AB2C668-D5C7-4B0D-A83C-86D478478974}"/>
              </a:ext>
            </a:extLst>
          </p:cNvPr>
          <p:cNvCxnSpPr>
            <a:cxnSpLocks/>
            <a:stCxn id="34" idx="0"/>
            <a:endCxn id="30" idx="2"/>
          </p:cNvCxnSpPr>
          <p:nvPr>
            <p:custDataLst>
              <p:tags r:id="rId3"/>
            </p:custDataLst>
          </p:nvPr>
        </p:nvCxnSpPr>
        <p:spPr>
          <a:xfrm rot="5400000" flipH="1" flipV="1">
            <a:off x="4002179" y="-300354"/>
            <a:ext cx="200989" cy="4549518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BasicDefault 47">
            <a:extLst>
              <a:ext uri="{FF2B5EF4-FFF2-40B4-BE49-F238E27FC236}">
                <a16:creationId xmlns:a16="http://schemas.microsoft.com/office/drawing/2014/main" id="{4D20FCBF-5990-49FD-A438-AAF672EB7DFD}"/>
              </a:ext>
            </a:extLst>
          </p:cNvPr>
          <p:cNvCxnSpPr>
            <a:cxnSpLocks/>
            <a:stCxn id="35" idx="0"/>
            <a:endCxn id="30" idx="2"/>
          </p:cNvCxnSpPr>
          <p:nvPr>
            <p:custDataLst>
              <p:tags r:id="rId4"/>
            </p:custDataLst>
          </p:nvPr>
        </p:nvCxnSpPr>
        <p:spPr>
          <a:xfrm rot="16200000" flipV="1">
            <a:off x="7035191" y="1216152"/>
            <a:ext cx="200989" cy="1516506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neBasicDefault 47">
            <a:extLst>
              <a:ext uri="{FF2B5EF4-FFF2-40B4-BE49-F238E27FC236}">
                <a16:creationId xmlns:a16="http://schemas.microsoft.com/office/drawing/2014/main" id="{60F8E625-B58F-47BD-9B4A-05271D545816}"/>
              </a:ext>
            </a:extLst>
          </p:cNvPr>
          <p:cNvCxnSpPr>
            <a:cxnSpLocks/>
            <a:stCxn id="36" idx="0"/>
            <a:endCxn id="30" idx="2"/>
          </p:cNvCxnSpPr>
          <p:nvPr>
            <p:custDataLst>
              <p:tags r:id="rId5"/>
            </p:custDataLst>
          </p:nvPr>
        </p:nvCxnSpPr>
        <p:spPr>
          <a:xfrm flipV="1">
            <a:off x="6377432" y="1873910"/>
            <a:ext cx="0" cy="200989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LineBasicDefault 47">
            <a:extLst>
              <a:ext uri="{FF2B5EF4-FFF2-40B4-BE49-F238E27FC236}">
                <a16:creationId xmlns:a16="http://schemas.microsoft.com/office/drawing/2014/main" id="{D4ADAD5A-3B7F-48E0-91B9-07663F6C3E49}"/>
              </a:ext>
            </a:extLst>
          </p:cNvPr>
          <p:cNvCxnSpPr>
            <a:cxnSpLocks/>
            <a:stCxn id="38" idx="0"/>
            <a:endCxn id="30" idx="2"/>
          </p:cNvCxnSpPr>
          <p:nvPr>
            <p:custDataLst>
              <p:tags r:id="rId6"/>
            </p:custDataLst>
          </p:nvPr>
        </p:nvCxnSpPr>
        <p:spPr>
          <a:xfrm rot="5400000" flipH="1" flipV="1">
            <a:off x="5518685" y="1216152"/>
            <a:ext cx="200989" cy="1516506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neBasicDefault 47">
            <a:extLst>
              <a:ext uri="{FF2B5EF4-FFF2-40B4-BE49-F238E27FC236}">
                <a16:creationId xmlns:a16="http://schemas.microsoft.com/office/drawing/2014/main" id="{10BFA808-B9D4-4626-93B3-C695EB668290}"/>
              </a:ext>
            </a:extLst>
          </p:cNvPr>
          <p:cNvCxnSpPr>
            <a:cxnSpLocks/>
            <a:stCxn id="39" idx="0"/>
            <a:endCxn id="30" idx="2"/>
          </p:cNvCxnSpPr>
          <p:nvPr>
            <p:custDataLst>
              <p:tags r:id="rId7"/>
            </p:custDataLst>
          </p:nvPr>
        </p:nvCxnSpPr>
        <p:spPr>
          <a:xfrm rot="5400000" flipH="1" flipV="1">
            <a:off x="4760432" y="457899"/>
            <a:ext cx="200989" cy="3033012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ineBasicDefault 47">
            <a:extLst>
              <a:ext uri="{FF2B5EF4-FFF2-40B4-BE49-F238E27FC236}">
                <a16:creationId xmlns:a16="http://schemas.microsoft.com/office/drawing/2014/main" id="{1376C87C-AA7D-4930-9631-54F019F1813A}"/>
              </a:ext>
            </a:extLst>
          </p:cNvPr>
          <p:cNvCxnSpPr>
            <a:cxnSpLocks/>
            <a:stCxn id="37" idx="0"/>
            <a:endCxn id="30" idx="2"/>
          </p:cNvCxnSpPr>
          <p:nvPr>
            <p:custDataLst>
              <p:tags r:id="rId8"/>
            </p:custDataLst>
          </p:nvPr>
        </p:nvCxnSpPr>
        <p:spPr>
          <a:xfrm rot="16200000" flipV="1">
            <a:off x="7793444" y="457899"/>
            <a:ext cx="200989" cy="3033012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ineBasicDefault 47">
            <a:extLst>
              <a:ext uri="{FF2B5EF4-FFF2-40B4-BE49-F238E27FC236}">
                <a16:creationId xmlns:a16="http://schemas.microsoft.com/office/drawing/2014/main" id="{195DB761-A0A2-41AE-B437-D8E88BFC2B96}"/>
              </a:ext>
            </a:extLst>
          </p:cNvPr>
          <p:cNvCxnSpPr>
            <a:cxnSpLocks/>
            <a:stCxn id="40" idx="0"/>
            <a:endCxn id="30" idx="2"/>
          </p:cNvCxnSpPr>
          <p:nvPr>
            <p:custDataLst>
              <p:tags r:id="rId9"/>
            </p:custDataLst>
          </p:nvPr>
        </p:nvCxnSpPr>
        <p:spPr>
          <a:xfrm rot="16200000" flipV="1">
            <a:off x="8551696" y="-300353"/>
            <a:ext cx="200989" cy="4549516"/>
          </a:xfrm>
          <a:prstGeom prst="bentConnector3">
            <a:avLst>
              <a:gd name="adj1" fmla="val 5000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428691B-3805-4660-9FBF-1762351362F5}"/>
              </a:ext>
            </a:extLst>
          </p:cNvPr>
          <p:cNvSpPr>
            <a:spLocks/>
          </p:cNvSpPr>
          <p:nvPr/>
        </p:nvSpPr>
        <p:spPr>
          <a:xfrm>
            <a:off x="1117600" y="2960258"/>
            <a:ext cx="4453640" cy="2235199"/>
          </a:xfrm>
          <a:prstGeom prst="roundRect">
            <a:avLst>
              <a:gd name="adj" fmla="val 4517"/>
            </a:avLst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100" dirty="0" err="1">
              <a:solidFill>
                <a:schemeClr val="bg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5E1122A-8D2E-4308-8A3A-440A6C77E2B6}"/>
              </a:ext>
            </a:extLst>
          </p:cNvPr>
          <p:cNvSpPr>
            <a:spLocks/>
          </p:cNvSpPr>
          <p:nvPr/>
        </p:nvSpPr>
        <p:spPr>
          <a:xfrm>
            <a:off x="7183624" y="2960258"/>
            <a:ext cx="2937134" cy="2235199"/>
          </a:xfrm>
          <a:prstGeom prst="roundRect">
            <a:avLst>
              <a:gd name="adj" fmla="val 4728"/>
            </a:avLst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100" dirty="0" err="1">
              <a:solidFill>
                <a:schemeClr val="bg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4BAC7DE-AE68-4B63-91E2-4BC83CC5B4D7}"/>
              </a:ext>
            </a:extLst>
          </p:cNvPr>
          <p:cNvSpPr>
            <a:spLocks/>
          </p:cNvSpPr>
          <p:nvPr/>
        </p:nvSpPr>
        <p:spPr>
          <a:xfrm>
            <a:off x="10216634" y="2960258"/>
            <a:ext cx="1420628" cy="2235199"/>
          </a:xfrm>
          <a:prstGeom prst="roundRect">
            <a:avLst>
              <a:gd name="adj" fmla="val 8621"/>
            </a:avLst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100" dirty="0" err="1">
              <a:solidFill>
                <a:schemeClr val="bg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C42315F-65C3-4B2C-B05F-9D94A2006653}"/>
              </a:ext>
            </a:extLst>
          </p:cNvPr>
          <p:cNvSpPr>
            <a:spLocks/>
          </p:cNvSpPr>
          <p:nvPr/>
        </p:nvSpPr>
        <p:spPr>
          <a:xfrm>
            <a:off x="5667118" y="2960258"/>
            <a:ext cx="1420628" cy="2235199"/>
          </a:xfrm>
          <a:prstGeom prst="roundRect">
            <a:avLst>
              <a:gd name="adj" fmla="val 4915"/>
            </a:avLst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100" dirty="0" err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3471F-0F93-4785-A6EB-38FE92750753}"/>
              </a:ext>
            </a:extLst>
          </p:cNvPr>
          <p:cNvSpPr txBox="1"/>
          <p:nvPr/>
        </p:nvSpPr>
        <p:spPr>
          <a:xfrm>
            <a:off x="554734" y="2960258"/>
            <a:ext cx="466988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100" b="1" dirty="0"/>
              <a:t>Роль КП </a:t>
            </a:r>
            <a:r>
              <a:rPr lang="ru-RU" sz="1100" b="1" dirty="0" err="1"/>
              <a:t>МПТЦ</a:t>
            </a:r>
            <a:endParaRPr lang="ru-RU" sz="1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A6170-F208-4114-AC78-BB4E95022296}"/>
              </a:ext>
            </a:extLst>
          </p:cNvPr>
          <p:cNvSpPr txBox="1">
            <a:spLocks/>
          </p:cNvSpPr>
          <p:nvPr/>
        </p:nvSpPr>
        <p:spPr>
          <a:xfrm>
            <a:off x="1225678" y="3023723"/>
            <a:ext cx="4237485" cy="146963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00" dirty="0"/>
              <a:t>Разработка Смарт-стандарта для инфраструктуры связи на объектах Программы реновации</a:t>
            </a:r>
            <a:r>
              <a:rPr lang="en-US" sz="1100" dirty="0"/>
              <a:t> </a:t>
            </a:r>
            <a:endParaRPr lang="ru-RU" sz="1100" dirty="0"/>
          </a:p>
          <a:p>
            <a:pPr lvl="1"/>
            <a:r>
              <a:rPr lang="ru-RU" sz="1100" dirty="0"/>
              <a:t>Согласование технических условий на создание объектов связи </a:t>
            </a:r>
          </a:p>
          <a:p>
            <a:pPr lvl="1"/>
            <a:r>
              <a:rPr lang="ru-RU" sz="1100" dirty="0"/>
              <a:t>Согласование проектной документации перед началом строительно-монтажных работ</a:t>
            </a:r>
          </a:p>
          <a:p>
            <a:pPr lvl="1"/>
            <a:r>
              <a:rPr lang="ru-RU" sz="1100" dirty="0"/>
              <a:t>Технический надзор в процессе строительно-монтажных работ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43F3F4-34C8-424F-846C-7F6D40F9B7B2}"/>
              </a:ext>
            </a:extLst>
          </p:cNvPr>
          <p:cNvSpPr txBox="1">
            <a:spLocks/>
          </p:cNvSpPr>
          <p:nvPr/>
        </p:nvSpPr>
        <p:spPr>
          <a:xfrm>
            <a:off x="5741460" y="3023723"/>
            <a:ext cx="1271945" cy="210826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00" dirty="0"/>
              <a:t>Приемка объектов связи </a:t>
            </a:r>
          </a:p>
          <a:p>
            <a:pPr lvl="1"/>
            <a:r>
              <a:rPr lang="ru-RU" sz="1100" dirty="0"/>
              <a:t>Подготовка документов для передачи в </a:t>
            </a:r>
            <a:r>
              <a:rPr lang="ru-RU" sz="1100" dirty="0" err="1"/>
              <a:t>собствен-ность</a:t>
            </a:r>
            <a:endParaRPr lang="ru-RU" sz="1100" dirty="0"/>
          </a:p>
          <a:p>
            <a:pPr lvl="1"/>
            <a:r>
              <a:rPr lang="ru-RU" sz="1100" dirty="0"/>
              <a:t>Оформление прав города на объекты связи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2D0578-F92A-4A57-88CD-91328A3E3956}"/>
              </a:ext>
            </a:extLst>
          </p:cNvPr>
          <p:cNvSpPr txBox="1"/>
          <p:nvPr/>
        </p:nvSpPr>
        <p:spPr>
          <a:xfrm>
            <a:off x="7282377" y="3023723"/>
            <a:ext cx="2739628" cy="18081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00" dirty="0"/>
              <a:t>Эксплуатация внутридомовой инфраструктуры связи</a:t>
            </a:r>
          </a:p>
          <a:p>
            <a:pPr lvl="1"/>
            <a:r>
              <a:rPr lang="ru-RU" sz="1100" dirty="0"/>
              <a:t>Взаимодействие с управляющими компаниями</a:t>
            </a:r>
          </a:p>
          <a:p>
            <a:pPr lvl="1"/>
            <a:r>
              <a:rPr lang="ru-RU" sz="1100" dirty="0"/>
              <a:t>Участие в </a:t>
            </a:r>
            <a:r>
              <a:rPr lang="ru-RU" sz="1100" dirty="0" err="1"/>
              <a:t>ОСС</a:t>
            </a:r>
            <a:r>
              <a:rPr lang="ru-RU" sz="1100" dirty="0"/>
              <a:t> по вопросам эксплуатации инфраструктуры связи</a:t>
            </a:r>
          </a:p>
          <a:p>
            <a:pPr lvl="1"/>
            <a:r>
              <a:rPr lang="ru-RU" sz="1100" dirty="0"/>
              <a:t>Упрощение взаимодействия жителей с операторами связи и сервис-провайдерами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F4678-9AE4-4E0E-B26F-DC53C360FAD5}"/>
              </a:ext>
            </a:extLst>
          </p:cNvPr>
          <p:cNvSpPr txBox="1">
            <a:spLocks/>
          </p:cNvSpPr>
          <p:nvPr/>
        </p:nvSpPr>
        <p:spPr>
          <a:xfrm>
            <a:off x="10297273" y="3023723"/>
            <a:ext cx="1259351" cy="15619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100" dirty="0" err="1"/>
              <a:t>Предоставле-ние</a:t>
            </a:r>
            <a:r>
              <a:rPr lang="ru-RU" sz="1100" dirty="0"/>
              <a:t> доступа к инфра-структуре</a:t>
            </a:r>
          </a:p>
          <a:p>
            <a:pPr lvl="1"/>
            <a:r>
              <a:rPr lang="ru-RU" sz="1100" dirty="0"/>
              <a:t>Сбор обратной связи по потребностям операторов</a:t>
            </a:r>
          </a:p>
        </p:txBody>
      </p:sp>
      <p:pic>
        <p:nvPicPr>
          <p:cNvPr id="73" name="CustomIcon">
            <a:extLst>
              <a:ext uri="{FF2B5EF4-FFF2-40B4-BE49-F238E27FC236}">
                <a16:creationId xmlns:a16="http://schemas.microsoft.com/office/drawing/2014/main" id="{F6BAAE81-432B-4AA0-A9A8-571BDEB82C05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18767" y="2405636"/>
            <a:ext cx="419667" cy="419667"/>
          </a:xfrm>
          <a:prstGeom prst="rect">
            <a:avLst/>
          </a:prstGeom>
        </p:spPr>
      </p:pic>
      <p:pic>
        <p:nvPicPr>
          <p:cNvPr id="75" name="CustomIcon">
            <a:extLst>
              <a:ext uri="{FF2B5EF4-FFF2-40B4-BE49-F238E27FC236}">
                <a16:creationId xmlns:a16="http://schemas.microsoft.com/office/drawing/2014/main" id="{C46B587F-3379-4CA9-B3F4-A12DA2E92971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70100" y="2405636"/>
            <a:ext cx="419667" cy="419667"/>
          </a:xfrm>
          <a:prstGeom prst="rect">
            <a:avLst/>
          </a:prstGeom>
        </p:spPr>
      </p:pic>
      <p:pic>
        <p:nvPicPr>
          <p:cNvPr id="78" name="CustomIcon">
            <a:extLst>
              <a:ext uri="{FF2B5EF4-FFF2-40B4-BE49-F238E27FC236}">
                <a16:creationId xmlns:a16="http://schemas.microsoft.com/office/drawing/2014/main" id="{31218EC1-6FE8-4F80-9E7A-B10F5D6EFF6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090065" y="2405636"/>
            <a:ext cx="419667" cy="419667"/>
          </a:xfrm>
          <a:prstGeom prst="rect">
            <a:avLst/>
          </a:prstGeom>
        </p:spPr>
      </p:pic>
      <p:pic>
        <p:nvPicPr>
          <p:cNvPr id="83" name="CustomIcon">
            <a:extLst>
              <a:ext uri="{FF2B5EF4-FFF2-40B4-BE49-F238E27FC236}">
                <a16:creationId xmlns:a16="http://schemas.microsoft.com/office/drawing/2014/main" id="{6BB3EBBE-BC4A-488C-977E-DD82CA180C3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613277" y="2405636"/>
            <a:ext cx="419667" cy="419667"/>
          </a:xfrm>
          <a:prstGeom prst="rect">
            <a:avLst/>
          </a:prstGeom>
        </p:spPr>
      </p:pic>
      <p:pic>
        <p:nvPicPr>
          <p:cNvPr id="85" name="CustomIcon">
            <a:extLst>
              <a:ext uri="{FF2B5EF4-FFF2-40B4-BE49-F238E27FC236}">
                <a16:creationId xmlns:a16="http://schemas.microsoft.com/office/drawing/2014/main" id="{807E05BD-57C7-4460-9EA6-B4A5407FBFF3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6956" y="2405636"/>
            <a:ext cx="419667" cy="419667"/>
          </a:xfrm>
          <a:prstGeom prst="rect">
            <a:avLst/>
          </a:prstGeom>
        </p:spPr>
      </p:pic>
      <p:pic>
        <p:nvPicPr>
          <p:cNvPr id="91" name="CustomIcon">
            <a:extLst>
              <a:ext uri="{FF2B5EF4-FFF2-40B4-BE49-F238E27FC236}">
                <a16:creationId xmlns:a16="http://schemas.microsoft.com/office/drawing/2014/main" id="{C29FD232-4CE3-4999-9850-0C6181169C69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54034" y="2418336"/>
            <a:ext cx="419667" cy="419667"/>
          </a:xfrm>
          <a:prstGeom prst="rect">
            <a:avLst/>
          </a:prstGeom>
        </p:spPr>
      </p:pic>
      <p:pic>
        <p:nvPicPr>
          <p:cNvPr id="101" name="CustomIcon">
            <a:extLst>
              <a:ext uri="{FF2B5EF4-FFF2-40B4-BE49-F238E27FC236}">
                <a16:creationId xmlns:a16="http://schemas.microsoft.com/office/drawing/2014/main" id="{9A7129F9-5B6E-4086-B7F6-F3AD0275E12F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04001" y="2405636"/>
            <a:ext cx="419667" cy="4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9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Object 6" hidden="1">
            <a:extLst>
              <a:ext uri="{FF2B5EF4-FFF2-40B4-BE49-F238E27FC236}">
                <a16:creationId xmlns:a16="http://schemas.microsoft.com/office/drawing/2014/main" id="{8F1B4A8D-E2CC-4926-A96E-B5AFE955B3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76580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95" imgH="396" progId="TCLayout.ActiveDocument.1">
                  <p:embed/>
                </p:oleObj>
              </mc:Choice>
              <mc:Fallback>
                <p:oleObj name="think-cell Slide" r:id="rId62" imgW="395" imgH="396" progId="TCLayout.ActiveDocument.1">
                  <p:embed/>
                  <p:pic>
                    <p:nvPicPr>
                      <p:cNvPr id="145" name="Object 6" hidden="1">
                        <a:extLst>
                          <a:ext uri="{FF2B5EF4-FFF2-40B4-BE49-F238E27FC236}">
                            <a16:creationId xmlns:a16="http://schemas.microsoft.com/office/drawing/2014/main" id="{8F1B4A8D-E2CC-4926-A96E-B5AFE955B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E3AC122E-C7C0-4EC7-A6EF-B266AF4C995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0757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Агрегатор должен выполнять управленческие функции, разрабатывать стандарты и работать с поставщиками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48C8A4-48C6-4CD9-86E9-AC95D8E19D88}"/>
              </a:ext>
            </a:extLst>
          </p:cNvPr>
          <p:cNvSpPr>
            <a:spLocks/>
          </p:cNvSpPr>
          <p:nvPr/>
        </p:nvSpPr>
        <p:spPr>
          <a:xfrm>
            <a:off x="554734" y="1459459"/>
            <a:ext cx="11082528" cy="668655"/>
          </a:xfrm>
          <a:prstGeom prst="roundRect">
            <a:avLst>
              <a:gd name="adj" fmla="val 10949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900" dirty="0" err="1">
              <a:solidFill>
                <a:schemeClr val="bg1"/>
              </a:solidFill>
            </a:endParaRP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98984F49-6E3E-4791-B546-F3EC1B8DD037}"/>
              </a:ext>
            </a:extLst>
          </p:cNvPr>
          <p:cNvGrpSpPr/>
          <p:nvPr/>
        </p:nvGrpSpPr>
        <p:grpSpPr>
          <a:xfrm>
            <a:off x="10453519" y="1027367"/>
            <a:ext cx="1183745" cy="153888"/>
            <a:chOff x="10312453" y="1027367"/>
            <a:chExt cx="1183745" cy="1538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1EB981-78DB-47C7-BE35-260FED2B06E2}"/>
                </a:ext>
              </a:extLst>
            </p:cNvPr>
            <p:cNvSpPr>
              <a:spLocks/>
            </p:cNvSpPr>
            <p:nvPr/>
          </p:nvSpPr>
          <p:spPr>
            <a:xfrm>
              <a:off x="10524778" y="1050450"/>
              <a:ext cx="971420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r>
                <a:rPr lang="ru-RU" sz="700" dirty="0"/>
                <a:t>Выполняет функцию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552FF22-5B7F-4D33-8696-D9B6CE6F2C47}"/>
                </a:ext>
              </a:extLst>
            </p:cNvPr>
            <p:cNvGrpSpPr/>
            <p:nvPr/>
          </p:nvGrpSpPr>
          <p:grpSpPr>
            <a:xfrm>
              <a:off x="10312453" y="1027367"/>
              <a:ext cx="153888" cy="153888"/>
              <a:chOff x="10126688" y="1289273"/>
              <a:chExt cx="153888" cy="15388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DC213C7-68B4-44CA-BFDC-0140E9809CF6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7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CF52B219-CC86-4257-96AE-7DAC7F711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4">
                <a:extLst>
                  <a:ext uri="{96DAC541-7B7A-43D3-8B79-37D633B846F1}">
                    <asvg:svgBlip xmlns:asvg="http://schemas.microsoft.com/office/drawing/2016/SVG/main" r:embed="rId65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567208-02D8-45A1-8E90-89BF8028175E}"/>
              </a:ext>
            </a:extLst>
          </p:cNvPr>
          <p:cNvGrpSpPr>
            <a:grpSpLocks/>
          </p:cNvGrpSpPr>
          <p:nvPr/>
        </p:nvGrpSpPr>
        <p:grpSpPr>
          <a:xfrm>
            <a:off x="4021203" y="2189923"/>
            <a:ext cx="118468" cy="118468"/>
            <a:chOff x="10126688" y="1289273"/>
            <a:chExt cx="153888" cy="15388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08D58F-8671-493F-8A19-72465AB6B732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6DB30EF-A1A1-4B28-AC8E-7513BE2A2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B22EFEC3-67F2-422B-ABC5-F8D1ECB47507}"/>
              </a:ext>
            </a:extLst>
          </p:cNvPr>
          <p:cNvSpPr txBox="1">
            <a:spLocks/>
          </p:cNvSpPr>
          <p:nvPr/>
        </p:nvSpPr>
        <p:spPr>
          <a:xfrm>
            <a:off x="609598" y="2614187"/>
            <a:ext cx="86322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Разработка стандартов и методологий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76398D8-1393-46C4-93A0-5B647C77793B}"/>
              </a:ext>
            </a:extLst>
          </p:cNvPr>
          <p:cNvSpPr txBox="1">
            <a:spLocks/>
          </p:cNvSpPr>
          <p:nvPr/>
        </p:nvSpPr>
        <p:spPr>
          <a:xfrm>
            <a:off x="609598" y="3001248"/>
            <a:ext cx="863226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Подготовка инфраструктуры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E27ECE-F9A9-4B58-8269-F95D9C3D5550}"/>
              </a:ext>
            </a:extLst>
          </p:cNvPr>
          <p:cNvSpPr txBox="1">
            <a:spLocks/>
          </p:cNvSpPr>
          <p:nvPr/>
        </p:nvSpPr>
        <p:spPr>
          <a:xfrm>
            <a:off x="609598" y="3695795"/>
            <a:ext cx="863226" cy="9233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Контрактование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A0D7908-B922-4A97-9379-2A28366C7041}"/>
              </a:ext>
            </a:extLst>
          </p:cNvPr>
          <p:cNvSpPr txBox="1">
            <a:spLocks/>
          </p:cNvSpPr>
          <p:nvPr/>
        </p:nvSpPr>
        <p:spPr>
          <a:xfrm>
            <a:off x="609598" y="4474123"/>
            <a:ext cx="863226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Подключение  поставщиков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861B95-ED30-4AC9-BA27-E2C65F8490A2}"/>
              </a:ext>
            </a:extLst>
          </p:cNvPr>
          <p:cNvSpPr txBox="1">
            <a:spLocks/>
          </p:cNvSpPr>
          <p:nvPr/>
        </p:nvSpPr>
        <p:spPr>
          <a:xfrm>
            <a:off x="609598" y="4841255"/>
            <a:ext cx="863226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Эксплуатация сервисов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05CB429-370F-4181-94F2-FF5D6A3A6B5A}"/>
              </a:ext>
            </a:extLst>
          </p:cNvPr>
          <p:cNvGrpSpPr>
            <a:grpSpLocks/>
          </p:cNvGrpSpPr>
          <p:nvPr/>
        </p:nvGrpSpPr>
        <p:grpSpPr>
          <a:xfrm>
            <a:off x="5557298" y="3034347"/>
            <a:ext cx="118468" cy="118468"/>
            <a:chOff x="10126688" y="1289273"/>
            <a:chExt cx="153888" cy="153888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84246E9-E6A1-48E6-BDBF-3C1E5B4FAFB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217" name="Graphic 216">
              <a:extLst>
                <a:ext uri="{FF2B5EF4-FFF2-40B4-BE49-F238E27FC236}">
                  <a16:creationId xmlns:a16="http://schemas.microsoft.com/office/drawing/2014/main" id="{B33F06E7-A1F0-49BD-9372-C96FC7063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C839C40C-0B85-4931-8C55-29512A23F9B7}"/>
              </a:ext>
            </a:extLst>
          </p:cNvPr>
          <p:cNvSpPr>
            <a:spLocks/>
          </p:cNvSpPr>
          <p:nvPr/>
        </p:nvSpPr>
        <p:spPr>
          <a:xfrm>
            <a:off x="8019599" y="1720139"/>
            <a:ext cx="975736" cy="4335874"/>
          </a:xfrm>
          <a:prstGeom prst="roundRect">
            <a:avLst>
              <a:gd name="adj" fmla="val 9638"/>
            </a:avLst>
          </a:prstGeom>
          <a:solidFill>
            <a:schemeClr val="accent1"/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endParaRPr lang="en-US" sz="800" dirty="0" err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34A0985-13F0-4775-85C8-AF519CA2CD7C}"/>
              </a:ext>
            </a:extLst>
          </p:cNvPr>
          <p:cNvSpPr txBox="1">
            <a:spLocks/>
          </p:cNvSpPr>
          <p:nvPr/>
        </p:nvSpPr>
        <p:spPr>
          <a:xfrm>
            <a:off x="1516152" y="2773618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Регламентация процессов, составление перечня требований к сервисам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BFF4D10-92EC-4832-8DE8-F7FEE1E0676E}"/>
              </a:ext>
            </a:extLst>
          </p:cNvPr>
          <p:cNvSpPr txBox="1">
            <a:spLocks/>
          </p:cNvSpPr>
          <p:nvPr/>
        </p:nvSpPr>
        <p:spPr>
          <a:xfrm>
            <a:off x="1516152" y="3001248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Создание физической инфраструктуры в рамках Смарт-стандарта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CBA5A9B-E423-4FEB-AA9F-FA754B29410F}"/>
              </a:ext>
            </a:extLst>
          </p:cNvPr>
          <p:cNvSpPr txBox="1">
            <a:spLocks/>
          </p:cNvSpPr>
          <p:nvPr/>
        </p:nvSpPr>
        <p:spPr>
          <a:xfrm>
            <a:off x="1516152" y="3444030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Интеграции с городскими системами и единым фронт-</a:t>
            </a:r>
            <a:r>
              <a:rPr lang="ru-RU" sz="600" dirty="0" err="1"/>
              <a:t>эндом</a:t>
            </a:r>
            <a:endParaRPr lang="ru-RU" sz="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7054F94-BC6E-4D16-96A9-4FA8D2551E61}"/>
              </a:ext>
            </a:extLst>
          </p:cNvPr>
          <p:cNvSpPr txBox="1">
            <a:spLocks/>
          </p:cNvSpPr>
          <p:nvPr/>
        </p:nvSpPr>
        <p:spPr>
          <a:xfrm>
            <a:off x="609598" y="5711916"/>
            <a:ext cx="863226" cy="9233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Обратная связь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0D4C69-0509-402A-A9A1-40BC20A55E32}"/>
              </a:ext>
            </a:extLst>
          </p:cNvPr>
          <p:cNvSpPr txBox="1">
            <a:spLocks/>
          </p:cNvSpPr>
          <p:nvPr/>
        </p:nvSpPr>
        <p:spPr>
          <a:xfrm>
            <a:off x="1516152" y="5367818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Мониторинг инноваций, мониторинг потребностей, пилотирование новых сервисов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FCBB24-E1E6-470A-A337-E18CDE3489E1}"/>
              </a:ext>
            </a:extLst>
          </p:cNvPr>
          <p:cNvSpPr txBox="1">
            <a:spLocks/>
          </p:cNvSpPr>
          <p:nvPr/>
        </p:nvSpPr>
        <p:spPr>
          <a:xfrm>
            <a:off x="609598" y="5367818"/>
            <a:ext cx="863226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Инновации (внедрение новых сервисов)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E2C102-DEAB-4BFD-A5B2-29201CD72DF4}"/>
              </a:ext>
            </a:extLst>
          </p:cNvPr>
          <p:cNvSpPr txBox="1">
            <a:spLocks/>
          </p:cNvSpPr>
          <p:nvPr/>
        </p:nvSpPr>
        <p:spPr>
          <a:xfrm>
            <a:off x="7241452" y="1498101"/>
            <a:ext cx="2543735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Платформа сервисов «умного дома»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25AD515-3BFF-4093-B9D9-EC161C35D661}"/>
              </a:ext>
            </a:extLst>
          </p:cNvPr>
          <p:cNvSpPr txBox="1">
            <a:spLocks/>
          </p:cNvSpPr>
          <p:nvPr/>
        </p:nvSpPr>
        <p:spPr>
          <a:xfrm>
            <a:off x="3702695" y="1498101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Город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DCACD4-0A8A-410B-B4FE-FDEB0B1E9A10}"/>
              </a:ext>
            </a:extLst>
          </p:cNvPr>
          <p:cNvSpPr txBox="1">
            <a:spLocks/>
          </p:cNvSpPr>
          <p:nvPr/>
        </p:nvSpPr>
        <p:spPr>
          <a:xfrm>
            <a:off x="6606736" y="1720140"/>
            <a:ext cx="591388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Собствен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-ники квартир</a:t>
            </a:r>
          </a:p>
        </p:txBody>
      </p:sp>
      <p:cxnSp>
        <p:nvCxnSpPr>
          <p:cNvPr id="193" name="HorizontalLine2 1119232">
            <a:extLst>
              <a:ext uri="{FF2B5EF4-FFF2-40B4-BE49-F238E27FC236}">
                <a16:creationId xmlns:a16="http://schemas.microsoft.com/office/drawing/2014/main" id="{F38FBE06-BC75-40D7-A41C-292923FEAA89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3702695" y="1662796"/>
            <a:ext cx="1609991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HorizontalLine2 1119232">
            <a:extLst>
              <a:ext uri="{FF2B5EF4-FFF2-40B4-BE49-F238E27FC236}">
                <a16:creationId xmlns:a16="http://schemas.microsoft.com/office/drawing/2014/main" id="{F179FFC6-6FD5-420C-B36B-9CCF2BFDAC37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7241452" y="1662796"/>
            <a:ext cx="4340946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5A81F68-E586-4739-A975-C7B9B264B10C}"/>
              </a:ext>
            </a:extLst>
          </p:cNvPr>
          <p:cNvSpPr txBox="1">
            <a:spLocks/>
          </p:cNvSpPr>
          <p:nvPr/>
        </p:nvSpPr>
        <p:spPr>
          <a:xfrm>
            <a:off x="4514850" y="1966361"/>
            <a:ext cx="79783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Префектуры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2315B8-7225-4314-8A52-926A06469374}"/>
              </a:ext>
            </a:extLst>
          </p:cNvPr>
          <p:cNvSpPr txBox="1">
            <a:spLocks/>
          </p:cNvSpPr>
          <p:nvPr/>
        </p:nvSpPr>
        <p:spPr>
          <a:xfrm>
            <a:off x="3702695" y="1843251"/>
            <a:ext cx="7554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Руководство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>
                <a:solidFill>
                  <a:srgbClr val="FFFFFF"/>
                </a:solidFill>
                <a:cs typeface="+mn-cs"/>
              </a:rPr>
              <a:t>города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C5E52A-A0A7-43F3-842F-04B457BBC562}"/>
              </a:ext>
            </a:extLst>
          </p:cNvPr>
          <p:cNvSpPr txBox="1">
            <a:spLocks/>
          </p:cNvSpPr>
          <p:nvPr/>
        </p:nvSpPr>
        <p:spPr>
          <a:xfrm>
            <a:off x="5356015" y="1843251"/>
            <a:ext cx="521033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Застрой-</a:t>
            </a:r>
            <a:r>
              <a:rPr lang="ru-RU" sz="800" b="1" dirty="0" err="1">
                <a:solidFill>
                  <a:srgbClr val="FFFFFF"/>
                </a:solidFill>
                <a:cs typeface="+mn-cs"/>
              </a:rPr>
              <a:t>щик</a:t>
            </a:r>
            <a:endParaRPr lang="ru-RU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F5019C-E4CA-4BB5-BEF2-3BCC6E0AC317}"/>
              </a:ext>
            </a:extLst>
          </p:cNvPr>
          <p:cNvSpPr txBox="1">
            <a:spLocks/>
          </p:cNvSpPr>
          <p:nvPr/>
        </p:nvSpPr>
        <p:spPr>
          <a:xfrm>
            <a:off x="8061390" y="1966361"/>
            <a:ext cx="892153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cs typeface="+mn-cs"/>
              </a:rPr>
              <a:t>Агрегатор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2C936-8ACD-483E-B802-70A9C1A075E9}"/>
              </a:ext>
            </a:extLst>
          </p:cNvPr>
          <p:cNvSpPr txBox="1">
            <a:spLocks/>
          </p:cNvSpPr>
          <p:nvPr/>
        </p:nvSpPr>
        <p:spPr>
          <a:xfrm>
            <a:off x="1516152" y="1966361"/>
            <a:ext cx="214321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Функция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5B04D2-5697-4EA9-A599-A918DA7A842B}"/>
              </a:ext>
            </a:extLst>
          </p:cNvPr>
          <p:cNvSpPr txBox="1">
            <a:spLocks/>
          </p:cNvSpPr>
          <p:nvPr/>
        </p:nvSpPr>
        <p:spPr>
          <a:xfrm>
            <a:off x="7241452" y="1843251"/>
            <a:ext cx="73481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Мусорный оператор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C0A9B3-C15F-4A88-98C4-51A4CA1EF878}"/>
              </a:ext>
            </a:extLst>
          </p:cNvPr>
          <p:cNvSpPr txBox="1">
            <a:spLocks/>
          </p:cNvSpPr>
          <p:nvPr/>
        </p:nvSpPr>
        <p:spPr>
          <a:xfrm>
            <a:off x="609598" y="1966361"/>
            <a:ext cx="86322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Блок функций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106B6A-5FDD-4121-8DDF-DB617BEA035E}"/>
              </a:ext>
            </a:extLst>
          </p:cNvPr>
          <p:cNvSpPr txBox="1">
            <a:spLocks/>
          </p:cNvSpPr>
          <p:nvPr/>
        </p:nvSpPr>
        <p:spPr>
          <a:xfrm>
            <a:off x="10607407" y="1843251"/>
            <a:ext cx="974991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«Электронный дом»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6922AA-D822-4242-9855-13A45A2CEB5E}"/>
              </a:ext>
            </a:extLst>
          </p:cNvPr>
          <p:cNvSpPr txBox="1">
            <a:spLocks/>
          </p:cNvSpPr>
          <p:nvPr/>
        </p:nvSpPr>
        <p:spPr>
          <a:xfrm>
            <a:off x="5920376" y="1966361"/>
            <a:ext cx="64303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УК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A7055-A403-4C98-A99E-6A20D153C2DC}"/>
              </a:ext>
            </a:extLst>
          </p:cNvPr>
          <p:cNvSpPr txBox="1">
            <a:spLocks/>
          </p:cNvSpPr>
          <p:nvPr/>
        </p:nvSpPr>
        <p:spPr>
          <a:xfrm>
            <a:off x="9038663" y="1966361"/>
            <a:ext cx="88170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Коммерческие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BFF7D1-A5EE-4329-A8FE-AA03F2D2F7E0}"/>
              </a:ext>
            </a:extLst>
          </p:cNvPr>
          <p:cNvSpPr txBox="1">
            <a:spLocks/>
          </p:cNvSpPr>
          <p:nvPr/>
        </p:nvSpPr>
        <p:spPr>
          <a:xfrm>
            <a:off x="10096766" y="1932947"/>
            <a:ext cx="28102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ДИТ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BCB6079-27A1-4A82-87FB-FFB71AEEF734}"/>
              </a:ext>
            </a:extLst>
          </p:cNvPr>
          <p:cNvSpPr txBox="1">
            <a:spLocks/>
          </p:cNvSpPr>
          <p:nvPr/>
        </p:nvSpPr>
        <p:spPr>
          <a:xfrm>
            <a:off x="1516152" y="4038792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Определение перечня</a:t>
            </a:r>
            <a:r>
              <a:rPr lang="en-US" sz="600" dirty="0"/>
              <a:t> </a:t>
            </a:r>
            <a:r>
              <a:rPr lang="ru-RU" sz="600" dirty="0"/>
              <a:t>домов и подготовка материалов для жителей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F9E6304-3FC0-410E-90E2-F833B06DBC1A}"/>
              </a:ext>
            </a:extLst>
          </p:cNvPr>
          <p:cNvSpPr txBox="1">
            <a:spLocks/>
          </p:cNvSpPr>
          <p:nvPr/>
        </p:nvSpPr>
        <p:spPr>
          <a:xfrm>
            <a:off x="5450540" y="4841255"/>
            <a:ext cx="678369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Прием на баланс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382966-C1D0-496C-A71D-089D375BC39A}"/>
              </a:ext>
            </a:extLst>
          </p:cNvPr>
          <p:cNvSpPr txBox="1">
            <a:spLocks/>
          </p:cNvSpPr>
          <p:nvPr/>
        </p:nvSpPr>
        <p:spPr>
          <a:xfrm>
            <a:off x="609598" y="4038792"/>
            <a:ext cx="863226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Подключение домов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FF765B6-724B-4DD7-BFE6-D3F32105FF4B}"/>
              </a:ext>
            </a:extLst>
          </p:cNvPr>
          <p:cNvSpPr txBox="1">
            <a:spLocks/>
          </p:cNvSpPr>
          <p:nvPr/>
        </p:nvSpPr>
        <p:spPr>
          <a:xfrm>
            <a:off x="6422259" y="3879361"/>
            <a:ext cx="2029402" cy="92333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См. детализацию перечня функций в приложении</a:t>
            </a:r>
          </a:p>
        </p:txBody>
      </p: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BF7B313B-ED7A-49F2-8B63-D258BC61F3DB}"/>
              </a:ext>
            </a:extLst>
          </p:cNvPr>
          <p:cNvCxnSpPr>
            <a:cxnSpLocks/>
          </p:cNvCxnSpPr>
          <p:nvPr/>
        </p:nvCxnSpPr>
        <p:spPr>
          <a:xfrm>
            <a:off x="5920375" y="3925528"/>
            <a:ext cx="380751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1414A3CD-F262-446A-BB61-7C7A51693705}"/>
              </a:ext>
            </a:extLst>
          </p:cNvPr>
          <p:cNvCxnSpPr>
            <a:cxnSpLocks/>
          </p:cNvCxnSpPr>
          <p:nvPr/>
        </p:nvCxnSpPr>
        <p:spPr>
          <a:xfrm>
            <a:off x="8572792" y="3925528"/>
            <a:ext cx="380751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CC36AAE5-2E9A-49B6-91A7-140A2B6A1738}"/>
              </a:ext>
            </a:extLst>
          </p:cNvPr>
          <p:cNvSpPr txBox="1">
            <a:spLocks/>
          </p:cNvSpPr>
          <p:nvPr/>
        </p:nvSpPr>
        <p:spPr>
          <a:xfrm>
            <a:off x="1516152" y="5871347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Клиентская поддержка (разработка и актуализация скриптов и базы данных для </a:t>
            </a:r>
            <a:r>
              <a:rPr lang="ru-RU" sz="600" dirty="0" err="1"/>
              <a:t>ЕДЦ</a:t>
            </a:r>
            <a:r>
              <a:rPr lang="ru-RU" sz="600" dirty="0"/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F29064-23AA-41E7-8C43-076470E3A8B2}"/>
              </a:ext>
            </a:extLst>
          </p:cNvPr>
          <p:cNvSpPr txBox="1">
            <a:spLocks/>
          </p:cNvSpPr>
          <p:nvPr/>
        </p:nvSpPr>
        <p:spPr>
          <a:xfrm>
            <a:off x="609598" y="2202991"/>
            <a:ext cx="863226" cy="9233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Стратегия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528995F-8A60-4ED8-A24F-057C4479209E}"/>
              </a:ext>
            </a:extLst>
          </p:cNvPr>
          <p:cNvSpPr txBox="1">
            <a:spLocks/>
          </p:cNvSpPr>
          <p:nvPr/>
        </p:nvSpPr>
        <p:spPr>
          <a:xfrm>
            <a:off x="1516152" y="2137381"/>
            <a:ext cx="2143215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Стратегические решения, целеполагание, согласование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A4F346-070C-4882-974D-E0369E5D4CB7}"/>
              </a:ext>
            </a:extLst>
          </p:cNvPr>
          <p:cNvSpPr txBox="1">
            <a:spLocks/>
          </p:cNvSpPr>
          <p:nvPr/>
        </p:nvSpPr>
        <p:spPr>
          <a:xfrm>
            <a:off x="609598" y="2362422"/>
            <a:ext cx="863226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b="1" dirty="0"/>
              <a:t>Управление проектом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60CBC4E-46F2-4FB8-9EA1-BFAE3782B4B0}"/>
              </a:ext>
            </a:extLst>
          </p:cNvPr>
          <p:cNvSpPr txBox="1">
            <a:spLocks/>
          </p:cNvSpPr>
          <p:nvPr/>
        </p:nvSpPr>
        <p:spPr>
          <a:xfrm>
            <a:off x="1516152" y="2408589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Планирование, координация и отчетность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EC28B61-2B91-48BC-A106-B23D45FD4D55}"/>
              </a:ext>
            </a:extLst>
          </p:cNvPr>
          <p:cNvSpPr txBox="1">
            <a:spLocks/>
          </p:cNvSpPr>
          <p:nvPr/>
        </p:nvSpPr>
        <p:spPr>
          <a:xfrm>
            <a:off x="1516152" y="2614187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Доработка Смарт-стандарта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0AA6DF7-E74D-4261-9273-40D0ED307192}"/>
              </a:ext>
            </a:extLst>
          </p:cNvPr>
          <p:cNvSpPr txBox="1">
            <a:spLocks/>
          </p:cNvSpPr>
          <p:nvPr/>
        </p:nvSpPr>
        <p:spPr>
          <a:xfrm>
            <a:off x="1516152" y="3879361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Заключение договоров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125BAF9-E0BC-4631-B03F-6D85E37308AD}"/>
              </a:ext>
            </a:extLst>
          </p:cNvPr>
          <p:cNvSpPr txBox="1">
            <a:spLocks/>
          </p:cNvSpPr>
          <p:nvPr/>
        </p:nvSpPr>
        <p:spPr>
          <a:xfrm>
            <a:off x="1516152" y="3695795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Проработка ключевых контрактных механизмов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459471-7E59-411E-AC2D-F3864FBFA80D}"/>
              </a:ext>
            </a:extLst>
          </p:cNvPr>
          <p:cNvSpPr txBox="1">
            <a:spLocks/>
          </p:cNvSpPr>
          <p:nvPr/>
        </p:nvSpPr>
        <p:spPr>
          <a:xfrm>
            <a:off x="1516152" y="4290556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Организация </a:t>
            </a:r>
            <a:r>
              <a:rPr lang="ru-RU" sz="600" dirty="0" err="1"/>
              <a:t>ОСС</a:t>
            </a:r>
            <a:endParaRPr lang="ru-RU" sz="6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0005C88-0BA2-41B6-8B7E-8C7DF4A42D34}"/>
              </a:ext>
            </a:extLst>
          </p:cNvPr>
          <p:cNvSpPr txBox="1">
            <a:spLocks/>
          </p:cNvSpPr>
          <p:nvPr/>
        </p:nvSpPr>
        <p:spPr>
          <a:xfrm>
            <a:off x="1516152" y="4474123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Составление ТЗ, сбор КП, тендера и </a:t>
            </a:r>
            <a:r>
              <a:rPr lang="ru-RU" sz="600" dirty="0" err="1"/>
              <a:t>контрактование</a:t>
            </a:r>
            <a:endParaRPr lang="ru-RU" sz="600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4B89222-0BB2-4BD1-96F9-2D32E7FBB3B8}"/>
              </a:ext>
            </a:extLst>
          </p:cNvPr>
          <p:cNvSpPr txBox="1">
            <a:spLocks/>
          </p:cNvSpPr>
          <p:nvPr/>
        </p:nvSpPr>
        <p:spPr>
          <a:xfrm>
            <a:off x="1516152" y="4657689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Поддержание и обновление реестра поставщиков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2F81EA1-07DD-40A7-A0F0-C0C8D7F808C0}"/>
              </a:ext>
            </a:extLst>
          </p:cNvPr>
          <p:cNvSpPr txBox="1">
            <a:spLocks/>
          </p:cNvSpPr>
          <p:nvPr/>
        </p:nvSpPr>
        <p:spPr>
          <a:xfrm>
            <a:off x="1516152" y="4841255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Установка дополнительного оборудования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2045B2-2973-4D91-A1B9-FBF1EA4F3DC3}"/>
              </a:ext>
            </a:extLst>
          </p:cNvPr>
          <p:cNvSpPr txBox="1">
            <a:spLocks/>
          </p:cNvSpPr>
          <p:nvPr/>
        </p:nvSpPr>
        <p:spPr>
          <a:xfrm>
            <a:off x="1516152" y="5024820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Эксплуатация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B03268-08A4-4B88-B672-942F909CABCA}"/>
              </a:ext>
            </a:extLst>
          </p:cNvPr>
          <p:cNvSpPr txBox="1">
            <a:spLocks/>
          </p:cNvSpPr>
          <p:nvPr/>
        </p:nvSpPr>
        <p:spPr>
          <a:xfrm>
            <a:off x="1516152" y="5208386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Обработка и распределение платежей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EF8206E0-E3E5-4772-A15A-433006AFF047}"/>
              </a:ext>
            </a:extLst>
          </p:cNvPr>
          <p:cNvSpPr txBox="1">
            <a:spLocks/>
          </p:cNvSpPr>
          <p:nvPr/>
        </p:nvSpPr>
        <p:spPr>
          <a:xfrm>
            <a:off x="1516152" y="5711916"/>
            <a:ext cx="2143215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Проведение опросов, фокус-групп и т. д.</a:t>
            </a:r>
          </a:p>
        </p:txBody>
      </p:sp>
      <p:cxnSp>
        <p:nvCxnSpPr>
          <p:cNvPr id="88" name="HorizontalLine2 1119232">
            <a:extLst>
              <a:ext uri="{FF2B5EF4-FFF2-40B4-BE49-F238E27FC236}">
                <a16:creationId xmlns:a16="http://schemas.microsoft.com/office/drawing/2014/main" id="{A08A31A6-B26B-4B49-8974-8E698BC07C2B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1516152" y="2752136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HorizontalLine2 1119232">
            <a:extLst>
              <a:ext uri="{FF2B5EF4-FFF2-40B4-BE49-F238E27FC236}">
                <a16:creationId xmlns:a16="http://schemas.microsoft.com/office/drawing/2014/main" id="{6CCBA269-B81B-4B5D-94ED-AE97DC851502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1516152" y="3422548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HorizontalLine2 1119232">
            <a:extLst>
              <a:ext uri="{FF2B5EF4-FFF2-40B4-BE49-F238E27FC236}">
                <a16:creationId xmlns:a16="http://schemas.microsoft.com/office/drawing/2014/main" id="{3F41294B-6557-41BE-8F7D-1420A8189336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1516152" y="3833744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HorizontalLine2 1119232">
            <a:extLst>
              <a:ext uri="{FF2B5EF4-FFF2-40B4-BE49-F238E27FC236}">
                <a16:creationId xmlns:a16="http://schemas.microsoft.com/office/drawing/2014/main" id="{17BD2A89-7E95-48EB-8581-C1BFDD382E4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1516152" y="4244940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HorizontalLine2 1119232">
            <a:extLst>
              <a:ext uri="{FF2B5EF4-FFF2-40B4-BE49-F238E27FC236}">
                <a16:creationId xmlns:a16="http://schemas.microsoft.com/office/drawing/2014/main" id="{23731098-EC07-4980-81DA-9059A72C3E26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1516152" y="4979204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HorizontalLine2 1119232">
            <a:extLst>
              <a:ext uri="{FF2B5EF4-FFF2-40B4-BE49-F238E27FC236}">
                <a16:creationId xmlns:a16="http://schemas.microsoft.com/office/drawing/2014/main" id="{9FE0FEDB-4B4D-4888-9F7E-956A52823A4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609598" y="2340940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HorizontalLine2 1119232">
            <a:extLst>
              <a:ext uri="{FF2B5EF4-FFF2-40B4-BE49-F238E27FC236}">
                <a16:creationId xmlns:a16="http://schemas.microsoft.com/office/drawing/2014/main" id="{950254E3-D6DD-4DA8-9EDC-098C56287E79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609598" y="2979766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HorizontalLine2 1119232">
            <a:extLst>
              <a:ext uri="{FF2B5EF4-FFF2-40B4-BE49-F238E27FC236}">
                <a16:creationId xmlns:a16="http://schemas.microsoft.com/office/drawing/2014/main" id="{9E48FD74-ED0B-4784-BB74-8F227027BCF7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609598" y="3650178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HorizontalLine2 1119232">
            <a:extLst>
              <a:ext uri="{FF2B5EF4-FFF2-40B4-BE49-F238E27FC236}">
                <a16:creationId xmlns:a16="http://schemas.microsoft.com/office/drawing/2014/main" id="{E053055E-11E1-4930-AC7A-420787DD508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609598" y="4428506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HorizontalLine2 1119232">
            <a:extLst>
              <a:ext uri="{FF2B5EF4-FFF2-40B4-BE49-F238E27FC236}">
                <a16:creationId xmlns:a16="http://schemas.microsoft.com/office/drawing/2014/main" id="{DA1203EA-EA90-4AC4-A6DC-DF59905B8AD0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609598" y="4795638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HorizontalLine2 1119232">
            <a:extLst>
              <a:ext uri="{FF2B5EF4-FFF2-40B4-BE49-F238E27FC236}">
                <a16:creationId xmlns:a16="http://schemas.microsoft.com/office/drawing/2014/main" id="{FDFBFD4E-D88E-4DE7-B8D7-C3E2B424FDCB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609598" y="5666299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HorizontalLine2 1119232">
            <a:extLst>
              <a:ext uri="{FF2B5EF4-FFF2-40B4-BE49-F238E27FC236}">
                <a16:creationId xmlns:a16="http://schemas.microsoft.com/office/drawing/2014/main" id="{25A7B6D5-4152-4999-8136-266DD135E3B0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609598" y="4017310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HorizontalLine2 1119232">
            <a:extLst>
              <a:ext uri="{FF2B5EF4-FFF2-40B4-BE49-F238E27FC236}">
                <a16:creationId xmlns:a16="http://schemas.microsoft.com/office/drawing/2014/main" id="{8378513B-7C79-4CE9-92F4-E8073DA1F4B7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>
          <a:xfrm>
            <a:off x="8061390" y="2568570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HorizontalLine2 1119232">
            <a:extLst>
              <a:ext uri="{FF2B5EF4-FFF2-40B4-BE49-F238E27FC236}">
                <a16:creationId xmlns:a16="http://schemas.microsoft.com/office/drawing/2014/main" id="{CD2E7264-103A-438F-AE92-68D24824B028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8061390" y="2979766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HorizontalLine2 1119232">
            <a:extLst>
              <a:ext uri="{FF2B5EF4-FFF2-40B4-BE49-F238E27FC236}">
                <a16:creationId xmlns:a16="http://schemas.microsoft.com/office/drawing/2014/main" id="{D74C5C44-5368-4032-8425-0ACAA4A8CD98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8061390" y="3650178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HorizontalLine2 1119232">
            <a:extLst>
              <a:ext uri="{FF2B5EF4-FFF2-40B4-BE49-F238E27FC236}">
                <a16:creationId xmlns:a16="http://schemas.microsoft.com/office/drawing/2014/main" id="{51889930-CC1D-4B9F-B597-0316B045DF0B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8061390" y="4017310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HorizontalLine2 1119232">
            <a:extLst>
              <a:ext uri="{FF2B5EF4-FFF2-40B4-BE49-F238E27FC236}">
                <a16:creationId xmlns:a16="http://schemas.microsoft.com/office/drawing/2014/main" id="{4AFD376E-48B7-4C9D-828E-F0EEB749F550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8061390" y="4795638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HorizontalLine2 1119232">
            <a:extLst>
              <a:ext uri="{FF2B5EF4-FFF2-40B4-BE49-F238E27FC236}">
                <a16:creationId xmlns:a16="http://schemas.microsoft.com/office/drawing/2014/main" id="{1E06D20E-E5D1-4041-B941-D43147003064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8061390" y="2340940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HorizontalLine2 1119232">
            <a:extLst>
              <a:ext uri="{FF2B5EF4-FFF2-40B4-BE49-F238E27FC236}">
                <a16:creationId xmlns:a16="http://schemas.microsoft.com/office/drawing/2014/main" id="{075EF149-9395-4B06-8A03-9AC569DF4F22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8061390" y="2752136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HorizontalLine2 1119232">
            <a:extLst>
              <a:ext uri="{FF2B5EF4-FFF2-40B4-BE49-F238E27FC236}">
                <a16:creationId xmlns:a16="http://schemas.microsoft.com/office/drawing/2014/main" id="{43052AF4-E10B-49F3-AF67-F909BCE72181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8061390" y="3422548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HorizontalLine2 1119232">
            <a:extLst>
              <a:ext uri="{FF2B5EF4-FFF2-40B4-BE49-F238E27FC236}">
                <a16:creationId xmlns:a16="http://schemas.microsoft.com/office/drawing/2014/main" id="{8EDC6D4F-F247-4516-B25D-7CF4A1D1AD18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8061390" y="4244940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HorizontalLine2 1119232">
            <a:extLst>
              <a:ext uri="{FF2B5EF4-FFF2-40B4-BE49-F238E27FC236}">
                <a16:creationId xmlns:a16="http://schemas.microsoft.com/office/drawing/2014/main" id="{EEE05531-3F0A-4EF4-9708-25DD2F3C089D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8061390" y="4428506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HorizontalLine2 1119232">
            <a:extLst>
              <a:ext uri="{FF2B5EF4-FFF2-40B4-BE49-F238E27FC236}">
                <a16:creationId xmlns:a16="http://schemas.microsoft.com/office/drawing/2014/main" id="{831FCC85-A8D0-4FA3-AF0D-EA996845EFB2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8061390" y="4612072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HorizontalLine2 1119232">
            <a:extLst>
              <a:ext uri="{FF2B5EF4-FFF2-40B4-BE49-F238E27FC236}">
                <a16:creationId xmlns:a16="http://schemas.microsoft.com/office/drawing/2014/main" id="{4AEE54B2-E8B3-40D8-8D92-7D316EBFA466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8061390" y="4979204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HorizontalLine2 1119232">
            <a:extLst>
              <a:ext uri="{FF2B5EF4-FFF2-40B4-BE49-F238E27FC236}">
                <a16:creationId xmlns:a16="http://schemas.microsoft.com/office/drawing/2014/main" id="{46F39C4E-1DBB-44FD-AA07-7CE32B014999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>
            <a:off x="8061390" y="5162770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HorizontalLine2 1119232">
            <a:extLst>
              <a:ext uri="{FF2B5EF4-FFF2-40B4-BE49-F238E27FC236}">
                <a16:creationId xmlns:a16="http://schemas.microsoft.com/office/drawing/2014/main" id="{67F9EB3F-AD21-474B-AF4E-A2844BAC2391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8061390" y="5346336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HorizontalLine2 1119232">
            <a:extLst>
              <a:ext uri="{FF2B5EF4-FFF2-40B4-BE49-F238E27FC236}">
                <a16:creationId xmlns:a16="http://schemas.microsoft.com/office/drawing/2014/main" id="{19DA8E58-BC5A-4AE6-BC0D-50023961B46A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>
            <a:off x="8061390" y="3833744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HorizontalLine2 1119232">
            <a:extLst>
              <a:ext uri="{FF2B5EF4-FFF2-40B4-BE49-F238E27FC236}">
                <a16:creationId xmlns:a16="http://schemas.microsoft.com/office/drawing/2014/main" id="{BBD3895F-45A6-4A70-8B9E-2AD1FC52C74A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9038663" y="2568570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HorizontalLine2 1119232">
            <a:extLst>
              <a:ext uri="{FF2B5EF4-FFF2-40B4-BE49-F238E27FC236}">
                <a16:creationId xmlns:a16="http://schemas.microsoft.com/office/drawing/2014/main" id="{4A95FB56-B7A4-4CAC-8F3B-156AC979FD81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9038663" y="2979766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HorizontalLine2 1119232">
            <a:extLst>
              <a:ext uri="{FF2B5EF4-FFF2-40B4-BE49-F238E27FC236}">
                <a16:creationId xmlns:a16="http://schemas.microsoft.com/office/drawing/2014/main" id="{42D4419E-C18D-48DD-B3AC-451BB819CB47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9038663" y="3650178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HorizontalLine2 1119232">
            <a:extLst>
              <a:ext uri="{FF2B5EF4-FFF2-40B4-BE49-F238E27FC236}">
                <a16:creationId xmlns:a16="http://schemas.microsoft.com/office/drawing/2014/main" id="{6A79DE86-8D4D-48FA-B5DC-674E5B9A80A1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9038663" y="4017310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HorizontalLine2 1119232">
            <a:extLst>
              <a:ext uri="{FF2B5EF4-FFF2-40B4-BE49-F238E27FC236}">
                <a16:creationId xmlns:a16="http://schemas.microsoft.com/office/drawing/2014/main" id="{B7247E85-DCA6-43E2-9DE0-31C624FB3571}"/>
              </a:ext>
            </a:extLst>
          </p:cNvPr>
          <p:cNvCxnSpPr>
            <a:cxnSpLocks/>
          </p:cNvCxnSpPr>
          <p:nvPr>
            <p:custDataLst>
              <p:tags r:id="rId36"/>
            </p:custDataLst>
          </p:nvPr>
        </p:nvCxnSpPr>
        <p:spPr>
          <a:xfrm>
            <a:off x="9038663" y="4795638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HorizontalLine2 1119232">
            <a:extLst>
              <a:ext uri="{FF2B5EF4-FFF2-40B4-BE49-F238E27FC236}">
                <a16:creationId xmlns:a16="http://schemas.microsoft.com/office/drawing/2014/main" id="{28BFD74C-B3BC-431D-9601-BB124426D8CA}"/>
              </a:ext>
            </a:extLst>
          </p:cNvPr>
          <p:cNvCxnSpPr>
            <a:cxnSpLocks/>
          </p:cNvCxnSpPr>
          <p:nvPr>
            <p:custDataLst>
              <p:tags r:id="rId37"/>
            </p:custDataLst>
          </p:nvPr>
        </p:nvCxnSpPr>
        <p:spPr>
          <a:xfrm>
            <a:off x="9038663" y="2340940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HorizontalLine2 1119232">
            <a:extLst>
              <a:ext uri="{FF2B5EF4-FFF2-40B4-BE49-F238E27FC236}">
                <a16:creationId xmlns:a16="http://schemas.microsoft.com/office/drawing/2014/main" id="{8B5689DC-814A-4A1D-B5F2-07068707F10F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>
          <a:xfrm>
            <a:off x="9038663" y="2752136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HorizontalLine2 1119232">
            <a:extLst>
              <a:ext uri="{FF2B5EF4-FFF2-40B4-BE49-F238E27FC236}">
                <a16:creationId xmlns:a16="http://schemas.microsoft.com/office/drawing/2014/main" id="{5AEB924E-E3B0-4ABA-BD5C-DDC77E64D43A}"/>
              </a:ext>
            </a:extLst>
          </p:cNvPr>
          <p:cNvCxnSpPr>
            <a:cxnSpLocks/>
          </p:cNvCxnSpPr>
          <p:nvPr>
            <p:custDataLst>
              <p:tags r:id="rId39"/>
            </p:custDataLst>
          </p:nvPr>
        </p:nvCxnSpPr>
        <p:spPr>
          <a:xfrm>
            <a:off x="9038663" y="3422548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HorizontalLine2 1119232">
            <a:extLst>
              <a:ext uri="{FF2B5EF4-FFF2-40B4-BE49-F238E27FC236}">
                <a16:creationId xmlns:a16="http://schemas.microsoft.com/office/drawing/2014/main" id="{B71FF5DD-AAD1-4E5C-80B5-4D043F58A7D6}"/>
              </a:ext>
            </a:extLst>
          </p:cNvPr>
          <p:cNvCxnSpPr>
            <a:cxnSpLocks/>
          </p:cNvCxnSpPr>
          <p:nvPr>
            <p:custDataLst>
              <p:tags r:id="rId40"/>
            </p:custDataLst>
          </p:nvPr>
        </p:nvCxnSpPr>
        <p:spPr>
          <a:xfrm>
            <a:off x="9038663" y="4244940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HorizontalLine2 1119232">
            <a:extLst>
              <a:ext uri="{FF2B5EF4-FFF2-40B4-BE49-F238E27FC236}">
                <a16:creationId xmlns:a16="http://schemas.microsoft.com/office/drawing/2014/main" id="{FE1E5882-FEAC-40B0-9BFA-6BA65C26771F}"/>
              </a:ext>
            </a:extLst>
          </p:cNvPr>
          <p:cNvCxnSpPr>
            <a:cxnSpLocks/>
          </p:cNvCxnSpPr>
          <p:nvPr>
            <p:custDataLst>
              <p:tags r:id="rId41"/>
            </p:custDataLst>
          </p:nvPr>
        </p:nvCxnSpPr>
        <p:spPr>
          <a:xfrm>
            <a:off x="9038663" y="4428506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HorizontalLine2 1119232">
            <a:extLst>
              <a:ext uri="{FF2B5EF4-FFF2-40B4-BE49-F238E27FC236}">
                <a16:creationId xmlns:a16="http://schemas.microsoft.com/office/drawing/2014/main" id="{BDC3D23C-EADB-4480-99B5-6B9949E9D569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>
          <a:xfrm>
            <a:off x="9038663" y="4612072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HorizontalLine2 1119232">
            <a:extLst>
              <a:ext uri="{FF2B5EF4-FFF2-40B4-BE49-F238E27FC236}">
                <a16:creationId xmlns:a16="http://schemas.microsoft.com/office/drawing/2014/main" id="{AC28DD6E-16FA-4D47-8607-6D248C3A6356}"/>
              </a:ext>
            </a:extLst>
          </p:cNvPr>
          <p:cNvCxnSpPr>
            <a:cxnSpLocks/>
          </p:cNvCxnSpPr>
          <p:nvPr>
            <p:custDataLst>
              <p:tags r:id="rId43"/>
            </p:custDataLst>
          </p:nvPr>
        </p:nvCxnSpPr>
        <p:spPr>
          <a:xfrm>
            <a:off x="9038663" y="4979204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HorizontalLine2 1119232">
            <a:extLst>
              <a:ext uri="{FF2B5EF4-FFF2-40B4-BE49-F238E27FC236}">
                <a16:creationId xmlns:a16="http://schemas.microsoft.com/office/drawing/2014/main" id="{986F3FB1-4238-49A9-A911-4BCA88608339}"/>
              </a:ext>
            </a:extLst>
          </p:cNvPr>
          <p:cNvCxnSpPr>
            <a:cxnSpLocks/>
          </p:cNvCxnSpPr>
          <p:nvPr>
            <p:custDataLst>
              <p:tags r:id="rId44"/>
            </p:custDataLst>
          </p:nvPr>
        </p:nvCxnSpPr>
        <p:spPr>
          <a:xfrm>
            <a:off x="9038663" y="5162770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HorizontalLine2 1119232">
            <a:extLst>
              <a:ext uri="{FF2B5EF4-FFF2-40B4-BE49-F238E27FC236}">
                <a16:creationId xmlns:a16="http://schemas.microsoft.com/office/drawing/2014/main" id="{9728C44F-75EF-4ACF-9DCF-BC1165BD64A8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>
          <a:xfrm>
            <a:off x="9038663" y="5346336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HorizontalLine2 1119232">
            <a:extLst>
              <a:ext uri="{FF2B5EF4-FFF2-40B4-BE49-F238E27FC236}">
                <a16:creationId xmlns:a16="http://schemas.microsoft.com/office/drawing/2014/main" id="{DF1BD0A3-E460-4408-9286-6B74B72750F0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>
          <a:xfrm>
            <a:off x="9038663" y="3833744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HorizontalLine2 1119232">
            <a:extLst>
              <a:ext uri="{FF2B5EF4-FFF2-40B4-BE49-F238E27FC236}">
                <a16:creationId xmlns:a16="http://schemas.microsoft.com/office/drawing/2014/main" id="{B8EEA7EB-536A-4805-BA8D-E8D74BC3DD5C}"/>
              </a:ext>
            </a:extLst>
          </p:cNvPr>
          <p:cNvCxnSpPr>
            <a:cxnSpLocks/>
          </p:cNvCxnSpPr>
          <p:nvPr>
            <p:custDataLst>
              <p:tags r:id="rId47"/>
            </p:custDataLst>
          </p:nvPr>
        </p:nvCxnSpPr>
        <p:spPr>
          <a:xfrm>
            <a:off x="1516152" y="4612072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HorizontalLine2 1119232">
            <a:extLst>
              <a:ext uri="{FF2B5EF4-FFF2-40B4-BE49-F238E27FC236}">
                <a16:creationId xmlns:a16="http://schemas.microsoft.com/office/drawing/2014/main" id="{328C9B44-CDBA-424D-8D0C-DD1159ACBAF5}"/>
              </a:ext>
            </a:extLst>
          </p:cNvPr>
          <p:cNvCxnSpPr>
            <a:cxnSpLocks/>
          </p:cNvCxnSpPr>
          <p:nvPr>
            <p:custDataLst>
              <p:tags r:id="rId48"/>
            </p:custDataLst>
          </p:nvPr>
        </p:nvCxnSpPr>
        <p:spPr>
          <a:xfrm>
            <a:off x="1516152" y="5162770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HorizontalLine2 1119232">
            <a:extLst>
              <a:ext uri="{FF2B5EF4-FFF2-40B4-BE49-F238E27FC236}">
                <a16:creationId xmlns:a16="http://schemas.microsoft.com/office/drawing/2014/main" id="{94545B8E-91FB-463F-A3FA-F7B1B8C686CC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>
          <a:xfrm>
            <a:off x="1516152" y="5849865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HorizontalLine2 1119232">
            <a:extLst>
              <a:ext uri="{FF2B5EF4-FFF2-40B4-BE49-F238E27FC236}">
                <a16:creationId xmlns:a16="http://schemas.microsoft.com/office/drawing/2014/main" id="{868576BE-0F45-4657-A9C6-ED7C5D0DB10C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>
          <a:xfrm>
            <a:off x="609598" y="2568570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HorizontalLine2 1119232">
            <a:extLst>
              <a:ext uri="{FF2B5EF4-FFF2-40B4-BE49-F238E27FC236}">
                <a16:creationId xmlns:a16="http://schemas.microsoft.com/office/drawing/2014/main" id="{8271511A-0443-4020-B4F1-16C6B570BBEE}"/>
              </a:ext>
            </a:extLst>
          </p:cNvPr>
          <p:cNvCxnSpPr>
            <a:cxnSpLocks/>
          </p:cNvCxnSpPr>
          <p:nvPr>
            <p:custDataLst>
              <p:tags r:id="rId51"/>
            </p:custDataLst>
          </p:nvPr>
        </p:nvCxnSpPr>
        <p:spPr>
          <a:xfrm>
            <a:off x="609598" y="5346336"/>
            <a:ext cx="736667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HorizontalLine2 1119232">
            <a:extLst>
              <a:ext uri="{FF2B5EF4-FFF2-40B4-BE49-F238E27FC236}">
                <a16:creationId xmlns:a16="http://schemas.microsoft.com/office/drawing/2014/main" id="{063D6A76-0128-4D0D-BEE7-C25D956A03DA}"/>
              </a:ext>
            </a:extLst>
          </p:cNvPr>
          <p:cNvCxnSpPr>
            <a:cxnSpLocks/>
          </p:cNvCxnSpPr>
          <p:nvPr>
            <p:custDataLst>
              <p:tags r:id="rId52"/>
            </p:custDataLst>
          </p:nvPr>
        </p:nvCxnSpPr>
        <p:spPr>
          <a:xfrm>
            <a:off x="8061390" y="5666299"/>
            <a:ext cx="89215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HorizontalLine2 1119232">
            <a:extLst>
              <a:ext uri="{FF2B5EF4-FFF2-40B4-BE49-F238E27FC236}">
                <a16:creationId xmlns:a16="http://schemas.microsoft.com/office/drawing/2014/main" id="{20EA8F92-23EF-4071-BEE6-4BE993208E9F}"/>
              </a:ext>
            </a:extLst>
          </p:cNvPr>
          <p:cNvCxnSpPr>
            <a:cxnSpLocks/>
          </p:cNvCxnSpPr>
          <p:nvPr>
            <p:custDataLst>
              <p:tags r:id="rId53"/>
            </p:custDataLst>
          </p:nvPr>
        </p:nvCxnSpPr>
        <p:spPr>
          <a:xfrm>
            <a:off x="9038663" y="5666299"/>
            <a:ext cx="2543735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HorizontalLine2 1119232">
            <a:extLst>
              <a:ext uri="{FF2B5EF4-FFF2-40B4-BE49-F238E27FC236}">
                <a16:creationId xmlns:a16="http://schemas.microsoft.com/office/drawing/2014/main" id="{69E893E4-5B6F-4A7E-BAE1-DB9DB562C630}"/>
              </a:ext>
            </a:extLst>
          </p:cNvPr>
          <p:cNvCxnSpPr>
            <a:cxnSpLocks/>
          </p:cNvCxnSpPr>
          <p:nvPr>
            <p:custDataLst>
              <p:tags r:id="rId54"/>
            </p:custDataLst>
          </p:nvPr>
        </p:nvCxnSpPr>
        <p:spPr>
          <a:xfrm>
            <a:off x="8061390" y="5849865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HorizontalLine2 1119232">
            <a:extLst>
              <a:ext uri="{FF2B5EF4-FFF2-40B4-BE49-F238E27FC236}">
                <a16:creationId xmlns:a16="http://schemas.microsoft.com/office/drawing/2014/main" id="{A5A61A03-7932-404D-8286-AA629C321EF2}"/>
              </a:ext>
            </a:extLst>
          </p:cNvPr>
          <p:cNvCxnSpPr>
            <a:cxnSpLocks/>
          </p:cNvCxnSpPr>
          <p:nvPr>
            <p:custDataLst>
              <p:tags r:id="rId55"/>
            </p:custDataLst>
          </p:nvPr>
        </p:nvCxnSpPr>
        <p:spPr>
          <a:xfrm>
            <a:off x="9038663" y="5849865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22D3A574-E711-4819-B4BB-26F04172AF46}"/>
              </a:ext>
            </a:extLst>
          </p:cNvPr>
          <p:cNvGrpSpPr>
            <a:grpSpLocks/>
          </p:cNvGrpSpPr>
          <p:nvPr/>
        </p:nvGrpSpPr>
        <p:grpSpPr>
          <a:xfrm>
            <a:off x="4854534" y="4277489"/>
            <a:ext cx="118468" cy="118468"/>
            <a:chOff x="10126688" y="1289273"/>
            <a:chExt cx="153888" cy="153888"/>
          </a:xfrm>
        </p:grpSpPr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4086D6A6-1815-4027-B701-0BA4EBBC152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28" name="Graphic 327">
              <a:extLst>
                <a:ext uri="{FF2B5EF4-FFF2-40B4-BE49-F238E27FC236}">
                  <a16:creationId xmlns:a16="http://schemas.microsoft.com/office/drawing/2014/main" id="{2B4383F6-9F6F-427D-960B-DC715DC70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C6F5CB7-BB62-4EF3-B306-32CA2FBC5C29}"/>
              </a:ext>
            </a:extLst>
          </p:cNvPr>
          <p:cNvGrpSpPr>
            <a:grpSpLocks/>
          </p:cNvGrpSpPr>
          <p:nvPr/>
        </p:nvGrpSpPr>
        <p:grpSpPr>
          <a:xfrm>
            <a:off x="6182658" y="4828188"/>
            <a:ext cx="118468" cy="118468"/>
            <a:chOff x="10126688" y="1289273"/>
            <a:chExt cx="153888" cy="153888"/>
          </a:xfrm>
        </p:grpSpPr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BFF825E-CEFD-4827-B3D8-29408F354F5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31" name="Graphic 330">
              <a:extLst>
                <a:ext uri="{FF2B5EF4-FFF2-40B4-BE49-F238E27FC236}">
                  <a16:creationId xmlns:a16="http://schemas.microsoft.com/office/drawing/2014/main" id="{BBFD2619-E1B8-44E4-8A37-E05CA69CD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02E6FE43-A984-4C60-8C94-7F66D17C01CA}"/>
              </a:ext>
            </a:extLst>
          </p:cNvPr>
          <p:cNvGrpSpPr>
            <a:grpSpLocks/>
          </p:cNvGrpSpPr>
          <p:nvPr/>
        </p:nvGrpSpPr>
        <p:grpSpPr>
          <a:xfrm>
            <a:off x="7549628" y="4828188"/>
            <a:ext cx="118468" cy="118468"/>
            <a:chOff x="10126688" y="1289273"/>
            <a:chExt cx="153888" cy="153888"/>
          </a:xfrm>
        </p:grpSpPr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1CE3F491-8D64-442E-9BC9-112AC5D9D9C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34" name="Graphic 333">
              <a:extLst>
                <a:ext uri="{FF2B5EF4-FFF2-40B4-BE49-F238E27FC236}">
                  <a16:creationId xmlns:a16="http://schemas.microsoft.com/office/drawing/2014/main" id="{E0B27794-DB88-4EDF-A4C2-2FFE0B673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B5F20C0D-7124-4A6D-8CBA-BDE76027A7EE}"/>
              </a:ext>
            </a:extLst>
          </p:cNvPr>
          <p:cNvSpPr txBox="1">
            <a:spLocks/>
          </p:cNvSpPr>
          <p:nvPr/>
        </p:nvSpPr>
        <p:spPr>
          <a:xfrm>
            <a:off x="6686078" y="4841255"/>
            <a:ext cx="795961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 своим сервисам</a:t>
            </a:r>
          </a:p>
        </p:txBody>
      </p: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623B5FCC-F60F-4CEE-8C1D-8F8DBD463E26}"/>
              </a:ext>
            </a:extLst>
          </p:cNvPr>
          <p:cNvGrpSpPr>
            <a:grpSpLocks/>
          </p:cNvGrpSpPr>
          <p:nvPr/>
        </p:nvGrpSpPr>
        <p:grpSpPr>
          <a:xfrm>
            <a:off x="8448232" y="2395522"/>
            <a:ext cx="118468" cy="118468"/>
            <a:chOff x="10126688" y="1289273"/>
            <a:chExt cx="153888" cy="153888"/>
          </a:xfrm>
        </p:grpSpPr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65328CFD-080E-450E-AF16-5EB1CAF431A6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41" name="Graphic 340">
              <a:extLst>
                <a:ext uri="{FF2B5EF4-FFF2-40B4-BE49-F238E27FC236}">
                  <a16:creationId xmlns:a16="http://schemas.microsoft.com/office/drawing/2014/main" id="{BB44A666-38E5-4DDE-88C6-383DF4C3A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F6172BA9-7B8B-4CEC-A047-5FDA95D7130F}"/>
              </a:ext>
            </a:extLst>
          </p:cNvPr>
          <p:cNvGrpSpPr>
            <a:grpSpLocks/>
          </p:cNvGrpSpPr>
          <p:nvPr/>
        </p:nvGrpSpPr>
        <p:grpSpPr>
          <a:xfrm>
            <a:off x="8448232" y="2601120"/>
            <a:ext cx="118468" cy="118468"/>
            <a:chOff x="10126688" y="1289273"/>
            <a:chExt cx="153888" cy="153888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49833B9B-9960-4120-9729-BD15DB36A804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44" name="Graphic 343">
              <a:extLst>
                <a:ext uri="{FF2B5EF4-FFF2-40B4-BE49-F238E27FC236}">
                  <a16:creationId xmlns:a16="http://schemas.microsoft.com/office/drawing/2014/main" id="{36AE1EC6-2BF3-4DD3-835F-E53C30E3C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851F2395-BDB7-4FC2-A025-7F544A374D3A}"/>
              </a:ext>
            </a:extLst>
          </p:cNvPr>
          <p:cNvGrpSpPr>
            <a:grpSpLocks/>
          </p:cNvGrpSpPr>
          <p:nvPr/>
        </p:nvGrpSpPr>
        <p:grpSpPr>
          <a:xfrm>
            <a:off x="8448232" y="2806717"/>
            <a:ext cx="118468" cy="118468"/>
            <a:chOff x="10126688" y="1289273"/>
            <a:chExt cx="153888" cy="153888"/>
          </a:xfrm>
        </p:grpSpPr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CD4B4816-9500-4506-B76F-67905DA0E74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47" name="Graphic 346">
              <a:extLst>
                <a:ext uri="{FF2B5EF4-FFF2-40B4-BE49-F238E27FC236}">
                  <a16:creationId xmlns:a16="http://schemas.microsoft.com/office/drawing/2014/main" id="{680035E9-B0AE-4988-80E8-FD43866AF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B6E181D2-421A-44C1-BC5F-8055E0F28202}"/>
              </a:ext>
            </a:extLst>
          </p:cNvPr>
          <p:cNvGrpSpPr>
            <a:grpSpLocks/>
          </p:cNvGrpSpPr>
          <p:nvPr/>
        </p:nvGrpSpPr>
        <p:grpSpPr>
          <a:xfrm>
            <a:off x="8448232" y="3477129"/>
            <a:ext cx="118468" cy="118468"/>
            <a:chOff x="10126688" y="1289273"/>
            <a:chExt cx="153888" cy="153888"/>
          </a:xfrm>
        </p:grpSpPr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D731E856-AC5F-447C-A2EA-233D22D236F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54" name="Graphic 353">
              <a:extLst>
                <a:ext uri="{FF2B5EF4-FFF2-40B4-BE49-F238E27FC236}">
                  <a16:creationId xmlns:a16="http://schemas.microsoft.com/office/drawing/2014/main" id="{8D2A1D1D-1E16-49C4-AA20-B9B6F4377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A7C08CBC-2987-4012-ACE3-4F82AB922F05}"/>
              </a:ext>
            </a:extLst>
          </p:cNvPr>
          <p:cNvGrpSpPr>
            <a:grpSpLocks/>
          </p:cNvGrpSpPr>
          <p:nvPr/>
        </p:nvGrpSpPr>
        <p:grpSpPr>
          <a:xfrm>
            <a:off x="8448232" y="3682728"/>
            <a:ext cx="118468" cy="118468"/>
            <a:chOff x="10126688" y="1289273"/>
            <a:chExt cx="153888" cy="153888"/>
          </a:xfrm>
        </p:grpSpPr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8FB17191-92C2-43C0-BEDA-3F9728AF0194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57" name="Graphic 356">
              <a:extLst>
                <a:ext uri="{FF2B5EF4-FFF2-40B4-BE49-F238E27FC236}">
                  <a16:creationId xmlns:a16="http://schemas.microsoft.com/office/drawing/2014/main" id="{32DF8390-3120-4D38-A3DA-A4CB7CB69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75581CD7-9978-41DA-91A2-C2DDB83A962E}"/>
              </a:ext>
            </a:extLst>
          </p:cNvPr>
          <p:cNvSpPr txBox="1">
            <a:spLocks/>
          </p:cNvSpPr>
          <p:nvPr/>
        </p:nvSpPr>
        <p:spPr>
          <a:xfrm>
            <a:off x="8619380" y="3446961"/>
            <a:ext cx="749276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600" dirty="0"/>
              <a:t>Координация процесса</a:t>
            </a:r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5CBFD8DF-6A57-4458-895C-8B0DFC28EE80}"/>
              </a:ext>
            </a:extLst>
          </p:cNvPr>
          <p:cNvGrpSpPr>
            <a:grpSpLocks/>
          </p:cNvGrpSpPr>
          <p:nvPr/>
        </p:nvGrpSpPr>
        <p:grpSpPr>
          <a:xfrm>
            <a:off x="8448232" y="4071891"/>
            <a:ext cx="118468" cy="118468"/>
            <a:chOff x="10126688" y="1289273"/>
            <a:chExt cx="153888" cy="153888"/>
          </a:xfrm>
        </p:grpSpPr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9F375DC6-DFD9-40B8-816A-C29209B945D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61" name="Graphic 360">
              <a:extLst>
                <a:ext uri="{FF2B5EF4-FFF2-40B4-BE49-F238E27FC236}">
                  <a16:creationId xmlns:a16="http://schemas.microsoft.com/office/drawing/2014/main" id="{8F91B189-C59D-4160-9D98-46D0332BF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61D78D48-3936-498D-B3FD-484A1DE60F56}"/>
              </a:ext>
            </a:extLst>
          </p:cNvPr>
          <p:cNvGrpSpPr>
            <a:grpSpLocks/>
          </p:cNvGrpSpPr>
          <p:nvPr/>
        </p:nvGrpSpPr>
        <p:grpSpPr>
          <a:xfrm>
            <a:off x="8448232" y="4461055"/>
            <a:ext cx="118468" cy="118468"/>
            <a:chOff x="10126688" y="1289273"/>
            <a:chExt cx="153888" cy="153888"/>
          </a:xfrm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8D08E7B-8605-4B30-A7C5-AF558C17AE9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64" name="Graphic 363">
              <a:extLst>
                <a:ext uri="{FF2B5EF4-FFF2-40B4-BE49-F238E27FC236}">
                  <a16:creationId xmlns:a16="http://schemas.microsoft.com/office/drawing/2014/main" id="{B0F3125B-3010-4841-B1BD-3DFA97F8D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7EE1D1FE-8FCA-4421-95E4-DD0597085317}"/>
              </a:ext>
            </a:extLst>
          </p:cNvPr>
          <p:cNvGrpSpPr>
            <a:grpSpLocks/>
          </p:cNvGrpSpPr>
          <p:nvPr/>
        </p:nvGrpSpPr>
        <p:grpSpPr>
          <a:xfrm>
            <a:off x="8448232" y="4644622"/>
            <a:ext cx="118468" cy="118468"/>
            <a:chOff x="10126688" y="1289273"/>
            <a:chExt cx="153888" cy="153888"/>
          </a:xfrm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B8615D2E-E284-4A19-9DC9-52BB8C18486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71" name="Graphic 370">
              <a:extLst>
                <a:ext uri="{FF2B5EF4-FFF2-40B4-BE49-F238E27FC236}">
                  <a16:creationId xmlns:a16="http://schemas.microsoft.com/office/drawing/2014/main" id="{BCCE62CD-6C43-4088-A93E-8BA07C91F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1DE40799-1670-4952-9D2A-C6B819D7995D}"/>
              </a:ext>
            </a:extLst>
          </p:cNvPr>
          <p:cNvGrpSpPr>
            <a:grpSpLocks/>
          </p:cNvGrpSpPr>
          <p:nvPr/>
        </p:nvGrpSpPr>
        <p:grpSpPr>
          <a:xfrm>
            <a:off x="8448232" y="5195319"/>
            <a:ext cx="118468" cy="118468"/>
            <a:chOff x="10126688" y="1289273"/>
            <a:chExt cx="153888" cy="153888"/>
          </a:xfrm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3C0F64AB-1389-40FD-B2F8-98687D49CD1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74" name="Graphic 373">
              <a:extLst>
                <a:ext uri="{FF2B5EF4-FFF2-40B4-BE49-F238E27FC236}">
                  <a16:creationId xmlns:a16="http://schemas.microsoft.com/office/drawing/2014/main" id="{C237EB79-2B40-44C9-A5F6-687CC5FC5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91" name="TextBox 390">
            <a:extLst>
              <a:ext uri="{FF2B5EF4-FFF2-40B4-BE49-F238E27FC236}">
                <a16:creationId xmlns:a16="http://schemas.microsoft.com/office/drawing/2014/main" id="{7D5F2463-692C-49B0-B5AA-6DAE99BE3747}"/>
              </a:ext>
            </a:extLst>
          </p:cNvPr>
          <p:cNvSpPr txBox="1">
            <a:spLocks/>
          </p:cNvSpPr>
          <p:nvPr/>
        </p:nvSpPr>
        <p:spPr>
          <a:xfrm>
            <a:off x="7043219" y="5208386"/>
            <a:ext cx="1370440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За исключением счетчиков (</a:t>
            </a:r>
            <a:r>
              <a:rPr lang="ru-RU" sz="600" dirty="0" err="1"/>
              <a:t>ИПУ</a:t>
            </a:r>
            <a:r>
              <a:rPr lang="ru-RU" sz="600" dirty="0"/>
              <a:t>)</a:t>
            </a:r>
          </a:p>
        </p:txBody>
      </p: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0360C2A4-BB86-4323-AF40-7EFF0224A8E9}"/>
              </a:ext>
            </a:extLst>
          </p:cNvPr>
          <p:cNvGrpSpPr>
            <a:grpSpLocks/>
          </p:cNvGrpSpPr>
          <p:nvPr/>
        </p:nvGrpSpPr>
        <p:grpSpPr>
          <a:xfrm>
            <a:off x="8448232" y="5447083"/>
            <a:ext cx="118468" cy="118468"/>
            <a:chOff x="10126688" y="1289273"/>
            <a:chExt cx="153888" cy="153888"/>
          </a:xfrm>
        </p:grpSpPr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FCDDF748-91D4-40F1-BF9A-2C68C2850F9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394" name="Graphic 393">
              <a:extLst>
                <a:ext uri="{FF2B5EF4-FFF2-40B4-BE49-F238E27FC236}">
                  <a16:creationId xmlns:a16="http://schemas.microsoft.com/office/drawing/2014/main" id="{04F4E4E1-5EAC-4D17-99A9-AAE2B9FE9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76D1085D-D37D-4800-BDED-141383E25812}"/>
              </a:ext>
            </a:extLst>
          </p:cNvPr>
          <p:cNvGrpSpPr>
            <a:grpSpLocks/>
          </p:cNvGrpSpPr>
          <p:nvPr/>
        </p:nvGrpSpPr>
        <p:grpSpPr>
          <a:xfrm>
            <a:off x="8448232" y="5698848"/>
            <a:ext cx="118468" cy="118468"/>
            <a:chOff x="10126688" y="1289273"/>
            <a:chExt cx="153888" cy="153888"/>
          </a:xfrm>
        </p:grpSpPr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F42E38E9-4316-4C85-9DAB-C51477F3779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13" name="Graphic 412">
              <a:extLst>
                <a:ext uri="{FF2B5EF4-FFF2-40B4-BE49-F238E27FC236}">
                  <a16:creationId xmlns:a16="http://schemas.microsoft.com/office/drawing/2014/main" id="{B1235402-607B-4FCD-9754-8F7C2A4F4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736D63FF-A2C4-46AF-A0A8-FF7493825008}"/>
              </a:ext>
            </a:extLst>
          </p:cNvPr>
          <p:cNvGrpSpPr>
            <a:grpSpLocks/>
          </p:cNvGrpSpPr>
          <p:nvPr/>
        </p:nvGrpSpPr>
        <p:grpSpPr>
          <a:xfrm>
            <a:off x="8448232" y="5886340"/>
            <a:ext cx="118468" cy="118468"/>
            <a:chOff x="10126688" y="1289273"/>
            <a:chExt cx="153888" cy="153888"/>
          </a:xfrm>
        </p:grpSpPr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F83116D2-2CE1-4903-B65C-896D20D5F16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18" name="Graphic 417">
              <a:extLst>
                <a:ext uri="{FF2B5EF4-FFF2-40B4-BE49-F238E27FC236}">
                  <a16:creationId xmlns:a16="http://schemas.microsoft.com/office/drawing/2014/main" id="{939DBE12-FDF2-4C27-9F26-52ED751B3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B5EF617F-93AB-4265-8887-CF76FEB29213}"/>
              </a:ext>
            </a:extLst>
          </p:cNvPr>
          <p:cNvGrpSpPr>
            <a:grpSpLocks/>
          </p:cNvGrpSpPr>
          <p:nvPr/>
        </p:nvGrpSpPr>
        <p:grpSpPr>
          <a:xfrm>
            <a:off x="9420280" y="4828188"/>
            <a:ext cx="118468" cy="118468"/>
            <a:chOff x="10126688" y="1289273"/>
            <a:chExt cx="153888" cy="153888"/>
          </a:xfrm>
        </p:grpSpPr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4789F1BF-F018-41AB-A6E0-323D97CA8D0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21" name="Graphic 420">
              <a:extLst>
                <a:ext uri="{FF2B5EF4-FFF2-40B4-BE49-F238E27FC236}">
                  <a16:creationId xmlns:a16="http://schemas.microsoft.com/office/drawing/2014/main" id="{B7648630-DE4A-4D2A-AC22-870997CEB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9C5D744E-E3B0-4543-B674-85E88550CE2D}"/>
              </a:ext>
            </a:extLst>
          </p:cNvPr>
          <p:cNvGrpSpPr>
            <a:grpSpLocks/>
          </p:cNvGrpSpPr>
          <p:nvPr/>
        </p:nvGrpSpPr>
        <p:grpSpPr>
          <a:xfrm>
            <a:off x="9420280" y="5011752"/>
            <a:ext cx="118468" cy="118468"/>
            <a:chOff x="10126688" y="1289273"/>
            <a:chExt cx="153888" cy="153888"/>
          </a:xfrm>
        </p:grpSpPr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FDAB12A4-EEEE-4337-AE57-86409D560FD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25" name="Graphic 424">
              <a:extLst>
                <a:ext uri="{FF2B5EF4-FFF2-40B4-BE49-F238E27FC236}">
                  <a16:creationId xmlns:a16="http://schemas.microsoft.com/office/drawing/2014/main" id="{C79B6945-1C16-4A9C-925D-E1186D827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426" name="TextBox 425">
            <a:extLst>
              <a:ext uri="{FF2B5EF4-FFF2-40B4-BE49-F238E27FC236}">
                <a16:creationId xmlns:a16="http://schemas.microsoft.com/office/drawing/2014/main" id="{4F130123-CE88-4282-8DD3-9D1DF385A491}"/>
              </a:ext>
            </a:extLst>
          </p:cNvPr>
          <p:cNvSpPr txBox="1">
            <a:spLocks/>
          </p:cNvSpPr>
          <p:nvPr/>
        </p:nvSpPr>
        <p:spPr>
          <a:xfrm>
            <a:off x="8572695" y="4841255"/>
            <a:ext cx="795961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 своим сервисам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F166FBA4-F71E-4C22-92AB-4EE5A3FAAD8D}"/>
              </a:ext>
            </a:extLst>
          </p:cNvPr>
          <p:cNvSpPr txBox="1">
            <a:spLocks/>
          </p:cNvSpPr>
          <p:nvPr/>
        </p:nvSpPr>
        <p:spPr>
          <a:xfrm>
            <a:off x="8572695" y="5024819"/>
            <a:ext cx="795961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 своим сервисам</a:t>
            </a:r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D40C900D-02B7-4232-8C48-2D811CFBED74}"/>
              </a:ext>
            </a:extLst>
          </p:cNvPr>
          <p:cNvGrpSpPr>
            <a:grpSpLocks/>
          </p:cNvGrpSpPr>
          <p:nvPr/>
        </p:nvGrpSpPr>
        <p:grpSpPr>
          <a:xfrm>
            <a:off x="10205054" y="3477129"/>
            <a:ext cx="118468" cy="118468"/>
            <a:chOff x="10126688" y="1289273"/>
            <a:chExt cx="153888" cy="153888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107AC8A9-1F52-492E-93B1-6E273417626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30" name="Graphic 429">
              <a:extLst>
                <a:ext uri="{FF2B5EF4-FFF2-40B4-BE49-F238E27FC236}">
                  <a16:creationId xmlns:a16="http://schemas.microsoft.com/office/drawing/2014/main" id="{C17EFB20-F4D3-4891-A418-E38A20AE1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B3CE57F0-CCE9-4E41-A028-0BA8986F505A}"/>
              </a:ext>
            </a:extLst>
          </p:cNvPr>
          <p:cNvGrpSpPr>
            <a:grpSpLocks/>
          </p:cNvGrpSpPr>
          <p:nvPr/>
        </p:nvGrpSpPr>
        <p:grpSpPr>
          <a:xfrm>
            <a:off x="10345310" y="4828188"/>
            <a:ext cx="118468" cy="118468"/>
            <a:chOff x="10126688" y="1289273"/>
            <a:chExt cx="153888" cy="153888"/>
          </a:xfrm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1833867B-0B4F-4702-8706-FC0ECDAFF80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33" name="Graphic 432">
              <a:extLst>
                <a:ext uri="{FF2B5EF4-FFF2-40B4-BE49-F238E27FC236}">
                  <a16:creationId xmlns:a16="http://schemas.microsoft.com/office/drawing/2014/main" id="{67A66852-F897-4D94-8F42-1A7874905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4EC14E5-E595-43BF-A177-2C19A43897FC}"/>
              </a:ext>
            </a:extLst>
          </p:cNvPr>
          <p:cNvGrpSpPr>
            <a:grpSpLocks/>
          </p:cNvGrpSpPr>
          <p:nvPr/>
        </p:nvGrpSpPr>
        <p:grpSpPr>
          <a:xfrm>
            <a:off x="10345310" y="5011752"/>
            <a:ext cx="118468" cy="118468"/>
            <a:chOff x="10126688" y="1289273"/>
            <a:chExt cx="153888" cy="153888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287C2D04-7A81-48AD-A6AD-C19FB98D9793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36" name="Graphic 435">
              <a:extLst>
                <a:ext uri="{FF2B5EF4-FFF2-40B4-BE49-F238E27FC236}">
                  <a16:creationId xmlns:a16="http://schemas.microsoft.com/office/drawing/2014/main" id="{FC555E36-0A6E-4DCE-A1C8-BBA5303E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437" name="TextBox 436">
            <a:extLst>
              <a:ext uri="{FF2B5EF4-FFF2-40B4-BE49-F238E27FC236}">
                <a16:creationId xmlns:a16="http://schemas.microsoft.com/office/drawing/2014/main" id="{C3448D86-0D51-4908-8324-A774AC9A19E2}"/>
              </a:ext>
            </a:extLst>
          </p:cNvPr>
          <p:cNvSpPr txBox="1">
            <a:spLocks/>
          </p:cNvSpPr>
          <p:nvPr/>
        </p:nvSpPr>
        <p:spPr>
          <a:xfrm>
            <a:off x="10515896" y="4841255"/>
            <a:ext cx="795961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 своим сервисам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72DA014D-B153-4444-82E6-422915D830E4}"/>
              </a:ext>
            </a:extLst>
          </p:cNvPr>
          <p:cNvSpPr txBox="1">
            <a:spLocks/>
          </p:cNvSpPr>
          <p:nvPr/>
        </p:nvSpPr>
        <p:spPr>
          <a:xfrm>
            <a:off x="10515896" y="5024819"/>
            <a:ext cx="795961" cy="9233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По своим сервисам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6885BF8A-DC90-473E-8DBF-F17A9764F33A}"/>
              </a:ext>
            </a:extLst>
          </p:cNvPr>
          <p:cNvSpPr txBox="1">
            <a:spLocks/>
          </p:cNvSpPr>
          <p:nvPr/>
        </p:nvSpPr>
        <p:spPr>
          <a:xfrm>
            <a:off x="9629530" y="3446961"/>
            <a:ext cx="668326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Интеграция через </a:t>
            </a:r>
            <a:r>
              <a:rPr lang="en-US" sz="600" dirty="0"/>
              <a:t>API</a:t>
            </a:r>
            <a:endParaRPr lang="ru-RU" sz="600" dirty="0"/>
          </a:p>
        </p:txBody>
      </p: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68ABAFBF-1018-41BC-86CA-7645F0F9CF2B}"/>
              </a:ext>
            </a:extLst>
          </p:cNvPr>
          <p:cNvGrpSpPr>
            <a:grpSpLocks/>
          </p:cNvGrpSpPr>
          <p:nvPr/>
        </p:nvGrpSpPr>
        <p:grpSpPr>
          <a:xfrm>
            <a:off x="11176328" y="3477129"/>
            <a:ext cx="118468" cy="118468"/>
            <a:chOff x="10126688" y="1289273"/>
            <a:chExt cx="153888" cy="153888"/>
          </a:xfrm>
        </p:grpSpPr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472831C6-B4DB-4977-B405-D4E7F00D6D32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442" name="Graphic 441">
              <a:extLst>
                <a:ext uri="{FF2B5EF4-FFF2-40B4-BE49-F238E27FC236}">
                  <a16:creationId xmlns:a16="http://schemas.microsoft.com/office/drawing/2014/main" id="{13066B2C-C811-46AA-8DBA-2FE74EF27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443" name="TextBox 442">
            <a:extLst>
              <a:ext uri="{FF2B5EF4-FFF2-40B4-BE49-F238E27FC236}">
                <a16:creationId xmlns:a16="http://schemas.microsoft.com/office/drawing/2014/main" id="{6D1DC355-F790-4ED4-9A8F-146009DB25C7}"/>
              </a:ext>
            </a:extLst>
          </p:cNvPr>
          <p:cNvSpPr txBox="1">
            <a:spLocks/>
          </p:cNvSpPr>
          <p:nvPr/>
        </p:nvSpPr>
        <p:spPr>
          <a:xfrm>
            <a:off x="10515896" y="3446961"/>
            <a:ext cx="615776" cy="18466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spc="-10" dirty="0"/>
              <a:t>Интеграция для фронт-</a:t>
            </a:r>
            <a:r>
              <a:rPr lang="ru-RU" sz="600" spc="-10" dirty="0" err="1"/>
              <a:t>энда</a:t>
            </a:r>
            <a:endParaRPr lang="ru-RU" sz="600" spc="-1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52207C1-5EE0-4D63-A889-980C51AD92FD}"/>
              </a:ext>
            </a:extLst>
          </p:cNvPr>
          <p:cNvSpPr txBox="1">
            <a:spLocks/>
          </p:cNvSpPr>
          <p:nvPr/>
        </p:nvSpPr>
        <p:spPr>
          <a:xfrm>
            <a:off x="5377551" y="1509967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Дом</a:t>
            </a:r>
          </a:p>
        </p:txBody>
      </p:sp>
      <p:cxnSp>
        <p:nvCxnSpPr>
          <p:cNvPr id="207" name="HorizontalLine2 1119232">
            <a:extLst>
              <a:ext uri="{FF2B5EF4-FFF2-40B4-BE49-F238E27FC236}">
                <a16:creationId xmlns:a16="http://schemas.microsoft.com/office/drawing/2014/main" id="{A0FE81B9-33B9-4AF1-8F45-923B9FF3B74D}"/>
              </a:ext>
            </a:extLst>
          </p:cNvPr>
          <p:cNvCxnSpPr>
            <a:cxnSpLocks/>
          </p:cNvCxnSpPr>
          <p:nvPr>
            <p:custDataLst>
              <p:tags r:id="rId56"/>
            </p:custDataLst>
          </p:nvPr>
        </p:nvCxnSpPr>
        <p:spPr>
          <a:xfrm>
            <a:off x="5377551" y="1674662"/>
            <a:ext cx="1820573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84FC399-EBFB-4F1A-A737-AFAFCDEB2758}"/>
              </a:ext>
            </a:extLst>
          </p:cNvPr>
          <p:cNvGrpSpPr>
            <a:grpSpLocks/>
          </p:cNvGrpSpPr>
          <p:nvPr/>
        </p:nvGrpSpPr>
        <p:grpSpPr>
          <a:xfrm>
            <a:off x="9418442" y="3475332"/>
            <a:ext cx="118468" cy="118468"/>
            <a:chOff x="10126688" y="1289273"/>
            <a:chExt cx="153888" cy="153888"/>
          </a:xfrm>
        </p:grpSpPr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F6E9EFCD-7B76-4891-A0D6-EB58E54F664A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228" name="Graphic 227">
              <a:extLst>
                <a:ext uri="{FF2B5EF4-FFF2-40B4-BE49-F238E27FC236}">
                  <a16:creationId xmlns:a16="http://schemas.microsoft.com/office/drawing/2014/main" id="{FA220393-729E-40F1-AF05-BDC60BE7D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C0C9353B-FE5F-40BA-B399-206E018F1491}"/>
              </a:ext>
            </a:extLst>
          </p:cNvPr>
          <p:cNvSpPr txBox="1">
            <a:spLocks/>
          </p:cNvSpPr>
          <p:nvPr/>
        </p:nvSpPr>
        <p:spPr>
          <a:xfrm>
            <a:off x="1516152" y="3223728"/>
            <a:ext cx="2143215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600" dirty="0"/>
              <a:t>Обеспечение соответствия инфраструктуры необходимым техническим требованиям</a:t>
            </a:r>
            <a:r>
              <a:rPr lang="ru-RU" sz="600" baseline="30000" dirty="0"/>
              <a:t>1</a:t>
            </a:r>
            <a:r>
              <a:rPr lang="ru-RU" sz="600" dirty="0"/>
              <a:t> </a:t>
            </a:r>
          </a:p>
        </p:txBody>
      </p:sp>
      <p:cxnSp>
        <p:nvCxnSpPr>
          <p:cNvPr id="208" name="HorizontalLine2 1119232">
            <a:extLst>
              <a:ext uri="{FF2B5EF4-FFF2-40B4-BE49-F238E27FC236}">
                <a16:creationId xmlns:a16="http://schemas.microsoft.com/office/drawing/2014/main" id="{38EFFAB8-E01A-4C69-854A-5F014FFA72EA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>
          <a:xfrm>
            <a:off x="1516152" y="3204330"/>
            <a:ext cx="646011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HorizontalLine2 1119232">
            <a:extLst>
              <a:ext uri="{FF2B5EF4-FFF2-40B4-BE49-F238E27FC236}">
                <a16:creationId xmlns:a16="http://schemas.microsoft.com/office/drawing/2014/main" id="{2FB866A1-F180-438C-93CD-58828F12E145}"/>
              </a:ext>
            </a:extLst>
          </p:cNvPr>
          <p:cNvCxnSpPr>
            <a:cxnSpLocks/>
          </p:cNvCxnSpPr>
          <p:nvPr>
            <p:custDataLst>
              <p:tags r:id="rId58"/>
            </p:custDataLst>
          </p:nvPr>
        </p:nvCxnSpPr>
        <p:spPr>
          <a:xfrm>
            <a:off x="8048715" y="3204330"/>
            <a:ext cx="89215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HorizontalLine2 1119232">
            <a:extLst>
              <a:ext uri="{FF2B5EF4-FFF2-40B4-BE49-F238E27FC236}">
                <a16:creationId xmlns:a16="http://schemas.microsoft.com/office/drawing/2014/main" id="{ACDD14A5-7B51-4C14-B228-3870E578088D}"/>
              </a:ext>
            </a:extLst>
          </p:cNvPr>
          <p:cNvCxnSpPr>
            <a:cxnSpLocks/>
          </p:cNvCxnSpPr>
          <p:nvPr>
            <p:custDataLst>
              <p:tags r:id="rId59"/>
            </p:custDataLst>
          </p:nvPr>
        </p:nvCxnSpPr>
        <p:spPr>
          <a:xfrm>
            <a:off x="9025988" y="3204330"/>
            <a:ext cx="2543735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CDD7DF7-E30C-45A7-9E5D-BA49FA40DE07}"/>
              </a:ext>
            </a:extLst>
          </p:cNvPr>
          <p:cNvGrpSpPr>
            <a:grpSpLocks/>
          </p:cNvGrpSpPr>
          <p:nvPr/>
        </p:nvGrpSpPr>
        <p:grpSpPr>
          <a:xfrm>
            <a:off x="8451661" y="3261480"/>
            <a:ext cx="118468" cy="118468"/>
            <a:chOff x="10126688" y="1289273"/>
            <a:chExt cx="153888" cy="153888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C3FCA526-8642-4492-8E34-1B02D2F1004B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600" dirty="0" err="1">
                <a:solidFill>
                  <a:schemeClr val="bg1"/>
                </a:solidFill>
              </a:endParaRPr>
            </a:p>
          </p:txBody>
        </p:sp>
        <p:pic>
          <p:nvPicPr>
            <p:cNvPr id="219" name="Graphic 218">
              <a:extLst>
                <a:ext uri="{FF2B5EF4-FFF2-40B4-BE49-F238E27FC236}">
                  <a16:creationId xmlns:a16="http://schemas.microsoft.com/office/drawing/2014/main" id="{F70D12ED-E5BD-4C7D-ACE6-90FD5EB99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20" name="4. Footnote">
            <a:extLst>
              <a:ext uri="{FF2B5EF4-FFF2-40B4-BE49-F238E27FC236}">
                <a16:creationId xmlns:a16="http://schemas.microsoft.com/office/drawing/2014/main" id="{2B9F82E7-4113-4495-80D4-E7A4E437159A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Предоставление технических условий, согласование проектной документации, прием инфраструктуры по окончании строительства</a:t>
            </a:r>
          </a:p>
        </p:txBody>
      </p:sp>
    </p:spTree>
    <p:extLst>
      <p:ext uri="{BB962C8B-B14F-4D97-AF65-F5344CB8AC3E}">
        <p14:creationId xmlns:p14="http://schemas.microsoft.com/office/powerpoint/2010/main" val="66969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095E67C-A5E8-4091-90B1-D7CC5C13C4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8274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395" imgH="396" progId="TCLayout.ActiveDocument.1">
                  <p:embed/>
                </p:oleObj>
              </mc:Choice>
              <mc:Fallback>
                <p:oleObj name="think-cell Slide" r:id="rId23" imgW="395" imgH="396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095E67C-A5E8-4091-90B1-D7CC5C13C4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LineBasicDefault 25">
            <a:extLst>
              <a:ext uri="{FF2B5EF4-FFF2-40B4-BE49-F238E27FC236}">
                <a16:creationId xmlns:a16="http://schemas.microsoft.com/office/drawing/2014/main" id="{C11E76C3-4DB9-47E1-99A5-E67CB48C987F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307353" y="1406153"/>
            <a:ext cx="6273987" cy="0"/>
          </a:xfrm>
          <a:prstGeom prst="straightConnector1">
            <a:avLst/>
          </a:prstGeom>
          <a:ln w="6350" cap="sq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HorizontalLine2 1119232">
            <a:extLst>
              <a:ext uri="{FF2B5EF4-FFF2-40B4-BE49-F238E27FC236}">
                <a16:creationId xmlns:a16="http://schemas.microsoft.com/office/drawing/2014/main" id="{69E0810C-A6D0-444A-8879-16FE9DA27041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54736" y="2048748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E9147FC-AB61-4BB7-B9D3-CF5D3C42409E}"/>
              </a:ext>
            </a:extLst>
          </p:cNvPr>
          <p:cNvSpPr>
            <a:spLocks/>
          </p:cNvSpPr>
          <p:nvPr/>
        </p:nvSpPr>
        <p:spPr>
          <a:xfrm>
            <a:off x="2345493" y="1573985"/>
            <a:ext cx="1076827" cy="4108124"/>
          </a:xfrm>
          <a:prstGeom prst="roundRect">
            <a:avLst>
              <a:gd name="adj" fmla="val 8903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1FDC85D3-37D7-4952-9249-55B8B4C4E7E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Часть функционала агрегатора будет различаться в зависимости от типа сервисов «умного дома»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EC88C4-033E-442E-9992-24408ABD115F}"/>
              </a:ext>
            </a:extLst>
          </p:cNvPr>
          <p:cNvSpPr txBox="1">
            <a:spLocks/>
          </p:cNvSpPr>
          <p:nvPr/>
        </p:nvSpPr>
        <p:spPr>
          <a:xfrm>
            <a:off x="554734" y="1547073"/>
            <a:ext cx="1178816" cy="43858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95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Подход к категоризации сервисов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BCE59E9-0D97-4DA4-B4AB-65BA0981F198}"/>
              </a:ext>
            </a:extLst>
          </p:cNvPr>
          <p:cNvSpPr/>
          <p:nvPr/>
        </p:nvSpPr>
        <p:spPr>
          <a:xfrm>
            <a:off x="554735" y="2369187"/>
            <a:ext cx="1100664" cy="489060"/>
          </a:xfrm>
          <a:prstGeom prst="round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800" b="1" dirty="0">
                <a:solidFill>
                  <a:schemeClr val="bg1"/>
                </a:solidFill>
              </a:rPr>
              <a:t>Необходимость в доп. </a:t>
            </a:r>
            <a:r>
              <a:rPr lang="ru-RU" sz="800" b="1" dirty="0" err="1">
                <a:solidFill>
                  <a:schemeClr val="bg1"/>
                </a:solidFill>
              </a:rPr>
              <a:t>оборудо-вании</a:t>
            </a:r>
            <a:endParaRPr lang="ru-RU" sz="800" b="1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C744C2A-7A8A-40D2-8467-1FA2579ECA6F}"/>
              </a:ext>
            </a:extLst>
          </p:cNvPr>
          <p:cNvSpPr/>
          <p:nvPr/>
        </p:nvSpPr>
        <p:spPr>
          <a:xfrm>
            <a:off x="1031987" y="3219582"/>
            <a:ext cx="1065985" cy="489060"/>
          </a:xfrm>
          <a:prstGeom prst="round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800" b="1" dirty="0" err="1">
                <a:solidFill>
                  <a:schemeClr val="bg1"/>
                </a:solidFill>
              </a:rPr>
              <a:t>Необходи-мость</a:t>
            </a:r>
            <a:r>
              <a:rPr lang="ru-RU" sz="800" b="1" dirty="0">
                <a:solidFill>
                  <a:schemeClr val="bg1"/>
                </a:solidFill>
              </a:rPr>
              <a:t> в ИТ-доработке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A79836C-7A05-4C4C-8249-AA487D614583}"/>
              </a:ext>
            </a:extLst>
          </p:cNvPr>
          <p:cNvSpPr/>
          <p:nvPr/>
        </p:nvSpPr>
        <p:spPr>
          <a:xfrm>
            <a:off x="1456785" y="4149267"/>
            <a:ext cx="807536" cy="352853"/>
          </a:xfrm>
          <a:prstGeom prst="round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800" b="1" dirty="0">
                <a:solidFill>
                  <a:schemeClr val="bg1"/>
                </a:solidFill>
              </a:rPr>
              <a:t>Вывод во фронт-энд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512A25-D619-48E0-98DE-44958A5235C6}"/>
              </a:ext>
            </a:extLst>
          </p:cNvPr>
          <p:cNvSpPr txBox="1">
            <a:spLocks/>
          </p:cNvSpPr>
          <p:nvPr/>
        </p:nvSpPr>
        <p:spPr>
          <a:xfrm>
            <a:off x="2473125" y="1693267"/>
            <a:ext cx="885843" cy="29238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950" b="1" dirty="0">
                <a:solidFill>
                  <a:schemeClr val="bg1"/>
                </a:solidFill>
                <a:latin typeface="Verdana"/>
              </a:rPr>
              <a:t>Тип сервиса</a:t>
            </a:r>
            <a:endParaRPr kumimoji="0" lang="ru-RU" sz="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/>
              <a:sym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3002B2-9DA3-4E25-BB59-3B76DE60EBF0}"/>
              </a:ext>
            </a:extLst>
          </p:cNvPr>
          <p:cNvSpPr txBox="1">
            <a:spLocks/>
          </p:cNvSpPr>
          <p:nvPr/>
        </p:nvSpPr>
        <p:spPr>
          <a:xfrm>
            <a:off x="2473125" y="2075609"/>
            <a:ext cx="885843" cy="6155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800" b="1" dirty="0">
                <a:solidFill>
                  <a:schemeClr val="bg1"/>
                </a:solidFill>
              </a:rPr>
              <a:t>Сервисы застройщика в рамках Смарт-стандарта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CF4851-EC6F-4C20-9A9A-8E91AFF1BF3D}"/>
              </a:ext>
            </a:extLst>
          </p:cNvPr>
          <p:cNvSpPr txBox="1">
            <a:spLocks/>
          </p:cNvSpPr>
          <p:nvPr/>
        </p:nvSpPr>
        <p:spPr>
          <a:xfrm>
            <a:off x="2473125" y="3045204"/>
            <a:ext cx="885843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800" b="1" dirty="0">
                <a:solidFill>
                  <a:schemeClr val="bg1"/>
                </a:solidFill>
              </a:rPr>
              <a:t>Сервисы, не требующие доработки ИТ-систем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D917FC-F7BB-450C-A505-8981FA4F72F9}"/>
              </a:ext>
            </a:extLst>
          </p:cNvPr>
          <p:cNvSpPr txBox="1">
            <a:spLocks/>
          </p:cNvSpPr>
          <p:nvPr/>
        </p:nvSpPr>
        <p:spPr>
          <a:xfrm>
            <a:off x="2473125" y="3655770"/>
            <a:ext cx="885843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800" b="1" dirty="0">
                <a:solidFill>
                  <a:schemeClr val="bg1"/>
                </a:solidFill>
              </a:rPr>
              <a:t>Общедомовые сервисы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E71535-1647-40A8-A397-5BA2B0ABD675}"/>
              </a:ext>
            </a:extLst>
          </p:cNvPr>
          <p:cNvSpPr txBox="1">
            <a:spLocks/>
          </p:cNvSpPr>
          <p:nvPr/>
        </p:nvSpPr>
        <p:spPr>
          <a:xfrm>
            <a:off x="2473124" y="4960832"/>
            <a:ext cx="885843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800" b="1" dirty="0" err="1">
                <a:solidFill>
                  <a:schemeClr val="bg1"/>
                </a:solidFill>
              </a:rPr>
              <a:t>Индивидуаль-ные</a:t>
            </a:r>
            <a:r>
              <a:rPr lang="ru-RU" sz="800" b="1" dirty="0">
                <a:solidFill>
                  <a:schemeClr val="bg1"/>
                </a:solidFill>
              </a:rPr>
              <a:t> сервисы</a:t>
            </a:r>
          </a:p>
        </p:txBody>
      </p:sp>
      <p:cxnSp>
        <p:nvCxnSpPr>
          <p:cNvPr id="57" name="HorizontalLine2 1119232">
            <a:extLst>
              <a:ext uri="{FF2B5EF4-FFF2-40B4-BE49-F238E27FC236}">
                <a16:creationId xmlns:a16="http://schemas.microsoft.com/office/drawing/2014/main" id="{8E995F28-CB75-466F-818C-314D6F9AE32A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491581" y="3000229"/>
            <a:ext cx="814568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HorizontalLine2 1119232">
            <a:extLst>
              <a:ext uri="{FF2B5EF4-FFF2-40B4-BE49-F238E27FC236}">
                <a16:creationId xmlns:a16="http://schemas.microsoft.com/office/drawing/2014/main" id="{A0357933-D1A7-4F6C-9E0B-02A619FCBACC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3491581" y="3573625"/>
            <a:ext cx="814568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HorizontalLine2 1119232">
            <a:extLst>
              <a:ext uri="{FF2B5EF4-FFF2-40B4-BE49-F238E27FC236}">
                <a16:creationId xmlns:a16="http://schemas.microsoft.com/office/drawing/2014/main" id="{A243472E-5996-422C-A530-74BBC65F75D8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3491581" y="4777004"/>
            <a:ext cx="8145683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LineBasicDefault 45">
            <a:extLst>
              <a:ext uri="{FF2B5EF4-FFF2-40B4-BE49-F238E27FC236}">
                <a16:creationId xmlns:a16="http://schemas.microsoft.com/office/drawing/2014/main" id="{637C5529-FB6D-49EC-A7E3-2D354AAF560E}"/>
              </a:ext>
            </a:extLst>
          </p:cNvPr>
          <p:cNvCxnSpPr>
            <a:cxnSpLocks/>
            <a:endCxn id="29" idx="1"/>
          </p:cNvCxnSpPr>
          <p:nvPr>
            <p:custDataLst>
              <p:tags r:id="rId8"/>
            </p:custDataLst>
          </p:nvPr>
        </p:nvCxnSpPr>
        <p:spPr>
          <a:xfrm rot="16200000" flipH="1">
            <a:off x="645248" y="3077373"/>
            <a:ext cx="605866" cy="167611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neBasicDefault 45">
            <a:extLst>
              <a:ext uri="{FF2B5EF4-FFF2-40B4-BE49-F238E27FC236}">
                <a16:creationId xmlns:a16="http://schemas.microsoft.com/office/drawing/2014/main" id="{2D8E952D-06F7-43E8-8227-B3BE3D24C124}"/>
              </a:ext>
            </a:extLst>
          </p:cNvPr>
          <p:cNvCxnSpPr>
            <a:cxnSpLocks/>
            <a:endCxn id="31" idx="1"/>
          </p:cNvCxnSpPr>
          <p:nvPr>
            <p:custDataLst>
              <p:tags r:id="rId9"/>
            </p:custDataLst>
          </p:nvPr>
        </p:nvCxnSpPr>
        <p:spPr>
          <a:xfrm rot="16200000" flipH="1">
            <a:off x="1069357" y="3938266"/>
            <a:ext cx="617050" cy="157806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neBasicDefault 45">
            <a:extLst>
              <a:ext uri="{FF2B5EF4-FFF2-40B4-BE49-F238E27FC236}">
                <a16:creationId xmlns:a16="http://schemas.microsoft.com/office/drawing/2014/main" id="{1C4271C6-09C1-427A-8455-BCE9B3A30319}"/>
              </a:ext>
            </a:extLst>
          </p:cNvPr>
          <p:cNvCxnSpPr>
            <a:cxnSpLocks/>
            <a:stCxn id="28" idx="0"/>
            <a:endCxn id="189" idx="2"/>
          </p:cNvCxnSpPr>
          <p:nvPr>
            <p:custDataLst>
              <p:tags r:id="rId10"/>
            </p:custDataLst>
          </p:nvPr>
        </p:nvCxnSpPr>
        <p:spPr>
          <a:xfrm rot="5400000" flipH="1" flipV="1">
            <a:off x="1612900" y="1754712"/>
            <a:ext cx="106642" cy="1122308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BasicDefault 45">
            <a:extLst>
              <a:ext uri="{FF2B5EF4-FFF2-40B4-BE49-F238E27FC236}">
                <a16:creationId xmlns:a16="http://schemas.microsoft.com/office/drawing/2014/main" id="{3F33863A-0FB3-49A7-BD5F-8E86F90AD3BE}"/>
              </a:ext>
            </a:extLst>
          </p:cNvPr>
          <p:cNvCxnSpPr>
            <a:cxnSpLocks/>
            <a:stCxn id="29" idx="0"/>
            <a:endCxn id="190" idx="2"/>
          </p:cNvCxnSpPr>
          <p:nvPr>
            <p:custDataLst>
              <p:tags r:id="rId11"/>
            </p:custDataLst>
          </p:nvPr>
        </p:nvCxnSpPr>
        <p:spPr>
          <a:xfrm rot="5400000" flipH="1" flipV="1">
            <a:off x="1865288" y="2857496"/>
            <a:ext cx="61778" cy="662395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ineBasicDefault 45">
            <a:extLst>
              <a:ext uri="{FF2B5EF4-FFF2-40B4-BE49-F238E27FC236}">
                <a16:creationId xmlns:a16="http://schemas.microsoft.com/office/drawing/2014/main" id="{1834A4A6-A6BF-4E46-A402-530D051631B7}"/>
              </a:ext>
            </a:extLst>
          </p:cNvPr>
          <p:cNvCxnSpPr>
            <a:cxnSpLocks/>
            <a:stCxn id="31" idx="0"/>
            <a:endCxn id="191" idx="2"/>
          </p:cNvCxnSpPr>
          <p:nvPr>
            <p:custDataLst>
              <p:tags r:id="rId12"/>
            </p:custDataLst>
          </p:nvPr>
        </p:nvCxnSpPr>
        <p:spPr>
          <a:xfrm rot="5400000" flipH="1" flipV="1">
            <a:off x="1853516" y="3775408"/>
            <a:ext cx="380897" cy="366822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ineBasicDefault 45">
            <a:extLst>
              <a:ext uri="{FF2B5EF4-FFF2-40B4-BE49-F238E27FC236}">
                <a16:creationId xmlns:a16="http://schemas.microsoft.com/office/drawing/2014/main" id="{F8CFAAFD-FEE0-45BE-8DEB-4A3B9CEC249D}"/>
              </a:ext>
            </a:extLst>
          </p:cNvPr>
          <p:cNvCxnSpPr>
            <a:cxnSpLocks/>
            <a:stCxn id="31" idx="2"/>
            <a:endCxn id="192" idx="2"/>
          </p:cNvCxnSpPr>
          <p:nvPr>
            <p:custDataLst>
              <p:tags r:id="rId13"/>
            </p:custDataLst>
          </p:nvPr>
        </p:nvCxnSpPr>
        <p:spPr>
          <a:xfrm rot="16200000" flipH="1">
            <a:off x="1758308" y="4604365"/>
            <a:ext cx="571312" cy="366822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6125807-9E22-46FC-92D2-58700483F03E}"/>
              </a:ext>
            </a:extLst>
          </p:cNvPr>
          <p:cNvSpPr txBox="1">
            <a:spLocks/>
          </p:cNvSpPr>
          <p:nvPr/>
        </p:nvSpPr>
        <p:spPr>
          <a:xfrm>
            <a:off x="1535496" y="2121398"/>
            <a:ext cx="225201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Нет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6CF4229-45CF-43B2-9BCB-E7DAAB22B12E}"/>
              </a:ext>
            </a:extLst>
          </p:cNvPr>
          <p:cNvSpPr txBox="1">
            <a:spLocks/>
          </p:cNvSpPr>
          <p:nvPr/>
        </p:nvSpPr>
        <p:spPr>
          <a:xfrm>
            <a:off x="1733550" y="3022732"/>
            <a:ext cx="225201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Нет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F83AE7-D7C6-4E31-9BBD-6356DA260F85}"/>
              </a:ext>
            </a:extLst>
          </p:cNvPr>
          <p:cNvSpPr txBox="1">
            <a:spLocks/>
          </p:cNvSpPr>
          <p:nvPr/>
        </p:nvSpPr>
        <p:spPr>
          <a:xfrm>
            <a:off x="1899656" y="3787702"/>
            <a:ext cx="225201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Нет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2CB95D-9A02-4412-A6E7-D4450BEE6617}"/>
              </a:ext>
            </a:extLst>
          </p:cNvPr>
          <p:cNvSpPr txBox="1">
            <a:spLocks/>
          </p:cNvSpPr>
          <p:nvPr/>
        </p:nvSpPr>
        <p:spPr>
          <a:xfrm>
            <a:off x="668708" y="3053303"/>
            <a:ext cx="149287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Да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FA388D-FF30-4696-9FE0-D7E8FE6CD988}"/>
              </a:ext>
            </a:extLst>
          </p:cNvPr>
          <p:cNvSpPr txBox="1">
            <a:spLocks/>
          </p:cNvSpPr>
          <p:nvPr/>
        </p:nvSpPr>
        <p:spPr>
          <a:xfrm>
            <a:off x="1126994" y="3935058"/>
            <a:ext cx="149287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Да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9BE2895-1DCC-4A33-89EE-620E7282A598}"/>
              </a:ext>
            </a:extLst>
          </p:cNvPr>
          <p:cNvSpPr txBox="1">
            <a:spLocks/>
          </p:cNvSpPr>
          <p:nvPr/>
        </p:nvSpPr>
        <p:spPr>
          <a:xfrm>
            <a:off x="1676635" y="4607465"/>
            <a:ext cx="149287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800" dirty="0"/>
              <a:t>Да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2491AD-C16A-4363-BB15-13656A8C95D4}"/>
              </a:ext>
            </a:extLst>
          </p:cNvPr>
          <p:cNvSpPr txBox="1">
            <a:spLocks/>
          </p:cNvSpPr>
          <p:nvPr/>
        </p:nvSpPr>
        <p:spPr>
          <a:xfrm>
            <a:off x="3491581" y="2075609"/>
            <a:ext cx="1886870" cy="7309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Безбарьерная среда</a:t>
            </a:r>
          </a:p>
          <a:p>
            <a:pPr lvl="1"/>
            <a:r>
              <a:rPr lang="ru-RU" sz="800" dirty="0"/>
              <a:t>Интернет от любого провайдера</a:t>
            </a:r>
          </a:p>
          <a:p>
            <a:pPr lvl="1"/>
            <a:r>
              <a:rPr lang="ru-RU" sz="800" dirty="0"/>
              <a:t>Связь с диспетчером</a:t>
            </a:r>
          </a:p>
          <a:p>
            <a:pPr lvl="1"/>
            <a:r>
              <a:rPr lang="ru-RU" sz="800" dirty="0"/>
              <a:t>Мониторинг возгораний</a:t>
            </a:r>
          </a:p>
          <a:p>
            <a:pPr lvl="1"/>
            <a:endParaRPr lang="ru-RU" sz="8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563A5E-E875-448C-B1D4-A79EBA40D3CA}"/>
              </a:ext>
            </a:extLst>
          </p:cNvPr>
          <p:cNvSpPr txBox="1">
            <a:spLocks/>
          </p:cNvSpPr>
          <p:nvPr/>
        </p:nvSpPr>
        <p:spPr>
          <a:xfrm>
            <a:off x="3491581" y="3045204"/>
            <a:ext cx="1886870" cy="4462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Пункты выдачи заказов</a:t>
            </a:r>
          </a:p>
          <a:p>
            <a:pPr lvl="1"/>
            <a:r>
              <a:rPr lang="ru-RU" sz="800" dirty="0"/>
              <a:t>Вендинговые автоматы</a:t>
            </a:r>
          </a:p>
          <a:p>
            <a:pPr lvl="1"/>
            <a:r>
              <a:rPr lang="ru-RU" sz="800" dirty="0"/>
              <a:t>«Умное» освещение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5A0F8AC-4C10-4978-ADE6-2EE13D9151D0}"/>
              </a:ext>
            </a:extLst>
          </p:cNvPr>
          <p:cNvSpPr txBox="1">
            <a:spLocks/>
          </p:cNvSpPr>
          <p:nvPr/>
        </p:nvSpPr>
        <p:spPr>
          <a:xfrm>
            <a:off x="3491581" y="4863685"/>
            <a:ext cx="1886870" cy="79752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Видеодомофон в телефоне</a:t>
            </a:r>
          </a:p>
          <a:p>
            <a:pPr lvl="1"/>
            <a:r>
              <a:rPr lang="ru-RU" sz="800" dirty="0"/>
              <a:t>Мониторинг парковочных мест</a:t>
            </a:r>
          </a:p>
          <a:p>
            <a:pPr lvl="1"/>
            <a:r>
              <a:rPr lang="ru-RU" sz="800" dirty="0"/>
              <a:t>«Умные счетчики» (ИПУ вода)</a:t>
            </a:r>
          </a:p>
          <a:p>
            <a:pPr lvl="1"/>
            <a:r>
              <a:rPr lang="ru-RU" sz="800" dirty="0"/>
              <a:t>«Умный» шлагбаум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6181AD7-5C43-4F15-A96A-E7ECF54D2C70}"/>
              </a:ext>
            </a:extLst>
          </p:cNvPr>
          <p:cNvSpPr txBox="1">
            <a:spLocks/>
          </p:cNvSpPr>
          <p:nvPr/>
        </p:nvSpPr>
        <p:spPr>
          <a:xfrm>
            <a:off x="3491581" y="3673197"/>
            <a:ext cx="1886870" cy="93102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Городское видеонаблюдение</a:t>
            </a:r>
            <a:endParaRPr lang="en-US" sz="800" dirty="0"/>
          </a:p>
          <a:p>
            <a:pPr lvl="1"/>
            <a:r>
              <a:rPr lang="ru-RU" sz="800" dirty="0"/>
              <a:t>Выявление нарушений</a:t>
            </a:r>
          </a:p>
          <a:p>
            <a:pPr lvl="1"/>
            <a:r>
              <a:rPr lang="ru-RU" sz="800" dirty="0"/>
              <a:t>Видеонаблюдение в подъезде</a:t>
            </a:r>
          </a:p>
          <a:p>
            <a:pPr lvl="1"/>
            <a:r>
              <a:rPr lang="ru-RU" sz="800" dirty="0"/>
              <a:t>Наблюдение за чистотой</a:t>
            </a:r>
          </a:p>
          <a:p>
            <a:pPr lvl="1"/>
            <a:r>
              <a:rPr lang="ru-RU" sz="800" dirty="0"/>
              <a:t>Контроль мусорных баков</a:t>
            </a:r>
            <a:endParaRPr lang="ru-RU" sz="800" baseline="30000" dirty="0"/>
          </a:p>
          <a:p>
            <a:pPr lvl="1"/>
            <a:r>
              <a:rPr lang="ru-RU" sz="800" dirty="0"/>
              <a:t>Общегородской </a:t>
            </a:r>
            <a:r>
              <a:rPr lang="en-US" sz="800" dirty="0"/>
              <a:t>Wi-Fi</a:t>
            </a:r>
            <a:endParaRPr lang="ru-RU" sz="800" dirty="0"/>
          </a:p>
          <a:p>
            <a:pPr lvl="1"/>
            <a:endParaRPr lang="ru-RU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BC8B90-A1F9-4462-8F23-700129D01221}"/>
              </a:ext>
            </a:extLst>
          </p:cNvPr>
          <p:cNvSpPr txBox="1">
            <a:spLocks/>
          </p:cNvSpPr>
          <p:nvPr/>
        </p:nvSpPr>
        <p:spPr>
          <a:xfrm>
            <a:off x="3491581" y="1839461"/>
            <a:ext cx="1886870" cy="14619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950" b="1" dirty="0">
                <a:solidFill>
                  <a:srgbClr val="C92723"/>
                </a:solidFill>
                <a:latin typeface="Verdana"/>
              </a:rPr>
              <a:t>Перечень сервисов</a:t>
            </a:r>
            <a:endParaRPr kumimoji="0" lang="ru-RU" sz="950" b="1" i="0" u="none" strike="noStrike" kern="1200" cap="none" spc="0" normalizeH="0" baseline="0" noProof="0" dirty="0">
              <a:ln>
                <a:noFill/>
              </a:ln>
              <a:solidFill>
                <a:srgbClr val="C92723"/>
              </a:solidFill>
              <a:effectLst/>
              <a:uLnTx/>
              <a:uFillTx/>
              <a:latin typeface="Verdan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707ABF-DBCD-4B53-998F-E817C68D6C82}"/>
              </a:ext>
            </a:extLst>
          </p:cNvPr>
          <p:cNvGrpSpPr/>
          <p:nvPr/>
        </p:nvGrpSpPr>
        <p:grpSpPr>
          <a:xfrm>
            <a:off x="5307353" y="1681851"/>
            <a:ext cx="1103984" cy="3676878"/>
            <a:chOff x="10477357" y="2051553"/>
            <a:chExt cx="1103984" cy="367687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3678A4-F60E-458A-929A-73886B941FDB}"/>
                </a:ext>
              </a:extLst>
            </p:cNvPr>
            <p:cNvSpPr txBox="1">
              <a:spLocks/>
            </p:cNvSpPr>
            <p:nvPr/>
          </p:nvSpPr>
          <p:spPr>
            <a:xfrm>
              <a:off x="10477357" y="2051553"/>
              <a:ext cx="1103984" cy="316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50" b="1" dirty="0">
                  <a:sym typeface=""/>
                </a:rPr>
                <a:t>Подключение домов 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C54372D-4F07-44F5-8182-22C6CC92F78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899698" y="4373814"/>
              <a:ext cx="259302" cy="259302"/>
              <a:chOff x="10126688" y="1289273"/>
              <a:chExt cx="153888" cy="153888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C8565558-BFC3-4BB2-B34E-F4E895EF9A1A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95" name="Graphic 194">
                <a:extLst>
                  <a:ext uri="{FF2B5EF4-FFF2-40B4-BE49-F238E27FC236}">
                    <a16:creationId xmlns:a16="http://schemas.microsoft.com/office/drawing/2014/main" id="{ADD266F9-4A7B-4033-9190-64E52726D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49201197-5324-451F-92AC-1ABF630D555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899698" y="5469129"/>
              <a:ext cx="259302" cy="259302"/>
              <a:chOff x="10126688" y="1289273"/>
              <a:chExt cx="153888" cy="153888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483CFD2E-0CCE-4E88-B716-0C3C457E586C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98" name="Graphic 197">
                <a:extLst>
                  <a:ext uri="{FF2B5EF4-FFF2-40B4-BE49-F238E27FC236}">
                    <a16:creationId xmlns:a16="http://schemas.microsoft.com/office/drawing/2014/main" id="{83944218-AE4E-4366-B42E-EB56AB8BC3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20B82F9B-5FA2-4EFB-A023-9FC5587AC3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899698" y="3528176"/>
              <a:ext cx="259302" cy="259302"/>
              <a:chOff x="10126688" y="1289273"/>
              <a:chExt cx="153888" cy="153888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AD4A4F10-CA0B-4725-B1E9-D44ACF1447BE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201" name="Graphic 200">
                <a:extLst>
                  <a:ext uri="{FF2B5EF4-FFF2-40B4-BE49-F238E27FC236}">
                    <a16:creationId xmlns:a16="http://schemas.microsoft.com/office/drawing/2014/main" id="{1DE412DD-B71A-40DD-8CE0-8E862D041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A5B6C261-F6C3-430E-B76D-515DFBA7DF28}"/>
                </a:ext>
              </a:extLst>
            </p:cNvPr>
            <p:cNvGrpSpPr/>
            <p:nvPr/>
          </p:nvGrpSpPr>
          <p:grpSpPr>
            <a:xfrm>
              <a:off x="10903349" y="2771612"/>
              <a:ext cx="252000" cy="252000"/>
              <a:chOff x="4513187" y="5774192"/>
              <a:chExt cx="252000" cy="252000"/>
            </a:xfrm>
          </p:grpSpPr>
          <p:sp>
            <p:nvSpPr>
              <p:cNvPr id="234" name="Oval 35">
                <a:extLst>
                  <a:ext uri="{FF2B5EF4-FFF2-40B4-BE49-F238E27FC236}">
                    <a16:creationId xmlns:a16="http://schemas.microsoft.com/office/drawing/2014/main" id="{39DED40D-91E0-4AA9-A38F-245780728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35" name="Line 36">
                <a:extLst>
                  <a:ext uri="{FF2B5EF4-FFF2-40B4-BE49-F238E27FC236}">
                    <a16:creationId xmlns:a16="http://schemas.microsoft.com/office/drawing/2014/main" id="{DD90E409-D543-4691-8C59-A02EC986C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36" name="Line 37">
                <a:extLst>
                  <a:ext uri="{FF2B5EF4-FFF2-40B4-BE49-F238E27FC236}">
                    <a16:creationId xmlns:a16="http://schemas.microsoft.com/office/drawing/2014/main" id="{476EE456-064C-4BF0-A467-B46A06131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DB8C5D7-F9AA-459D-AA2D-3854000EF807}"/>
              </a:ext>
            </a:extLst>
          </p:cNvPr>
          <p:cNvGrpSpPr/>
          <p:nvPr/>
        </p:nvGrpSpPr>
        <p:grpSpPr>
          <a:xfrm>
            <a:off x="10477357" y="1547073"/>
            <a:ext cx="1103983" cy="3799175"/>
            <a:chOff x="5307353" y="1929256"/>
            <a:chExt cx="1103983" cy="37991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0B0496-1E38-44D6-BCE1-0DD8FA96EF8C}"/>
                </a:ext>
              </a:extLst>
            </p:cNvPr>
            <p:cNvSpPr txBox="1">
              <a:spLocks/>
            </p:cNvSpPr>
            <p:nvPr/>
          </p:nvSpPr>
          <p:spPr>
            <a:xfrm>
              <a:off x="5307353" y="1929256"/>
              <a:ext cx="1103983" cy="438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  <a:buNone/>
              </a:pPr>
              <a:r>
                <a:rPr lang="ru-RU" sz="950" b="1" dirty="0">
                  <a:sym typeface=""/>
                </a:rPr>
                <a:t>Координация с единым фронт-</a:t>
              </a:r>
              <a:r>
                <a:rPr lang="ru-RU" sz="950" b="1" dirty="0" err="1">
                  <a:sym typeface=""/>
                </a:rPr>
                <a:t>эндом</a:t>
              </a:r>
              <a:r>
                <a:rPr lang="ru-RU" sz="950" b="1" dirty="0">
                  <a:sym typeface=""/>
                </a:rPr>
                <a:t> </a:t>
              </a:r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0D9EFF32-A829-4C8E-AD57-15194698144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729693" y="5469129"/>
              <a:ext cx="259302" cy="259302"/>
              <a:chOff x="10126688" y="1289273"/>
              <a:chExt cx="153888" cy="153888"/>
            </a:xfrm>
          </p:grpSpPr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2A1A0CCD-845A-47A3-BA8F-DCDF11BBF3CA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71" name="Graphic 170">
                <a:extLst>
                  <a:ext uri="{FF2B5EF4-FFF2-40B4-BE49-F238E27FC236}">
                    <a16:creationId xmlns:a16="http://schemas.microsoft.com/office/drawing/2014/main" id="{EB5E3AC8-0F76-4ECC-8D88-D801F718F1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33757105-9EF9-4264-BC71-062075185138}"/>
                </a:ext>
              </a:extLst>
            </p:cNvPr>
            <p:cNvGrpSpPr/>
            <p:nvPr/>
          </p:nvGrpSpPr>
          <p:grpSpPr>
            <a:xfrm>
              <a:off x="5733344" y="4373814"/>
              <a:ext cx="252000" cy="252000"/>
              <a:chOff x="4513187" y="5774192"/>
              <a:chExt cx="252000" cy="252000"/>
            </a:xfrm>
          </p:grpSpPr>
          <p:sp>
            <p:nvSpPr>
              <p:cNvPr id="242" name="Oval 35">
                <a:extLst>
                  <a:ext uri="{FF2B5EF4-FFF2-40B4-BE49-F238E27FC236}">
                    <a16:creationId xmlns:a16="http://schemas.microsoft.com/office/drawing/2014/main" id="{AC803DDA-CCCB-4152-972F-2986DA7A0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43" name="Line 36">
                <a:extLst>
                  <a:ext uri="{FF2B5EF4-FFF2-40B4-BE49-F238E27FC236}">
                    <a16:creationId xmlns:a16="http://schemas.microsoft.com/office/drawing/2014/main" id="{7D6F28D1-65E5-48C6-9C12-47831CD31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44" name="Line 37">
                <a:extLst>
                  <a:ext uri="{FF2B5EF4-FFF2-40B4-BE49-F238E27FC236}">
                    <a16:creationId xmlns:a16="http://schemas.microsoft.com/office/drawing/2014/main" id="{558E645E-D862-43E2-B404-58988F6CC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8E159D69-576D-46A2-B8A5-DDC7E6A0EAC6}"/>
                </a:ext>
              </a:extLst>
            </p:cNvPr>
            <p:cNvGrpSpPr/>
            <p:nvPr/>
          </p:nvGrpSpPr>
          <p:grpSpPr>
            <a:xfrm>
              <a:off x="5733344" y="2771612"/>
              <a:ext cx="252000" cy="252000"/>
              <a:chOff x="4513187" y="5774192"/>
              <a:chExt cx="252000" cy="252000"/>
            </a:xfrm>
          </p:grpSpPr>
          <p:sp>
            <p:nvSpPr>
              <p:cNvPr id="246" name="Oval 35">
                <a:extLst>
                  <a:ext uri="{FF2B5EF4-FFF2-40B4-BE49-F238E27FC236}">
                    <a16:creationId xmlns:a16="http://schemas.microsoft.com/office/drawing/2014/main" id="{4DB80AC2-44E2-446C-8399-7EB280E68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47" name="Line 36">
                <a:extLst>
                  <a:ext uri="{FF2B5EF4-FFF2-40B4-BE49-F238E27FC236}">
                    <a16:creationId xmlns:a16="http://schemas.microsoft.com/office/drawing/2014/main" id="{09268822-4363-4A68-BFC3-6CA1960E0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48" name="Line 37">
                <a:extLst>
                  <a:ext uri="{FF2B5EF4-FFF2-40B4-BE49-F238E27FC236}">
                    <a16:creationId xmlns:a16="http://schemas.microsoft.com/office/drawing/2014/main" id="{90E9AC80-9663-4477-AC86-55932705D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3F49D13A-49E7-4C65-AA56-B221AD748C32}"/>
                </a:ext>
              </a:extLst>
            </p:cNvPr>
            <p:cNvGrpSpPr/>
            <p:nvPr/>
          </p:nvGrpSpPr>
          <p:grpSpPr>
            <a:xfrm>
              <a:off x="5733344" y="3528176"/>
              <a:ext cx="252000" cy="252000"/>
              <a:chOff x="4513187" y="5774192"/>
              <a:chExt cx="252000" cy="252000"/>
            </a:xfrm>
          </p:grpSpPr>
          <p:sp>
            <p:nvSpPr>
              <p:cNvPr id="250" name="Oval 35">
                <a:extLst>
                  <a:ext uri="{FF2B5EF4-FFF2-40B4-BE49-F238E27FC236}">
                    <a16:creationId xmlns:a16="http://schemas.microsoft.com/office/drawing/2014/main" id="{17832CE1-81EF-41DC-8569-BB4BB6272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51" name="Line 36">
                <a:extLst>
                  <a:ext uri="{FF2B5EF4-FFF2-40B4-BE49-F238E27FC236}">
                    <a16:creationId xmlns:a16="http://schemas.microsoft.com/office/drawing/2014/main" id="{2BF72DB3-7E3E-477C-A46C-4DFD6532D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52" name="Line 37">
                <a:extLst>
                  <a:ext uri="{FF2B5EF4-FFF2-40B4-BE49-F238E27FC236}">
                    <a16:creationId xmlns:a16="http://schemas.microsoft.com/office/drawing/2014/main" id="{B7693356-952A-4AC9-9E57-D4DEF24402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9122C-655C-4065-8FF7-003AF7394FA3}"/>
              </a:ext>
            </a:extLst>
          </p:cNvPr>
          <p:cNvGrpSpPr/>
          <p:nvPr/>
        </p:nvGrpSpPr>
        <p:grpSpPr>
          <a:xfrm>
            <a:off x="9220881" y="1563855"/>
            <a:ext cx="1103981" cy="3799174"/>
            <a:chOff x="6563829" y="1929257"/>
            <a:chExt cx="1103981" cy="37991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45BA69-FF49-4F7B-8195-57F75A807B40}"/>
                </a:ext>
              </a:extLst>
            </p:cNvPr>
            <p:cNvSpPr txBox="1">
              <a:spLocks/>
            </p:cNvSpPr>
            <p:nvPr/>
          </p:nvSpPr>
          <p:spPr>
            <a:xfrm>
              <a:off x="6563829" y="1929257"/>
              <a:ext cx="1103981" cy="43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50" b="1" dirty="0">
                  <a:sym typeface=""/>
                </a:rPr>
                <a:t>Координация с городскими системами </a:t>
              </a: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FD42EA2-B683-4BED-9B43-E5DDCF2C66CB}"/>
                </a:ext>
              </a:extLst>
            </p:cNvPr>
            <p:cNvGrpSpPr/>
            <p:nvPr/>
          </p:nvGrpSpPr>
          <p:grpSpPr>
            <a:xfrm>
              <a:off x="6989819" y="2771612"/>
              <a:ext cx="252000" cy="252000"/>
              <a:chOff x="4513187" y="5774192"/>
              <a:chExt cx="252000" cy="252000"/>
            </a:xfrm>
          </p:grpSpPr>
          <p:sp>
            <p:nvSpPr>
              <p:cNvPr id="122" name="Oval 35">
                <a:extLst>
                  <a:ext uri="{FF2B5EF4-FFF2-40B4-BE49-F238E27FC236}">
                    <a16:creationId xmlns:a16="http://schemas.microsoft.com/office/drawing/2014/main" id="{08303743-A0FB-478E-8220-ADE27CEE2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123" name="Line 36">
                <a:extLst>
                  <a:ext uri="{FF2B5EF4-FFF2-40B4-BE49-F238E27FC236}">
                    <a16:creationId xmlns:a16="http://schemas.microsoft.com/office/drawing/2014/main" id="{D34AD16F-1810-4710-BC21-56221A6F8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124" name="Line 37">
                <a:extLst>
                  <a:ext uri="{FF2B5EF4-FFF2-40B4-BE49-F238E27FC236}">
                    <a16:creationId xmlns:a16="http://schemas.microsoft.com/office/drawing/2014/main" id="{836DF91E-0131-4325-9E7E-548402CF5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BA504DE-521D-4C03-8CBB-E5AB15D60E72}"/>
                </a:ext>
              </a:extLst>
            </p:cNvPr>
            <p:cNvGrpSpPr>
              <a:grpSpLocks/>
            </p:cNvGrpSpPr>
            <p:nvPr/>
          </p:nvGrpSpPr>
          <p:grpSpPr>
            <a:xfrm>
              <a:off x="6986168" y="4373814"/>
              <a:ext cx="259302" cy="259302"/>
              <a:chOff x="10126688" y="1289273"/>
              <a:chExt cx="153888" cy="153888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5A5DFA90-4952-47BF-9200-52BF8DC73EB5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53" name="Graphic 152">
                <a:extLst>
                  <a:ext uri="{FF2B5EF4-FFF2-40B4-BE49-F238E27FC236}">
                    <a16:creationId xmlns:a16="http://schemas.microsoft.com/office/drawing/2014/main" id="{896D031C-78B2-4798-81B9-FD3DEFA854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2FEB6B5-ED12-45A1-9E86-55AB1D1601F0}"/>
                </a:ext>
              </a:extLst>
            </p:cNvPr>
            <p:cNvGrpSpPr>
              <a:grpSpLocks/>
            </p:cNvGrpSpPr>
            <p:nvPr/>
          </p:nvGrpSpPr>
          <p:grpSpPr>
            <a:xfrm>
              <a:off x="6986168" y="5469129"/>
              <a:ext cx="259302" cy="259302"/>
              <a:chOff x="10126688" y="1289273"/>
              <a:chExt cx="153888" cy="153888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53A0CF46-2205-4F67-99D0-FDAA1E865D57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156" name="Graphic 155">
                <a:extLst>
                  <a:ext uri="{FF2B5EF4-FFF2-40B4-BE49-F238E27FC236}">
                    <a16:creationId xmlns:a16="http://schemas.microsoft.com/office/drawing/2014/main" id="{10062F21-9519-45CC-AC52-603BFB8BA2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3CD0D0E2-42F2-42CE-BC62-071741FEC72C}"/>
                </a:ext>
              </a:extLst>
            </p:cNvPr>
            <p:cNvGrpSpPr/>
            <p:nvPr/>
          </p:nvGrpSpPr>
          <p:grpSpPr>
            <a:xfrm>
              <a:off x="6989819" y="3528176"/>
              <a:ext cx="252000" cy="252000"/>
              <a:chOff x="4513187" y="5774192"/>
              <a:chExt cx="252000" cy="252000"/>
            </a:xfrm>
          </p:grpSpPr>
          <p:sp>
            <p:nvSpPr>
              <p:cNvPr id="254" name="Oval 35">
                <a:extLst>
                  <a:ext uri="{FF2B5EF4-FFF2-40B4-BE49-F238E27FC236}">
                    <a16:creationId xmlns:a16="http://schemas.microsoft.com/office/drawing/2014/main" id="{AB06FC69-EE58-44C3-82D7-01B31D21B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55" name="Line 36">
                <a:extLst>
                  <a:ext uri="{FF2B5EF4-FFF2-40B4-BE49-F238E27FC236}">
                    <a16:creationId xmlns:a16="http://schemas.microsoft.com/office/drawing/2014/main" id="{98F0E3BC-C2B6-4771-9F1D-393067C26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56" name="Line 37">
                <a:extLst>
                  <a:ext uri="{FF2B5EF4-FFF2-40B4-BE49-F238E27FC236}">
                    <a16:creationId xmlns:a16="http://schemas.microsoft.com/office/drawing/2014/main" id="{E3638711-A9C6-4736-BD13-E9EBFFC346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</p:grpSp>
      <p:sp>
        <p:nvSpPr>
          <p:cNvPr id="189" name="TrackerNumWhite">
            <a:extLst>
              <a:ext uri="{FF2B5EF4-FFF2-40B4-BE49-F238E27FC236}">
                <a16:creationId xmlns:a16="http://schemas.microsoft.com/office/drawing/2014/main" id="{92416F7D-8233-4B2F-9EB3-55350F78FB65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227375" y="2149945"/>
            <a:ext cx="225200" cy="2252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190" name="TrackerNumWhite">
            <a:extLst>
              <a:ext uri="{FF2B5EF4-FFF2-40B4-BE49-F238E27FC236}">
                <a16:creationId xmlns:a16="http://schemas.microsoft.com/office/drawing/2014/main" id="{B97F0588-35CB-4EB4-ACC5-D582BA12D5B1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2227375" y="3045204"/>
            <a:ext cx="225200" cy="2252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800" b="1" dirty="0">
                <a:solidFill>
                  <a:schemeClr val="accent3"/>
                </a:solidFill>
                <a:sym typeface="+mn-lt"/>
              </a:rPr>
              <a:t>2</a:t>
            </a:r>
            <a:endParaRPr lang="en-US" sz="800" b="1" dirty="0" err="1">
              <a:solidFill>
                <a:schemeClr val="accent3"/>
              </a:solidFill>
              <a:sym typeface="+mn-lt"/>
            </a:endParaRPr>
          </a:p>
        </p:txBody>
      </p:sp>
      <p:sp>
        <p:nvSpPr>
          <p:cNvPr id="191" name="TrackerNumWhite">
            <a:extLst>
              <a:ext uri="{FF2B5EF4-FFF2-40B4-BE49-F238E27FC236}">
                <a16:creationId xmlns:a16="http://schemas.microsoft.com/office/drawing/2014/main" id="{F6B4F14D-7B13-418B-B814-7E85F6FDDFB0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>
          <a:xfrm>
            <a:off x="2227375" y="3655770"/>
            <a:ext cx="225200" cy="2252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8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3</a:t>
            </a:r>
            <a:endParaRPr lang="en-US" sz="8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2" name="TrackerNumWhite">
            <a:extLst>
              <a:ext uri="{FF2B5EF4-FFF2-40B4-BE49-F238E27FC236}">
                <a16:creationId xmlns:a16="http://schemas.microsoft.com/office/drawing/2014/main" id="{4CFD9DB1-4333-44CE-A9D1-FC482C8AA683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>
          <a:xfrm>
            <a:off x="2227375" y="4960832"/>
            <a:ext cx="225200" cy="2252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800" b="1" dirty="0">
                <a:solidFill>
                  <a:schemeClr val="accent3"/>
                </a:solidFill>
                <a:sym typeface="+mn-lt"/>
              </a:rPr>
              <a:t>4</a:t>
            </a:r>
            <a:endParaRPr lang="en-US" sz="800" b="1" dirty="0" err="1">
              <a:solidFill>
                <a:schemeClr val="accent3"/>
              </a:solidFill>
              <a:sym typeface="+mn-lt"/>
            </a:endParaRPr>
          </a:p>
        </p:txBody>
      </p:sp>
      <p:cxnSp>
        <p:nvCxnSpPr>
          <p:cNvPr id="265" name="HorizontalLine2 1119232">
            <a:extLst>
              <a:ext uri="{FF2B5EF4-FFF2-40B4-BE49-F238E27FC236}">
                <a16:creationId xmlns:a16="http://schemas.microsoft.com/office/drawing/2014/main" id="{8287483D-37CD-4AC7-9958-D6A5DDEB8FC3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2473125" y="3000229"/>
            <a:ext cx="885843" cy="0"/>
          </a:xfrm>
          <a:prstGeom prst="line">
            <a:avLst/>
          </a:prstGeom>
          <a:ln w="63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HorizontalLine2 1119232">
            <a:extLst>
              <a:ext uri="{FF2B5EF4-FFF2-40B4-BE49-F238E27FC236}">
                <a16:creationId xmlns:a16="http://schemas.microsoft.com/office/drawing/2014/main" id="{5E49AEF4-41D7-430A-A6F7-12DE307DEA62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2473125" y="3573625"/>
            <a:ext cx="885843" cy="0"/>
          </a:xfrm>
          <a:prstGeom prst="line">
            <a:avLst/>
          </a:prstGeom>
          <a:ln w="63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HorizontalLine2 1119232">
            <a:extLst>
              <a:ext uri="{FF2B5EF4-FFF2-40B4-BE49-F238E27FC236}">
                <a16:creationId xmlns:a16="http://schemas.microsoft.com/office/drawing/2014/main" id="{CB446EF3-0B63-4EA8-B42B-90E219F9900E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2473125" y="4777004"/>
            <a:ext cx="885843" cy="0"/>
          </a:xfrm>
          <a:prstGeom prst="line">
            <a:avLst/>
          </a:prstGeom>
          <a:ln w="63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HorizontalLine2 1119232">
            <a:extLst>
              <a:ext uri="{FF2B5EF4-FFF2-40B4-BE49-F238E27FC236}">
                <a16:creationId xmlns:a16="http://schemas.microsoft.com/office/drawing/2014/main" id="{9E7232F7-8D85-4D10-8B9C-7BBD9F56262E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2345493" y="2048748"/>
            <a:ext cx="107682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535B51-9243-4B1A-A5DA-CBE3418456AB}"/>
              </a:ext>
            </a:extLst>
          </p:cNvPr>
          <p:cNvSpPr txBox="1">
            <a:spLocks/>
          </p:cNvSpPr>
          <p:nvPr/>
        </p:nvSpPr>
        <p:spPr>
          <a:xfrm>
            <a:off x="7820303" y="1833994"/>
            <a:ext cx="1248085" cy="15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SzPct val="100000"/>
            </a:pPr>
            <a:r>
              <a:rPr lang="ru-RU" sz="950" b="1" dirty="0">
                <a:sym typeface=""/>
              </a:rPr>
              <a:t>Контрактование 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CE2C106-1AA0-45EE-9E99-69E92970E08A}"/>
              </a:ext>
            </a:extLst>
          </p:cNvPr>
          <p:cNvGrpSpPr>
            <a:grpSpLocks/>
          </p:cNvGrpSpPr>
          <p:nvPr/>
        </p:nvGrpSpPr>
        <p:grpSpPr>
          <a:xfrm>
            <a:off x="8314694" y="5086946"/>
            <a:ext cx="259302" cy="259302"/>
            <a:chOff x="10126688" y="1289273"/>
            <a:chExt cx="153888" cy="153888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E1C7D27B-B313-4458-94A7-6C11704347B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85" name="Graphic 184">
              <a:extLst>
                <a:ext uri="{FF2B5EF4-FFF2-40B4-BE49-F238E27FC236}">
                  <a16:creationId xmlns:a16="http://schemas.microsoft.com/office/drawing/2014/main" id="{ABF7DF85-6041-4BD4-8EFF-6BC2E7696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E5228D3-A711-4654-AB61-55E0454B6338}"/>
              </a:ext>
            </a:extLst>
          </p:cNvPr>
          <p:cNvGrpSpPr>
            <a:grpSpLocks/>
          </p:cNvGrpSpPr>
          <p:nvPr/>
        </p:nvGrpSpPr>
        <p:grpSpPr>
          <a:xfrm>
            <a:off x="8314694" y="3145993"/>
            <a:ext cx="259302" cy="259302"/>
            <a:chOff x="10126688" y="1289273"/>
            <a:chExt cx="153888" cy="153888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3CA1A145-5C2B-4B1D-9BB6-AEC32BB97F3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88" name="Graphic 187">
              <a:extLst>
                <a:ext uri="{FF2B5EF4-FFF2-40B4-BE49-F238E27FC236}">
                  <a16:creationId xmlns:a16="http://schemas.microsoft.com/office/drawing/2014/main" id="{776287A9-1AB0-454D-BDE1-74022DBCB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4795309-D142-4E4C-8C38-04D9F863EA21}"/>
              </a:ext>
            </a:extLst>
          </p:cNvPr>
          <p:cNvGrpSpPr/>
          <p:nvPr/>
        </p:nvGrpSpPr>
        <p:grpSpPr>
          <a:xfrm>
            <a:off x="8318345" y="2389429"/>
            <a:ext cx="252000" cy="252000"/>
            <a:chOff x="4513187" y="5774192"/>
            <a:chExt cx="252000" cy="252000"/>
          </a:xfrm>
        </p:grpSpPr>
        <p:sp>
          <p:nvSpPr>
            <p:cNvPr id="238" name="Oval 35">
              <a:extLst>
                <a:ext uri="{FF2B5EF4-FFF2-40B4-BE49-F238E27FC236}">
                  <a16:creationId xmlns:a16="http://schemas.microsoft.com/office/drawing/2014/main" id="{6CB8B7D6-CDBD-4945-BFAB-51F0773C1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187" y="5774192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>
              <a:solidFill>
                <a:schemeClr val="accent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sym typeface="+mn-lt"/>
              </a:endParaRPr>
            </a:p>
          </p:txBody>
        </p:sp>
        <p:sp>
          <p:nvSpPr>
            <p:cNvPr id="239" name="Line 36">
              <a:extLst>
                <a:ext uri="{FF2B5EF4-FFF2-40B4-BE49-F238E27FC236}">
                  <a16:creationId xmlns:a16="http://schemas.microsoft.com/office/drawing/2014/main" id="{11B46615-1101-48FB-8046-201D65C32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9131" y="5840136"/>
              <a:ext cx="120112" cy="120112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ym typeface="+mn-lt"/>
              </a:endParaRPr>
            </a:p>
          </p:txBody>
        </p:sp>
        <p:sp>
          <p:nvSpPr>
            <p:cNvPr id="240" name="Line 37">
              <a:extLst>
                <a:ext uri="{FF2B5EF4-FFF2-40B4-BE49-F238E27FC236}">
                  <a16:creationId xmlns:a16="http://schemas.microsoft.com/office/drawing/2014/main" id="{FC8D6C0B-E569-40AE-9AA5-0C2D2599D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9131" y="5840136"/>
              <a:ext cx="120112" cy="120112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ym typeface="+mn-lt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9DEFBA0-194D-41A2-810F-DB4825E3E186}"/>
              </a:ext>
            </a:extLst>
          </p:cNvPr>
          <p:cNvGrpSpPr/>
          <p:nvPr/>
        </p:nvGrpSpPr>
        <p:grpSpPr>
          <a:xfrm>
            <a:off x="8318345" y="4000757"/>
            <a:ext cx="252000" cy="252000"/>
            <a:chOff x="4513187" y="5774192"/>
            <a:chExt cx="252000" cy="252000"/>
          </a:xfrm>
        </p:grpSpPr>
        <p:sp>
          <p:nvSpPr>
            <p:cNvPr id="174" name="Oval 35">
              <a:extLst>
                <a:ext uri="{FF2B5EF4-FFF2-40B4-BE49-F238E27FC236}">
                  <a16:creationId xmlns:a16="http://schemas.microsoft.com/office/drawing/2014/main" id="{DABD978A-D943-486B-AB69-148B0344C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187" y="5774192"/>
              <a:ext cx="252000" cy="252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rnd">
              <a:solidFill>
                <a:schemeClr val="accent1">
                  <a:lumMod val="75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sym typeface="+mn-lt"/>
              </a:endParaRPr>
            </a:p>
          </p:txBody>
        </p:sp>
        <p:sp>
          <p:nvSpPr>
            <p:cNvPr id="175" name="Line 36">
              <a:extLst>
                <a:ext uri="{FF2B5EF4-FFF2-40B4-BE49-F238E27FC236}">
                  <a16:creationId xmlns:a16="http://schemas.microsoft.com/office/drawing/2014/main" id="{50A69C12-57EB-4201-AE6C-4657BDC1F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9131" y="5840136"/>
              <a:ext cx="120112" cy="120112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ym typeface="+mn-lt"/>
              </a:endParaRPr>
            </a:p>
          </p:txBody>
        </p:sp>
        <p:sp>
          <p:nvSpPr>
            <p:cNvPr id="176" name="Line 37">
              <a:extLst>
                <a:ext uri="{FF2B5EF4-FFF2-40B4-BE49-F238E27FC236}">
                  <a16:creationId xmlns:a16="http://schemas.microsoft.com/office/drawing/2014/main" id="{481A0062-DADB-416F-9DC1-51E778842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9131" y="5840136"/>
              <a:ext cx="120112" cy="120112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ym typeface="+mn-lt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09991F-BD36-418D-A572-7C43A6B7A734}"/>
              </a:ext>
            </a:extLst>
          </p:cNvPr>
          <p:cNvGrpSpPr/>
          <p:nvPr/>
        </p:nvGrpSpPr>
        <p:grpSpPr>
          <a:xfrm>
            <a:off x="6563829" y="1703756"/>
            <a:ext cx="1103983" cy="3667781"/>
            <a:chOff x="9220881" y="2060650"/>
            <a:chExt cx="1103983" cy="366778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254161-3A92-4E26-872D-B2E57F2963B8}"/>
                </a:ext>
              </a:extLst>
            </p:cNvPr>
            <p:cNvSpPr txBox="1">
              <a:spLocks/>
            </p:cNvSpPr>
            <p:nvPr/>
          </p:nvSpPr>
          <p:spPr>
            <a:xfrm>
              <a:off x="9220881" y="2060650"/>
              <a:ext cx="1103983" cy="307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SzPct val="100000"/>
              </a:pPr>
              <a:r>
                <a:rPr lang="ru-RU" sz="950" b="1" dirty="0">
                  <a:sym typeface=""/>
                </a:rPr>
                <a:t>Подключение поставщиков 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5562E63-689D-4A47-898E-D844088520C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643221" y="5469129"/>
              <a:ext cx="259302" cy="259302"/>
              <a:chOff x="10126688" y="1289273"/>
              <a:chExt cx="153888" cy="153888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B65124DB-1720-4554-A509-B72D4B60AFD3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211" name="Graphic 210">
                <a:extLst>
                  <a:ext uri="{FF2B5EF4-FFF2-40B4-BE49-F238E27FC236}">
                    <a16:creationId xmlns:a16="http://schemas.microsoft.com/office/drawing/2014/main" id="{569C454E-EBC0-48FA-A9A2-65C71DED9D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5FAF598A-32D3-4BB7-BC6F-DFA82C323A7C}"/>
                </a:ext>
              </a:extLst>
            </p:cNvPr>
            <p:cNvGrpSpPr>
              <a:grpSpLocks/>
            </p:cNvGrpSpPr>
            <p:nvPr/>
          </p:nvGrpSpPr>
          <p:grpSpPr>
            <a:xfrm>
              <a:off x="9643221" y="3528176"/>
              <a:ext cx="259302" cy="259302"/>
              <a:chOff x="10126688" y="1289273"/>
              <a:chExt cx="153888" cy="153888"/>
            </a:xfrm>
          </p:grpSpPr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EA2378B3-9491-40DE-8766-EA33AEA0750B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900" dirty="0" err="1">
                  <a:solidFill>
                    <a:schemeClr val="tx1"/>
                  </a:solidFill>
                </a:endParaRPr>
              </a:p>
            </p:txBody>
          </p:sp>
          <p:pic>
            <p:nvPicPr>
              <p:cNvPr id="214" name="Graphic 213">
                <a:extLst>
                  <a:ext uri="{FF2B5EF4-FFF2-40B4-BE49-F238E27FC236}">
                    <a16:creationId xmlns:a16="http://schemas.microsoft.com/office/drawing/2014/main" id="{B74F93A2-6C0A-4BB3-81E1-F090A524D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1EE0B0D4-6E58-47DD-90D1-DC96B0A2F88F}"/>
                </a:ext>
              </a:extLst>
            </p:cNvPr>
            <p:cNvGrpSpPr/>
            <p:nvPr/>
          </p:nvGrpSpPr>
          <p:grpSpPr>
            <a:xfrm>
              <a:off x="9646872" y="2771612"/>
              <a:ext cx="252000" cy="252000"/>
              <a:chOff x="4513187" y="5774192"/>
              <a:chExt cx="252000" cy="252000"/>
            </a:xfrm>
          </p:grpSpPr>
          <p:sp>
            <p:nvSpPr>
              <p:cNvPr id="258" name="Oval 35">
                <a:extLst>
                  <a:ext uri="{FF2B5EF4-FFF2-40B4-BE49-F238E27FC236}">
                    <a16:creationId xmlns:a16="http://schemas.microsoft.com/office/drawing/2014/main" id="{A4E4FD65-AE06-43E1-B5CC-5506E541B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59" name="Line 36">
                <a:extLst>
                  <a:ext uri="{FF2B5EF4-FFF2-40B4-BE49-F238E27FC236}">
                    <a16:creationId xmlns:a16="http://schemas.microsoft.com/office/drawing/2014/main" id="{3BEEF062-DBAE-4DB6-B68D-9C6693164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60" name="Line 37">
                <a:extLst>
                  <a:ext uri="{FF2B5EF4-FFF2-40B4-BE49-F238E27FC236}">
                    <a16:creationId xmlns:a16="http://schemas.microsoft.com/office/drawing/2014/main" id="{49114971-0E9D-45C6-BC35-489C435DE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A89B7CB-2B95-4EE4-8C41-EE61E52A5704}"/>
                </a:ext>
              </a:extLst>
            </p:cNvPr>
            <p:cNvGrpSpPr/>
            <p:nvPr/>
          </p:nvGrpSpPr>
          <p:grpSpPr>
            <a:xfrm>
              <a:off x="9646872" y="4382940"/>
              <a:ext cx="252000" cy="252000"/>
              <a:chOff x="4513187" y="5774192"/>
              <a:chExt cx="252000" cy="252000"/>
            </a:xfrm>
          </p:grpSpPr>
          <p:sp>
            <p:nvSpPr>
              <p:cNvPr id="178" name="Oval 35">
                <a:extLst>
                  <a:ext uri="{FF2B5EF4-FFF2-40B4-BE49-F238E27FC236}">
                    <a16:creationId xmlns:a16="http://schemas.microsoft.com/office/drawing/2014/main" id="{AED2E4DA-F679-4E10-8A60-C7189800F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3187" y="5774192"/>
                <a:ext cx="252000" cy="252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12700" cap="rnd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179" name="Line 36">
                <a:extLst>
                  <a:ext uri="{FF2B5EF4-FFF2-40B4-BE49-F238E27FC236}">
                    <a16:creationId xmlns:a16="http://schemas.microsoft.com/office/drawing/2014/main" id="{31FE6412-1807-4F0C-B777-03D382EA45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  <p:sp>
            <p:nvSpPr>
              <p:cNvPr id="202" name="Line 37">
                <a:extLst>
                  <a:ext uri="{FF2B5EF4-FFF2-40B4-BE49-F238E27FC236}">
                    <a16:creationId xmlns:a16="http://schemas.microsoft.com/office/drawing/2014/main" id="{6FAEBB77-CBF2-4690-80D6-4FD248583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9131" y="5840136"/>
                <a:ext cx="120112" cy="120112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>
                  <a:sym typeface="+mn-lt"/>
                </a:endParaRPr>
              </a:p>
            </p:txBody>
          </p:sp>
        </p:grp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BB0EFAD5-053E-4B77-A0CD-0CC8F291FDD8}"/>
              </a:ext>
            </a:extLst>
          </p:cNvPr>
          <p:cNvSpPr txBox="1">
            <a:spLocks/>
          </p:cNvSpPr>
          <p:nvPr/>
        </p:nvSpPr>
        <p:spPr>
          <a:xfrm>
            <a:off x="431322" y="5753661"/>
            <a:ext cx="11329355" cy="319556"/>
          </a:xfrm>
          <a:prstGeom prst="roundRect">
            <a:avLst>
              <a:gd name="adj" fmla="val 11599"/>
            </a:avLst>
          </a:prstGeom>
          <a:solidFill>
            <a:schemeClr val="accent2">
              <a:lumMod val="20000"/>
              <a:lumOff val="80000"/>
            </a:schemeClr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Функции по 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управлению</a:t>
            </a:r>
            <a:r>
              <a:rPr kumimoji="0" lang="ru-RU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, разработке 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стандартов</a:t>
            </a:r>
            <a:r>
              <a:rPr kumimoji="0" lang="ru-RU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, поиску 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инноваций</a:t>
            </a:r>
            <a:r>
              <a:rPr kumimoji="0" lang="ru-RU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 и сбору 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обратной связи </a:t>
            </a:r>
            <a:r>
              <a:rPr kumimoji="0" lang="ru-RU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будут выполняться агрегатором вне зависимости от типа сервисов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53EDB65-3731-4FFA-818A-9AC4B30484C7}"/>
              </a:ext>
            </a:extLst>
          </p:cNvPr>
          <p:cNvSpPr txBox="1">
            <a:spLocks/>
          </p:cNvSpPr>
          <p:nvPr/>
        </p:nvSpPr>
        <p:spPr>
          <a:xfrm>
            <a:off x="8010525" y="1337110"/>
            <a:ext cx="1057863" cy="15163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SzPct val="100000"/>
            </a:pPr>
            <a:r>
              <a:rPr lang="ru-RU" sz="950" b="1" dirty="0">
                <a:solidFill>
                  <a:schemeClr val="tx2"/>
                </a:solidFill>
                <a:sym typeface=""/>
              </a:rPr>
              <a:t>Функционал</a:t>
            </a:r>
          </a:p>
        </p:txBody>
      </p:sp>
    </p:spTree>
    <p:extLst>
      <p:ext uri="{BB962C8B-B14F-4D97-AF65-F5344CB8AC3E}">
        <p14:creationId xmlns:p14="http://schemas.microsoft.com/office/powerpoint/2010/main" val="7345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30" hidden="1">
            <a:extLst>
              <a:ext uri="{FF2B5EF4-FFF2-40B4-BE49-F238E27FC236}">
                <a16:creationId xmlns:a16="http://schemas.microsoft.com/office/drawing/2014/main" id="{D341D002-29A5-4C9A-9D79-66849CDDDF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7449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Прямоугольник 81">
            <a:extLst>
              <a:ext uri="{FF2B5EF4-FFF2-40B4-BE49-F238E27FC236}">
                <a16:creationId xmlns:a16="http://schemas.microsoft.com/office/drawing/2014/main" id="{579B2071-976E-44E3-AECC-0258C8719DB6}"/>
              </a:ext>
            </a:extLst>
          </p:cNvPr>
          <p:cNvSpPr>
            <a:spLocks/>
          </p:cNvSpPr>
          <p:nvPr/>
        </p:nvSpPr>
        <p:spPr>
          <a:xfrm>
            <a:off x="0" y="1379499"/>
            <a:ext cx="12192001" cy="1546662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 sz="1600" b="1" dirty="0">
              <a:solidFill>
                <a:schemeClr val="accent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4E8891-168C-4CA6-A4FC-9A22C83103B2}"/>
              </a:ext>
            </a:extLst>
          </p:cNvPr>
          <p:cNvGrpSpPr>
            <a:grpSpLocks/>
          </p:cNvGrpSpPr>
          <p:nvPr/>
        </p:nvGrpSpPr>
        <p:grpSpPr>
          <a:xfrm>
            <a:off x="3945953" y="1379498"/>
            <a:ext cx="4300095" cy="1546662"/>
            <a:chOff x="6912699" y="1268967"/>
            <a:chExt cx="1881258" cy="874157"/>
          </a:xfrm>
          <a:gradFill>
            <a:gsLst>
              <a:gs pos="12000">
                <a:srgbClr val="C92723">
                  <a:lumMod val="75000"/>
                </a:srgbClr>
              </a:gs>
              <a:gs pos="100000">
                <a:srgbClr val="C92723"/>
              </a:gs>
            </a:gsLst>
            <a:lin ang="0" scaled="1"/>
          </a:gradFill>
        </p:grpSpPr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D492100B-BED0-4B37-A0E6-5557A806BD0C}"/>
                </a:ext>
              </a:extLst>
            </p:cNvPr>
            <p:cNvSpPr/>
            <p:nvPr/>
          </p:nvSpPr>
          <p:spPr>
            <a:xfrm>
              <a:off x="6912699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896C678D-1A67-4631-B934-352256DEB32A}"/>
                </a:ext>
              </a:extLst>
            </p:cNvPr>
            <p:cNvSpPr/>
            <p:nvPr/>
          </p:nvSpPr>
          <p:spPr>
            <a:xfrm>
              <a:off x="7385377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15468B1C-1A83-45EE-A4EF-AEE132D1E443}"/>
                </a:ext>
              </a:extLst>
            </p:cNvPr>
            <p:cNvSpPr/>
            <p:nvPr/>
          </p:nvSpPr>
          <p:spPr>
            <a:xfrm>
              <a:off x="7858055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BA1DD10B-8DAE-40CF-8BCB-B17DA281DE1D}"/>
                </a:ext>
              </a:extLst>
            </p:cNvPr>
            <p:cNvSpPr/>
            <p:nvPr/>
          </p:nvSpPr>
          <p:spPr>
            <a:xfrm>
              <a:off x="8330734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2" name="2. Slide Title">
            <a:extLst>
              <a:ext uri="{FF2B5EF4-FFF2-40B4-BE49-F238E27FC236}">
                <a16:creationId xmlns:a16="http://schemas.microsoft.com/office/drawing/2014/main" id="{74E1B9C8-3A7F-4C86-97F2-E4784F9F608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Дальнейшие шаги</a:t>
            </a:r>
            <a:endParaRPr lang="en-US" dirty="0"/>
          </a:p>
        </p:txBody>
      </p:sp>
      <p:sp>
        <p:nvSpPr>
          <p:cNvPr id="12" name="TrackerNumBlue">
            <a:extLst>
              <a:ext uri="{FF2B5EF4-FFF2-40B4-BE49-F238E27FC236}">
                <a16:creationId xmlns:a16="http://schemas.microsoft.com/office/drawing/2014/main" id="{ACBF838C-CEE1-4BBE-A50B-A107597528D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1969950"/>
            <a:ext cx="675476" cy="365760"/>
          </a:xfrm>
          <a:prstGeom prst="rect">
            <a:avLst/>
          </a:prstGeom>
          <a:noFill/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8800" b="1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30" name="TrackerNumBlue">
            <a:extLst>
              <a:ext uri="{FF2B5EF4-FFF2-40B4-BE49-F238E27FC236}">
                <a16:creationId xmlns:a16="http://schemas.microsoft.com/office/drawing/2014/main" id="{DED84BF2-8A3A-4D09-991B-E0A1A3017DE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476762" y="1969950"/>
            <a:ext cx="675476" cy="365760"/>
          </a:xfrm>
          <a:prstGeom prst="rect">
            <a:avLst/>
          </a:prstGeom>
          <a:noFill/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8800" b="1" dirty="0">
                <a:solidFill>
                  <a:srgbClr val="FFFFFF"/>
                </a:solidFill>
                <a:sym typeface="+mn-lt"/>
              </a:rPr>
              <a:t>2</a:t>
            </a:r>
            <a:endParaRPr lang="ru-RU" sz="8800" b="1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79D1D-3C51-440C-8C26-D98587AF9596}"/>
              </a:ext>
            </a:extLst>
          </p:cNvPr>
          <p:cNvSpPr txBox="1">
            <a:spLocks/>
          </p:cNvSpPr>
          <p:nvPr/>
        </p:nvSpPr>
        <p:spPr>
          <a:xfrm>
            <a:off x="6476762" y="3164506"/>
            <a:ext cx="5160501" cy="28854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dirty="0"/>
              <a:t>Реализовать </a:t>
            </a:r>
            <a:r>
              <a:rPr lang="ru-RU" sz="2000" b="1" dirty="0">
                <a:solidFill>
                  <a:schemeClr val="accent3"/>
                </a:solidFill>
              </a:rPr>
              <a:t>целевое видение агрегатора</a:t>
            </a:r>
            <a:r>
              <a:rPr lang="ru-RU" sz="2000" dirty="0"/>
              <a:t>, в т.ч.</a:t>
            </a:r>
          </a:p>
          <a:p>
            <a:pPr lvl="1"/>
            <a:r>
              <a:rPr lang="ru-RU" sz="2000" dirty="0"/>
              <a:t>Детализировать </a:t>
            </a:r>
            <a:r>
              <a:rPr lang="ru-RU" sz="2000" b="1" dirty="0">
                <a:solidFill>
                  <a:schemeClr val="accent3"/>
                </a:solidFill>
              </a:rPr>
              <a:t>стратегические цели </a:t>
            </a:r>
            <a:r>
              <a:rPr lang="ru-RU" sz="2000" dirty="0"/>
              <a:t>масштабирования,</a:t>
            </a:r>
            <a:br>
              <a:rPr lang="ru-RU" sz="2000" dirty="0"/>
            </a:br>
            <a:r>
              <a:rPr lang="ru-RU" sz="2000" b="1" dirty="0">
                <a:solidFill>
                  <a:schemeClr val="accent3"/>
                </a:solidFill>
              </a:rPr>
              <a:t>КПЭ</a:t>
            </a:r>
            <a:r>
              <a:rPr lang="ru-RU" sz="2000" dirty="0"/>
              <a:t> и необходимые </a:t>
            </a:r>
            <a:r>
              <a:rPr lang="ru-RU" sz="2000" b="1" dirty="0">
                <a:solidFill>
                  <a:schemeClr val="accent3"/>
                </a:solidFill>
              </a:rPr>
              <a:t>ресурсы</a:t>
            </a:r>
          </a:p>
          <a:p>
            <a:pPr lvl="1"/>
            <a:r>
              <a:rPr lang="ru-RU" sz="2000" dirty="0"/>
              <a:t>Определить и регламентировать ключевые </a:t>
            </a:r>
            <a:r>
              <a:rPr lang="ru-RU" sz="2000" b="1" dirty="0">
                <a:solidFill>
                  <a:schemeClr val="accent3"/>
                </a:solidFill>
              </a:rPr>
              <a:t>бизнес-процессы</a:t>
            </a:r>
          </a:p>
          <a:p>
            <a:pPr lvl="1"/>
            <a:r>
              <a:rPr lang="ru-RU" sz="2000" dirty="0"/>
              <a:t>Выбрать </a:t>
            </a:r>
            <a:r>
              <a:rPr lang="ru-RU" sz="2000" b="1" dirty="0">
                <a:solidFill>
                  <a:schemeClr val="accent3"/>
                </a:solidFill>
              </a:rPr>
              <a:t>ОПФ</a:t>
            </a:r>
            <a:r>
              <a:rPr lang="ru-RU" sz="2000" dirty="0"/>
              <a:t> и привлечь дополнительных сотрудников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40414-C28C-498F-AEDD-391CF81AFFA9}"/>
              </a:ext>
            </a:extLst>
          </p:cNvPr>
          <p:cNvSpPr txBox="1">
            <a:spLocks/>
          </p:cNvSpPr>
          <p:nvPr/>
        </p:nvSpPr>
        <p:spPr>
          <a:xfrm>
            <a:off x="554735" y="3164506"/>
            <a:ext cx="5160501" cy="2154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dirty="0"/>
              <a:t>Создать временный </a:t>
            </a:r>
            <a:r>
              <a:rPr lang="ru-RU" sz="2000" b="1" dirty="0">
                <a:solidFill>
                  <a:schemeClr val="accent3"/>
                </a:solidFill>
              </a:rPr>
              <a:t>центр компетенций </a:t>
            </a:r>
            <a:r>
              <a:rPr lang="ru-RU" sz="2000" dirty="0"/>
              <a:t>по внедрению сервисов «умного дома»</a:t>
            </a:r>
            <a:r>
              <a:rPr lang="en-US" sz="2000" dirty="0"/>
              <a:t> </a:t>
            </a:r>
            <a:r>
              <a:rPr lang="ru-RU" sz="2000" dirty="0"/>
              <a:t>в 5 пилотных домах на базе ДИТ, вкл. усиление дополнительными сотрудниками с недостающими навыками и экспертизой</a:t>
            </a:r>
          </a:p>
        </p:txBody>
      </p:sp>
    </p:spTree>
    <p:extLst>
      <p:ext uri="{BB962C8B-B14F-4D97-AF65-F5344CB8AC3E}">
        <p14:creationId xmlns:p14="http://schemas.microsoft.com/office/powerpoint/2010/main" val="359501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8505AAE-794C-469B-A2A9-7ADEC473A8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9623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8505AAE-794C-469B-A2A9-7ADEC473A8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6AECE3-E7A7-4D2E-B0E7-3687D2EA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12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2FD1AA3D-EE01-4E88-BA2C-879F73D5B9E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3276600" y="2613025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1. </a:t>
            </a:r>
            <a:r>
              <a:rPr lang="ru-RU" altLang="en-US"/>
              <a:t>Организационная </a:t>
            </a:r>
            <a:r>
              <a:rPr lang="ru-RU" altLang="en-US" dirty="0"/>
              <a:t>м</a:t>
            </a:r>
            <a:r>
              <a:rPr lang="ru-RU" altLang="en-US" dirty="0">
                <a:effectLst/>
              </a:rPr>
              <a:t>одель масштабирования</a:t>
            </a:r>
            <a:endParaRPr lang="ru-RU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99181FC-8C9A-4656-A993-C8AC251625A1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3276600" y="2967038"/>
            <a:ext cx="5638800" cy="355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>
                <a:solidFill>
                  <a:schemeClr val="tx2"/>
                </a:solidFill>
                <a:effectLst/>
              </a:rPr>
              <a:t>2. Оценка </a:t>
            </a:r>
            <a:r>
              <a:rPr lang="ru-RU" altLang="en-US" b="1" dirty="0">
                <a:solidFill>
                  <a:schemeClr val="tx2"/>
                </a:solidFill>
                <a:effectLst/>
              </a:rPr>
              <a:t>затрат </a:t>
            </a:r>
            <a:r>
              <a:rPr lang="ru-RU" altLang="en-US" b="1">
                <a:solidFill>
                  <a:schemeClr val="tx2"/>
                </a:solidFill>
                <a:effectLst/>
              </a:rPr>
              <a:t>на масштабировани</a:t>
            </a:r>
            <a:r>
              <a:rPr lang="ru-RU" altLang="en-US" b="1">
                <a:solidFill>
                  <a:schemeClr val="tx2"/>
                </a:solidFill>
              </a:rPr>
              <a:t>е</a:t>
            </a:r>
            <a:endParaRPr lang="ru-RU" altLang="en-US" b="1" dirty="0">
              <a:solidFill>
                <a:schemeClr val="tx2"/>
              </a:solidFill>
              <a:effectLst/>
            </a:endParaRPr>
          </a:p>
        </p:txBody>
      </p:sp>
      <p:sp>
        <p:nvSpPr>
          <p:cNvPr id="19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4A02AEFD-13B3-47F9-B285-4E871DD27A22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3276600" y="3322638"/>
            <a:ext cx="5638800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1 </a:t>
            </a:r>
            <a:r>
              <a:rPr lang="ru-RU" altLang="en-US">
                <a:effectLst/>
              </a:rPr>
              <a:t>– Организационная </a:t>
            </a:r>
            <a:r>
              <a:rPr lang="ru-RU" altLang="en-US" dirty="0">
                <a:effectLst/>
              </a:rPr>
              <a:t>модель масштабирования</a:t>
            </a:r>
            <a:endParaRPr lang="ru-RU" altLang="en-US" dirty="0"/>
          </a:p>
        </p:txBody>
      </p:sp>
      <p:sp>
        <p:nvSpPr>
          <p:cNvPr id="24" name="Text Placeholder 4">
            <a:hlinkClick r:id="rId11" action="ppaction://hlinksldjump"/>
            <a:extLst>
              <a:ext uri="{FF2B5EF4-FFF2-40B4-BE49-F238E27FC236}">
                <a16:creationId xmlns:a16="http://schemas.microsoft.com/office/drawing/2014/main" id="{A5726094-19D6-4BBF-9405-F3827C33A862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276600" y="3890963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2 – Оценка затрат </a:t>
            </a:r>
            <a:r>
              <a:rPr lang="ru-RU" altLang="en-US">
                <a:effectLst/>
              </a:rPr>
              <a:t>на масштабирование</a:t>
            </a:r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74715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55304408-19AA-443C-8781-955BC14EF2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304408-19AA-443C-8781-955BC14EF2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54FD42C-42B0-42BD-B361-0B28D88BDC63}"/>
              </a:ext>
            </a:extLst>
          </p:cNvPr>
          <p:cNvSpPr/>
          <p:nvPr/>
        </p:nvSpPr>
        <p:spPr>
          <a:xfrm>
            <a:off x="0" y="1519906"/>
            <a:ext cx="12192000" cy="798323"/>
          </a:xfrm>
          <a:prstGeom prst="rect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E4490740-4F3E-4A6A-A6E2-C83456BE14F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Из 20 сервисов, масштабируемых в рамках программы «Умный дом», 12 не требуют дополнительных затрат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97BB8-1C8A-401F-A29E-1BE0ADF39334}"/>
              </a:ext>
            </a:extLst>
          </p:cNvPr>
          <p:cNvSpPr>
            <a:spLocks/>
          </p:cNvSpPr>
          <p:nvPr/>
        </p:nvSpPr>
        <p:spPr>
          <a:xfrm>
            <a:off x="0" y="5503202"/>
            <a:ext cx="12192006" cy="6766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F9AE2-BD2A-4E3A-91FB-25F3178C791C}"/>
              </a:ext>
            </a:extLst>
          </p:cNvPr>
          <p:cNvSpPr txBox="1">
            <a:spLocks/>
          </p:cNvSpPr>
          <p:nvPr/>
        </p:nvSpPr>
        <p:spPr>
          <a:xfrm>
            <a:off x="554734" y="5656864"/>
            <a:ext cx="11082528" cy="3693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200" b="1">
                <a:solidFill>
                  <a:srgbClr val="FFFFFF"/>
                </a:solidFill>
              </a:rPr>
              <a:t>В рамках пилота будет проведена оценка текущих компетенций и ресурсов управляющей компании на обслуживание «умных» сервисов, а также их востребованность среди жителей </a:t>
            </a:r>
            <a:endParaRPr lang="ru-RU" sz="1200" b="1" dirty="0">
              <a:solidFill>
                <a:srgbClr val="FFFFF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AC586D-A897-4DDA-8243-DB14A7B822C2}"/>
              </a:ext>
            </a:extLst>
          </p:cNvPr>
          <p:cNvSpPr>
            <a:spLocks/>
          </p:cNvSpPr>
          <p:nvPr/>
        </p:nvSpPr>
        <p:spPr>
          <a:xfrm>
            <a:off x="554734" y="1722612"/>
            <a:ext cx="3376194" cy="3614596"/>
          </a:xfrm>
          <a:prstGeom prst="roundRect">
            <a:avLst>
              <a:gd name="adj" fmla="val 5508"/>
            </a:avLst>
          </a:prstGeom>
          <a:solidFill>
            <a:schemeClr val="bg1"/>
          </a:solidFill>
          <a:effectLst>
            <a:outerShdw blurRad="190500" dist="635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6BD373-CA1E-4DF5-826D-A627C822E1A4}"/>
              </a:ext>
            </a:extLst>
          </p:cNvPr>
          <p:cNvSpPr>
            <a:spLocks/>
          </p:cNvSpPr>
          <p:nvPr/>
        </p:nvSpPr>
        <p:spPr>
          <a:xfrm>
            <a:off x="4407901" y="1722611"/>
            <a:ext cx="3376194" cy="3614596"/>
          </a:xfrm>
          <a:prstGeom prst="roundRect">
            <a:avLst>
              <a:gd name="adj" fmla="val 5858"/>
            </a:avLst>
          </a:prstGeom>
          <a:solidFill>
            <a:schemeClr val="bg1"/>
          </a:solidFill>
          <a:effectLst>
            <a:outerShdw blurRad="190500" dist="635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948B06-9BD2-4217-A449-4AC1BEC224BA}"/>
              </a:ext>
            </a:extLst>
          </p:cNvPr>
          <p:cNvSpPr>
            <a:spLocks/>
          </p:cNvSpPr>
          <p:nvPr/>
        </p:nvSpPr>
        <p:spPr>
          <a:xfrm>
            <a:off x="8261068" y="1722611"/>
            <a:ext cx="3376194" cy="3614596"/>
          </a:xfrm>
          <a:prstGeom prst="roundRect">
            <a:avLst>
              <a:gd name="adj" fmla="val 6382"/>
            </a:avLst>
          </a:prstGeom>
          <a:solidFill>
            <a:schemeClr val="bg1"/>
          </a:solidFill>
          <a:effectLst>
            <a:outerShdw blurRad="190500" dist="635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en-US" sz="1400" dirty="0" err="1">
              <a:solidFill>
                <a:srgbClr val="000000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7AF797-26EE-4B40-9728-53EA322A78DC}"/>
              </a:ext>
            </a:extLst>
          </p:cNvPr>
          <p:cNvSpPr txBox="1">
            <a:spLocks/>
          </p:cNvSpPr>
          <p:nvPr/>
        </p:nvSpPr>
        <p:spPr>
          <a:xfrm>
            <a:off x="1271795" y="1837892"/>
            <a:ext cx="2516667" cy="646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/>
              <a:t>сервисов </a:t>
            </a:r>
            <a:r>
              <a:rPr lang="ru-RU" b="1" dirty="0">
                <a:solidFill>
                  <a:schemeClr val="tx2"/>
                </a:solidFill>
              </a:rPr>
              <a:t>внедряются застройщиком </a:t>
            </a:r>
            <a:r>
              <a:rPr lang="ru-RU" b="1" dirty="0"/>
              <a:t>в рамках Смарт-стандарта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485267-0A58-42DC-8707-81F306B86A6C}"/>
              </a:ext>
            </a:extLst>
          </p:cNvPr>
          <p:cNvSpPr txBox="1">
            <a:spLocks/>
          </p:cNvSpPr>
          <p:nvPr/>
        </p:nvSpPr>
        <p:spPr>
          <a:xfrm>
            <a:off x="8978130" y="1837892"/>
            <a:ext cx="2516667" cy="646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/>
              <a:t>будут предоставляться жителям </a:t>
            </a:r>
            <a:r>
              <a:rPr lang="ru-RU" b="1" dirty="0" err="1">
                <a:solidFill>
                  <a:schemeClr val="tx2"/>
                </a:solidFill>
              </a:rPr>
              <a:t>коммерчес</a:t>
            </a:r>
            <a:r>
              <a:rPr lang="en-US" b="1" dirty="0">
                <a:solidFill>
                  <a:schemeClr val="tx2"/>
                </a:solidFill>
              </a:rPr>
              <a:t>-</a:t>
            </a:r>
            <a:r>
              <a:rPr lang="ru-RU" b="1" dirty="0">
                <a:solidFill>
                  <a:schemeClr val="tx2"/>
                </a:solidFill>
              </a:rPr>
              <a:t>кими операторами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24F8FD-AD97-4228-A500-1507B8D71F80}"/>
              </a:ext>
            </a:extLst>
          </p:cNvPr>
          <p:cNvSpPr txBox="1">
            <a:spLocks/>
          </p:cNvSpPr>
          <p:nvPr/>
        </p:nvSpPr>
        <p:spPr>
          <a:xfrm>
            <a:off x="5124962" y="1837892"/>
            <a:ext cx="2516667" cy="646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/>
              <a:t>сервисов уже </a:t>
            </a:r>
            <a:r>
              <a:rPr lang="ru-RU" b="1" dirty="0">
                <a:solidFill>
                  <a:schemeClr val="tx2"/>
                </a:solidFill>
              </a:rPr>
              <a:t>реализованы </a:t>
            </a:r>
            <a:r>
              <a:rPr lang="ru-RU" b="1">
                <a:solidFill>
                  <a:schemeClr val="tx2"/>
                </a:solidFill>
              </a:rPr>
              <a:t>подразделениями ДИТа</a:t>
            </a:r>
            <a:endParaRPr lang="ru-RU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88E718-4CCC-46A2-8F0F-F0051340DC64}"/>
              </a:ext>
            </a:extLst>
          </p:cNvPr>
          <p:cNvSpPr txBox="1">
            <a:spLocks/>
          </p:cNvSpPr>
          <p:nvPr/>
        </p:nvSpPr>
        <p:spPr>
          <a:xfrm>
            <a:off x="697200" y="1745559"/>
            <a:ext cx="502541" cy="8309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en-US" sz="5400" b="1" dirty="0">
                <a:solidFill>
                  <a:schemeClr val="tx2"/>
                </a:solidFill>
              </a:rPr>
              <a:t>5</a:t>
            </a:r>
            <a:endParaRPr lang="ru-RU" sz="5400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94E37-4F3F-4F28-A860-B50E55E4EBB2}"/>
              </a:ext>
            </a:extLst>
          </p:cNvPr>
          <p:cNvSpPr txBox="1">
            <a:spLocks/>
          </p:cNvSpPr>
          <p:nvPr/>
        </p:nvSpPr>
        <p:spPr>
          <a:xfrm>
            <a:off x="4550367" y="1745559"/>
            <a:ext cx="502541" cy="8309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en-US" sz="5400" b="1" dirty="0">
                <a:solidFill>
                  <a:schemeClr val="tx2"/>
                </a:solidFill>
              </a:rPr>
              <a:t>5</a:t>
            </a:r>
            <a:endParaRPr lang="ru-RU" sz="5400" b="1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4CEF50-76CA-4A01-BBC0-4C65D42D5684}"/>
              </a:ext>
            </a:extLst>
          </p:cNvPr>
          <p:cNvSpPr txBox="1">
            <a:spLocks/>
          </p:cNvSpPr>
          <p:nvPr/>
        </p:nvSpPr>
        <p:spPr>
          <a:xfrm>
            <a:off x="8403534" y="1745559"/>
            <a:ext cx="502541" cy="8309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en-US" sz="5400" b="1" dirty="0">
                <a:solidFill>
                  <a:schemeClr val="tx2"/>
                </a:solidFill>
              </a:rPr>
              <a:t>2</a:t>
            </a:r>
            <a:endParaRPr lang="ru-RU" sz="5400" b="1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6DFE63-8353-4DEF-A262-F9C283189098}"/>
              </a:ext>
            </a:extLst>
          </p:cNvPr>
          <p:cNvCxnSpPr>
            <a:cxnSpLocks/>
          </p:cNvCxnSpPr>
          <p:nvPr/>
        </p:nvCxnSpPr>
        <p:spPr>
          <a:xfrm>
            <a:off x="697200" y="2625213"/>
            <a:ext cx="3091262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2EE4DA-2EB0-42AA-B15B-00336F1AC1C2}"/>
              </a:ext>
            </a:extLst>
          </p:cNvPr>
          <p:cNvCxnSpPr>
            <a:cxnSpLocks/>
          </p:cNvCxnSpPr>
          <p:nvPr/>
        </p:nvCxnSpPr>
        <p:spPr>
          <a:xfrm>
            <a:off x="4550367" y="2625213"/>
            <a:ext cx="3091262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395B39-D38F-45DC-A277-7C43CFB60D6B}"/>
              </a:ext>
            </a:extLst>
          </p:cNvPr>
          <p:cNvCxnSpPr>
            <a:cxnSpLocks/>
          </p:cNvCxnSpPr>
          <p:nvPr/>
        </p:nvCxnSpPr>
        <p:spPr>
          <a:xfrm>
            <a:off x="8403534" y="2625213"/>
            <a:ext cx="3091262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CD883B3-FB7C-4D95-B83A-11075E8A4DD0}"/>
              </a:ext>
            </a:extLst>
          </p:cNvPr>
          <p:cNvSpPr txBox="1">
            <a:spLocks/>
          </p:cNvSpPr>
          <p:nvPr/>
        </p:nvSpPr>
        <p:spPr>
          <a:xfrm>
            <a:off x="697200" y="2779532"/>
            <a:ext cx="3091262" cy="22775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/>
            </a:lvl1pPr>
            <a:lvl2pPr marL="346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10000"/>
              <a:buFont typeface="+mj-lt"/>
              <a:buAutoNum type="arabicPeriod"/>
              <a:defRPr sz="12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dirty="0" err="1"/>
              <a:t>Безбарьерная</a:t>
            </a:r>
            <a:r>
              <a:rPr lang="ru-RU" dirty="0"/>
              <a:t> среда</a:t>
            </a:r>
          </a:p>
          <a:p>
            <a:pPr lvl="1"/>
            <a:r>
              <a:rPr lang="ru-RU" dirty="0"/>
              <a:t>Интернет от любого провайдера</a:t>
            </a:r>
          </a:p>
          <a:p>
            <a:pPr lvl="1"/>
            <a:r>
              <a:rPr lang="ru-RU" dirty="0"/>
              <a:t>Связь с диспетчером из разных домовых локаций</a:t>
            </a:r>
          </a:p>
          <a:p>
            <a:pPr lvl="1"/>
            <a:r>
              <a:rPr lang="ru-RU" dirty="0"/>
              <a:t>Автоматизированный мониторинг возгораний</a:t>
            </a:r>
          </a:p>
          <a:p>
            <a:pPr lvl="1"/>
            <a:r>
              <a:rPr lang="ru-RU" dirty="0"/>
              <a:t>«Умные» счетчики (ОДПУ)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203794-B674-469C-85DD-274E04646B67}"/>
              </a:ext>
            </a:extLst>
          </p:cNvPr>
          <p:cNvSpPr txBox="1">
            <a:spLocks/>
          </p:cNvSpPr>
          <p:nvPr/>
        </p:nvSpPr>
        <p:spPr>
          <a:xfrm>
            <a:off x="4550366" y="2779532"/>
            <a:ext cx="3091262" cy="22775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Городское видеонаблюдение</a:t>
            </a:r>
            <a:endParaRPr lang="en-US" sz="1200" dirty="0"/>
          </a:p>
          <a:p>
            <a:pPr marL="3465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Автоматизированное выявление нарушений по видеонаблюдению</a:t>
            </a:r>
          </a:p>
          <a:p>
            <a:pPr marL="3465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Автоматизированное наблюдение за чистотой</a:t>
            </a:r>
            <a:r>
              <a:rPr lang="en-US" sz="1200" dirty="0"/>
              <a:t> </a:t>
            </a:r>
            <a:r>
              <a:rPr lang="ru-RU" sz="1200" dirty="0"/>
              <a:t>(«Чистый город»)</a:t>
            </a:r>
          </a:p>
          <a:p>
            <a:pPr marL="3465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Единое мобильное   приложение («Электронный дом»)</a:t>
            </a:r>
          </a:p>
          <a:p>
            <a:pPr marL="3465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Единый платежный документ (mos.ru)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43A4AA-EB08-436C-8EDE-33DAE9C2202B}"/>
              </a:ext>
            </a:extLst>
          </p:cNvPr>
          <p:cNvSpPr txBox="1">
            <a:spLocks/>
          </p:cNvSpPr>
          <p:nvPr/>
        </p:nvSpPr>
        <p:spPr>
          <a:xfrm>
            <a:off x="8403534" y="2779532"/>
            <a:ext cx="3091262" cy="227754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/>
            </a:lvl1pPr>
            <a:lvl2pPr marL="346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10000"/>
              <a:buFont typeface="+mj-lt"/>
              <a:buAutoNum type="arabicPeriod"/>
              <a:defRPr sz="12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dirty="0"/>
              <a:t>Пункты выдачи онлайн-заказов</a:t>
            </a:r>
          </a:p>
          <a:p>
            <a:pPr lvl="1"/>
            <a:r>
              <a:rPr lang="ru-RU" dirty="0"/>
              <a:t>Вендинговые автоматы</a:t>
            </a:r>
          </a:p>
        </p:txBody>
      </p:sp>
    </p:spTree>
    <p:extLst>
      <p:ext uri="{BB962C8B-B14F-4D97-AF65-F5344CB8AC3E}">
        <p14:creationId xmlns:p14="http://schemas.microsoft.com/office/powerpoint/2010/main" val="399811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0845DE4-A637-4CA0-A305-46B9AB8ADB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5" progId="TCLayout.ActiveDocument.1">
                  <p:embed/>
                </p:oleObj>
              </mc:Choice>
              <mc:Fallback>
                <p:oleObj name="think-cell Slide" r:id="rId7" imgW="592" imgH="59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0845DE4-A637-4CA0-A305-46B9AB8AD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2AF0210F-3FDA-4DB0-9A16-5B02ED409ED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На основе пилота проведена предварительная оценка расходов на масштабирование остальных сервисов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96886771-DF8F-4C68-9EF1-0FBE0C80872A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A1F24B-6AD2-42C0-A5AE-EEF37124F7B7}"/>
              </a:ext>
            </a:extLst>
          </p:cNvPr>
          <p:cNvSpPr>
            <a:spLocks/>
          </p:cNvSpPr>
          <p:nvPr/>
        </p:nvSpPr>
        <p:spPr>
          <a:xfrm>
            <a:off x="0" y="1363353"/>
            <a:ext cx="3973364" cy="108340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832159-CB02-4D7F-AE3D-4BA683BEB5AB}"/>
              </a:ext>
            </a:extLst>
          </p:cNvPr>
          <p:cNvGrpSpPr>
            <a:grpSpLocks/>
          </p:cNvGrpSpPr>
          <p:nvPr/>
        </p:nvGrpSpPr>
        <p:grpSpPr>
          <a:xfrm>
            <a:off x="834388" y="1363353"/>
            <a:ext cx="3480734" cy="1083402"/>
            <a:chOff x="6912699" y="1268967"/>
            <a:chExt cx="1881258" cy="874157"/>
          </a:xfrm>
          <a:gradFill>
            <a:gsLst>
              <a:gs pos="12000">
                <a:srgbClr val="C92723">
                  <a:lumMod val="75000"/>
                </a:srgbClr>
              </a:gs>
              <a:gs pos="100000">
                <a:srgbClr val="C92723"/>
              </a:gs>
            </a:gsLst>
            <a:lin ang="0" scaled="1"/>
          </a:gradFill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BC9C7589-616B-4EE1-91C2-351ED09059E4}"/>
                </a:ext>
              </a:extLst>
            </p:cNvPr>
            <p:cNvSpPr/>
            <p:nvPr/>
          </p:nvSpPr>
          <p:spPr>
            <a:xfrm>
              <a:off x="6912699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C3BCB82-DCCE-45AD-B1B6-600A4C53A407}"/>
                </a:ext>
              </a:extLst>
            </p:cNvPr>
            <p:cNvSpPr/>
            <p:nvPr/>
          </p:nvSpPr>
          <p:spPr>
            <a:xfrm>
              <a:off x="7385377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779DB302-38B2-4127-96C2-9287F0B968C4}"/>
                </a:ext>
              </a:extLst>
            </p:cNvPr>
            <p:cNvSpPr/>
            <p:nvPr/>
          </p:nvSpPr>
          <p:spPr>
            <a:xfrm>
              <a:off x="7858055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FD95780E-25F1-4003-ACDC-E988CDD60933}"/>
                </a:ext>
              </a:extLst>
            </p:cNvPr>
            <p:cNvSpPr/>
            <p:nvPr/>
          </p:nvSpPr>
          <p:spPr>
            <a:xfrm>
              <a:off x="8330734" y="1268967"/>
              <a:ext cx="463223" cy="874157"/>
            </a:xfrm>
            <a:prstGeom prst="chevron">
              <a:avLst>
                <a:gd name="adj" fmla="val 38690"/>
              </a:avLst>
            </a:prstGeom>
            <a:grpFill/>
            <a:ln w="63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871479-F058-4E71-A056-E2E41DCC9B3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285587" y="1443389"/>
            <a:ext cx="2336545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900"/>
              </a:spcBef>
              <a:spcAft>
                <a:spcPts val="300"/>
              </a:spcAft>
              <a:buClr>
                <a:srgbClr val="FFFFFF"/>
              </a:buClr>
              <a:buSzPct val="100000"/>
              <a:buNone/>
              <a:tabLst/>
              <a:defRPr/>
            </a:pPr>
            <a:r>
              <a:rPr lang="ru-RU" dirty="0">
                <a:solidFill>
                  <a:srgbClr val="FFFFFF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сервисов требуют дополнительных затрат: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FB2BF-6FD7-485D-B267-DA6356DBB4B4}"/>
              </a:ext>
            </a:extLst>
          </p:cNvPr>
          <p:cNvSpPr txBox="1">
            <a:spLocks/>
          </p:cNvSpPr>
          <p:nvPr/>
        </p:nvSpPr>
        <p:spPr>
          <a:xfrm>
            <a:off x="554734" y="1363353"/>
            <a:ext cx="635960" cy="108340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72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1FB525-6B10-4A4E-A530-42223EA41209}"/>
              </a:ext>
            </a:extLst>
          </p:cNvPr>
          <p:cNvSpPr>
            <a:spLocks/>
          </p:cNvSpPr>
          <p:nvPr/>
        </p:nvSpPr>
        <p:spPr>
          <a:xfrm>
            <a:off x="0" y="5503202"/>
            <a:ext cx="12192006" cy="67665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BA58A2-E7A9-4C47-AAB8-3CAAF86A3264}"/>
              </a:ext>
            </a:extLst>
          </p:cNvPr>
          <p:cNvSpPr txBox="1">
            <a:spLocks/>
          </p:cNvSpPr>
          <p:nvPr/>
        </p:nvSpPr>
        <p:spPr>
          <a:xfrm>
            <a:off x="554734" y="5656864"/>
            <a:ext cx="11082528" cy="3693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Оценка стоимости является предварительной. Фактический объем требуемых затрат, а также готовность жителей платить за отдельные сервисы и источник финансирования будут определены по итогам пилота </a:t>
            </a:r>
          </a:p>
        </p:txBody>
      </p:sp>
      <p:sp>
        <p:nvSpPr>
          <p:cNvPr id="20" name="4. Footnote">
            <a:extLst>
              <a:ext uri="{FF2B5EF4-FFF2-40B4-BE49-F238E27FC236}">
                <a16:creationId xmlns:a16="http://schemas.microsoft.com/office/drawing/2014/main" id="{6ED952CA-7345-486C-B702-423F62B74E7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a typeface="+mn-ea"/>
                <a:cs typeface="+mn-cs"/>
                <a:sym typeface="+mn-lt"/>
              </a:rPr>
              <a:t>1.	Включает идентификацию лиц, предоставляющих различные виды услуг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126514-F997-43CC-BBA5-50254572E6D5}"/>
              </a:ext>
            </a:extLst>
          </p:cNvPr>
          <p:cNvSpPr>
            <a:spLocks/>
          </p:cNvSpPr>
          <p:nvPr/>
        </p:nvSpPr>
        <p:spPr>
          <a:xfrm>
            <a:off x="3963891" y="1584963"/>
            <a:ext cx="444022" cy="3840549"/>
          </a:xfrm>
          <a:prstGeom prst="roundRect">
            <a:avLst>
              <a:gd name="adj" fmla="val 41853"/>
            </a:avLst>
          </a:prstGeom>
          <a:solidFill>
            <a:schemeClr val="bg1"/>
          </a:solidFill>
          <a:ln w="6350" cap="sq">
            <a:noFill/>
            <a:miter lim="800000"/>
          </a:ln>
          <a:effectLst>
            <a:outerShdw blurRad="254000" dist="127000" dir="10800000" algn="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2C8C5C6-76A5-4FE1-81C6-E2188B35D760}"/>
              </a:ext>
            </a:extLst>
          </p:cNvPr>
          <p:cNvSpPr>
            <a:spLocks/>
          </p:cNvSpPr>
          <p:nvPr/>
        </p:nvSpPr>
        <p:spPr>
          <a:xfrm rot="16200000">
            <a:off x="5992405" y="-774083"/>
            <a:ext cx="4062143" cy="8337047"/>
          </a:xfrm>
          <a:prstGeom prst="round2SameRect">
            <a:avLst>
              <a:gd name="adj1" fmla="val 4077"/>
              <a:gd name="adj2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C22B1F-DB8C-4293-8468-C1CE7F9F8AD8}"/>
              </a:ext>
            </a:extLst>
          </p:cNvPr>
          <p:cNvSpPr txBox="1"/>
          <p:nvPr/>
        </p:nvSpPr>
        <p:spPr>
          <a:xfrm>
            <a:off x="554734" y="2502008"/>
            <a:ext cx="3247589" cy="2808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Автоматизированный контроль мусорных баков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Видеодомофон в</a:t>
            </a:r>
            <a:r>
              <a:rPr lang="en-US" sz="1300" dirty="0"/>
              <a:t> </a:t>
            </a:r>
            <a:r>
              <a:rPr lang="ru-RU" sz="1300" dirty="0"/>
              <a:t>мобильном телефоне</a:t>
            </a:r>
            <a:r>
              <a:rPr lang="ru-RU" sz="1300" baseline="30000" dirty="0"/>
              <a:t>1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Общегородской</a:t>
            </a:r>
            <a:r>
              <a:rPr lang="en-US" sz="1300" dirty="0"/>
              <a:t> Wi-Fi </a:t>
            </a:r>
            <a:r>
              <a:rPr lang="ru-RU" sz="1300" dirty="0"/>
              <a:t>во</a:t>
            </a:r>
            <a:r>
              <a:rPr lang="en-US" sz="1300" dirty="0"/>
              <a:t> </a:t>
            </a:r>
            <a:r>
              <a:rPr lang="ru-RU" sz="1300" dirty="0"/>
              <a:t>дворе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Мониторинг парковочных</a:t>
            </a:r>
            <a:r>
              <a:rPr lang="en-US" sz="1300" dirty="0"/>
              <a:t> </a:t>
            </a:r>
            <a:r>
              <a:rPr lang="ru-RU" sz="1300" dirty="0"/>
              <a:t>мест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«Умное» освещение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«Умные» счетчики (ИПУ)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«Умный» шлагбаум</a:t>
            </a:r>
          </a:p>
          <a:p>
            <a:pPr marL="346500" lvl="1" indent="-342900">
              <a:spcBef>
                <a:spcPts val="600"/>
              </a:spcBef>
              <a:buFont typeface="+mj-lt"/>
              <a:buAutoNum type="arabicPeriod"/>
            </a:pPr>
            <a:r>
              <a:rPr lang="ru-RU" sz="1300" dirty="0"/>
              <a:t>Видеонаблюдение в подъезде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8DBCBA-001B-47F4-8DC1-4F137F05DEC2}"/>
              </a:ext>
            </a:extLst>
          </p:cNvPr>
          <p:cNvSpPr txBox="1">
            <a:spLocks/>
          </p:cNvSpPr>
          <p:nvPr/>
        </p:nvSpPr>
        <p:spPr>
          <a:xfrm>
            <a:off x="4019026" y="1455899"/>
            <a:ext cx="4839833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b="1" dirty="0">
                <a:solidFill>
                  <a:srgbClr val="FFFFFF"/>
                </a:solidFill>
              </a:rPr>
              <a:t>Затраты на внедрение сервисов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ru-RU" b="1" dirty="0">
                <a:solidFill>
                  <a:srgbClr val="FFFFFF"/>
                </a:solidFill>
              </a:rPr>
              <a:t>для типового дома по реновации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14BC18-19B6-4841-861B-37886862F4CE}"/>
              </a:ext>
            </a:extLst>
          </p:cNvPr>
          <p:cNvSpPr txBox="1">
            <a:spLocks/>
          </p:cNvSpPr>
          <p:nvPr/>
        </p:nvSpPr>
        <p:spPr>
          <a:xfrm>
            <a:off x="6534209" y="3201550"/>
            <a:ext cx="2324650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sz="1200" dirty="0">
                <a:solidFill>
                  <a:srgbClr val="FFFFFF"/>
                </a:solidFill>
              </a:rPr>
              <a:t>+ </a:t>
            </a:r>
            <a:r>
              <a:rPr lang="ru-RU" sz="1200" b="1" dirty="0">
                <a:solidFill>
                  <a:srgbClr val="FFFFFF"/>
                </a:solidFill>
              </a:rPr>
              <a:t>0.3%</a:t>
            </a:r>
            <a:r>
              <a:rPr lang="ru-RU" sz="1200" dirty="0">
                <a:solidFill>
                  <a:srgbClr val="FFFFFF"/>
                </a:solidFill>
              </a:rPr>
              <a:t> к текущей стоимости строительства</a:t>
            </a:r>
            <a:endParaRPr lang="ru-RU" sz="1800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D6E954-DCC3-40EF-AA0D-CCC5F729C4B7}"/>
              </a:ext>
            </a:extLst>
          </p:cNvPr>
          <p:cNvSpPr txBox="1">
            <a:spLocks/>
          </p:cNvSpPr>
          <p:nvPr/>
        </p:nvSpPr>
        <p:spPr>
          <a:xfrm>
            <a:off x="5626115" y="1973045"/>
            <a:ext cx="1625598" cy="215444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b="1" dirty="0">
                <a:solidFill>
                  <a:srgbClr val="FFFFFF"/>
                </a:solidFill>
              </a:rPr>
              <a:t>Капзатраты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DAAAF2-E879-4049-9F58-FE5131ED82CE}"/>
              </a:ext>
            </a:extLst>
          </p:cNvPr>
          <p:cNvGrpSpPr>
            <a:grpSpLocks/>
          </p:cNvGrpSpPr>
          <p:nvPr/>
        </p:nvGrpSpPr>
        <p:grpSpPr>
          <a:xfrm>
            <a:off x="6534209" y="2282983"/>
            <a:ext cx="2324650" cy="824073"/>
            <a:chOff x="6534209" y="2282983"/>
            <a:chExt cx="2324650" cy="82407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95ABCEE-DC95-4F2E-BDD8-E96F4670AFA4}"/>
                </a:ext>
              </a:extLst>
            </p:cNvPr>
            <p:cNvSpPr>
              <a:spLocks/>
            </p:cNvSpPr>
            <p:nvPr/>
          </p:nvSpPr>
          <p:spPr>
            <a:xfrm>
              <a:off x="6534209" y="2282983"/>
              <a:ext cx="2324650" cy="824073"/>
            </a:xfrm>
            <a:prstGeom prst="roundRect">
              <a:avLst>
                <a:gd name="adj" fmla="val 10383"/>
              </a:avLst>
            </a:prstGeom>
            <a:solidFill>
              <a:schemeClr val="bg1"/>
            </a:solidFill>
            <a:effectLst>
              <a:outerShdw blurRad="190500" dist="635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7935" tIns="97935" rIns="97935" bIns="97935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en-US" sz="1400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F87F53-20FD-43CF-84C0-EF08877C5D35}"/>
                </a:ext>
              </a:extLst>
            </p:cNvPr>
            <p:cNvSpPr txBox="1">
              <a:spLocks/>
            </p:cNvSpPr>
            <p:nvPr/>
          </p:nvSpPr>
          <p:spPr>
            <a:xfrm>
              <a:off x="6664627" y="2356465"/>
              <a:ext cx="2063815" cy="677108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2400" b="1" dirty="0">
                  <a:solidFill>
                    <a:schemeClr val="tx2"/>
                  </a:solidFill>
                </a:rPr>
                <a:t>238</a:t>
              </a:r>
              <a:br>
                <a:rPr lang="ru-RU" sz="2800" b="1" dirty="0">
                  <a:solidFill>
                    <a:schemeClr val="tx2"/>
                  </a:solidFill>
                </a:rPr>
              </a:br>
              <a:r>
                <a:rPr lang="ru-RU" sz="1600" dirty="0"/>
                <a:t>руб.</a:t>
              </a:r>
              <a:r>
                <a:rPr lang="en-US" sz="1600" dirty="0"/>
                <a:t>/</a:t>
              </a:r>
              <a:r>
                <a:rPr lang="ru-RU" sz="1600" dirty="0"/>
                <a:t>кв.м.</a:t>
              </a:r>
              <a:endParaRPr lang="ru-RU" sz="18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01E88DD-51D7-461C-A7ED-0813465BB9CE}"/>
              </a:ext>
            </a:extLst>
          </p:cNvPr>
          <p:cNvGrpSpPr/>
          <p:nvPr/>
        </p:nvGrpSpPr>
        <p:grpSpPr>
          <a:xfrm>
            <a:off x="4019026" y="2282983"/>
            <a:ext cx="2324650" cy="824073"/>
            <a:chOff x="4018969" y="2282983"/>
            <a:chExt cx="2324650" cy="82407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8A6A03B-F4FD-4FCB-85E8-3844A5F84134}"/>
                </a:ext>
              </a:extLst>
            </p:cNvPr>
            <p:cNvSpPr>
              <a:spLocks/>
            </p:cNvSpPr>
            <p:nvPr/>
          </p:nvSpPr>
          <p:spPr>
            <a:xfrm>
              <a:off x="4018969" y="2282983"/>
              <a:ext cx="2324650" cy="824073"/>
            </a:xfrm>
            <a:prstGeom prst="roundRect">
              <a:avLst>
                <a:gd name="adj" fmla="val 10383"/>
              </a:avLst>
            </a:prstGeom>
            <a:solidFill>
              <a:schemeClr val="bg1"/>
            </a:solidFill>
            <a:effectLst>
              <a:outerShdw blurRad="190500" dist="635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7935" tIns="97935" rIns="97935" bIns="97935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en-US" sz="1400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AE81AF-C117-435E-B016-093791C5E700}"/>
                </a:ext>
              </a:extLst>
            </p:cNvPr>
            <p:cNvSpPr txBox="1">
              <a:spLocks/>
            </p:cNvSpPr>
            <p:nvPr/>
          </p:nvSpPr>
          <p:spPr>
            <a:xfrm>
              <a:off x="4365285" y="2387243"/>
              <a:ext cx="1632018" cy="61555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2400" b="1" dirty="0">
                  <a:solidFill>
                    <a:schemeClr val="tx2"/>
                  </a:solidFill>
                </a:rPr>
                <a:t>2</a:t>
              </a:r>
              <a:r>
                <a:rPr lang="en-US" sz="2400" b="1" dirty="0">
                  <a:solidFill>
                    <a:schemeClr val="tx2"/>
                  </a:solidFill>
                </a:rPr>
                <a:t>,</a:t>
              </a:r>
              <a:r>
                <a:rPr lang="ru-RU" sz="2400" b="1" dirty="0">
                  <a:solidFill>
                    <a:schemeClr val="tx2"/>
                  </a:solidFill>
                </a:rPr>
                <a:t>8 млн </a:t>
              </a:r>
              <a:r>
                <a:rPr lang="ru-RU" sz="1600" dirty="0"/>
                <a:t>руб.</a:t>
              </a:r>
              <a:r>
                <a:rPr lang="en-US" sz="1600" dirty="0"/>
                <a:t>/</a:t>
              </a:r>
              <a:r>
                <a:rPr lang="ru-RU" sz="1600" dirty="0"/>
                <a:t>дом</a:t>
              </a:r>
              <a:endParaRPr lang="ru-RU" sz="18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E0AFB44-C5D6-45D5-B310-8C642DFC87C9}"/>
              </a:ext>
            </a:extLst>
          </p:cNvPr>
          <p:cNvSpPr txBox="1">
            <a:spLocks/>
          </p:cNvSpPr>
          <p:nvPr/>
        </p:nvSpPr>
        <p:spPr>
          <a:xfrm>
            <a:off x="6534209" y="4971908"/>
            <a:ext cx="2324650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sz="1200" dirty="0">
                <a:solidFill>
                  <a:srgbClr val="FFFFFF"/>
                </a:solidFill>
              </a:rPr>
              <a:t>+ </a:t>
            </a:r>
            <a:r>
              <a:rPr lang="ru-RU" sz="1200" b="1" dirty="0">
                <a:solidFill>
                  <a:srgbClr val="FFFFFF"/>
                </a:solidFill>
              </a:rPr>
              <a:t>13%</a:t>
            </a:r>
            <a:r>
              <a:rPr lang="ru-RU" sz="1200" dirty="0">
                <a:solidFill>
                  <a:srgbClr val="FFFFFF"/>
                </a:solidFill>
              </a:rPr>
              <a:t> к текущему месячному платежу</a:t>
            </a:r>
            <a:endParaRPr lang="ru-RU" sz="1800" dirty="0">
              <a:solidFill>
                <a:srgbClr val="FFFFFF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27BB21F-413F-4EC6-BCF8-D889996432C5}"/>
              </a:ext>
            </a:extLst>
          </p:cNvPr>
          <p:cNvGrpSpPr/>
          <p:nvPr/>
        </p:nvGrpSpPr>
        <p:grpSpPr>
          <a:xfrm>
            <a:off x="4019026" y="4053338"/>
            <a:ext cx="2324650" cy="824073"/>
            <a:chOff x="4018969" y="4053338"/>
            <a:chExt cx="2324650" cy="82407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93D4273-CC9A-4D6B-AF3B-5EF14E5C67E0}"/>
                </a:ext>
              </a:extLst>
            </p:cNvPr>
            <p:cNvSpPr>
              <a:spLocks/>
            </p:cNvSpPr>
            <p:nvPr/>
          </p:nvSpPr>
          <p:spPr>
            <a:xfrm>
              <a:off x="4018969" y="4053338"/>
              <a:ext cx="2324650" cy="824073"/>
            </a:xfrm>
            <a:prstGeom prst="roundRect">
              <a:avLst>
                <a:gd name="adj" fmla="val 10383"/>
              </a:avLst>
            </a:prstGeom>
            <a:solidFill>
              <a:schemeClr val="bg1"/>
            </a:solidFill>
            <a:effectLst>
              <a:outerShdw blurRad="190500" dist="635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7935" tIns="97935" rIns="97935" bIns="97935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en-US" sz="1400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99771F0-F062-48C7-BC24-E71EA2C4943A}"/>
                </a:ext>
              </a:extLst>
            </p:cNvPr>
            <p:cNvSpPr txBox="1">
              <a:spLocks/>
            </p:cNvSpPr>
            <p:nvPr/>
          </p:nvSpPr>
          <p:spPr>
            <a:xfrm>
              <a:off x="4365285" y="4157598"/>
              <a:ext cx="1632018" cy="61555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>
                  <a:solidFill>
                    <a:schemeClr val="tx2"/>
                  </a:solidFill>
                </a:rPr>
                <a:t>1,</a:t>
              </a:r>
              <a:r>
                <a:rPr lang="ru-RU" sz="2400" b="1" dirty="0">
                  <a:solidFill>
                    <a:schemeClr val="tx2"/>
                  </a:solidFill>
                </a:rPr>
                <a:t>2 млн</a:t>
              </a:r>
              <a:r>
                <a:rPr lang="en-US" sz="2400" b="1" dirty="0">
                  <a:solidFill>
                    <a:schemeClr val="tx2"/>
                  </a:solidFill>
                </a:rPr>
                <a:t> </a:t>
              </a:r>
              <a:endParaRPr lang="ru-RU" sz="2400" b="1" dirty="0">
                <a:solidFill>
                  <a:schemeClr val="tx2"/>
                </a:solidFill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ru-RU" sz="1600" dirty="0"/>
                <a:t>руб.</a:t>
              </a:r>
              <a:r>
                <a:rPr lang="en-US" sz="1600" dirty="0"/>
                <a:t>/</a:t>
              </a:r>
              <a:r>
                <a:rPr lang="ru-RU" sz="1600" dirty="0"/>
                <a:t> год</a:t>
              </a:r>
              <a:r>
                <a:rPr lang="en-US" sz="1600" dirty="0"/>
                <a:t>/</a:t>
              </a:r>
              <a:r>
                <a:rPr lang="ru-RU" sz="1600" dirty="0"/>
                <a:t>дом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00B5E5-303D-4824-A28B-3C0DF55C5017}"/>
              </a:ext>
            </a:extLst>
          </p:cNvPr>
          <p:cNvGrpSpPr/>
          <p:nvPr/>
        </p:nvGrpSpPr>
        <p:grpSpPr>
          <a:xfrm>
            <a:off x="6534209" y="4053338"/>
            <a:ext cx="2324650" cy="824073"/>
            <a:chOff x="6534209" y="4053338"/>
            <a:chExt cx="2324650" cy="82407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9CA5825-CE10-4EDE-B378-E32FCDBC49ED}"/>
                </a:ext>
              </a:extLst>
            </p:cNvPr>
            <p:cNvSpPr>
              <a:spLocks/>
            </p:cNvSpPr>
            <p:nvPr/>
          </p:nvSpPr>
          <p:spPr>
            <a:xfrm>
              <a:off x="6534209" y="4053338"/>
              <a:ext cx="2324650" cy="824073"/>
            </a:xfrm>
            <a:prstGeom prst="roundRect">
              <a:avLst>
                <a:gd name="adj" fmla="val 10383"/>
              </a:avLst>
            </a:prstGeom>
            <a:solidFill>
              <a:schemeClr val="bg1"/>
            </a:solidFill>
            <a:effectLst>
              <a:outerShdw blurRad="190500" dist="635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7935" tIns="97935" rIns="97935" bIns="97935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en-US" sz="1400" dirty="0" err="1">
                <a:solidFill>
                  <a:srgbClr val="000000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139A59E-34E6-445D-A00A-04FD6F296776}"/>
                </a:ext>
              </a:extLst>
            </p:cNvPr>
            <p:cNvSpPr txBox="1">
              <a:spLocks/>
            </p:cNvSpPr>
            <p:nvPr/>
          </p:nvSpPr>
          <p:spPr>
            <a:xfrm>
              <a:off x="6664627" y="4157598"/>
              <a:ext cx="2063815" cy="61555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ru-RU" sz="2400" b="1" dirty="0">
                  <a:solidFill>
                    <a:schemeClr val="tx2"/>
                  </a:solidFill>
                </a:rPr>
                <a:t>769</a:t>
              </a:r>
              <a:br>
                <a:rPr lang="ru-RU" sz="2800" b="1" dirty="0">
                  <a:solidFill>
                    <a:schemeClr val="tx2"/>
                  </a:solidFill>
                </a:rPr>
              </a:br>
              <a:r>
                <a:rPr lang="ru-RU" sz="1600" dirty="0"/>
                <a:t>руб.</a:t>
              </a:r>
              <a:r>
                <a:rPr lang="en-US" sz="1600" dirty="0"/>
                <a:t>/</a:t>
              </a:r>
              <a:r>
                <a:rPr lang="ru-RU" sz="1600" dirty="0"/>
                <a:t>мес.</a:t>
              </a:r>
              <a:r>
                <a:rPr lang="en-US" sz="1600" dirty="0"/>
                <a:t>/</a:t>
              </a:r>
              <a:r>
                <a:rPr lang="ru-RU" sz="1600" dirty="0"/>
                <a:t>квартиру</a:t>
              </a:r>
              <a:endParaRPr lang="ru-RU" sz="180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1F8F0A5-73E8-4220-9BA9-C8B39088758A}"/>
              </a:ext>
            </a:extLst>
          </p:cNvPr>
          <p:cNvSpPr txBox="1">
            <a:spLocks/>
          </p:cNvSpPr>
          <p:nvPr/>
        </p:nvSpPr>
        <p:spPr>
          <a:xfrm>
            <a:off x="5543566" y="3743400"/>
            <a:ext cx="1790696" cy="215444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FFFFFF"/>
              </a:buClr>
            </a:pPr>
            <a:r>
              <a:rPr lang="ru-RU" b="1" dirty="0">
                <a:solidFill>
                  <a:srgbClr val="FFFFFF"/>
                </a:solidFill>
              </a:rPr>
              <a:t>Опер. затраты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119B043-57BE-4BEB-9043-105A2EE5719D}"/>
              </a:ext>
            </a:extLst>
          </p:cNvPr>
          <p:cNvCxnSpPr>
            <a:cxnSpLocks/>
          </p:cNvCxnSpPr>
          <p:nvPr/>
        </p:nvCxnSpPr>
        <p:spPr>
          <a:xfrm>
            <a:off x="4019026" y="3657141"/>
            <a:ext cx="4839833" cy="0"/>
          </a:xfrm>
          <a:prstGeom prst="line">
            <a:avLst/>
          </a:prstGeom>
          <a:ln w="9525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9EBE0FE-7264-42A9-A5B3-61240EA3877F}"/>
              </a:ext>
            </a:extLst>
          </p:cNvPr>
          <p:cNvSpPr/>
          <p:nvPr/>
        </p:nvSpPr>
        <p:spPr>
          <a:xfrm>
            <a:off x="6086217" y="2421333"/>
            <a:ext cx="705394" cy="326703"/>
          </a:xfrm>
          <a:prstGeom prst="round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</a:rPr>
              <a:t>или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5A26D2-CD1E-4C27-912E-E8CF9D87EEE0}"/>
              </a:ext>
            </a:extLst>
          </p:cNvPr>
          <p:cNvSpPr/>
          <p:nvPr/>
        </p:nvSpPr>
        <p:spPr>
          <a:xfrm>
            <a:off x="6086217" y="4191688"/>
            <a:ext cx="705394" cy="326703"/>
          </a:xfrm>
          <a:prstGeom prst="round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</a:rPr>
              <a:t>или</a:t>
            </a:r>
          </a:p>
        </p:txBody>
      </p:sp>
      <p:sp>
        <p:nvSpPr>
          <p:cNvPr id="94" name="Rectangle: Single Corner Rounded 93">
            <a:extLst>
              <a:ext uri="{FF2B5EF4-FFF2-40B4-BE49-F238E27FC236}">
                <a16:creationId xmlns:a16="http://schemas.microsoft.com/office/drawing/2014/main" id="{40F70F2D-B68F-4D81-BE54-2500F152D5CF}"/>
              </a:ext>
            </a:extLst>
          </p:cNvPr>
          <p:cNvSpPr/>
          <p:nvPr/>
        </p:nvSpPr>
        <p:spPr>
          <a:xfrm flipH="1">
            <a:off x="9049393" y="2034546"/>
            <a:ext cx="3142616" cy="3390983"/>
          </a:xfrm>
          <a:prstGeom prst="round1Rect">
            <a:avLst>
              <a:gd name="adj" fmla="val 10120"/>
            </a:avLst>
          </a:prstGeom>
          <a:solidFill>
            <a:schemeClr val="accent1">
              <a:alpha val="16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343F82-E75E-47ED-B08E-955DCA7FA49F}"/>
              </a:ext>
            </a:extLst>
          </p:cNvPr>
          <p:cNvSpPr txBox="1">
            <a:spLocks/>
          </p:cNvSpPr>
          <p:nvPr/>
        </p:nvSpPr>
        <p:spPr>
          <a:xfrm>
            <a:off x="9254525" y="1455899"/>
            <a:ext cx="2382738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</a:pPr>
            <a:r>
              <a:rPr lang="ru-RU" b="1" dirty="0">
                <a:solidFill>
                  <a:schemeClr val="bg1"/>
                </a:solidFill>
              </a:rPr>
              <a:t>Потенциальные источ-ники финансирования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9A7588-8B45-46E1-9DD4-D981696BA97D}"/>
              </a:ext>
            </a:extLst>
          </p:cNvPr>
          <p:cNvSpPr txBox="1">
            <a:spLocks/>
          </p:cNvSpPr>
          <p:nvPr/>
        </p:nvSpPr>
        <p:spPr>
          <a:xfrm>
            <a:off x="10027194" y="2641580"/>
            <a:ext cx="1610069" cy="18466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Застройщик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0B3103-8951-41A6-8D2C-147E4F25C994}"/>
              </a:ext>
            </a:extLst>
          </p:cNvPr>
          <p:cNvGrpSpPr>
            <a:grpSpLocks/>
          </p:cNvGrpSpPr>
          <p:nvPr/>
        </p:nvGrpSpPr>
        <p:grpSpPr>
          <a:xfrm>
            <a:off x="9325520" y="2379107"/>
            <a:ext cx="573087" cy="709613"/>
            <a:chOff x="1738313" y="3192463"/>
            <a:chExt cx="573087" cy="709613"/>
          </a:xfrm>
        </p:grpSpPr>
        <p:sp>
          <p:nvSpPr>
            <p:cNvPr id="51" name="Freeform 191">
              <a:extLst>
                <a:ext uri="{FF2B5EF4-FFF2-40B4-BE49-F238E27FC236}">
                  <a16:creationId xmlns:a16="http://schemas.microsoft.com/office/drawing/2014/main" id="{8A87659D-F9FC-4373-9C6E-3A0C8C1FF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3211513"/>
              <a:ext cx="117475" cy="177800"/>
            </a:xfrm>
            <a:custGeom>
              <a:avLst/>
              <a:gdLst>
                <a:gd name="T0" fmla="*/ 43 w 43"/>
                <a:gd name="T1" fmla="*/ 0 h 65"/>
                <a:gd name="T2" fmla="*/ 7 w 43"/>
                <a:gd name="T3" fmla="*/ 52 h 65"/>
                <a:gd name="T4" fmla="*/ 0 w 43"/>
                <a:gd name="T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65">
                  <a:moveTo>
                    <a:pt x="43" y="0"/>
                  </a:moveTo>
                  <a:cubicBezTo>
                    <a:pt x="29" y="4"/>
                    <a:pt x="7" y="15"/>
                    <a:pt x="7" y="52"/>
                  </a:cubicBezTo>
                  <a:cubicBezTo>
                    <a:pt x="7" y="57"/>
                    <a:pt x="6" y="62"/>
                    <a:pt x="0" y="65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" name="Freeform 192">
              <a:extLst>
                <a:ext uri="{FF2B5EF4-FFF2-40B4-BE49-F238E27FC236}">
                  <a16:creationId xmlns:a16="http://schemas.microsoft.com/office/drawing/2014/main" id="{E08246CC-31AA-4DCC-8CDE-9A8F41DA8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988" y="3211513"/>
              <a:ext cx="120650" cy="177800"/>
            </a:xfrm>
            <a:custGeom>
              <a:avLst/>
              <a:gdLst>
                <a:gd name="T0" fmla="*/ 0 w 44"/>
                <a:gd name="T1" fmla="*/ 0 h 65"/>
                <a:gd name="T2" fmla="*/ 37 w 44"/>
                <a:gd name="T3" fmla="*/ 52 h 65"/>
                <a:gd name="T4" fmla="*/ 44 w 44"/>
                <a:gd name="T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65">
                  <a:moveTo>
                    <a:pt x="0" y="0"/>
                  </a:moveTo>
                  <a:cubicBezTo>
                    <a:pt x="15" y="4"/>
                    <a:pt x="37" y="15"/>
                    <a:pt x="37" y="52"/>
                  </a:cubicBezTo>
                  <a:cubicBezTo>
                    <a:pt x="37" y="57"/>
                    <a:pt x="38" y="62"/>
                    <a:pt x="44" y="65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" name="Freeform 193">
              <a:extLst>
                <a:ext uri="{FF2B5EF4-FFF2-40B4-BE49-F238E27FC236}">
                  <a16:creationId xmlns:a16="http://schemas.microsoft.com/office/drawing/2014/main" id="{FC97C55D-B0EA-440D-9810-37394B4E8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788" y="3192463"/>
              <a:ext cx="80962" cy="160338"/>
            </a:xfrm>
            <a:custGeom>
              <a:avLst/>
              <a:gdLst>
                <a:gd name="T0" fmla="*/ 0 w 51"/>
                <a:gd name="T1" fmla="*/ 101 h 101"/>
                <a:gd name="T2" fmla="*/ 7 w 51"/>
                <a:gd name="T3" fmla="*/ 0 h 101"/>
                <a:gd name="T4" fmla="*/ 46 w 51"/>
                <a:gd name="T5" fmla="*/ 0 h 101"/>
                <a:gd name="T6" fmla="*/ 51 w 51"/>
                <a:gd name="T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" h="101">
                  <a:moveTo>
                    <a:pt x="0" y="101"/>
                  </a:moveTo>
                  <a:lnTo>
                    <a:pt x="7" y="0"/>
                  </a:lnTo>
                  <a:lnTo>
                    <a:pt x="46" y="0"/>
                  </a:lnTo>
                  <a:lnTo>
                    <a:pt x="51" y="101"/>
                  </a:ln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Line 194">
              <a:extLst>
                <a:ext uri="{FF2B5EF4-FFF2-40B4-BE49-F238E27FC236}">
                  <a16:creationId xmlns:a16="http://schemas.microsoft.com/office/drawing/2014/main" id="{8ECA83E0-AF1B-44A3-8D0A-5619E6A51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063" y="3652838"/>
              <a:ext cx="0" cy="21590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Line 195">
              <a:extLst>
                <a:ext uri="{FF2B5EF4-FFF2-40B4-BE49-F238E27FC236}">
                  <a16:creationId xmlns:a16="http://schemas.microsoft.com/office/drawing/2014/main" id="{6CF8A949-01CB-419B-AA22-51BDEC1DB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063" y="3835400"/>
              <a:ext cx="0" cy="66675"/>
            </a:xfrm>
            <a:prstGeom prst="line">
              <a:avLst/>
            </a:pr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Line 196">
              <a:extLst>
                <a:ext uri="{FF2B5EF4-FFF2-40B4-BE49-F238E27FC236}">
                  <a16:creationId xmlns:a16="http://schemas.microsoft.com/office/drawing/2014/main" id="{D1AAB1C3-0479-4A6F-8EFA-8B94DD363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5350" y="3773488"/>
              <a:ext cx="69850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7" name="Freeform 197">
              <a:extLst>
                <a:ext uri="{FF2B5EF4-FFF2-40B4-BE49-F238E27FC236}">
                  <a16:creationId xmlns:a16="http://schemas.microsoft.com/office/drawing/2014/main" id="{0518931E-FBAC-4ABE-8536-66035D01D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63" y="3403600"/>
              <a:ext cx="255587" cy="182563"/>
            </a:xfrm>
            <a:custGeom>
              <a:avLst/>
              <a:gdLst>
                <a:gd name="T0" fmla="*/ 93 w 93"/>
                <a:gd name="T1" fmla="*/ 0 h 67"/>
                <a:gd name="T2" fmla="*/ 93 w 93"/>
                <a:gd name="T3" fmla="*/ 7 h 67"/>
                <a:gd name="T4" fmla="*/ 46 w 93"/>
                <a:gd name="T5" fmla="*/ 67 h 67"/>
                <a:gd name="T6" fmla="*/ 0 w 93"/>
                <a:gd name="T7" fmla="*/ 7 h 67"/>
                <a:gd name="T8" fmla="*/ 0 w 93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67">
                  <a:moveTo>
                    <a:pt x="93" y="0"/>
                  </a:moveTo>
                  <a:cubicBezTo>
                    <a:pt x="93" y="2"/>
                    <a:pt x="93" y="4"/>
                    <a:pt x="93" y="7"/>
                  </a:cubicBezTo>
                  <a:cubicBezTo>
                    <a:pt x="93" y="37"/>
                    <a:pt x="71" y="67"/>
                    <a:pt x="46" y="67"/>
                  </a:cubicBezTo>
                  <a:cubicBezTo>
                    <a:pt x="22" y="67"/>
                    <a:pt x="0" y="37"/>
                    <a:pt x="0" y="7"/>
                  </a:cubicBezTo>
                  <a:cubicBezTo>
                    <a:pt x="0" y="4"/>
                    <a:pt x="0" y="2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Freeform 198">
              <a:extLst>
                <a:ext uri="{FF2B5EF4-FFF2-40B4-BE49-F238E27FC236}">
                  <a16:creationId xmlns:a16="http://schemas.microsoft.com/office/drawing/2014/main" id="{01AF967D-DAF3-4D06-8077-F48A4852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613" y="3386138"/>
              <a:ext cx="342900" cy="30163"/>
            </a:xfrm>
            <a:custGeom>
              <a:avLst/>
              <a:gdLst>
                <a:gd name="T0" fmla="*/ 125 w 125"/>
                <a:gd name="T1" fmla="*/ 0 h 11"/>
                <a:gd name="T2" fmla="*/ 62 w 125"/>
                <a:gd name="T3" fmla="*/ 11 h 11"/>
                <a:gd name="T4" fmla="*/ 62 w 125"/>
                <a:gd name="T5" fmla="*/ 11 h 11"/>
                <a:gd name="T6" fmla="*/ 0 w 125"/>
                <a:gd name="T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" h="11">
                  <a:moveTo>
                    <a:pt x="125" y="0"/>
                  </a:moveTo>
                  <a:cubicBezTo>
                    <a:pt x="108" y="7"/>
                    <a:pt x="87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8" y="11"/>
                    <a:pt x="17" y="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Freeform 199">
              <a:extLst>
                <a:ext uri="{FF2B5EF4-FFF2-40B4-BE49-F238E27FC236}">
                  <a16:creationId xmlns:a16="http://schemas.microsoft.com/office/drawing/2014/main" id="{CB8148C5-8F8D-4D1A-815E-AE8139B14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3624263"/>
              <a:ext cx="222250" cy="277813"/>
            </a:xfrm>
            <a:custGeom>
              <a:avLst/>
              <a:gdLst>
                <a:gd name="T0" fmla="*/ 0 w 81"/>
                <a:gd name="T1" fmla="*/ 101 h 101"/>
                <a:gd name="T2" fmla="*/ 0 w 81"/>
                <a:gd name="T3" fmla="*/ 48 h 101"/>
                <a:gd name="T4" fmla="*/ 36 w 81"/>
                <a:gd name="T5" fmla="*/ 4 h 101"/>
                <a:gd name="T6" fmla="*/ 69 w 81"/>
                <a:gd name="T7" fmla="*/ 0 h 101"/>
                <a:gd name="T8" fmla="*/ 81 w 81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01">
                  <a:moveTo>
                    <a:pt x="0" y="101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0" y="11"/>
                    <a:pt x="36" y="4"/>
                    <a:pt x="36" y="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81" y="101"/>
                    <a:pt x="81" y="101"/>
                    <a:pt x="81" y="101"/>
                  </a:cubicBez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" name="Freeform 200">
              <a:extLst>
                <a:ext uri="{FF2B5EF4-FFF2-40B4-BE49-F238E27FC236}">
                  <a16:creationId xmlns:a16="http://schemas.microsoft.com/office/drawing/2014/main" id="{CACEE311-42F8-4ACD-99FC-C2A8C5BB5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150" y="3624263"/>
              <a:ext cx="222250" cy="277813"/>
            </a:xfrm>
            <a:custGeom>
              <a:avLst/>
              <a:gdLst>
                <a:gd name="T0" fmla="*/ 81 w 81"/>
                <a:gd name="T1" fmla="*/ 101 h 101"/>
                <a:gd name="T2" fmla="*/ 81 w 81"/>
                <a:gd name="T3" fmla="*/ 48 h 101"/>
                <a:gd name="T4" fmla="*/ 44 w 81"/>
                <a:gd name="T5" fmla="*/ 4 h 101"/>
                <a:gd name="T6" fmla="*/ 12 w 81"/>
                <a:gd name="T7" fmla="*/ 0 h 101"/>
                <a:gd name="T8" fmla="*/ 0 w 81"/>
                <a:gd name="T9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01">
                  <a:moveTo>
                    <a:pt x="81" y="101"/>
                  </a:moveTo>
                  <a:cubicBezTo>
                    <a:pt x="81" y="48"/>
                    <a:pt x="81" y="48"/>
                    <a:pt x="81" y="48"/>
                  </a:cubicBezTo>
                  <a:cubicBezTo>
                    <a:pt x="81" y="11"/>
                    <a:pt x="44" y="4"/>
                    <a:pt x="44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01"/>
                    <a:pt x="0" y="101"/>
                    <a:pt x="0" y="101"/>
                  </a:cubicBezTo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E506F7E-799D-4C4D-91C7-AAA828247879}"/>
              </a:ext>
            </a:extLst>
          </p:cNvPr>
          <p:cNvSpPr txBox="1">
            <a:spLocks/>
          </p:cNvSpPr>
          <p:nvPr/>
        </p:nvSpPr>
        <p:spPr>
          <a:xfrm>
            <a:off x="10027194" y="4873056"/>
            <a:ext cx="1610069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Субсидирование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ECC2B6-CDE4-4E5F-8313-6C6B3F7B9067}"/>
              </a:ext>
            </a:extLst>
          </p:cNvPr>
          <p:cNvSpPr txBox="1">
            <a:spLocks/>
          </p:cNvSpPr>
          <p:nvPr/>
        </p:nvSpPr>
        <p:spPr>
          <a:xfrm>
            <a:off x="10027194" y="4044420"/>
            <a:ext cx="1610069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Жители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10C3ED3-9A31-42AB-9604-DC1E99207BB3}"/>
              </a:ext>
            </a:extLst>
          </p:cNvPr>
          <p:cNvGrpSpPr>
            <a:grpSpLocks/>
          </p:cNvGrpSpPr>
          <p:nvPr/>
        </p:nvGrpSpPr>
        <p:grpSpPr>
          <a:xfrm>
            <a:off x="9325520" y="3848716"/>
            <a:ext cx="573087" cy="606852"/>
            <a:chOff x="10821166" y="1066481"/>
            <a:chExt cx="509955" cy="540000"/>
          </a:xfrm>
        </p:grpSpPr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B1DEC87A-2777-49B4-9A54-778BF8197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4444" y="1336481"/>
              <a:ext cx="282993" cy="141699"/>
            </a:xfrm>
            <a:custGeom>
              <a:avLst/>
              <a:gdLst>
                <a:gd name="T0" fmla="*/ 0 w 252"/>
                <a:gd name="T1" fmla="*/ 0 h 126"/>
                <a:gd name="T2" fmla="*/ 0 w 252"/>
                <a:gd name="T3" fmla="*/ 0 h 126"/>
                <a:gd name="T4" fmla="*/ 126 w 252"/>
                <a:gd name="T5" fmla="*/ 126 h 126"/>
                <a:gd name="T6" fmla="*/ 126 w 252"/>
                <a:gd name="T7" fmla="*/ 126 h 126"/>
                <a:gd name="T8" fmla="*/ 252 w 252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0"/>
                    <a:pt x="5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96" y="126"/>
                    <a:pt x="252" y="70"/>
                    <a:pt x="252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6C44E7F-8342-4821-8C96-ABA9F0850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9512" y="1514316"/>
              <a:ext cx="187579" cy="92165"/>
            </a:xfrm>
            <a:custGeom>
              <a:avLst/>
              <a:gdLst>
                <a:gd name="T0" fmla="*/ 0 w 167"/>
                <a:gd name="T1" fmla="*/ 0 h 82"/>
                <a:gd name="T2" fmla="*/ 84 w 167"/>
                <a:gd name="T3" fmla="*/ 82 h 82"/>
                <a:gd name="T4" fmla="*/ 167 w 167"/>
                <a:gd name="T5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7" h="82">
                  <a:moveTo>
                    <a:pt x="0" y="0"/>
                  </a:moveTo>
                  <a:cubicBezTo>
                    <a:pt x="23" y="20"/>
                    <a:pt x="84" y="82"/>
                    <a:pt x="84" y="82"/>
                  </a:cubicBezTo>
                  <a:cubicBezTo>
                    <a:pt x="84" y="82"/>
                    <a:pt x="145" y="20"/>
                    <a:pt x="167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243">
              <a:extLst>
                <a:ext uri="{FF2B5EF4-FFF2-40B4-BE49-F238E27FC236}">
                  <a16:creationId xmlns:a16="http://schemas.microsoft.com/office/drawing/2014/main" id="{7F7713D0-7EBE-4DF5-BF70-0889780B4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6309" y="1378300"/>
              <a:ext cx="134797" cy="31263"/>
            </a:xfrm>
            <a:custGeom>
              <a:avLst/>
              <a:gdLst>
                <a:gd name="T0" fmla="*/ 120 w 120"/>
                <a:gd name="T1" fmla="*/ 2 h 28"/>
                <a:gd name="T2" fmla="*/ 61 w 120"/>
                <a:gd name="T3" fmla="*/ 28 h 28"/>
                <a:gd name="T4" fmla="*/ 61 w 120"/>
                <a:gd name="T5" fmla="*/ 28 h 28"/>
                <a:gd name="T6" fmla="*/ 0 w 120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" h="28">
                  <a:moveTo>
                    <a:pt x="120" y="2"/>
                  </a:moveTo>
                  <a:cubicBezTo>
                    <a:pt x="105" y="18"/>
                    <a:pt x="84" y="28"/>
                    <a:pt x="61" y="28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37" y="28"/>
                    <a:pt x="15" y="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244">
              <a:extLst>
                <a:ext uri="{FF2B5EF4-FFF2-40B4-BE49-F238E27FC236}">
                  <a16:creationId xmlns:a16="http://schemas.microsoft.com/office/drawing/2014/main" id="{E4AD1DC3-9CE7-4387-981A-242B69758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166" y="1450165"/>
              <a:ext cx="169308" cy="156316"/>
            </a:xfrm>
            <a:custGeom>
              <a:avLst/>
              <a:gdLst>
                <a:gd name="T0" fmla="*/ 151 w 151"/>
                <a:gd name="T1" fmla="*/ 0 h 139"/>
                <a:gd name="T2" fmla="*/ 88 w 151"/>
                <a:gd name="T3" fmla="*/ 0 h 139"/>
                <a:gd name="T4" fmla="*/ 88 w 151"/>
                <a:gd name="T5" fmla="*/ 63 h 139"/>
                <a:gd name="T6" fmla="*/ 75 w 151"/>
                <a:gd name="T7" fmla="*/ 63 h 139"/>
                <a:gd name="T8" fmla="*/ 0 w 151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9">
                  <a:moveTo>
                    <a:pt x="151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75" y="63"/>
                    <a:pt x="75" y="63"/>
                    <a:pt x="75" y="63"/>
                  </a:cubicBezTo>
                  <a:cubicBezTo>
                    <a:pt x="34" y="63"/>
                    <a:pt x="0" y="97"/>
                    <a:pt x="0" y="139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245">
              <a:extLst>
                <a:ext uri="{FF2B5EF4-FFF2-40B4-BE49-F238E27FC236}">
                  <a16:creationId xmlns:a16="http://schemas.microsoft.com/office/drawing/2014/main" id="{48A163C3-0CE7-4DD7-837F-1D9666F7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407" y="1450165"/>
              <a:ext cx="169714" cy="156316"/>
            </a:xfrm>
            <a:custGeom>
              <a:avLst/>
              <a:gdLst>
                <a:gd name="T0" fmla="*/ 0 w 151"/>
                <a:gd name="T1" fmla="*/ 0 h 139"/>
                <a:gd name="T2" fmla="*/ 63 w 151"/>
                <a:gd name="T3" fmla="*/ 0 h 139"/>
                <a:gd name="T4" fmla="*/ 63 w 151"/>
                <a:gd name="T5" fmla="*/ 63 h 139"/>
                <a:gd name="T6" fmla="*/ 76 w 151"/>
                <a:gd name="T7" fmla="*/ 63 h 139"/>
                <a:gd name="T8" fmla="*/ 151 w 151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9">
                  <a:moveTo>
                    <a:pt x="0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76" y="63"/>
                    <a:pt x="76" y="63"/>
                    <a:pt x="76" y="63"/>
                  </a:cubicBezTo>
                  <a:cubicBezTo>
                    <a:pt x="117" y="63"/>
                    <a:pt x="151" y="97"/>
                    <a:pt x="151" y="139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246">
              <a:extLst>
                <a:ext uri="{FF2B5EF4-FFF2-40B4-BE49-F238E27FC236}">
                  <a16:creationId xmlns:a16="http://schemas.microsoft.com/office/drawing/2014/main" id="{143F3678-0D03-481A-B48A-AAB4F3D4F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1813" y="1251218"/>
              <a:ext cx="42632" cy="113278"/>
            </a:xfrm>
            <a:custGeom>
              <a:avLst/>
              <a:gdLst>
                <a:gd name="T0" fmla="*/ 38 w 38"/>
                <a:gd name="T1" fmla="*/ 0 h 101"/>
                <a:gd name="T2" fmla="*/ 10 w 38"/>
                <a:gd name="T3" fmla="*/ 0 h 101"/>
                <a:gd name="T4" fmla="*/ 0 w 38"/>
                <a:gd name="T5" fmla="*/ 11 h 101"/>
                <a:gd name="T6" fmla="*/ 0 w 38"/>
                <a:gd name="T7" fmla="*/ 78 h 101"/>
                <a:gd name="T8" fmla="*/ 23 w 38"/>
                <a:gd name="T9" fmla="*/ 101 h 101"/>
                <a:gd name="T10" fmla="*/ 38 w 38"/>
                <a:gd name="T11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01">
                  <a:moveTo>
                    <a:pt x="3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91"/>
                    <a:pt x="10" y="101"/>
                    <a:pt x="23" y="101"/>
                  </a:cubicBezTo>
                  <a:cubicBezTo>
                    <a:pt x="38" y="101"/>
                    <a:pt x="38" y="101"/>
                    <a:pt x="38" y="101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9" name="Freeform 247">
              <a:extLst>
                <a:ext uri="{FF2B5EF4-FFF2-40B4-BE49-F238E27FC236}">
                  <a16:creationId xmlns:a16="http://schemas.microsoft.com/office/drawing/2014/main" id="{B508CD9B-EA94-45C4-947D-C7C7CC2CF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7437" y="1251218"/>
              <a:ext cx="42632" cy="113278"/>
            </a:xfrm>
            <a:custGeom>
              <a:avLst/>
              <a:gdLst>
                <a:gd name="T0" fmla="*/ 0 w 38"/>
                <a:gd name="T1" fmla="*/ 0 h 101"/>
                <a:gd name="T2" fmla="*/ 28 w 38"/>
                <a:gd name="T3" fmla="*/ 0 h 101"/>
                <a:gd name="T4" fmla="*/ 38 w 38"/>
                <a:gd name="T5" fmla="*/ 11 h 101"/>
                <a:gd name="T6" fmla="*/ 38 w 38"/>
                <a:gd name="T7" fmla="*/ 78 h 101"/>
                <a:gd name="T8" fmla="*/ 15 w 38"/>
                <a:gd name="T9" fmla="*/ 101 h 101"/>
                <a:gd name="T10" fmla="*/ 0 w 38"/>
                <a:gd name="T11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01">
                  <a:moveTo>
                    <a:pt x="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33" y="0"/>
                    <a:pt x="38" y="5"/>
                    <a:pt x="38" y="11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8" y="91"/>
                    <a:pt x="28" y="101"/>
                    <a:pt x="15" y="101"/>
                  </a:cubicBezTo>
                  <a:cubicBezTo>
                    <a:pt x="0" y="101"/>
                    <a:pt x="0" y="101"/>
                    <a:pt x="0" y="101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0" name="Line 248">
              <a:extLst>
                <a:ext uri="{FF2B5EF4-FFF2-40B4-BE49-F238E27FC236}">
                  <a16:creationId xmlns:a16="http://schemas.microsoft.com/office/drawing/2014/main" id="{0535B260-B9FA-4B26-8CD0-53521C879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7437" y="1194782"/>
              <a:ext cx="0" cy="84451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" name="Line 249">
              <a:extLst>
                <a:ext uri="{FF2B5EF4-FFF2-40B4-BE49-F238E27FC236}">
                  <a16:creationId xmlns:a16="http://schemas.microsoft.com/office/drawing/2014/main" id="{C14565E7-5D06-4161-9F46-195F99AAA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74805" y="1194782"/>
              <a:ext cx="0" cy="84451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" name="Line 250">
              <a:extLst>
                <a:ext uri="{FF2B5EF4-FFF2-40B4-BE49-F238E27FC236}">
                  <a16:creationId xmlns:a16="http://schemas.microsoft.com/office/drawing/2014/main" id="{B4D63AF8-43E2-4672-855B-6AB6C881D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77076" y="1251218"/>
              <a:ext cx="0" cy="28015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3" name="Freeform 252">
              <a:extLst>
                <a:ext uri="{FF2B5EF4-FFF2-40B4-BE49-F238E27FC236}">
                  <a16:creationId xmlns:a16="http://schemas.microsoft.com/office/drawing/2014/main" id="{CB78BC01-DB50-476A-9185-E2F0F3833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4444" y="1066481"/>
              <a:ext cx="340241" cy="212752"/>
            </a:xfrm>
            <a:custGeom>
              <a:avLst/>
              <a:gdLst>
                <a:gd name="T0" fmla="*/ 38 w 303"/>
                <a:gd name="T1" fmla="*/ 166 h 189"/>
                <a:gd name="T2" fmla="*/ 38 w 303"/>
                <a:gd name="T3" fmla="*/ 166 h 189"/>
                <a:gd name="T4" fmla="*/ 90 w 303"/>
                <a:gd name="T5" fmla="*/ 114 h 189"/>
                <a:gd name="T6" fmla="*/ 265 w 303"/>
                <a:gd name="T7" fmla="*/ 114 h 189"/>
                <a:gd name="T8" fmla="*/ 303 w 303"/>
                <a:gd name="T9" fmla="*/ 76 h 189"/>
                <a:gd name="T10" fmla="*/ 303 w 303"/>
                <a:gd name="T11" fmla="*/ 0 h 189"/>
                <a:gd name="T12" fmla="*/ 126 w 303"/>
                <a:gd name="T13" fmla="*/ 0 h 189"/>
                <a:gd name="T14" fmla="*/ 0 w 303"/>
                <a:gd name="T15" fmla="*/ 126 h 189"/>
                <a:gd name="T16" fmla="*/ 0 w 303"/>
                <a:gd name="T1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3" h="189">
                  <a:moveTo>
                    <a:pt x="38" y="166"/>
                  </a:moveTo>
                  <a:cubicBezTo>
                    <a:pt x="38" y="166"/>
                    <a:pt x="38" y="166"/>
                    <a:pt x="38" y="166"/>
                  </a:cubicBezTo>
                  <a:cubicBezTo>
                    <a:pt x="38" y="137"/>
                    <a:pt x="61" y="114"/>
                    <a:pt x="90" y="114"/>
                  </a:cubicBezTo>
                  <a:cubicBezTo>
                    <a:pt x="265" y="114"/>
                    <a:pt x="265" y="114"/>
                    <a:pt x="265" y="114"/>
                  </a:cubicBezTo>
                  <a:cubicBezTo>
                    <a:pt x="286" y="114"/>
                    <a:pt x="303" y="97"/>
                    <a:pt x="303" y="76"/>
                  </a:cubicBezTo>
                  <a:cubicBezTo>
                    <a:pt x="303" y="0"/>
                    <a:pt x="303" y="0"/>
                    <a:pt x="303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56" y="0"/>
                    <a:pt x="0" y="57"/>
                    <a:pt x="0" y="126"/>
                  </a:cubicBezTo>
                  <a:cubicBezTo>
                    <a:pt x="0" y="189"/>
                    <a:pt x="0" y="189"/>
                    <a:pt x="0" y="189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84" name="Line 253">
              <a:extLst>
                <a:ext uri="{FF2B5EF4-FFF2-40B4-BE49-F238E27FC236}">
                  <a16:creationId xmlns:a16="http://schemas.microsoft.com/office/drawing/2014/main" id="{49048267-A3BF-4EC8-AE31-FCFCC1DD4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98595" y="1455849"/>
              <a:ext cx="0" cy="64962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5" name="Line 254">
              <a:extLst>
                <a:ext uri="{FF2B5EF4-FFF2-40B4-BE49-F238E27FC236}">
                  <a16:creationId xmlns:a16="http://schemas.microsoft.com/office/drawing/2014/main" id="{257B4B17-BFED-403A-9518-D38973DF6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4505" y="1455849"/>
              <a:ext cx="0" cy="64962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23E1DC2-FD3E-49D9-BAF8-70886CAF0D93}"/>
              </a:ext>
            </a:extLst>
          </p:cNvPr>
          <p:cNvGrpSpPr/>
          <p:nvPr/>
        </p:nvGrpSpPr>
        <p:grpSpPr>
          <a:xfrm>
            <a:off x="9368824" y="4651087"/>
            <a:ext cx="486478" cy="659382"/>
            <a:chOff x="5537201" y="1019176"/>
            <a:chExt cx="527050" cy="714375"/>
          </a:xfrm>
        </p:grpSpPr>
        <p:sp>
          <p:nvSpPr>
            <p:cNvPr id="87" name="Freeform 212">
              <a:extLst>
                <a:ext uri="{FF2B5EF4-FFF2-40B4-BE49-F238E27FC236}">
                  <a16:creationId xmlns:a16="http://schemas.microsoft.com/office/drawing/2014/main" id="{8B42BC42-2583-4B59-87B5-2DFC65095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201" y="1019176"/>
              <a:ext cx="322263" cy="515938"/>
            </a:xfrm>
            <a:custGeom>
              <a:avLst/>
              <a:gdLst>
                <a:gd name="T0" fmla="*/ 203 w 203"/>
                <a:gd name="T1" fmla="*/ 189 h 325"/>
                <a:gd name="T2" fmla="*/ 203 w 203"/>
                <a:gd name="T3" fmla="*/ 0 h 325"/>
                <a:gd name="T4" fmla="*/ 0 w 203"/>
                <a:gd name="T5" fmla="*/ 0 h 325"/>
                <a:gd name="T6" fmla="*/ 0 w 203"/>
                <a:gd name="T7" fmla="*/ 325 h 325"/>
                <a:gd name="T8" fmla="*/ 203 w 203"/>
                <a:gd name="T9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" h="325">
                  <a:moveTo>
                    <a:pt x="203" y="189"/>
                  </a:moveTo>
                  <a:lnTo>
                    <a:pt x="203" y="0"/>
                  </a:lnTo>
                  <a:lnTo>
                    <a:pt x="0" y="0"/>
                  </a:lnTo>
                  <a:lnTo>
                    <a:pt x="0" y="325"/>
                  </a:lnTo>
                  <a:lnTo>
                    <a:pt x="203" y="325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8" name="Oval 213">
              <a:extLst>
                <a:ext uri="{FF2B5EF4-FFF2-40B4-BE49-F238E27FC236}">
                  <a16:creationId xmlns:a16="http://schemas.microsoft.com/office/drawing/2014/main" id="{6184A4A5-C64F-42DE-B1D3-744D339C5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8326" y="1236663"/>
              <a:ext cx="93663" cy="93663"/>
            </a:xfrm>
            <a:prstGeom prst="ellips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9" name="Freeform 214">
              <a:extLst>
                <a:ext uri="{FF2B5EF4-FFF2-40B4-BE49-F238E27FC236}">
                  <a16:creationId xmlns:a16="http://schemas.microsoft.com/office/drawing/2014/main" id="{8D2E1487-827E-47DC-A107-D9C71095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3876" y="1085851"/>
              <a:ext cx="184150" cy="382588"/>
            </a:xfrm>
            <a:custGeom>
              <a:avLst/>
              <a:gdLst>
                <a:gd name="T0" fmla="*/ 49 w 49"/>
                <a:gd name="T1" fmla="*/ 90 h 102"/>
                <a:gd name="T2" fmla="*/ 37 w 49"/>
                <a:gd name="T3" fmla="*/ 102 h 102"/>
                <a:gd name="T4" fmla="*/ 12 w 49"/>
                <a:gd name="T5" fmla="*/ 102 h 102"/>
                <a:gd name="T6" fmla="*/ 0 w 49"/>
                <a:gd name="T7" fmla="*/ 90 h 102"/>
                <a:gd name="T8" fmla="*/ 0 w 49"/>
                <a:gd name="T9" fmla="*/ 13 h 102"/>
                <a:gd name="T10" fmla="*/ 12 w 49"/>
                <a:gd name="T11" fmla="*/ 0 h 102"/>
                <a:gd name="T12" fmla="*/ 37 w 49"/>
                <a:gd name="T13" fmla="*/ 0 h 102"/>
                <a:gd name="T14" fmla="*/ 49 w 49"/>
                <a:gd name="T15" fmla="*/ 13 h 102"/>
                <a:gd name="T16" fmla="*/ 49 w 49"/>
                <a:gd name="T17" fmla="*/ 4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102">
                  <a:moveTo>
                    <a:pt x="49" y="90"/>
                  </a:moveTo>
                  <a:cubicBezTo>
                    <a:pt x="43" y="90"/>
                    <a:pt x="38" y="96"/>
                    <a:pt x="37" y="102"/>
                  </a:cubicBezTo>
                  <a:cubicBezTo>
                    <a:pt x="12" y="102"/>
                    <a:pt x="12" y="102"/>
                    <a:pt x="12" y="102"/>
                  </a:cubicBezTo>
                  <a:cubicBezTo>
                    <a:pt x="12" y="96"/>
                    <a:pt x="7" y="90"/>
                    <a:pt x="0" y="9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7" y="12"/>
                    <a:pt x="12" y="7"/>
                    <a:pt x="1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7"/>
                    <a:pt x="43" y="12"/>
                    <a:pt x="49" y="13"/>
                  </a:cubicBezTo>
                  <a:cubicBezTo>
                    <a:pt x="49" y="47"/>
                    <a:pt x="49" y="47"/>
                    <a:pt x="49" y="47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0" name="Freeform 215">
              <a:extLst>
                <a:ext uri="{FF2B5EF4-FFF2-40B4-BE49-F238E27FC236}">
                  <a16:creationId xmlns:a16="http://schemas.microsoft.com/office/drawing/2014/main" id="{928DF096-5B04-41DF-A5E7-5BA0DEC6F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576" y="1214438"/>
              <a:ext cx="193675" cy="471488"/>
            </a:xfrm>
            <a:custGeom>
              <a:avLst/>
              <a:gdLst>
                <a:gd name="T0" fmla="*/ 43 w 52"/>
                <a:gd name="T1" fmla="*/ 126 h 126"/>
                <a:gd name="T2" fmla="*/ 49 w 52"/>
                <a:gd name="T3" fmla="*/ 114 h 126"/>
                <a:gd name="T4" fmla="*/ 52 w 52"/>
                <a:gd name="T5" fmla="*/ 98 h 126"/>
                <a:gd name="T6" fmla="*/ 52 w 52"/>
                <a:gd name="T7" fmla="*/ 65 h 126"/>
                <a:gd name="T8" fmla="*/ 44 w 52"/>
                <a:gd name="T9" fmla="*/ 44 h 126"/>
                <a:gd name="T10" fmla="*/ 12 w 52"/>
                <a:gd name="T11" fmla="*/ 9 h 126"/>
                <a:gd name="T12" fmla="*/ 0 w 52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26">
                  <a:moveTo>
                    <a:pt x="43" y="126"/>
                  </a:moveTo>
                  <a:cubicBezTo>
                    <a:pt x="49" y="114"/>
                    <a:pt x="49" y="114"/>
                    <a:pt x="49" y="114"/>
                  </a:cubicBezTo>
                  <a:cubicBezTo>
                    <a:pt x="51" y="112"/>
                    <a:pt x="52" y="100"/>
                    <a:pt x="52" y="98"/>
                  </a:cubicBezTo>
                  <a:cubicBezTo>
                    <a:pt x="52" y="65"/>
                    <a:pt x="52" y="65"/>
                    <a:pt x="52" y="65"/>
                  </a:cubicBezTo>
                  <a:cubicBezTo>
                    <a:pt x="52" y="57"/>
                    <a:pt x="49" y="49"/>
                    <a:pt x="44" y="44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1" name="Freeform 216">
              <a:extLst>
                <a:ext uri="{FF2B5EF4-FFF2-40B4-BE49-F238E27FC236}">
                  <a16:creationId xmlns:a16="http://schemas.microsoft.com/office/drawing/2014/main" id="{38908FB7-4264-4206-A5C1-61148B0F3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026" y="1562101"/>
              <a:ext cx="47625" cy="123825"/>
            </a:xfrm>
            <a:custGeom>
              <a:avLst/>
              <a:gdLst>
                <a:gd name="T0" fmla="*/ 13 w 13"/>
                <a:gd name="T1" fmla="*/ 33 h 33"/>
                <a:gd name="T2" fmla="*/ 13 w 13"/>
                <a:gd name="T3" fmla="*/ 24 h 33"/>
                <a:gd name="T4" fmla="*/ 0 w 13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33">
                  <a:moveTo>
                    <a:pt x="13" y="33"/>
                  </a:move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0" y="12"/>
                    <a:pt x="0" y="0"/>
                  </a:cubicBez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2" name="Freeform 217">
              <a:extLst>
                <a:ext uri="{FF2B5EF4-FFF2-40B4-BE49-F238E27FC236}">
                  <a16:creationId xmlns:a16="http://schemas.microsoft.com/office/drawing/2014/main" id="{28925E60-8A0E-436D-AC5D-C2C8BD2C5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3426" y="1685926"/>
              <a:ext cx="250825" cy="47625"/>
            </a:xfrm>
            <a:custGeom>
              <a:avLst/>
              <a:gdLst>
                <a:gd name="T0" fmla="*/ 0 w 158"/>
                <a:gd name="T1" fmla="*/ 30 h 30"/>
                <a:gd name="T2" fmla="*/ 0 w 158"/>
                <a:gd name="T3" fmla="*/ 0 h 30"/>
                <a:gd name="T4" fmla="*/ 158 w 158"/>
                <a:gd name="T5" fmla="*/ 0 h 30"/>
                <a:gd name="T6" fmla="*/ 158 w 158"/>
                <a:gd name="T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" h="30">
                  <a:moveTo>
                    <a:pt x="0" y="30"/>
                  </a:moveTo>
                  <a:lnTo>
                    <a:pt x="0" y="0"/>
                  </a:lnTo>
                  <a:lnTo>
                    <a:pt x="158" y="0"/>
                  </a:lnTo>
                  <a:lnTo>
                    <a:pt x="158" y="3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93" name="Freeform 218">
              <a:extLst>
                <a:ext uri="{FF2B5EF4-FFF2-40B4-BE49-F238E27FC236}">
                  <a16:creationId xmlns:a16="http://schemas.microsoft.com/office/drawing/2014/main" id="{CADE3430-1C53-4367-94C9-6A2C650AF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913" y="1300163"/>
              <a:ext cx="179388" cy="295275"/>
            </a:xfrm>
            <a:custGeom>
              <a:avLst/>
              <a:gdLst>
                <a:gd name="T0" fmla="*/ 48 w 48"/>
                <a:gd name="T1" fmla="*/ 33 h 79"/>
                <a:gd name="T2" fmla="*/ 19 w 48"/>
                <a:gd name="T3" fmla="*/ 4 h 79"/>
                <a:gd name="T4" fmla="*/ 4 w 48"/>
                <a:gd name="T5" fmla="*/ 4 h 79"/>
                <a:gd name="T6" fmla="*/ 4 w 48"/>
                <a:gd name="T7" fmla="*/ 4 h 79"/>
                <a:gd name="T8" fmla="*/ 4 w 48"/>
                <a:gd name="T9" fmla="*/ 19 h 79"/>
                <a:gd name="T10" fmla="*/ 25 w 48"/>
                <a:gd name="T11" fmla="*/ 42 h 79"/>
                <a:gd name="T12" fmla="*/ 37 w 48"/>
                <a:gd name="T1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79">
                  <a:moveTo>
                    <a:pt x="48" y="33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5" y="0"/>
                    <a:pt x="8" y="0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0" y="8"/>
                    <a:pt x="0" y="15"/>
                    <a:pt x="4" y="19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2"/>
                    <a:pt x="19" y="66"/>
                    <a:pt x="37" y="79"/>
                  </a:cubicBez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CCAB6A4-7547-4496-98E7-50FAD6089558}"/>
              </a:ext>
            </a:extLst>
          </p:cNvPr>
          <p:cNvCxnSpPr>
            <a:cxnSpLocks/>
          </p:cNvCxnSpPr>
          <p:nvPr/>
        </p:nvCxnSpPr>
        <p:spPr>
          <a:xfrm>
            <a:off x="9254525" y="3657141"/>
            <a:ext cx="2382738" cy="0"/>
          </a:xfrm>
          <a:prstGeom prst="line">
            <a:avLst/>
          </a:prstGeom>
          <a:ln w="9525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235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8505AAE-794C-469B-A2A9-7ADEC473A8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260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6AECE3-E7A7-4D2E-B0E7-3687D2EA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12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E20DD826-73DD-4F80-9F4B-F2BA38F65F9E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3276600" y="2613025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1. </a:t>
            </a:r>
            <a:r>
              <a:rPr lang="ru-RU" altLang="en-US"/>
              <a:t>Организационная </a:t>
            </a:r>
            <a:r>
              <a:rPr lang="ru-RU" altLang="en-US" dirty="0"/>
              <a:t>м</a:t>
            </a:r>
            <a:r>
              <a:rPr lang="ru-RU" altLang="en-US" dirty="0">
                <a:effectLst/>
              </a:rPr>
              <a:t>одель масштабирования</a:t>
            </a:r>
            <a:endParaRPr lang="ru-RU" dirty="0"/>
          </a:p>
        </p:txBody>
      </p:sp>
      <p:sp>
        <p:nvSpPr>
          <p:cNvPr id="28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3B4049E3-50C9-400E-ADA4-7A29556CBDC2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3276600" y="2967038"/>
            <a:ext cx="56388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>
                <a:effectLst/>
              </a:rPr>
              <a:t>2. Оценка </a:t>
            </a:r>
            <a:r>
              <a:rPr lang="ru-RU" altLang="en-US" dirty="0">
                <a:effectLst/>
              </a:rPr>
              <a:t>затрат </a:t>
            </a:r>
            <a:r>
              <a:rPr lang="ru-RU" altLang="en-US">
                <a:effectLst/>
              </a:rPr>
              <a:t>на масштабировани</a:t>
            </a:r>
            <a:r>
              <a:rPr lang="ru-RU" altLang="en-US"/>
              <a:t>е</a:t>
            </a:r>
            <a:endParaRPr lang="ru-RU" altLang="en-US" dirty="0">
              <a:solidFill>
                <a:schemeClr val="tx2"/>
              </a:solidFill>
              <a:effectLst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8412BA5-C865-497D-AD32-FDDD712C327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3276600" y="3322638"/>
            <a:ext cx="5638800" cy="568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 dirty="0">
                <a:solidFill>
                  <a:schemeClr val="tx2"/>
                </a:solidFill>
                <a:effectLst/>
              </a:rPr>
              <a:t>Приложение 1 </a:t>
            </a:r>
            <a:r>
              <a:rPr lang="ru-RU" altLang="en-US" b="1">
                <a:solidFill>
                  <a:schemeClr val="tx2"/>
                </a:solidFill>
                <a:effectLst/>
              </a:rPr>
              <a:t>– Организационная </a:t>
            </a:r>
            <a:r>
              <a:rPr lang="ru-RU" altLang="en-US" b="1" dirty="0">
                <a:solidFill>
                  <a:schemeClr val="tx2"/>
                </a:solidFill>
                <a:effectLst/>
              </a:rPr>
              <a:t>модель масштабирования</a:t>
            </a:r>
            <a:endParaRPr lang="ru-RU" altLang="en-US" b="1" dirty="0">
              <a:solidFill>
                <a:schemeClr val="tx2"/>
              </a:solidFill>
            </a:endParaRPr>
          </a:p>
        </p:txBody>
      </p:sp>
      <p:sp>
        <p:nvSpPr>
          <p:cNvPr id="24" name="Text Placeholder 4">
            <a:hlinkClick r:id="rId11" action="ppaction://hlinksldjump"/>
            <a:extLst>
              <a:ext uri="{FF2B5EF4-FFF2-40B4-BE49-F238E27FC236}">
                <a16:creationId xmlns:a16="http://schemas.microsoft.com/office/drawing/2014/main" id="{5B17B41E-4C78-46EA-ABD7-AC298BBB8277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276600" y="3890963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2 – Оценка затрат </a:t>
            </a:r>
            <a:r>
              <a:rPr lang="ru-RU" altLang="en-US">
                <a:effectLst/>
              </a:rPr>
              <a:t>на масштабирование</a:t>
            </a:r>
            <a:endParaRPr lang="ru-RU" altLang="en-US" dirty="0"/>
          </a:p>
        </p:txBody>
      </p:sp>
    </p:spTree>
    <p:extLst>
      <p:ext uri="{BB962C8B-B14F-4D97-AF65-F5344CB8AC3E}">
        <p14:creationId xmlns:p14="http://schemas.microsoft.com/office/powerpoint/2010/main" val="354964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ct 6" hidden="1">
            <a:extLst>
              <a:ext uri="{FF2B5EF4-FFF2-40B4-BE49-F238E27FC236}">
                <a16:creationId xmlns:a16="http://schemas.microsoft.com/office/drawing/2014/main" id="{DC58B777-B1A9-4959-8FD7-8F2D9D55B2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69018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95" imgH="396" progId="TCLayout.ActiveDocument.1">
                  <p:embed/>
                </p:oleObj>
              </mc:Choice>
              <mc:Fallback>
                <p:oleObj name="think-cell Slide" r:id="rId16" imgW="395" imgH="396" progId="TCLayout.ActiveDocument.1">
                  <p:embed/>
                  <p:pic>
                    <p:nvPicPr>
                      <p:cNvPr id="30" name="Object 6" hidden="1">
                        <a:extLst>
                          <a:ext uri="{FF2B5EF4-FFF2-40B4-BE49-F238E27FC236}">
                            <a16:creationId xmlns:a16="http://schemas.microsoft.com/office/drawing/2014/main" id="{DC58B777-B1A9-4959-8FD7-8F2D9D55B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E3DB1759-FCD8-4B84-9101-859444F1C23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Определение модели масштабирования сервисов «умного дома» требует ответов на восемь ключевых вопросов</a:t>
            </a:r>
          </a:p>
        </p:txBody>
      </p:sp>
      <p:cxnSp>
        <p:nvCxnSpPr>
          <p:cNvPr id="38" name="AutoShape 249">
            <a:extLst>
              <a:ext uri="{FF2B5EF4-FFF2-40B4-BE49-F238E27FC236}">
                <a16:creationId xmlns:a16="http://schemas.microsoft.com/office/drawing/2014/main" id="{5EFD28C7-77D7-4EA4-9101-3A6EE46D809E}"/>
              </a:ext>
            </a:extLst>
          </p:cNvPr>
          <p:cNvCxnSpPr>
            <a:cxnSpLocks noChangeShapeType="1"/>
          </p:cNvCxnSpPr>
          <p:nvPr/>
        </p:nvCxnSpPr>
        <p:spPr bwMode="gray">
          <a:xfrm>
            <a:off x="467670" y="1719655"/>
            <a:ext cx="11169594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BBD2A2-40B8-4071-A32D-5D01B44BE668}"/>
              </a:ext>
            </a:extLst>
          </p:cNvPr>
          <p:cNvCxnSpPr>
            <a:cxnSpLocks/>
          </p:cNvCxnSpPr>
          <p:nvPr/>
        </p:nvCxnSpPr>
        <p:spPr>
          <a:xfrm>
            <a:off x="694405" y="3277068"/>
            <a:ext cx="1094285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9FD66A6-A02D-4DE8-8B68-AA04344393B8}"/>
              </a:ext>
            </a:extLst>
          </p:cNvPr>
          <p:cNvCxnSpPr>
            <a:cxnSpLocks/>
          </p:cNvCxnSpPr>
          <p:nvPr/>
        </p:nvCxnSpPr>
        <p:spPr>
          <a:xfrm>
            <a:off x="694405" y="3952629"/>
            <a:ext cx="1094285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EE6925-F23F-49CD-8C4F-042E199E52A8}"/>
              </a:ext>
            </a:extLst>
          </p:cNvPr>
          <p:cNvCxnSpPr>
            <a:cxnSpLocks/>
          </p:cNvCxnSpPr>
          <p:nvPr/>
        </p:nvCxnSpPr>
        <p:spPr>
          <a:xfrm>
            <a:off x="694405" y="2449107"/>
            <a:ext cx="1094285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B44FAD-1B53-430B-AB13-4D8FADAD3107}"/>
              </a:ext>
            </a:extLst>
          </p:cNvPr>
          <p:cNvCxnSpPr>
            <a:cxnSpLocks/>
          </p:cNvCxnSpPr>
          <p:nvPr/>
        </p:nvCxnSpPr>
        <p:spPr>
          <a:xfrm>
            <a:off x="694405" y="4806914"/>
            <a:ext cx="1094285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CET">
            <a:extLst>
              <a:ext uri="{FF2B5EF4-FFF2-40B4-BE49-F238E27FC236}">
                <a16:creationId xmlns:a16="http://schemas.microsoft.com/office/drawing/2014/main" id="{E12A3E9A-78F5-42ED-94B2-EA8D9AC30E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5210" y="1404452"/>
            <a:ext cx="2658396" cy="234285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659" anchor="b">
            <a:spAutoFit/>
          </a:bodyPr>
          <a:lstStyle/>
          <a:p>
            <a:r>
              <a:rPr lang="ru-RU" sz="1400" b="1" dirty="0">
                <a:solidFill>
                  <a:schemeClr val="accent3"/>
                </a:solidFill>
              </a:rPr>
              <a:t>Элементы модели</a:t>
            </a:r>
          </a:p>
        </p:txBody>
      </p:sp>
      <p:sp>
        <p:nvSpPr>
          <p:cNvPr id="39" name="ACET">
            <a:extLst>
              <a:ext uri="{FF2B5EF4-FFF2-40B4-BE49-F238E27FC236}">
                <a16:creationId xmlns:a16="http://schemas.microsoft.com/office/drawing/2014/main" id="{F5BD9D8D-34EF-4E4B-9D2C-9D8184EEC4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36136" y="1404452"/>
            <a:ext cx="8055864" cy="234285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659" anchor="b">
            <a:spAutoFit/>
          </a:bodyPr>
          <a:lstStyle/>
          <a:p>
            <a:r>
              <a:rPr lang="ru-RU" sz="1400" b="1" dirty="0">
                <a:solidFill>
                  <a:schemeClr val="accent3"/>
                </a:solidFill>
              </a:rPr>
              <a:t>Ключевые вопросы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D8EA86-D751-4BB6-968E-2F9AA056FCB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45209" y="4880044"/>
            <a:ext cx="3172742" cy="470995"/>
          </a:xfrm>
          <a:prstGeom prst="round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</a:rPr>
              <a:t> Ресурсы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2802F-7C95-4EFD-9EDD-BAE8F846341F}"/>
              </a:ext>
            </a:extLst>
          </p:cNvPr>
          <p:cNvSpPr txBox="1">
            <a:spLocks/>
          </p:cNvSpPr>
          <p:nvPr/>
        </p:nvSpPr>
        <p:spPr>
          <a:xfrm>
            <a:off x="4136136" y="4880044"/>
            <a:ext cx="7501126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 startAt="7"/>
            </a:pPr>
            <a:r>
              <a:rPr lang="ru-RU" dirty="0"/>
              <a:t>Какое количество дополнительного персонала и бюджетных средств потребуется для его создания?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0AC4ED-354E-4233-9058-538B0D761B6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45209" y="4019767"/>
            <a:ext cx="3172744" cy="732244"/>
          </a:xfrm>
          <a:prstGeom prst="round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</a:rPr>
              <a:t> </a:t>
            </a:r>
            <a:r>
              <a:rPr lang="ru-RU" b="1" dirty="0" err="1">
                <a:solidFill>
                  <a:schemeClr val="bg2"/>
                </a:solidFill>
              </a:rPr>
              <a:t>Оргмодель</a:t>
            </a:r>
            <a:endParaRPr lang="ru-RU" b="1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39BA0-FC56-4EB8-BF70-86E2E5F5696F}"/>
              </a:ext>
            </a:extLst>
          </p:cNvPr>
          <p:cNvSpPr txBox="1">
            <a:spLocks/>
          </p:cNvSpPr>
          <p:nvPr/>
        </p:nvSpPr>
        <p:spPr>
          <a:xfrm>
            <a:off x="4136136" y="4034880"/>
            <a:ext cx="7501126" cy="6980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 startAt="5"/>
            </a:pPr>
            <a:r>
              <a:rPr lang="ru-RU" dirty="0"/>
              <a:t>Какой должна быть организационно-правовая форма управляющего механизма?</a:t>
            </a:r>
          </a:p>
          <a:p>
            <a:pPr marL="346500" lvl="1" indent="-342900">
              <a:buFont typeface="+mj-lt"/>
              <a:buAutoNum type="arabicPeriod" startAt="5"/>
            </a:pPr>
            <a:r>
              <a:rPr lang="ru-RU" dirty="0"/>
              <a:t>Как он интегрирован в текущую структуру управления?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E19722-81EE-4A1B-A76D-E1AC5E32632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5209" y="3338937"/>
            <a:ext cx="3172743" cy="526205"/>
          </a:xfrm>
          <a:prstGeom prst="round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</a:rPr>
              <a:t>Управление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48DD5-1C5A-40F2-BBB8-997DDA61D0C5}"/>
              </a:ext>
            </a:extLst>
          </p:cNvPr>
          <p:cNvSpPr txBox="1">
            <a:spLocks/>
          </p:cNvSpPr>
          <p:nvPr/>
        </p:nvSpPr>
        <p:spPr>
          <a:xfrm>
            <a:off x="4136136" y="3391868"/>
            <a:ext cx="7501128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 startAt="4"/>
            </a:pPr>
            <a:r>
              <a:rPr lang="ru-RU" dirty="0"/>
              <a:t>Как выглядит модель управления масштабированием и как организовано взаимодействие участников?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19FF17-AFCD-4DCA-94AA-DFCE5893AB4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5209" y="2482400"/>
            <a:ext cx="3172744" cy="723275"/>
          </a:xfrm>
          <a:prstGeom prst="round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  <a:ea typeface="Calibri" panose="020F0502020204030204" pitchFamily="34" charset="0"/>
              </a:rPr>
              <a:t> Функции и компетенции</a:t>
            </a:r>
            <a:endParaRPr lang="ru-RU" b="1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F2562-53D5-4BC9-93EC-A402E5019AA6}"/>
              </a:ext>
            </a:extLst>
          </p:cNvPr>
          <p:cNvSpPr txBox="1">
            <a:spLocks/>
          </p:cNvSpPr>
          <p:nvPr/>
        </p:nvSpPr>
        <p:spPr>
          <a:xfrm>
            <a:off x="4136136" y="2530025"/>
            <a:ext cx="7501128" cy="68480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 startAt="2"/>
            </a:pPr>
            <a:r>
              <a:rPr lang="ru-RU" dirty="0"/>
              <a:t>Какие участники вовлечены в масштабирование?</a:t>
            </a:r>
          </a:p>
          <a:p>
            <a:pPr marL="346500" lvl="1" indent="-342900">
              <a:buFont typeface="+mj-lt"/>
              <a:buAutoNum type="arabicPeriod" startAt="2"/>
            </a:pPr>
            <a:r>
              <a:rPr lang="ru-RU" dirty="0"/>
              <a:t>Какой набор функций необходим для масштабирования и какие компетенции необходимы для </a:t>
            </a:r>
            <a:r>
              <a:rPr lang="ru-RU"/>
              <a:t>их выполнения?</a:t>
            </a:r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27BD3C-5F7A-4D2A-910A-D6F7002E8B6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5209" y="1819624"/>
            <a:ext cx="3172745" cy="582224"/>
          </a:xfrm>
          <a:prstGeom prst="roundRect">
            <a:avLst/>
          </a:prstGeom>
          <a:solidFill>
            <a:schemeClr val="tx2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  <a:ea typeface="Calibri" panose="020F0502020204030204" pitchFamily="34" charset="0"/>
              </a:rPr>
              <a:t> Стратегия</a:t>
            </a:r>
            <a:endParaRPr lang="ru-RU" b="1" dirty="0">
              <a:solidFill>
                <a:schemeClr val="bg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737AA-597F-44DB-BD23-A2CCFC2A05FA}"/>
              </a:ext>
            </a:extLst>
          </p:cNvPr>
          <p:cNvSpPr txBox="1">
            <a:spLocks/>
          </p:cNvSpPr>
          <p:nvPr/>
        </p:nvSpPr>
        <p:spPr>
          <a:xfrm>
            <a:off x="4136136" y="1800573"/>
            <a:ext cx="750112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/>
            </a:pPr>
            <a:r>
              <a:rPr lang="ru-RU" dirty="0"/>
              <a:t>Какие стратегические цели у масштабирования сервисов «умного дома»?</a:t>
            </a:r>
          </a:p>
        </p:txBody>
      </p:sp>
      <p:sp>
        <p:nvSpPr>
          <p:cNvPr id="33" name="TrackerNumWhite">
            <a:extLst>
              <a:ext uri="{FF2B5EF4-FFF2-40B4-BE49-F238E27FC236}">
                <a16:creationId xmlns:a16="http://schemas.microsoft.com/office/drawing/2014/main" id="{BFC3B006-907E-40DC-B998-EC96662E2D9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05539" y="1945348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35" name="TrackerNumWhite">
            <a:extLst>
              <a:ext uri="{FF2B5EF4-FFF2-40B4-BE49-F238E27FC236}">
                <a16:creationId xmlns:a16="http://schemas.microsoft.com/office/drawing/2014/main" id="{7D49F684-B97E-44E4-AC05-600D5B96D2C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05539" y="273294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sym typeface="+mn-lt"/>
              </a:rPr>
              <a:t>2</a:t>
            </a:r>
            <a:endParaRPr lang="en-US" sz="1400" b="1" dirty="0" err="1">
              <a:solidFill>
                <a:schemeClr val="accent3"/>
              </a:solidFill>
              <a:sym typeface="+mn-lt"/>
            </a:endParaRPr>
          </a:p>
        </p:txBody>
      </p:sp>
      <p:sp>
        <p:nvSpPr>
          <p:cNvPr id="44" name="TrackerNumWhite">
            <a:extLst>
              <a:ext uri="{FF2B5EF4-FFF2-40B4-BE49-F238E27FC236}">
                <a16:creationId xmlns:a16="http://schemas.microsoft.com/office/drawing/2014/main" id="{E6336846-86D8-4732-8C41-17918D7FD63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05539" y="348243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3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2" name="TrackerNumWhite">
            <a:extLst>
              <a:ext uri="{FF2B5EF4-FFF2-40B4-BE49-F238E27FC236}">
                <a16:creationId xmlns:a16="http://schemas.microsoft.com/office/drawing/2014/main" id="{31FEB194-62C6-4B39-B4A9-B556B2C6333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5539" y="425298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sym typeface="+mn-lt"/>
              </a:rPr>
              <a:t>4</a:t>
            </a:r>
            <a:endParaRPr lang="en-US" sz="1400" b="1" dirty="0" err="1">
              <a:solidFill>
                <a:schemeClr val="accent3"/>
              </a:solidFill>
              <a:sym typeface="+mn-lt"/>
            </a:endParaRPr>
          </a:p>
        </p:txBody>
      </p:sp>
      <p:sp>
        <p:nvSpPr>
          <p:cNvPr id="58" name="TrackerNumWhite">
            <a:extLst>
              <a:ext uri="{FF2B5EF4-FFF2-40B4-BE49-F238E27FC236}">
                <a16:creationId xmlns:a16="http://schemas.microsoft.com/office/drawing/2014/main" id="{561A3D97-4512-402E-BCCE-A2F5C1ABB053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5539" y="4960961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5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E10EC5F-4CC6-417B-9AD1-51CE5C647CAD}"/>
              </a:ext>
            </a:extLst>
          </p:cNvPr>
          <p:cNvCxnSpPr>
            <a:cxnSpLocks/>
          </p:cNvCxnSpPr>
          <p:nvPr/>
        </p:nvCxnSpPr>
        <p:spPr>
          <a:xfrm>
            <a:off x="703931" y="5423565"/>
            <a:ext cx="1094285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0C18DC9-A7E2-4461-9B58-1B35C70D796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45209" y="5496204"/>
            <a:ext cx="3172742" cy="471486"/>
          </a:xfrm>
          <a:prstGeom prst="roundRect">
            <a:avLst/>
          </a:prstGeom>
          <a:solidFill>
            <a:schemeClr val="accent3"/>
          </a:solidFill>
          <a:ln>
            <a:solidFill>
              <a:srgbClr val="FFFFFF"/>
            </a:solidFill>
          </a:ln>
        </p:spPr>
        <p:txBody>
          <a:bodyPr vert="horz" wrap="square" lIns="216000" tIns="72000" rIns="72000" bIns="72000" rtlCol="0" anchor="ctr" anchorCtr="0">
            <a:no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619" lvl="1" indent="0">
              <a:buClr>
                <a:srgbClr val="3E5057"/>
              </a:buClr>
              <a:buNone/>
            </a:pPr>
            <a:r>
              <a:rPr lang="ru-RU" b="1" dirty="0">
                <a:solidFill>
                  <a:schemeClr val="bg2"/>
                </a:solidFill>
              </a:rPr>
              <a:t>Управление эффективностью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9653BD-8345-4EB0-8B42-70BBDF487D70}"/>
              </a:ext>
            </a:extLst>
          </p:cNvPr>
          <p:cNvSpPr txBox="1">
            <a:spLocks/>
          </p:cNvSpPr>
          <p:nvPr/>
        </p:nvSpPr>
        <p:spPr>
          <a:xfrm>
            <a:off x="4136136" y="5496204"/>
            <a:ext cx="750112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6500" lvl="1" indent="-342900">
              <a:buFont typeface="+mj-lt"/>
              <a:buAutoNum type="arabicPeriod" startAt="8"/>
            </a:pPr>
            <a:r>
              <a:rPr lang="ru-RU" dirty="0"/>
              <a:t>Какие КПЭ необходимо установить для управления эффективностью?</a:t>
            </a:r>
          </a:p>
        </p:txBody>
      </p:sp>
      <p:sp>
        <p:nvSpPr>
          <p:cNvPr id="94" name="TrackerNumWhite">
            <a:extLst>
              <a:ext uri="{FF2B5EF4-FFF2-40B4-BE49-F238E27FC236}">
                <a16:creationId xmlns:a16="http://schemas.microsoft.com/office/drawing/2014/main" id="{C98CDD17-C2AC-4FB2-91FB-584A35ECFDE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05539" y="5577612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sym typeface="+mn-lt"/>
              </a:rPr>
              <a:t>6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3409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EE46FD1A-6695-45F6-9635-13F1D97F2F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69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E46FD1A-6695-45F6-9635-13F1D97F2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B2E23F00-EC90-4D3A-A2D5-3DE06AEE2C1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Стратегические цели масштабирования определяются миссией города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3F49BB1-4F16-4B5D-95CB-2998A6864A81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sz="1000" b="1" dirty="0"/>
              <a:t>1. Стратегия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D3CD7F-EC46-4A97-A87C-BB277668A855}"/>
              </a:ext>
            </a:extLst>
          </p:cNvPr>
          <p:cNvCxnSpPr>
            <a:cxnSpLocks/>
          </p:cNvCxnSpPr>
          <p:nvPr/>
        </p:nvCxnSpPr>
        <p:spPr>
          <a:xfrm>
            <a:off x="3943350" y="4059973"/>
            <a:ext cx="7693914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C5ECF0-10D0-456B-9CE8-487999F493DA}"/>
              </a:ext>
            </a:extLst>
          </p:cNvPr>
          <p:cNvCxnSpPr>
            <a:cxnSpLocks/>
          </p:cNvCxnSpPr>
          <p:nvPr/>
        </p:nvCxnSpPr>
        <p:spPr>
          <a:xfrm>
            <a:off x="3943350" y="2987208"/>
            <a:ext cx="7693914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0953A7-9EC6-4683-8008-DA2B03065EC9}"/>
              </a:ext>
            </a:extLst>
          </p:cNvPr>
          <p:cNvSpPr txBox="1">
            <a:spLocks/>
          </p:cNvSpPr>
          <p:nvPr/>
        </p:nvSpPr>
        <p:spPr>
          <a:xfrm>
            <a:off x="3942941" y="3087931"/>
            <a:ext cx="6565733" cy="8309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Повысить </a:t>
            </a:r>
            <a:r>
              <a:rPr lang="ru-RU" sz="1600" b="1" dirty="0">
                <a:solidFill>
                  <a:schemeClr val="accent3"/>
                </a:solidFill>
              </a:rPr>
              <a:t>качество жилищной инфраструктуры </a:t>
            </a:r>
            <a:r>
              <a:rPr lang="ru-RU" sz="1600" dirty="0"/>
              <a:t>за счет доработки Смарт-стандарта </a:t>
            </a:r>
            <a:endParaRPr lang="ru-RU" sz="1600" b="1" dirty="0">
              <a:solidFill>
                <a:schemeClr val="accent3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4175C8-4B2F-420A-8171-517204795767}"/>
              </a:ext>
            </a:extLst>
          </p:cNvPr>
          <p:cNvSpPr txBox="1">
            <a:spLocks/>
          </p:cNvSpPr>
          <p:nvPr/>
        </p:nvSpPr>
        <p:spPr>
          <a:xfrm>
            <a:off x="3942941" y="2148008"/>
            <a:ext cx="6565732" cy="76802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Запустить сервисы «умного дома» </a:t>
            </a:r>
            <a:r>
              <a:rPr lang="ru-RU" sz="1600" b="1" dirty="0">
                <a:solidFill>
                  <a:schemeClr val="accent3"/>
                </a:solidFill>
              </a:rPr>
              <a:t>в 1</a:t>
            </a:r>
            <a:r>
              <a:rPr lang="en-US" sz="1600" b="1" dirty="0">
                <a:solidFill>
                  <a:schemeClr val="accent3"/>
                </a:solidFill>
              </a:rPr>
              <a:t>79</a:t>
            </a:r>
            <a:r>
              <a:rPr lang="ru-RU" sz="1600" b="1" dirty="0">
                <a:solidFill>
                  <a:schemeClr val="accent3"/>
                </a:solidFill>
              </a:rPr>
              <a:t> домах </a:t>
            </a:r>
            <a:r>
              <a:rPr lang="ru-RU" sz="1600" dirty="0"/>
              <a:t>по Программе реновации</a:t>
            </a:r>
            <a:r>
              <a:rPr lang="en-US" sz="1600" b="1" dirty="0">
                <a:solidFill>
                  <a:schemeClr val="accent3"/>
                </a:solidFill>
              </a:rPr>
              <a:t> </a:t>
            </a:r>
            <a:r>
              <a:rPr lang="ru-RU" sz="1600" b="1" dirty="0">
                <a:solidFill>
                  <a:schemeClr val="accent3"/>
                </a:solidFill>
              </a:rPr>
              <a:t>до конца 2023 года </a:t>
            </a:r>
            <a:endParaRPr lang="ru-RU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46D5B7-5A34-47DD-905F-A1D889D650B2}"/>
              </a:ext>
            </a:extLst>
          </p:cNvPr>
          <p:cNvSpPr txBox="1">
            <a:spLocks/>
          </p:cNvSpPr>
          <p:nvPr/>
        </p:nvSpPr>
        <p:spPr>
          <a:xfrm>
            <a:off x="3942941" y="4201019"/>
            <a:ext cx="6565733" cy="8309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Обеспечить </a:t>
            </a:r>
            <a:r>
              <a:rPr lang="ru-RU" sz="1600" b="1" dirty="0">
                <a:solidFill>
                  <a:schemeClr val="accent3"/>
                </a:solidFill>
              </a:rPr>
              <a:t>непрерывную эксплуатацию </a:t>
            </a:r>
            <a:r>
              <a:rPr lang="ru-RU" sz="1600" dirty="0"/>
              <a:t>и </a:t>
            </a:r>
            <a:r>
              <a:rPr lang="ru-RU" sz="1600" b="1" dirty="0">
                <a:solidFill>
                  <a:schemeClr val="accent3"/>
                </a:solidFill>
              </a:rPr>
              <a:t>удобство пользования</a:t>
            </a:r>
            <a:r>
              <a:rPr lang="ru-RU" sz="1600" dirty="0"/>
              <a:t> для всех запускаемых сервисов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CD8CB46-65F0-4050-96F2-8CCDDA875ED3}"/>
              </a:ext>
            </a:extLst>
          </p:cNvPr>
          <p:cNvCxnSpPr>
            <a:cxnSpLocks/>
          </p:cNvCxnSpPr>
          <p:nvPr/>
        </p:nvCxnSpPr>
        <p:spPr>
          <a:xfrm>
            <a:off x="3943350" y="5173062"/>
            <a:ext cx="7693914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1EA4921-132C-4FC6-ABB2-62CE1E3692FF}"/>
              </a:ext>
            </a:extLst>
          </p:cNvPr>
          <p:cNvSpPr txBox="1">
            <a:spLocks/>
          </p:cNvSpPr>
          <p:nvPr/>
        </p:nvSpPr>
        <p:spPr>
          <a:xfrm>
            <a:off x="3942941" y="5249160"/>
            <a:ext cx="6565733" cy="8309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Отслеживать</a:t>
            </a:r>
            <a:r>
              <a:rPr lang="en-US" sz="1600" dirty="0"/>
              <a:t>, </a:t>
            </a:r>
            <a:r>
              <a:rPr lang="ru-RU" sz="1600" b="1" dirty="0">
                <a:solidFill>
                  <a:schemeClr val="accent3"/>
                </a:solidFill>
              </a:rPr>
              <a:t>тестировать и внедрять новые сервисы</a:t>
            </a:r>
            <a:r>
              <a:rPr lang="ru-RU" sz="1600" dirty="0"/>
              <a:t> при наличии доказанного положительного эффекта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E01828-7E63-4D2C-A81E-01C5782371E1}"/>
              </a:ext>
            </a:extLst>
          </p:cNvPr>
          <p:cNvSpPr txBox="1"/>
          <p:nvPr/>
        </p:nvSpPr>
        <p:spPr>
          <a:xfrm>
            <a:off x="3323344" y="2164788"/>
            <a:ext cx="400752" cy="67710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44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4F5CD6-9431-48FB-AAA5-CAD7EC10B547}"/>
              </a:ext>
            </a:extLst>
          </p:cNvPr>
          <p:cNvSpPr txBox="1"/>
          <p:nvPr/>
        </p:nvSpPr>
        <p:spPr>
          <a:xfrm>
            <a:off x="3323344" y="3174551"/>
            <a:ext cx="400752" cy="67710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4400" b="1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EDE265-5332-4135-947F-221C81E0BE61}"/>
              </a:ext>
            </a:extLst>
          </p:cNvPr>
          <p:cNvSpPr txBox="1"/>
          <p:nvPr/>
        </p:nvSpPr>
        <p:spPr>
          <a:xfrm>
            <a:off x="3323344" y="4251765"/>
            <a:ext cx="400752" cy="67710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4400" b="1" dirty="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E1326A-0BA2-4E8A-A1D9-752EB8B64853}"/>
              </a:ext>
            </a:extLst>
          </p:cNvPr>
          <p:cNvSpPr txBox="1"/>
          <p:nvPr/>
        </p:nvSpPr>
        <p:spPr>
          <a:xfrm>
            <a:off x="3323344" y="5304769"/>
            <a:ext cx="400752" cy="677108"/>
          </a:xfrm>
          <a:prstGeom prst="rect">
            <a:avLst/>
          </a:prstGeom>
        </p:spPr>
        <p:txBody>
          <a:bodyPr vert="horz" wrap="none" lIns="0" tIns="0" rIns="0" bIns="0" rtlCol="0" anchor="ctr" anchorCtr="1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4400" b="1" dirty="0">
                <a:solidFill>
                  <a:schemeClr val="tx2"/>
                </a:solidFill>
              </a:rPr>
              <a:t>4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7511BFA-97EC-451D-BE76-C3CF5373FD96}"/>
              </a:ext>
            </a:extLst>
          </p:cNvPr>
          <p:cNvGrpSpPr/>
          <p:nvPr/>
        </p:nvGrpSpPr>
        <p:grpSpPr>
          <a:xfrm>
            <a:off x="10732654" y="3208746"/>
            <a:ext cx="830264" cy="683314"/>
            <a:chOff x="3051175" y="796925"/>
            <a:chExt cx="717550" cy="590550"/>
          </a:xfrm>
        </p:grpSpPr>
        <p:sp>
          <p:nvSpPr>
            <p:cNvPr id="37" name="Freeform 146">
              <a:extLst>
                <a:ext uri="{FF2B5EF4-FFF2-40B4-BE49-F238E27FC236}">
                  <a16:creationId xmlns:a16="http://schemas.microsoft.com/office/drawing/2014/main" id="{FBEEC562-B247-4E5E-B551-FABFF3C9E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363" y="893763"/>
              <a:ext cx="231775" cy="123825"/>
            </a:xfrm>
            <a:custGeom>
              <a:avLst/>
              <a:gdLst>
                <a:gd name="T0" fmla="*/ 0 w 146"/>
                <a:gd name="T1" fmla="*/ 78 h 78"/>
                <a:gd name="T2" fmla="*/ 92 w 146"/>
                <a:gd name="T3" fmla="*/ 0 h 78"/>
                <a:gd name="T4" fmla="*/ 146 w 146"/>
                <a:gd name="T5" fmla="*/ 46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78">
                  <a:moveTo>
                    <a:pt x="0" y="78"/>
                  </a:moveTo>
                  <a:lnTo>
                    <a:pt x="92" y="0"/>
                  </a:lnTo>
                  <a:lnTo>
                    <a:pt x="146" y="46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147">
              <a:extLst>
                <a:ext uri="{FF2B5EF4-FFF2-40B4-BE49-F238E27FC236}">
                  <a16:creationId xmlns:a16="http://schemas.microsoft.com/office/drawing/2014/main" id="{DF77FC19-AF18-4234-BE38-9A007898A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638" y="982663"/>
              <a:ext cx="169862" cy="157163"/>
            </a:xfrm>
            <a:custGeom>
              <a:avLst/>
              <a:gdLst>
                <a:gd name="T0" fmla="*/ 107 w 107"/>
                <a:gd name="T1" fmla="*/ 99 h 99"/>
                <a:gd name="T2" fmla="*/ 83 w 107"/>
                <a:gd name="T3" fmla="*/ 99 h 99"/>
                <a:gd name="T4" fmla="*/ 83 w 107"/>
                <a:gd name="T5" fmla="*/ 56 h 99"/>
                <a:gd name="T6" fmla="*/ 49 w 107"/>
                <a:gd name="T7" fmla="*/ 56 h 99"/>
                <a:gd name="T8" fmla="*/ 49 w 107"/>
                <a:gd name="T9" fmla="*/ 99 h 99"/>
                <a:gd name="T10" fmla="*/ 0 w 107"/>
                <a:gd name="T11" fmla="*/ 99 h 99"/>
                <a:gd name="T12" fmla="*/ 0 w 107"/>
                <a:gd name="T13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99">
                  <a:moveTo>
                    <a:pt x="107" y="99"/>
                  </a:moveTo>
                  <a:lnTo>
                    <a:pt x="83" y="99"/>
                  </a:lnTo>
                  <a:lnTo>
                    <a:pt x="83" y="56"/>
                  </a:lnTo>
                  <a:lnTo>
                    <a:pt x="49" y="56"/>
                  </a:lnTo>
                  <a:lnTo>
                    <a:pt x="49" y="99"/>
                  </a:lnTo>
                  <a:lnTo>
                    <a:pt x="0" y="99"/>
                  </a:lnTo>
                  <a:lnTo>
                    <a:pt x="0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148">
              <a:extLst>
                <a:ext uri="{FF2B5EF4-FFF2-40B4-BE49-F238E27FC236}">
                  <a16:creationId xmlns:a16="http://schemas.microsoft.com/office/drawing/2014/main" id="{75E13F65-4D6A-4224-BE0F-F57E908E8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125" y="996950"/>
              <a:ext cx="355600" cy="390525"/>
            </a:xfrm>
            <a:custGeom>
              <a:avLst/>
              <a:gdLst>
                <a:gd name="T0" fmla="*/ 53 w 131"/>
                <a:gd name="T1" fmla="*/ 145 h 145"/>
                <a:gd name="T2" fmla="*/ 5 w 131"/>
                <a:gd name="T3" fmla="*/ 96 h 145"/>
                <a:gd name="T4" fmla="*/ 5 w 131"/>
                <a:gd name="T5" fmla="*/ 79 h 145"/>
                <a:gd name="T6" fmla="*/ 6 w 131"/>
                <a:gd name="T7" fmla="*/ 78 h 145"/>
                <a:gd name="T8" fmla="*/ 23 w 131"/>
                <a:gd name="T9" fmla="*/ 78 h 145"/>
                <a:gd name="T10" fmla="*/ 45 w 131"/>
                <a:gd name="T11" fmla="*/ 100 h 145"/>
                <a:gd name="T12" fmla="*/ 45 w 131"/>
                <a:gd name="T13" fmla="*/ 71 h 145"/>
                <a:gd name="T14" fmla="*/ 45 w 131"/>
                <a:gd name="T15" fmla="*/ 12 h 145"/>
                <a:gd name="T16" fmla="*/ 57 w 131"/>
                <a:gd name="T17" fmla="*/ 0 h 145"/>
                <a:gd name="T18" fmla="*/ 58 w 131"/>
                <a:gd name="T19" fmla="*/ 0 h 145"/>
                <a:gd name="T20" fmla="*/ 70 w 131"/>
                <a:gd name="T21" fmla="*/ 12 h 145"/>
                <a:gd name="T22" fmla="*/ 70 w 131"/>
                <a:gd name="T23" fmla="*/ 57 h 145"/>
                <a:gd name="T24" fmla="*/ 116 w 131"/>
                <a:gd name="T25" fmla="*/ 65 h 145"/>
                <a:gd name="T26" fmla="*/ 131 w 131"/>
                <a:gd name="T27" fmla="*/ 88 h 145"/>
                <a:gd name="T28" fmla="*/ 127 w 131"/>
                <a:gd name="T29" fmla="*/ 14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1" h="145">
                  <a:moveTo>
                    <a:pt x="53" y="145"/>
                  </a:moveTo>
                  <a:cubicBezTo>
                    <a:pt x="5" y="96"/>
                    <a:pt x="5" y="96"/>
                    <a:pt x="5" y="96"/>
                  </a:cubicBezTo>
                  <a:cubicBezTo>
                    <a:pt x="0" y="92"/>
                    <a:pt x="0" y="84"/>
                    <a:pt x="5" y="79"/>
                  </a:cubicBezTo>
                  <a:cubicBezTo>
                    <a:pt x="6" y="78"/>
                    <a:pt x="6" y="78"/>
                    <a:pt x="6" y="78"/>
                  </a:cubicBezTo>
                  <a:cubicBezTo>
                    <a:pt x="11" y="73"/>
                    <a:pt x="18" y="73"/>
                    <a:pt x="23" y="78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71"/>
                    <a:pt x="45" y="71"/>
                    <a:pt x="45" y="71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5" y="6"/>
                    <a:pt x="50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5" y="0"/>
                    <a:pt x="70" y="6"/>
                    <a:pt x="70" y="12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5"/>
                    <a:pt x="131" y="68"/>
                    <a:pt x="131" y="88"/>
                  </a:cubicBezTo>
                  <a:cubicBezTo>
                    <a:pt x="127" y="143"/>
                    <a:pt x="127" y="143"/>
                    <a:pt x="127" y="143"/>
                  </a:cubicBez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" name="Freeform 149">
              <a:extLst>
                <a:ext uri="{FF2B5EF4-FFF2-40B4-BE49-F238E27FC236}">
                  <a16:creationId xmlns:a16="http://schemas.microsoft.com/office/drawing/2014/main" id="{6B7B87C0-957B-417B-B232-BAC5E6F4E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175" y="796925"/>
              <a:ext cx="627062" cy="458788"/>
            </a:xfrm>
            <a:custGeom>
              <a:avLst/>
              <a:gdLst>
                <a:gd name="T0" fmla="*/ 121 w 232"/>
                <a:gd name="T1" fmla="*/ 170 h 170"/>
                <a:gd name="T2" fmla="*/ 12 w 232"/>
                <a:gd name="T3" fmla="*/ 170 h 170"/>
                <a:gd name="T4" fmla="*/ 0 w 232"/>
                <a:gd name="T5" fmla="*/ 158 h 170"/>
                <a:gd name="T6" fmla="*/ 0 w 232"/>
                <a:gd name="T7" fmla="*/ 12 h 170"/>
                <a:gd name="T8" fmla="*/ 12 w 232"/>
                <a:gd name="T9" fmla="*/ 0 h 170"/>
                <a:gd name="T10" fmla="*/ 220 w 232"/>
                <a:gd name="T11" fmla="*/ 0 h 170"/>
                <a:gd name="T12" fmla="*/ 232 w 232"/>
                <a:gd name="T13" fmla="*/ 12 h 170"/>
                <a:gd name="T14" fmla="*/ 232 w 232"/>
                <a:gd name="T15" fmla="*/ 12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170">
                  <a:moveTo>
                    <a:pt x="121" y="170"/>
                  </a:moveTo>
                  <a:cubicBezTo>
                    <a:pt x="12" y="170"/>
                    <a:pt x="12" y="170"/>
                    <a:pt x="12" y="170"/>
                  </a:cubicBezTo>
                  <a:cubicBezTo>
                    <a:pt x="6" y="170"/>
                    <a:pt x="0" y="165"/>
                    <a:pt x="0" y="15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7" y="0"/>
                    <a:pt x="232" y="6"/>
                    <a:pt x="232" y="12"/>
                  </a:cubicBezTo>
                  <a:cubicBezTo>
                    <a:pt x="232" y="121"/>
                    <a:pt x="232" y="121"/>
                    <a:pt x="232" y="121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0" name="Line 150">
              <a:extLst>
                <a:ext uri="{FF2B5EF4-FFF2-40B4-BE49-F238E27FC236}">
                  <a16:creationId xmlns:a16="http://schemas.microsoft.com/office/drawing/2014/main" id="{E3809A8D-7D5C-431E-8F9B-77C2FA682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175" y="800100"/>
              <a:ext cx="0" cy="455613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1" name="Line 151">
              <a:extLst>
                <a:ext uri="{FF2B5EF4-FFF2-40B4-BE49-F238E27FC236}">
                  <a16:creationId xmlns:a16="http://schemas.microsoft.com/office/drawing/2014/main" id="{F24A659C-B965-4306-95C6-ACEDCE9E9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9438" y="1001713"/>
              <a:ext cx="0" cy="49213"/>
            </a:xfrm>
            <a:prstGeom prst="line">
              <a:avLst/>
            </a:pr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285924-A7C6-4632-9947-FB48FBC78977}"/>
              </a:ext>
            </a:extLst>
          </p:cNvPr>
          <p:cNvGrpSpPr/>
          <p:nvPr/>
        </p:nvGrpSpPr>
        <p:grpSpPr>
          <a:xfrm>
            <a:off x="10732654" y="2195793"/>
            <a:ext cx="904610" cy="586868"/>
            <a:chOff x="3003550" y="2046288"/>
            <a:chExt cx="827087" cy="536575"/>
          </a:xfrm>
        </p:grpSpPr>
        <p:sp>
          <p:nvSpPr>
            <p:cNvPr id="53" name="Freeform 209">
              <a:extLst>
                <a:ext uri="{FF2B5EF4-FFF2-40B4-BE49-F238E27FC236}">
                  <a16:creationId xmlns:a16="http://schemas.microsoft.com/office/drawing/2014/main" id="{F92ED592-0842-43D6-B0C7-9A3A8014B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213" y="2139950"/>
              <a:ext cx="434975" cy="442913"/>
            </a:xfrm>
            <a:custGeom>
              <a:avLst/>
              <a:gdLst>
                <a:gd name="T0" fmla="*/ 177 w 274"/>
                <a:gd name="T1" fmla="*/ 32 h 279"/>
                <a:gd name="T2" fmla="*/ 138 w 274"/>
                <a:gd name="T3" fmla="*/ 0 h 279"/>
                <a:gd name="T4" fmla="*/ 138 w 274"/>
                <a:gd name="T5" fmla="*/ 0 h 279"/>
                <a:gd name="T6" fmla="*/ 0 w 274"/>
                <a:gd name="T7" fmla="*/ 122 h 279"/>
                <a:gd name="T8" fmla="*/ 0 w 274"/>
                <a:gd name="T9" fmla="*/ 279 h 279"/>
                <a:gd name="T10" fmla="*/ 102 w 274"/>
                <a:gd name="T11" fmla="*/ 279 h 279"/>
                <a:gd name="T12" fmla="*/ 102 w 274"/>
                <a:gd name="T13" fmla="*/ 190 h 279"/>
                <a:gd name="T14" fmla="*/ 172 w 274"/>
                <a:gd name="T15" fmla="*/ 190 h 279"/>
                <a:gd name="T16" fmla="*/ 172 w 274"/>
                <a:gd name="T17" fmla="*/ 279 h 279"/>
                <a:gd name="T18" fmla="*/ 274 w 274"/>
                <a:gd name="T19" fmla="*/ 279 h 279"/>
                <a:gd name="T20" fmla="*/ 274 w 274"/>
                <a:gd name="T21" fmla="*/ 21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4" h="279">
                  <a:moveTo>
                    <a:pt x="177" y="32"/>
                  </a:moveTo>
                  <a:lnTo>
                    <a:pt x="138" y="0"/>
                  </a:lnTo>
                  <a:lnTo>
                    <a:pt x="138" y="0"/>
                  </a:lnTo>
                  <a:lnTo>
                    <a:pt x="0" y="122"/>
                  </a:lnTo>
                  <a:lnTo>
                    <a:pt x="0" y="279"/>
                  </a:lnTo>
                  <a:lnTo>
                    <a:pt x="102" y="279"/>
                  </a:lnTo>
                  <a:lnTo>
                    <a:pt x="102" y="190"/>
                  </a:lnTo>
                  <a:lnTo>
                    <a:pt x="172" y="190"/>
                  </a:lnTo>
                  <a:lnTo>
                    <a:pt x="172" y="279"/>
                  </a:lnTo>
                  <a:lnTo>
                    <a:pt x="274" y="279"/>
                  </a:lnTo>
                  <a:lnTo>
                    <a:pt x="274" y="219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Freeform 210">
              <a:extLst>
                <a:ext uri="{FF2B5EF4-FFF2-40B4-BE49-F238E27FC236}">
                  <a16:creationId xmlns:a16="http://schemas.microsoft.com/office/drawing/2014/main" id="{F3AB2DAB-D295-4D5D-88EA-C34C569F2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550" y="2046288"/>
              <a:ext cx="419100" cy="271463"/>
            </a:xfrm>
            <a:custGeom>
              <a:avLst/>
              <a:gdLst>
                <a:gd name="T0" fmla="*/ 0 w 264"/>
                <a:gd name="T1" fmla="*/ 171 h 171"/>
                <a:gd name="T2" fmla="*/ 61 w 264"/>
                <a:gd name="T3" fmla="*/ 117 h 171"/>
                <a:gd name="T4" fmla="*/ 61 w 264"/>
                <a:gd name="T5" fmla="*/ 28 h 171"/>
                <a:gd name="T6" fmla="*/ 104 w 264"/>
                <a:gd name="T7" fmla="*/ 28 h 171"/>
                <a:gd name="T8" fmla="*/ 104 w 264"/>
                <a:gd name="T9" fmla="*/ 81 h 171"/>
                <a:gd name="T10" fmla="*/ 195 w 264"/>
                <a:gd name="T11" fmla="*/ 0 h 171"/>
                <a:gd name="T12" fmla="*/ 264 w 264"/>
                <a:gd name="T13" fmla="*/ 5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4" h="171">
                  <a:moveTo>
                    <a:pt x="0" y="171"/>
                  </a:moveTo>
                  <a:lnTo>
                    <a:pt x="61" y="117"/>
                  </a:lnTo>
                  <a:lnTo>
                    <a:pt x="61" y="28"/>
                  </a:lnTo>
                  <a:lnTo>
                    <a:pt x="104" y="28"/>
                  </a:lnTo>
                  <a:lnTo>
                    <a:pt x="104" y="81"/>
                  </a:lnTo>
                  <a:lnTo>
                    <a:pt x="195" y="0"/>
                  </a:lnTo>
                  <a:lnTo>
                    <a:pt x="264" y="57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Freeform 211">
              <a:extLst>
                <a:ext uri="{FF2B5EF4-FFF2-40B4-BE49-F238E27FC236}">
                  <a16:creationId xmlns:a16="http://schemas.microsoft.com/office/drawing/2014/main" id="{BE48DC5F-9B62-4779-ADB2-E1D517FC4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625" y="2216150"/>
              <a:ext cx="23812" cy="66675"/>
            </a:xfrm>
            <a:custGeom>
              <a:avLst/>
              <a:gdLst>
                <a:gd name="T0" fmla="*/ 9 w 9"/>
                <a:gd name="T1" fmla="*/ 0 h 25"/>
                <a:gd name="T2" fmla="*/ 4 w 9"/>
                <a:gd name="T3" fmla="*/ 3 h 25"/>
                <a:gd name="T4" fmla="*/ 0 w 9"/>
                <a:gd name="T5" fmla="*/ 14 h 25"/>
                <a:gd name="T6" fmla="*/ 5 w 9"/>
                <a:gd name="T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5">
                  <a:moveTo>
                    <a:pt x="9" y="0"/>
                  </a:moveTo>
                  <a:cubicBezTo>
                    <a:pt x="7" y="1"/>
                    <a:pt x="6" y="2"/>
                    <a:pt x="4" y="3"/>
                  </a:cubicBezTo>
                  <a:cubicBezTo>
                    <a:pt x="1" y="6"/>
                    <a:pt x="0" y="10"/>
                    <a:pt x="0" y="14"/>
                  </a:cubicBezTo>
                  <a:cubicBezTo>
                    <a:pt x="0" y="18"/>
                    <a:pt x="1" y="22"/>
                    <a:pt x="5" y="25"/>
                  </a:cubicBez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6" name="Freeform 212">
              <a:extLst>
                <a:ext uri="{FF2B5EF4-FFF2-40B4-BE49-F238E27FC236}">
                  <a16:creationId xmlns:a16="http://schemas.microsoft.com/office/drawing/2014/main" id="{7BC6D800-9D6B-42F5-878E-4C3499E8E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0" y="2139950"/>
              <a:ext cx="427037" cy="358775"/>
            </a:xfrm>
            <a:custGeom>
              <a:avLst/>
              <a:gdLst>
                <a:gd name="T0" fmla="*/ 142 w 158"/>
                <a:gd name="T1" fmla="*/ 70 h 133"/>
                <a:gd name="T2" fmla="*/ 143 w 158"/>
                <a:gd name="T3" fmla="*/ 15 h 133"/>
                <a:gd name="T4" fmla="*/ 88 w 158"/>
                <a:gd name="T5" fmla="*/ 16 h 133"/>
                <a:gd name="T6" fmla="*/ 79 w 158"/>
                <a:gd name="T7" fmla="*/ 25 h 133"/>
                <a:gd name="T8" fmla="*/ 69 w 158"/>
                <a:gd name="T9" fmla="*/ 16 h 133"/>
                <a:gd name="T10" fmla="*/ 15 w 158"/>
                <a:gd name="T11" fmla="*/ 15 h 133"/>
                <a:gd name="T12" fmla="*/ 15 w 158"/>
                <a:gd name="T13" fmla="*/ 70 h 133"/>
                <a:gd name="T14" fmla="*/ 79 w 158"/>
                <a:gd name="T15" fmla="*/ 133 h 133"/>
                <a:gd name="T16" fmla="*/ 142 w 158"/>
                <a:gd name="T17" fmla="*/ 7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33">
                  <a:moveTo>
                    <a:pt x="142" y="70"/>
                  </a:moveTo>
                  <a:cubicBezTo>
                    <a:pt x="157" y="54"/>
                    <a:pt x="158" y="30"/>
                    <a:pt x="143" y="15"/>
                  </a:cubicBezTo>
                  <a:cubicBezTo>
                    <a:pt x="128" y="0"/>
                    <a:pt x="103" y="0"/>
                    <a:pt x="88" y="16"/>
                  </a:cubicBezTo>
                  <a:cubicBezTo>
                    <a:pt x="79" y="25"/>
                    <a:pt x="79" y="25"/>
                    <a:pt x="79" y="25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54" y="0"/>
                    <a:pt x="30" y="0"/>
                    <a:pt x="15" y="15"/>
                  </a:cubicBezTo>
                  <a:cubicBezTo>
                    <a:pt x="0" y="30"/>
                    <a:pt x="0" y="54"/>
                    <a:pt x="15" y="70"/>
                  </a:cubicBezTo>
                  <a:cubicBezTo>
                    <a:pt x="79" y="133"/>
                    <a:pt x="79" y="133"/>
                    <a:pt x="79" y="133"/>
                  </a:cubicBezTo>
                  <a:lnTo>
                    <a:pt x="142" y="7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E40BFD7-F02D-4016-BD6F-43ED9F017188}"/>
              </a:ext>
            </a:extLst>
          </p:cNvPr>
          <p:cNvGrpSpPr/>
          <p:nvPr/>
        </p:nvGrpSpPr>
        <p:grpSpPr>
          <a:xfrm>
            <a:off x="10732654" y="4283186"/>
            <a:ext cx="655630" cy="631044"/>
            <a:chOff x="9893300" y="4443412"/>
            <a:chExt cx="634999" cy="611188"/>
          </a:xfrm>
        </p:grpSpPr>
        <p:sp>
          <p:nvSpPr>
            <p:cNvPr id="64" name="Freeform 143">
              <a:extLst>
                <a:ext uri="{FF2B5EF4-FFF2-40B4-BE49-F238E27FC236}">
                  <a16:creationId xmlns:a16="http://schemas.microsoft.com/office/drawing/2014/main" id="{B25DD4AD-DD07-4BE8-8BD3-D5182C8FF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1575" y="4994275"/>
              <a:ext cx="414337" cy="33337"/>
            </a:xfrm>
            <a:custGeom>
              <a:avLst/>
              <a:gdLst>
                <a:gd name="T0" fmla="*/ 143 w 143"/>
                <a:gd name="T1" fmla="*/ 0 h 12"/>
                <a:gd name="T2" fmla="*/ 124 w 143"/>
                <a:gd name="T3" fmla="*/ 12 h 12"/>
                <a:gd name="T4" fmla="*/ 0 w 143"/>
                <a:gd name="T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3" h="12">
                  <a:moveTo>
                    <a:pt x="143" y="0"/>
                  </a:moveTo>
                  <a:cubicBezTo>
                    <a:pt x="140" y="5"/>
                    <a:pt x="135" y="12"/>
                    <a:pt x="124" y="12"/>
                  </a:cubicBez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5" name="Freeform 144">
              <a:extLst>
                <a:ext uri="{FF2B5EF4-FFF2-40B4-BE49-F238E27FC236}">
                  <a16:creationId xmlns:a16="http://schemas.microsoft.com/office/drawing/2014/main" id="{FA8D5F83-63EF-4AD1-B36C-A2E88EDA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7925" y="4443412"/>
              <a:ext cx="457200" cy="255587"/>
            </a:xfrm>
            <a:custGeom>
              <a:avLst/>
              <a:gdLst>
                <a:gd name="T0" fmla="*/ 0 w 158"/>
                <a:gd name="T1" fmla="*/ 88 h 88"/>
                <a:gd name="T2" fmla="*/ 55 w 158"/>
                <a:gd name="T3" fmla="*/ 17 h 88"/>
                <a:gd name="T4" fmla="*/ 71 w 158"/>
                <a:gd name="T5" fmla="*/ 4 h 88"/>
                <a:gd name="T6" fmla="*/ 88 w 158"/>
                <a:gd name="T7" fmla="*/ 20 h 88"/>
                <a:gd name="T8" fmla="*/ 81 w 158"/>
                <a:gd name="T9" fmla="*/ 76 h 88"/>
                <a:gd name="T10" fmla="*/ 148 w 158"/>
                <a:gd name="T11" fmla="*/ 76 h 88"/>
                <a:gd name="T12" fmla="*/ 158 w 158"/>
                <a:gd name="T13" fmla="*/ 8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88">
                  <a:moveTo>
                    <a:pt x="0" y="88"/>
                  </a:moveTo>
                  <a:cubicBezTo>
                    <a:pt x="11" y="84"/>
                    <a:pt x="55" y="68"/>
                    <a:pt x="55" y="17"/>
                  </a:cubicBezTo>
                  <a:cubicBezTo>
                    <a:pt x="55" y="17"/>
                    <a:pt x="56" y="4"/>
                    <a:pt x="71" y="4"/>
                  </a:cubicBezTo>
                  <a:cubicBezTo>
                    <a:pt x="71" y="4"/>
                    <a:pt x="86" y="0"/>
                    <a:pt x="88" y="20"/>
                  </a:cubicBezTo>
                  <a:cubicBezTo>
                    <a:pt x="88" y="20"/>
                    <a:pt x="92" y="54"/>
                    <a:pt x="81" y="76"/>
                  </a:cubicBezTo>
                  <a:cubicBezTo>
                    <a:pt x="148" y="76"/>
                    <a:pt x="148" y="76"/>
                    <a:pt x="148" y="76"/>
                  </a:cubicBezTo>
                  <a:cubicBezTo>
                    <a:pt x="148" y="76"/>
                    <a:pt x="155" y="75"/>
                    <a:pt x="158" y="84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6" name="Freeform 145">
              <a:extLst>
                <a:ext uri="{FF2B5EF4-FFF2-40B4-BE49-F238E27FC236}">
                  <a16:creationId xmlns:a16="http://schemas.microsoft.com/office/drawing/2014/main" id="{16794621-D3E3-4CE2-9AE3-D32DE452A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3300" y="4686300"/>
              <a:ext cx="104775" cy="368300"/>
            </a:xfrm>
            <a:custGeom>
              <a:avLst/>
              <a:gdLst>
                <a:gd name="T0" fmla="*/ 6 w 66"/>
                <a:gd name="T1" fmla="*/ 0 h 232"/>
                <a:gd name="T2" fmla="*/ 66 w 66"/>
                <a:gd name="T3" fmla="*/ 0 h 232"/>
                <a:gd name="T4" fmla="*/ 66 w 66"/>
                <a:gd name="T5" fmla="*/ 232 h 232"/>
                <a:gd name="T6" fmla="*/ 0 w 66"/>
                <a:gd name="T7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32">
                  <a:moveTo>
                    <a:pt x="6" y="0"/>
                  </a:moveTo>
                  <a:lnTo>
                    <a:pt x="66" y="0"/>
                  </a:lnTo>
                  <a:lnTo>
                    <a:pt x="66" y="232"/>
                  </a:lnTo>
                  <a:lnTo>
                    <a:pt x="0" y="232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7" name="Line 146">
              <a:extLst>
                <a:ext uri="{FF2B5EF4-FFF2-40B4-BE49-F238E27FC236}">
                  <a16:creationId xmlns:a16="http://schemas.microsoft.com/office/drawing/2014/main" id="{E35A6ACA-FBEE-4DEF-BF71-81441BE87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1625" y="4759325"/>
              <a:ext cx="17462" cy="0"/>
            </a:xfrm>
            <a:prstGeom prst="line">
              <a:avLst/>
            </a:prstGeom>
            <a:noFill/>
            <a:ln w="1270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8" name="Freeform 147">
              <a:extLst>
                <a:ext uri="{FF2B5EF4-FFF2-40B4-BE49-F238E27FC236}">
                  <a16:creationId xmlns:a16="http://schemas.microsoft.com/office/drawing/2014/main" id="{6B6DAD5C-F1C4-4074-8ECA-DEDBACA12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5912" y="4718050"/>
              <a:ext cx="52387" cy="44450"/>
            </a:xfrm>
            <a:custGeom>
              <a:avLst/>
              <a:gdLst>
                <a:gd name="T0" fmla="*/ 18 w 18"/>
                <a:gd name="T1" fmla="*/ 0 h 15"/>
                <a:gd name="T2" fmla="*/ 0 w 18"/>
                <a:gd name="T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15">
                  <a:moveTo>
                    <a:pt x="18" y="0"/>
                  </a:moveTo>
                  <a:cubicBezTo>
                    <a:pt x="17" y="7"/>
                    <a:pt x="12" y="15"/>
                    <a:pt x="0" y="14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9" name="Line 148">
              <a:extLst>
                <a:ext uri="{FF2B5EF4-FFF2-40B4-BE49-F238E27FC236}">
                  <a16:creationId xmlns:a16="http://schemas.microsoft.com/office/drawing/2014/main" id="{3E1E0D2D-A986-48EF-8D97-2D4095611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8925" y="4851400"/>
              <a:ext cx="17462" cy="0"/>
            </a:xfrm>
            <a:prstGeom prst="line">
              <a:avLst/>
            </a:prstGeom>
            <a:noFill/>
            <a:ln w="1270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Freeform 149">
              <a:extLst>
                <a:ext uri="{FF2B5EF4-FFF2-40B4-BE49-F238E27FC236}">
                  <a16:creationId xmlns:a16="http://schemas.microsoft.com/office/drawing/2014/main" id="{38F0EF0D-8260-4D51-8619-8A04C791C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4800" y="4811712"/>
              <a:ext cx="50800" cy="39687"/>
            </a:xfrm>
            <a:custGeom>
              <a:avLst/>
              <a:gdLst>
                <a:gd name="T0" fmla="*/ 18 w 18"/>
                <a:gd name="T1" fmla="*/ 0 h 14"/>
                <a:gd name="T2" fmla="*/ 0 w 18"/>
                <a:gd name="T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14">
                  <a:moveTo>
                    <a:pt x="18" y="0"/>
                  </a:moveTo>
                  <a:cubicBezTo>
                    <a:pt x="17" y="6"/>
                    <a:pt x="12" y="14"/>
                    <a:pt x="0" y="14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Line 150">
              <a:extLst>
                <a:ext uri="{FF2B5EF4-FFF2-40B4-BE49-F238E27FC236}">
                  <a16:creationId xmlns:a16="http://schemas.microsoft.com/office/drawing/2014/main" id="{D9B8EA72-399D-4239-BADD-1CFBF8576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700" y="4941887"/>
              <a:ext cx="20637" cy="0"/>
            </a:xfrm>
            <a:prstGeom prst="line">
              <a:avLst/>
            </a:prstGeom>
            <a:noFill/>
            <a:ln w="1270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2" name="Freeform 151">
              <a:extLst>
                <a:ext uri="{FF2B5EF4-FFF2-40B4-BE49-F238E27FC236}">
                  <a16:creationId xmlns:a16="http://schemas.microsoft.com/office/drawing/2014/main" id="{5D086E84-F817-48B5-809A-BB73A795D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4162" y="4900612"/>
              <a:ext cx="52387" cy="44450"/>
            </a:xfrm>
            <a:custGeom>
              <a:avLst/>
              <a:gdLst>
                <a:gd name="T0" fmla="*/ 18 w 18"/>
                <a:gd name="T1" fmla="*/ 0 h 15"/>
                <a:gd name="T2" fmla="*/ 0 w 18"/>
                <a:gd name="T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" h="15">
                  <a:moveTo>
                    <a:pt x="18" y="0"/>
                  </a:moveTo>
                  <a:cubicBezTo>
                    <a:pt x="16" y="7"/>
                    <a:pt x="12" y="15"/>
                    <a:pt x="0" y="14"/>
                  </a:cubicBez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80A2B43-B96D-48D7-9695-0F67E3989673}"/>
              </a:ext>
            </a:extLst>
          </p:cNvPr>
          <p:cNvGrpSpPr/>
          <p:nvPr/>
        </p:nvGrpSpPr>
        <p:grpSpPr>
          <a:xfrm>
            <a:off x="10732654" y="5293980"/>
            <a:ext cx="807240" cy="807242"/>
            <a:chOff x="5166586" y="2640060"/>
            <a:chExt cx="640325" cy="640325"/>
          </a:xfrm>
        </p:grpSpPr>
        <p:sp>
          <p:nvSpPr>
            <p:cNvPr id="74" name="Freeform 59">
              <a:extLst>
                <a:ext uri="{FF2B5EF4-FFF2-40B4-BE49-F238E27FC236}">
                  <a16:creationId xmlns:a16="http://schemas.microsoft.com/office/drawing/2014/main" id="{5315026A-6BF0-437F-A3AE-67793E12C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022" y="2725783"/>
              <a:ext cx="277950" cy="275353"/>
            </a:xfrm>
            <a:custGeom>
              <a:avLst/>
              <a:gdLst>
                <a:gd name="T0" fmla="*/ 46 w 91"/>
                <a:gd name="T1" fmla="*/ 0 h 90"/>
                <a:gd name="T2" fmla="*/ 63 w 91"/>
                <a:gd name="T3" fmla="*/ 17 h 90"/>
                <a:gd name="T4" fmla="*/ 65 w 91"/>
                <a:gd name="T5" fmla="*/ 8 h 90"/>
                <a:gd name="T6" fmla="*/ 82 w 91"/>
                <a:gd name="T7" fmla="*/ 8 h 90"/>
                <a:gd name="T8" fmla="*/ 82 w 91"/>
                <a:gd name="T9" fmla="*/ 25 h 90"/>
                <a:gd name="T10" fmla="*/ 74 w 91"/>
                <a:gd name="T11" fmla="*/ 28 h 90"/>
                <a:gd name="T12" fmla="*/ 91 w 91"/>
                <a:gd name="T13" fmla="*/ 45 h 90"/>
                <a:gd name="T14" fmla="*/ 74 w 91"/>
                <a:gd name="T15" fmla="*/ 62 h 90"/>
                <a:gd name="T16" fmla="*/ 85 w 91"/>
                <a:gd name="T17" fmla="*/ 69 h 90"/>
                <a:gd name="T18" fmla="*/ 82 w 91"/>
                <a:gd name="T19" fmla="*/ 82 h 90"/>
                <a:gd name="T20" fmla="*/ 65 w 91"/>
                <a:gd name="T21" fmla="*/ 82 h 90"/>
                <a:gd name="T22" fmla="*/ 63 w 91"/>
                <a:gd name="T23" fmla="*/ 73 h 90"/>
                <a:gd name="T24" fmla="*/ 46 w 91"/>
                <a:gd name="T25" fmla="*/ 90 h 90"/>
                <a:gd name="T26" fmla="*/ 29 w 91"/>
                <a:gd name="T27" fmla="*/ 73 h 90"/>
                <a:gd name="T28" fmla="*/ 37 w 91"/>
                <a:gd name="T29" fmla="*/ 70 h 90"/>
                <a:gd name="T30" fmla="*/ 37 w 91"/>
                <a:gd name="T31" fmla="*/ 53 h 90"/>
                <a:gd name="T32" fmla="*/ 20 w 91"/>
                <a:gd name="T33" fmla="*/ 53 h 90"/>
                <a:gd name="T34" fmla="*/ 17 w 91"/>
                <a:gd name="T35" fmla="*/ 62 h 90"/>
                <a:gd name="T36" fmla="*/ 0 w 91"/>
                <a:gd name="T37" fmla="*/ 45 h 90"/>
                <a:gd name="T38" fmla="*/ 46 w 91"/>
                <a:gd name="T3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90">
                  <a:moveTo>
                    <a:pt x="46" y="0"/>
                  </a:moveTo>
                  <a:cubicBezTo>
                    <a:pt x="63" y="17"/>
                    <a:pt x="63" y="17"/>
                    <a:pt x="63" y="17"/>
                  </a:cubicBezTo>
                  <a:cubicBezTo>
                    <a:pt x="62" y="14"/>
                    <a:pt x="63" y="10"/>
                    <a:pt x="65" y="8"/>
                  </a:cubicBezTo>
                  <a:cubicBezTo>
                    <a:pt x="70" y="3"/>
                    <a:pt x="78" y="3"/>
                    <a:pt x="82" y="8"/>
                  </a:cubicBezTo>
                  <a:cubicBezTo>
                    <a:pt x="87" y="13"/>
                    <a:pt x="87" y="20"/>
                    <a:pt x="82" y="25"/>
                  </a:cubicBezTo>
                  <a:cubicBezTo>
                    <a:pt x="80" y="27"/>
                    <a:pt x="77" y="28"/>
                    <a:pt x="74" y="28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9" y="62"/>
                    <a:pt x="83" y="64"/>
                    <a:pt x="85" y="69"/>
                  </a:cubicBezTo>
                  <a:cubicBezTo>
                    <a:pt x="86" y="74"/>
                    <a:pt x="86" y="79"/>
                    <a:pt x="82" y="82"/>
                  </a:cubicBezTo>
                  <a:cubicBezTo>
                    <a:pt x="78" y="87"/>
                    <a:pt x="70" y="86"/>
                    <a:pt x="65" y="82"/>
                  </a:cubicBezTo>
                  <a:cubicBezTo>
                    <a:pt x="63" y="80"/>
                    <a:pt x="62" y="76"/>
                    <a:pt x="63" y="73"/>
                  </a:cubicBezTo>
                  <a:cubicBezTo>
                    <a:pt x="46" y="90"/>
                    <a:pt x="46" y="90"/>
                    <a:pt x="46" y="9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2" y="74"/>
                    <a:pt x="35" y="73"/>
                    <a:pt x="37" y="70"/>
                  </a:cubicBezTo>
                  <a:cubicBezTo>
                    <a:pt x="42" y="66"/>
                    <a:pt x="42" y="58"/>
                    <a:pt x="37" y="53"/>
                  </a:cubicBezTo>
                  <a:cubicBezTo>
                    <a:pt x="32" y="49"/>
                    <a:pt x="25" y="49"/>
                    <a:pt x="20" y="53"/>
                  </a:cubicBezTo>
                  <a:cubicBezTo>
                    <a:pt x="18" y="56"/>
                    <a:pt x="17" y="59"/>
                    <a:pt x="17" y="62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46" y="0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Oval 60">
              <a:extLst>
                <a:ext uri="{FF2B5EF4-FFF2-40B4-BE49-F238E27FC236}">
                  <a16:creationId xmlns:a16="http://schemas.microsoft.com/office/drawing/2014/main" id="{9B2CEEFB-3C87-495F-B47E-14239B91C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586" y="2640060"/>
              <a:ext cx="453293" cy="455891"/>
            </a:xfrm>
            <a:prstGeom prst="ellipse">
              <a:avLst/>
            </a:pr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61">
              <a:extLst>
                <a:ext uri="{FF2B5EF4-FFF2-40B4-BE49-F238E27FC236}">
                  <a16:creationId xmlns:a16="http://schemas.microsoft.com/office/drawing/2014/main" id="{390A90CC-458F-4529-BE81-624B4D8BA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017" y="3053089"/>
              <a:ext cx="229894" cy="227296"/>
            </a:xfrm>
            <a:custGeom>
              <a:avLst/>
              <a:gdLst>
                <a:gd name="T0" fmla="*/ 33 w 177"/>
                <a:gd name="T1" fmla="*/ 0 h 175"/>
                <a:gd name="T2" fmla="*/ 0 w 177"/>
                <a:gd name="T3" fmla="*/ 33 h 175"/>
                <a:gd name="T4" fmla="*/ 144 w 177"/>
                <a:gd name="T5" fmla="*/ 175 h 175"/>
                <a:gd name="T6" fmla="*/ 177 w 177"/>
                <a:gd name="T7" fmla="*/ 142 h 175"/>
                <a:gd name="T8" fmla="*/ 33 w 177"/>
                <a:gd name="T9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75">
                  <a:moveTo>
                    <a:pt x="33" y="0"/>
                  </a:moveTo>
                  <a:lnTo>
                    <a:pt x="0" y="33"/>
                  </a:lnTo>
                  <a:lnTo>
                    <a:pt x="144" y="175"/>
                  </a:lnTo>
                  <a:lnTo>
                    <a:pt x="177" y="142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Line 62">
              <a:extLst>
                <a:ext uri="{FF2B5EF4-FFF2-40B4-BE49-F238E27FC236}">
                  <a16:creationId xmlns:a16="http://schemas.microsoft.com/office/drawing/2014/main" id="{EBE2301D-595A-4A3B-8E68-EF1018C102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56236" y="3028411"/>
              <a:ext cx="42862" cy="46758"/>
            </a:xfrm>
            <a:prstGeom prst="line">
              <a:avLst/>
            </a:prstGeom>
            <a:noFill/>
            <a:ln w="1270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59" name="Arrow: Pentagon 58">
            <a:extLst>
              <a:ext uri="{FF2B5EF4-FFF2-40B4-BE49-F238E27FC236}">
                <a16:creationId xmlns:a16="http://schemas.microsoft.com/office/drawing/2014/main" id="{940E5B1B-3B37-4CC8-9186-87D183F3348C}"/>
              </a:ext>
            </a:extLst>
          </p:cNvPr>
          <p:cNvSpPr>
            <a:spLocks/>
          </p:cNvSpPr>
          <p:nvPr/>
        </p:nvSpPr>
        <p:spPr>
          <a:xfrm>
            <a:off x="-9524" y="1266825"/>
            <a:ext cx="3152099" cy="491172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E982223-D41D-4BDB-946E-8E08D79613A7}"/>
              </a:ext>
            </a:extLst>
          </p:cNvPr>
          <p:cNvSpPr>
            <a:spLocks/>
          </p:cNvSpPr>
          <p:nvPr/>
        </p:nvSpPr>
        <p:spPr>
          <a:xfrm>
            <a:off x="278509" y="1401379"/>
            <a:ext cx="2421417" cy="414902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73F0146-0D6F-4442-B242-4E1B76C7E70D}"/>
              </a:ext>
            </a:extLst>
          </p:cNvPr>
          <p:cNvSpPr>
            <a:spLocks/>
          </p:cNvSpPr>
          <p:nvPr/>
        </p:nvSpPr>
        <p:spPr>
          <a:xfrm>
            <a:off x="259034" y="2133321"/>
            <a:ext cx="2440892" cy="3848556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BAEC41-4EBA-412A-BDB1-9F9BBB8639CE}"/>
              </a:ext>
            </a:extLst>
          </p:cNvPr>
          <p:cNvSpPr txBox="1">
            <a:spLocks/>
          </p:cNvSpPr>
          <p:nvPr/>
        </p:nvSpPr>
        <p:spPr>
          <a:xfrm>
            <a:off x="2688194" y="2976371"/>
            <a:ext cx="4999144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C92723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D46382-7CE8-4DD2-821E-294F38E97625}"/>
              </a:ext>
            </a:extLst>
          </p:cNvPr>
          <p:cNvSpPr txBox="1">
            <a:spLocks/>
          </p:cNvSpPr>
          <p:nvPr/>
        </p:nvSpPr>
        <p:spPr>
          <a:xfrm>
            <a:off x="395439" y="3491709"/>
            <a:ext cx="2080636" cy="81911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ru-RU" sz="1800" b="1" dirty="0">
                <a:solidFill>
                  <a:srgbClr val="C92723"/>
                </a:solidFill>
                <a:latin typeface="Verdana"/>
              </a:rPr>
              <a:t>Стратегические цели проекта «Умный дом» 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C92723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58C779-0263-46E1-83B9-B3294DB84587}"/>
              </a:ext>
            </a:extLst>
          </p:cNvPr>
          <p:cNvSpPr txBox="1">
            <a:spLocks/>
          </p:cNvSpPr>
          <p:nvPr/>
        </p:nvSpPr>
        <p:spPr>
          <a:xfrm>
            <a:off x="414914" y="1539283"/>
            <a:ext cx="2273280" cy="1838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Миссия города 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B519683-0B48-462B-BE67-BC98C08CC612}"/>
              </a:ext>
            </a:extLst>
          </p:cNvPr>
          <p:cNvCxnSpPr>
            <a:cxnSpLocks/>
          </p:cNvCxnSpPr>
          <p:nvPr/>
        </p:nvCxnSpPr>
        <p:spPr>
          <a:xfrm>
            <a:off x="3154899" y="1956186"/>
            <a:ext cx="9037101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61460A5-74D6-4E60-8581-516BC807CB56}"/>
              </a:ext>
            </a:extLst>
          </p:cNvPr>
          <p:cNvCxnSpPr>
            <a:cxnSpLocks/>
          </p:cNvCxnSpPr>
          <p:nvPr/>
        </p:nvCxnSpPr>
        <p:spPr>
          <a:xfrm>
            <a:off x="0" y="1956186"/>
            <a:ext cx="3142575" cy="0"/>
          </a:xfrm>
          <a:prstGeom prst="line">
            <a:avLst/>
          </a:prstGeom>
          <a:ln w="63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Arrow: Pentagon 103">
            <a:extLst>
              <a:ext uri="{FF2B5EF4-FFF2-40B4-BE49-F238E27FC236}">
                <a16:creationId xmlns:a16="http://schemas.microsoft.com/office/drawing/2014/main" id="{06337448-F4B3-4C6E-AA7D-B46574AD0095}"/>
              </a:ext>
            </a:extLst>
          </p:cNvPr>
          <p:cNvSpPr>
            <a:spLocks/>
          </p:cNvSpPr>
          <p:nvPr/>
        </p:nvSpPr>
        <p:spPr>
          <a:xfrm>
            <a:off x="2987959" y="1266826"/>
            <a:ext cx="9201241" cy="689360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A7B223B-6D48-4EBA-B598-D92A6B3EDEA3}"/>
              </a:ext>
            </a:extLst>
          </p:cNvPr>
          <p:cNvSpPr txBox="1">
            <a:spLocks/>
          </p:cNvSpPr>
          <p:nvPr/>
        </p:nvSpPr>
        <p:spPr>
          <a:xfrm>
            <a:off x="3430428" y="1266826"/>
            <a:ext cx="8675847" cy="64373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Обеспечить жителей города широким набором современных услуг в жилищной сфере и повысить качество жизни</a:t>
            </a:r>
          </a:p>
        </p:txBody>
      </p:sp>
      <p:pic>
        <p:nvPicPr>
          <p:cNvPr id="29" name="CustomIcon">
            <a:extLst>
              <a:ext uri="{FF2B5EF4-FFF2-40B4-BE49-F238E27FC236}">
                <a16:creationId xmlns:a16="http://schemas.microsoft.com/office/drawing/2014/main" id="{EC47E43E-2A29-485B-BABB-6340EA4D2E2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9383" y="4543925"/>
            <a:ext cx="956692" cy="95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25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095E67C-A5E8-4091-90B1-D7CC5C13C4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395" imgH="396" progId="TCLayout.ActiveDocument.1">
                  <p:embed/>
                </p:oleObj>
              </mc:Choice>
              <mc:Fallback>
                <p:oleObj name="think-cell Slide" r:id="rId36" imgW="395" imgH="396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095E67C-A5E8-4091-90B1-D7CC5C13C4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1FDC85D3-37D7-4952-9249-55B8B4C4E7E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Выполнение функционала агрегатора требует наличия разноплановых компетенций</a:t>
            </a:r>
            <a:endParaRPr lang="en-US" dirty="0"/>
          </a:p>
        </p:txBody>
      </p:sp>
      <p:sp>
        <p:nvSpPr>
          <p:cNvPr id="173" name="1. On-page tracker">
            <a:extLst>
              <a:ext uri="{FF2B5EF4-FFF2-40B4-BE49-F238E27FC236}">
                <a16:creationId xmlns:a16="http://schemas.microsoft.com/office/drawing/2014/main" id="{2E8D91E7-1180-4F98-AB35-0ECC29E5450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sz="1000" b="1" dirty="0"/>
              <a:t>2. Функции и компетенции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B0EFAD5-053E-4B77-A0CD-0CC8F291FDD8}"/>
              </a:ext>
            </a:extLst>
          </p:cNvPr>
          <p:cNvSpPr txBox="1">
            <a:spLocks/>
          </p:cNvSpPr>
          <p:nvPr/>
        </p:nvSpPr>
        <p:spPr>
          <a:xfrm>
            <a:off x="554734" y="5828479"/>
            <a:ext cx="11082528" cy="260087"/>
          </a:xfrm>
          <a:prstGeom prst="roundRect">
            <a:avLst>
              <a:gd name="adj" fmla="val 11599"/>
            </a:avLst>
          </a:prstGeom>
          <a:solidFill>
            <a:schemeClr val="accent2">
              <a:lumMod val="20000"/>
              <a:lumOff val="80000"/>
            </a:schemeClr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ru-RU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Перечень компетенций, а также различие </a:t>
            </a:r>
            <a:r>
              <a:rPr lang="ru-RU" sz="800" dirty="0">
                <a:latin typeface="+mj-lt"/>
              </a:rPr>
              <a:t>требуемой </a:t>
            </a:r>
            <a:r>
              <a:rPr kumimoji="0" lang="ru-RU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инженерной экспертизы в зависимости от сервиса, </a:t>
            </a: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будут детализированы</a:t>
            </a:r>
            <a:r>
              <a:rPr kumimoji="0" lang="ru-RU" sz="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</a:rPr>
              <a:t> в ходе </a:t>
            </a: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</a:rPr>
              <a:t>пилота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2EADE0-70C3-46B9-8FAE-5D1DDC66FDF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91962" y="4416916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/>
              <a:t>Эксплуатация сервисов</a:t>
            </a:r>
            <a:endParaRPr lang="ru-RU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197689-C4B8-4BC3-B94E-2DCED4BAAF4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705236" y="4416916"/>
            <a:ext cx="4046219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/>
              <a:t>Обработка и </a:t>
            </a:r>
            <a:r>
              <a:rPr lang="ru-RU" sz="800"/>
              <a:t>распределение платежей</a:t>
            </a:r>
            <a:endParaRPr lang="ru-RU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AFD33D-0C5D-4405-B848-6AD7236F933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888683" y="4416916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Работа с платежными системами</a:t>
            </a:r>
            <a:endParaRPr lang="en-US" sz="800" dirty="0"/>
          </a:p>
          <a:p>
            <a:pPr lvl="1"/>
            <a:r>
              <a:rPr lang="ru-RU" sz="800" dirty="0"/>
              <a:t>Финансовая отчетность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9C934-09B0-4337-B582-B507E00347C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91962" y="1597351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Управление проектом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39E998-BA84-4CDA-BFF1-916C1BEAD49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6888683" y="1597351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Проектный менеджмент</a:t>
            </a:r>
            <a:endParaRPr lang="en-US" sz="800" dirty="0"/>
          </a:p>
          <a:p>
            <a:pPr lvl="1"/>
            <a:r>
              <a:rPr lang="ru-RU" sz="800" dirty="0"/>
              <a:t>Управленческий учет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1F015D-F8A4-49C6-8BC6-9CA4C0C04AE1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2705236" y="1597351"/>
            <a:ext cx="4046219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Планирование и подход к реализации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Координация участников процесса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Формирование отчетности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A261ED-AFD9-4834-A161-E6A84F102E9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91962" y="2441180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Подготовка инфраструктуры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7CCE443-75D3-4375-BDAA-D7533A737897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2705236" y="2441180"/>
            <a:ext cx="4046219" cy="2846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Обеспечение соответствия инфраструктуры тех. требованиям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Координация системной интеграции (</a:t>
            </a:r>
            <a:r>
              <a:rPr lang="ru-RU" sz="800" dirty="0" err="1">
                <a:solidFill>
                  <a:srgbClr val="000000"/>
                </a:solidFill>
              </a:rPr>
              <a:t>фротн</a:t>
            </a:r>
            <a:r>
              <a:rPr lang="ru-RU" sz="800" dirty="0">
                <a:solidFill>
                  <a:srgbClr val="000000"/>
                </a:solidFill>
              </a:rPr>
              <a:t>-энд и бэк-энд)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152BE-B0E4-4943-8AC1-EABFD9E5978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91962" y="2782303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/>
              <a:t>Контрактование</a:t>
            </a:r>
            <a:endParaRPr lang="ru-RU" sz="8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F67422-AA3F-4FEC-A482-9D7859A93DFC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6888683" y="2782303"/>
            <a:ext cx="2825903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Юр. экспертиза (коммерческие договора)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A32163-B6F7-4ED4-BFF4-15511317B4B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2705236" y="2782303"/>
            <a:ext cx="4046219" cy="2846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Проработка ключевых контрактных механизмов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Заключение договоров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BE5417-B3D0-401A-AF10-38A3AF9F63C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91962" y="3123426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/>
              <a:t>Подключение домов</a:t>
            </a:r>
            <a:endParaRPr lang="ru-RU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05FE3A-F7BE-40BB-935B-2EB78BD23000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6888683" y="3123426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Маркетинг</a:t>
            </a:r>
            <a:endParaRPr lang="en-US" sz="800" dirty="0"/>
          </a:p>
          <a:p>
            <a:pPr lvl="1"/>
            <a:r>
              <a:rPr lang="en-US" sz="800" dirty="0" err="1"/>
              <a:t>SMM</a:t>
            </a:r>
            <a:endParaRPr lang="ru-RU" sz="8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487C05E-261C-41D5-BD95-33865DD9BA5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2705236" y="3123426"/>
            <a:ext cx="4046219" cy="2846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Определение потенциальных домов для внедрения сервисов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Подготовка рекламных материалов </a:t>
            </a:r>
            <a:r>
              <a:rPr lang="ru-RU" sz="800">
                <a:solidFill>
                  <a:srgbClr val="000000"/>
                </a:solidFill>
              </a:rPr>
              <a:t>для жителей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EBAC1-DCC7-4418-8C4F-C338FF6AB19E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91962" y="4758039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/>
              <a:t>Инновации</a:t>
            </a:r>
            <a:endParaRPr lang="ru-RU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DCC8C2-4D08-47CD-9B14-03B38F4D0BA3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6888683" y="4758039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Исследование рынка</a:t>
            </a:r>
          </a:p>
          <a:p>
            <a:pPr lvl="1"/>
            <a:r>
              <a:rPr lang="ru-RU" sz="800" dirty="0"/>
              <a:t>Проведение опросов и фокус-групп</a:t>
            </a:r>
            <a:endParaRPr lang="en-US" sz="800" dirty="0"/>
          </a:p>
          <a:p>
            <a:pPr lvl="1"/>
            <a:r>
              <a:rPr lang="ru-RU" sz="800" dirty="0"/>
              <a:t>Финансовое моделирование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9E36FF2-7036-47D6-91B7-217D7CE4270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2705236" y="4758039"/>
            <a:ext cx="4046219" cy="6078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Мониторинг инноваций в российской и мировой практиках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Исследование потребностей жителей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Выбор потенциальных сервисов для пилотирования 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Оценка эффекта и потенциала внедрения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A00FB8-9CB2-43DD-9DCE-126625380190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1962" y="5422322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/>
              <a:t>Обратная связь</a:t>
            </a:r>
            <a:endParaRPr lang="ru-RU" sz="8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93D9B7-F290-455A-9A62-1EF58673C76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6888683" y="5422322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Маркетинг</a:t>
            </a:r>
            <a:endParaRPr lang="en-US" sz="800" dirty="0"/>
          </a:p>
          <a:p>
            <a:pPr lvl="1"/>
            <a:r>
              <a:rPr lang="ru-RU" sz="800" dirty="0"/>
              <a:t>Формирование скриптов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7BA05E5-A71E-485E-9A0D-E0FF454B9A33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>
          <a:xfrm>
            <a:off x="2705236" y="5422322"/>
            <a:ext cx="4046219" cy="2846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Сбор обратной связи по сервисам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Клиентская поддержка (разработка и актуализация скриптов для </a:t>
            </a:r>
            <a:r>
              <a:rPr lang="ru-RU" sz="800" err="1">
                <a:solidFill>
                  <a:srgbClr val="000000"/>
                </a:solidFill>
              </a:rPr>
              <a:t>ЕДЦ</a:t>
            </a:r>
            <a:r>
              <a:rPr lang="ru-RU" sz="800">
                <a:solidFill>
                  <a:srgbClr val="000000"/>
                </a:solidFill>
              </a:rPr>
              <a:t>)</a:t>
            </a:r>
            <a:endParaRPr lang="ru-RU" sz="800" dirty="0">
              <a:solidFill>
                <a:srgbClr val="00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377C1C-AC04-4EF6-9150-DB75627CDB64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6888683" y="3752627"/>
            <a:ext cx="2825903" cy="284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Переговоры и работа с поставщиками</a:t>
            </a:r>
            <a:endParaRPr lang="en-US" sz="800" dirty="0"/>
          </a:p>
          <a:p>
            <a:pPr lvl="1"/>
            <a:r>
              <a:rPr lang="ru-RU" sz="800" dirty="0"/>
              <a:t>Закупочная процедура и оформление тендерной документации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FCAD42F-D858-4A69-952E-20005664EE42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705236" y="3752627"/>
            <a:ext cx="4046219" cy="6078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Поиск поставщиков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Сбор коммерческих предложений 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Проведение тендера 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Определение перечня </a:t>
            </a:r>
            <a:r>
              <a:rPr lang="ru-RU" sz="800">
                <a:solidFill>
                  <a:srgbClr val="000000"/>
                </a:solidFill>
              </a:rPr>
              <a:t>потенциальных поставщиков</a:t>
            </a:r>
            <a:endParaRPr lang="ru-RU" sz="800" dirty="0">
              <a:solidFill>
                <a:srgbClr val="000000"/>
              </a:solidFill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1CEAC60-252F-4A54-9518-26370E5E37EF}"/>
              </a:ext>
            </a:extLst>
          </p:cNvPr>
          <p:cNvCxnSpPr>
            <a:cxnSpLocks/>
          </p:cNvCxnSpPr>
          <p:nvPr/>
        </p:nvCxnSpPr>
        <p:spPr>
          <a:xfrm>
            <a:off x="691962" y="2071842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B3FB6EF-E207-4394-9020-3BEFBD2929E3}"/>
              </a:ext>
            </a:extLst>
          </p:cNvPr>
          <p:cNvCxnSpPr>
            <a:cxnSpLocks/>
          </p:cNvCxnSpPr>
          <p:nvPr/>
        </p:nvCxnSpPr>
        <p:spPr>
          <a:xfrm>
            <a:off x="691963" y="2412965"/>
            <a:ext cx="6059493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A800D81-F4D5-45B0-B6A0-B6688B9AEC31}"/>
              </a:ext>
            </a:extLst>
          </p:cNvPr>
          <p:cNvCxnSpPr>
            <a:cxnSpLocks/>
          </p:cNvCxnSpPr>
          <p:nvPr/>
        </p:nvCxnSpPr>
        <p:spPr>
          <a:xfrm>
            <a:off x="691962" y="2754088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778715C-803F-4685-B7B5-3CF905D4F4E4}"/>
              </a:ext>
            </a:extLst>
          </p:cNvPr>
          <p:cNvCxnSpPr>
            <a:cxnSpLocks/>
          </p:cNvCxnSpPr>
          <p:nvPr/>
        </p:nvCxnSpPr>
        <p:spPr>
          <a:xfrm>
            <a:off x="691962" y="3095211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D0C8ECA-43DC-463C-B3CB-B764A1B6E76A}"/>
              </a:ext>
            </a:extLst>
          </p:cNvPr>
          <p:cNvCxnSpPr>
            <a:cxnSpLocks/>
          </p:cNvCxnSpPr>
          <p:nvPr/>
        </p:nvCxnSpPr>
        <p:spPr>
          <a:xfrm>
            <a:off x="691962" y="3436334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946EA95-B0DD-4BDA-ACE9-8FDE14AB1B0C}"/>
              </a:ext>
            </a:extLst>
          </p:cNvPr>
          <p:cNvCxnSpPr>
            <a:cxnSpLocks/>
          </p:cNvCxnSpPr>
          <p:nvPr/>
        </p:nvCxnSpPr>
        <p:spPr>
          <a:xfrm>
            <a:off x="691962" y="4388701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79796B2-4897-46C6-BF94-74CD2DB4EC64}"/>
              </a:ext>
            </a:extLst>
          </p:cNvPr>
          <p:cNvCxnSpPr>
            <a:cxnSpLocks/>
          </p:cNvCxnSpPr>
          <p:nvPr/>
        </p:nvCxnSpPr>
        <p:spPr>
          <a:xfrm>
            <a:off x="691962" y="4729824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3960B56-2C8F-4EE4-A234-FAF3C2D2B342}"/>
              </a:ext>
            </a:extLst>
          </p:cNvPr>
          <p:cNvCxnSpPr>
            <a:cxnSpLocks/>
          </p:cNvCxnSpPr>
          <p:nvPr/>
        </p:nvCxnSpPr>
        <p:spPr>
          <a:xfrm>
            <a:off x="691962" y="5394113"/>
            <a:ext cx="1135099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E9A72A8D-0708-43A8-AB68-322F4F6B682C}"/>
              </a:ext>
            </a:extLst>
          </p:cNvPr>
          <p:cNvSpPr>
            <a:spLocks/>
          </p:cNvSpPr>
          <p:nvPr/>
        </p:nvSpPr>
        <p:spPr>
          <a:xfrm>
            <a:off x="554733" y="1303021"/>
            <a:ext cx="11488223" cy="227644"/>
          </a:xfrm>
          <a:prstGeom prst="roundRect">
            <a:avLst>
              <a:gd name="adj" fmla="val 12061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800" dirty="0" err="1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E147779-6D52-4578-B597-9A8D6A9ED9AD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91962" y="1371508"/>
            <a:ext cx="187604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egoe UI" panose="020B0502040204020203" pitchFamily="34" charset="0"/>
              <a:buChar char="​"/>
              <a:defRPr sz="800" b="1">
                <a:solidFill>
                  <a:srgbClr val="FFFFFF"/>
                </a:solidFill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Управление проектом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0F40612-1D97-4208-808A-A8E2CBFAC9CA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>
          <a:xfrm>
            <a:off x="6888683" y="1371508"/>
            <a:ext cx="230089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egoe UI" panose="020B0502040204020203" pitchFamily="34" charset="0"/>
              <a:buChar char="​"/>
              <a:defRPr sz="800" b="1">
                <a:solidFill>
                  <a:srgbClr val="FFFFFF"/>
                </a:solidFill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Требуемые компетенции 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B61A9FE-F5F2-4754-A39F-2B1530FEF03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9793535" y="1371508"/>
            <a:ext cx="217322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egoe UI" panose="020B0502040204020203" pitchFamily="34" charset="0"/>
              <a:buChar char="​"/>
              <a:defRPr sz="800" b="1">
                <a:solidFill>
                  <a:srgbClr val="FFFFFF"/>
                </a:solidFill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Различие компетенций по сервисам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AD01302-F5C7-4C8D-AE82-807B96FE53BD}"/>
              </a:ext>
            </a:extLst>
          </p:cNvPr>
          <p:cNvSpPr txBox="1">
            <a:spLocks/>
          </p:cNvSpPr>
          <p:nvPr/>
        </p:nvSpPr>
        <p:spPr>
          <a:xfrm>
            <a:off x="2705236" y="1371508"/>
            <a:ext cx="404621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Font typeface="Segoe UI" panose="020B0502040204020203" pitchFamily="34" charset="0"/>
              <a:buChar char="​"/>
              <a:defRPr sz="800" b="1">
                <a:solidFill>
                  <a:srgbClr val="FFFFFF"/>
                </a:solidFill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/>
              <a:t>Функция</a:t>
            </a:r>
            <a:endParaRPr lang="ru-RU" dirty="0"/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40A1EA4B-EBC4-44A6-8148-97AA59D852E4}"/>
              </a:ext>
            </a:extLst>
          </p:cNvPr>
          <p:cNvCxnSpPr>
            <a:cxnSpLocks/>
          </p:cNvCxnSpPr>
          <p:nvPr/>
        </p:nvCxnSpPr>
        <p:spPr>
          <a:xfrm>
            <a:off x="2705236" y="3724412"/>
            <a:ext cx="9337720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7CD0DA2-A142-4370-B552-CDF60C4CD503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>
          <a:xfrm>
            <a:off x="6888683" y="2100057"/>
            <a:ext cx="2825903" cy="6078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Инженерная экспертиза и тех. надзор за СМР</a:t>
            </a:r>
            <a:endParaRPr lang="en-US" sz="800" dirty="0"/>
          </a:p>
          <a:p>
            <a:pPr lvl="1"/>
            <a:r>
              <a:rPr lang="ru-RU" sz="800" dirty="0"/>
              <a:t>Проектирование</a:t>
            </a:r>
            <a:endParaRPr lang="en-US" sz="800" dirty="0"/>
          </a:p>
          <a:p>
            <a:pPr lvl="1"/>
            <a:r>
              <a:rPr lang="ru-RU" sz="800" dirty="0"/>
              <a:t>Юр. экспертиза (нормативно-правовая база)</a:t>
            </a:r>
            <a:endParaRPr lang="en-US" sz="800" dirty="0"/>
          </a:p>
          <a:p>
            <a:pPr lvl="1"/>
            <a:r>
              <a:rPr lang="ru-RU" sz="800" dirty="0"/>
              <a:t>ИТ-разработка (в т.ч. цифровых продуктов)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428EA-244D-4D2F-82BE-22527BB5AB8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691962" y="2100057"/>
            <a:ext cx="1876046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Разработка стандартов и методологий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617D403-3A04-42A9-85CF-31E5DAC9E7D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>
          <a:xfrm>
            <a:off x="2705236" y="2100057"/>
            <a:ext cx="4046219" cy="2846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Доработка Смарт-стандарта</a:t>
            </a:r>
          </a:p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Составление перечня требований к тех. условиям и проектным решениям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3D1BCDF-BB0D-49C3-B901-C86E2437B265}"/>
              </a:ext>
            </a:extLst>
          </p:cNvPr>
          <p:cNvGrpSpPr>
            <a:grpSpLocks/>
          </p:cNvGrpSpPr>
          <p:nvPr/>
        </p:nvGrpSpPr>
        <p:grpSpPr>
          <a:xfrm>
            <a:off x="10951895" y="2296287"/>
            <a:ext cx="231648" cy="231648"/>
            <a:chOff x="10126688" y="1289273"/>
            <a:chExt cx="153888" cy="153888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620C83DC-9A05-4E8B-9486-50023B86D66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08" name="Graphic 207">
              <a:extLst>
                <a:ext uri="{FF2B5EF4-FFF2-40B4-BE49-F238E27FC236}">
                  <a16:creationId xmlns:a16="http://schemas.microsoft.com/office/drawing/2014/main" id="{9F9CE91E-B606-449D-B7F9-DAB9D2A9B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68816E3-C2CD-4D53-8B77-98237C66F756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691962" y="3464549"/>
            <a:ext cx="1876046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Подключение поставщиков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B630ED-821A-4CB3-A690-FCFF3F1E50DF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>
          <a:xfrm>
            <a:off x="6888683" y="3464549"/>
            <a:ext cx="2825903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800" dirty="0"/>
              <a:t>Инженерная экспертиза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5DBB602-19F8-4677-B54B-29931A2B41DA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2705236" y="3464549"/>
            <a:ext cx="4046219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800" dirty="0">
                <a:solidFill>
                  <a:srgbClr val="000000"/>
                </a:solidFill>
              </a:rPr>
              <a:t>Составление ТЗ для поставщиков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792EA1D-D9BE-4F2A-857D-833ADF998726}"/>
              </a:ext>
            </a:extLst>
          </p:cNvPr>
          <p:cNvGrpSpPr>
            <a:grpSpLocks/>
          </p:cNvGrpSpPr>
          <p:nvPr/>
        </p:nvGrpSpPr>
        <p:grpSpPr>
          <a:xfrm>
            <a:off x="10951895" y="3464549"/>
            <a:ext cx="231648" cy="231648"/>
            <a:chOff x="10126688" y="1289273"/>
            <a:chExt cx="153888" cy="153888"/>
          </a:xfrm>
        </p:grpSpPr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7C55152F-3B67-4698-9EC0-C81C7A2E6799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11" name="Graphic 210">
              <a:extLst>
                <a:ext uri="{FF2B5EF4-FFF2-40B4-BE49-F238E27FC236}">
                  <a16:creationId xmlns:a16="http://schemas.microsoft.com/office/drawing/2014/main" id="{E31F7D9A-1602-4A36-B6DF-73A95FDF3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217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4E7E9BC8-E542-4650-9B20-EF5F8635F2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95" imgH="396" progId="TCLayout.ActiveDocument.1">
                  <p:embed/>
                </p:oleObj>
              </mc:Choice>
              <mc:Fallback>
                <p:oleObj name="think-cell Slide" r:id="rId14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4E7E9BC8-E542-4650-9B20-EF5F8635F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C8E8670-105B-4284-9FED-F379F1E14A63}"/>
              </a:ext>
            </a:extLst>
          </p:cNvPr>
          <p:cNvSpPr/>
          <p:nvPr/>
        </p:nvSpPr>
        <p:spPr>
          <a:xfrm>
            <a:off x="8014967" y="1424717"/>
            <a:ext cx="3695024" cy="34234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5642E116-F85E-4DDD-AAE0-B2ED82140EB4}"/>
              </a:ext>
            </a:extLst>
          </p:cNvPr>
          <p:cNvGrpSpPr/>
          <p:nvPr/>
        </p:nvGrpSpPr>
        <p:grpSpPr>
          <a:xfrm>
            <a:off x="5522993" y="2054155"/>
            <a:ext cx="2103548" cy="2540682"/>
            <a:chOff x="5522993" y="2054155"/>
            <a:chExt cx="2103548" cy="2540682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AE56E49-EF2C-4D6D-A135-B65731E9AE62}"/>
                </a:ext>
              </a:extLst>
            </p:cNvPr>
            <p:cNvSpPr>
              <a:spLocks/>
            </p:cNvSpPr>
            <p:nvPr/>
          </p:nvSpPr>
          <p:spPr>
            <a:xfrm>
              <a:off x="5522993" y="2054155"/>
              <a:ext cx="2103548" cy="2540682"/>
            </a:xfrm>
            <a:prstGeom prst="roundRect">
              <a:avLst>
                <a:gd name="adj" fmla="val 8078"/>
              </a:avLst>
            </a:prstGeom>
            <a:solidFill>
              <a:schemeClr val="bg1"/>
            </a:solidFill>
            <a:effectLst>
              <a:outerShdw blurRad="393700" algn="ctr" rotWithShape="0">
                <a:schemeClr val="tx2">
                  <a:lumMod val="50000"/>
                  <a:alpha val="10000"/>
                </a:schemeClr>
              </a:outerShdw>
            </a:effectLst>
          </p:spPr>
          <p:txBody>
            <a:bodyPr vert="horz" wrap="square" lIns="97935" tIns="97935" rIns="97935" bIns="97935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SzPct val="100000"/>
                <a:buFont typeface="Segoe UI" panose="020B0502040204020203" pitchFamily="34" charset="0"/>
                <a:buChar char="​"/>
              </a:pPr>
              <a:endParaRPr lang="ru-RU" sz="1814" dirty="0" err="1">
                <a:solidFill>
                  <a:schemeClr val="tx1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C423529-C6C9-4AF6-B35E-733A0FFCE650}"/>
                </a:ext>
              </a:extLst>
            </p:cNvPr>
            <p:cNvSpPr txBox="1"/>
            <p:nvPr/>
          </p:nvSpPr>
          <p:spPr>
            <a:xfrm>
              <a:off x="5713643" y="2288995"/>
              <a:ext cx="1722248" cy="2077492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600" b="1" dirty="0">
                  <a:solidFill>
                    <a:schemeClr val="accent3"/>
                  </a:solidFill>
                </a:rPr>
                <a:t>Рабочая группа</a:t>
              </a:r>
            </a:p>
            <a:p>
              <a:r>
                <a:rPr lang="ru-RU" dirty="0"/>
                <a:t>Руководители департаментов курируют масштабирование и обеспечивают взаимодействие сторон</a:t>
              </a:r>
            </a:p>
          </p:txBody>
        </p:sp>
      </p:grp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2AE6909A-F188-4D50-B95F-AA575648A736}"/>
              </a:ext>
            </a:extLst>
          </p:cNvPr>
          <p:cNvSpPr>
            <a:spLocks/>
          </p:cNvSpPr>
          <p:nvPr/>
        </p:nvSpPr>
        <p:spPr>
          <a:xfrm>
            <a:off x="554732" y="2054155"/>
            <a:ext cx="2163211" cy="1809778"/>
          </a:xfrm>
          <a:prstGeom prst="roundRect">
            <a:avLst>
              <a:gd name="adj" fmla="val 10865"/>
            </a:avLst>
          </a:prstGeom>
          <a:solidFill>
            <a:schemeClr val="tx2">
              <a:lumMod val="60000"/>
              <a:lumOff val="40000"/>
            </a:schemeClr>
          </a:solidFill>
          <a:effectLst>
            <a:outerShdw blurRad="393700" algn="ctr" rotWithShape="0">
              <a:schemeClr val="tx2">
                <a:lumMod val="50000"/>
                <a:alpha val="10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264727-FD07-41C8-AD74-119EC9840F5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97609" y="2799582"/>
            <a:ext cx="1817796" cy="318924"/>
          </a:xfrm>
          <a:prstGeom prst="rect">
            <a:avLst/>
          </a:prstGeom>
          <a:noFill/>
          <a:ln>
            <a:noFill/>
          </a:ln>
        </p:spPr>
        <p:txBody>
          <a:bodyPr vert="horz" wrap="square" lIns="36000" tIns="36000" rIns="36000" bIns="36000" rtlCol="0" anchor="ctr" anchorCtr="0">
            <a:sp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lvl="1" indent="0" algn="ctr" defTabSz="914400">
              <a:spcBef>
                <a:spcPts val="300"/>
              </a:spcBef>
              <a:spcAft>
                <a:spcPts val="300"/>
              </a:spcAft>
              <a:buClr>
                <a:srgbClr val="3E5057"/>
              </a:buClr>
              <a:buFont typeface="Segoe UI" panose="020B0502040204020203" pitchFamily="34" charset="0"/>
              <a:buChar char="​"/>
            </a:pPr>
            <a:r>
              <a:rPr lang="ru-RU" sz="1600" b="1" dirty="0">
                <a:solidFill>
                  <a:schemeClr val="bg1"/>
                </a:solidFill>
                <a:sym typeface="+mn-lt"/>
              </a:rPr>
              <a:t>Агрегатор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C4DE93C-8767-4AC1-8FFD-0CC8663069CD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6574767" y="1569489"/>
            <a:ext cx="0" cy="484666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4C7DA4B-FB34-4557-A9FD-FFCC3697BFAD}"/>
              </a:ext>
            </a:extLst>
          </p:cNvPr>
          <p:cNvSpPr/>
          <p:nvPr/>
        </p:nvSpPr>
        <p:spPr>
          <a:xfrm>
            <a:off x="2908605" y="2924853"/>
            <a:ext cx="95250" cy="9525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4B9193-E1A7-43B6-9809-1E69655B0719}"/>
              </a:ext>
            </a:extLst>
          </p:cNvPr>
          <p:cNvSpPr/>
          <p:nvPr/>
        </p:nvSpPr>
        <p:spPr>
          <a:xfrm>
            <a:off x="11547534" y="1557501"/>
            <a:ext cx="89730" cy="9525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CA8746-DAF0-4522-A147-76D3C9036A4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7967341" y="2338819"/>
            <a:ext cx="3669923" cy="576293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 dirty="0"/>
              <a:t>ДИТ, включая представителей задействованных продуктов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C86A5-9889-4394-BA36-121BEBCE9BA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7967341" y="3021445"/>
            <a:ext cx="3669923" cy="36085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/>
              <a:t>ДГП</a:t>
            </a:r>
            <a:endParaRPr lang="ru-RU" sz="1400" b="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A52D41-2C32-4260-8126-3FC6353FB74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7967341" y="1871636"/>
            <a:ext cx="3669923" cy="36085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 dirty="0"/>
              <a:t>ДГИ (вкл. ГБУ «Жилищник»)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342E11-0507-4B58-8E68-84A1AB84C70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7967341" y="4422996"/>
            <a:ext cx="3669923" cy="36085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 dirty="0"/>
              <a:t>Префектуры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EBF088D-5956-4893-BA90-F7FEAD12A516}"/>
              </a:ext>
            </a:extLst>
          </p:cNvPr>
          <p:cNvSpPr/>
          <p:nvPr/>
        </p:nvSpPr>
        <p:spPr>
          <a:xfrm>
            <a:off x="4658615" y="3184509"/>
            <a:ext cx="95250" cy="9525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82" name="2. Slide Title">
            <a:extLst>
              <a:ext uri="{FF2B5EF4-FFF2-40B4-BE49-F238E27FC236}">
                <a16:creationId xmlns:a16="http://schemas.microsoft.com/office/drawing/2014/main" id="{1E09B1BD-D0BC-4907-B991-1F0D2406557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54734" y="207574"/>
            <a:ext cx="11082528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79200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200" b="1" kern="1200" spc="0" baseline="0" dirty="0">
                <a:ln w="6350" cap="flat">
                  <a:noFill/>
                  <a:miter lim="800000"/>
                </a:ln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ru-RU" dirty="0"/>
              <a:t>Создание постоянной рабочей группы обеспечит эффективное взаимодействие между участниками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20DE9CD-CB81-44E7-AA85-8C54B6826676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7967341" y="3955811"/>
            <a:ext cx="3669923" cy="36085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/>
              <a:t>ГОЧСиПБ</a:t>
            </a:r>
            <a:endParaRPr lang="ru-RU" sz="1400" b="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75D2362-6029-4156-B62E-9B22124ECFA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7967341" y="3488628"/>
            <a:ext cx="3669923" cy="36085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defRPr sz="1600" b="1">
                <a:solidFill>
                  <a:srgbClr val="FFFFFF"/>
                </a:solidFill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ru-RU" sz="1400" b="0" dirty="0"/>
              <a:t>ДЖКХ</a:t>
            </a:r>
          </a:p>
        </p:txBody>
      </p:sp>
      <p:sp>
        <p:nvSpPr>
          <p:cNvPr id="41" name="1. On-page tracker">
            <a:extLst>
              <a:ext uri="{FF2B5EF4-FFF2-40B4-BE49-F238E27FC236}">
                <a16:creationId xmlns:a16="http://schemas.microsoft.com/office/drawing/2014/main" id="{1643E4EC-C575-4BB7-9FF2-079A30035D04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10"/>
            </p:custDataLst>
          </p:nvPr>
        </p:nvSpPr>
        <p:spPr>
          <a:xfrm>
            <a:off x="554735" y="41597"/>
            <a:ext cx="3843338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sz="1000" b="1" dirty="0"/>
              <a:t>3. Управление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37708D-EE59-4321-AD46-0348E539F7E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733" y="5280700"/>
            <a:ext cx="2163211" cy="576293"/>
          </a:xfrm>
          <a:prstGeom prst="rect">
            <a:avLst/>
          </a:prstGeom>
          <a:solidFill>
            <a:srgbClr val="E6757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ru-RU" sz="1400" dirty="0"/>
              <a:t>Коммерческие поставщики сервисов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EEB554-4954-46F2-8308-2EB15B504407}"/>
              </a:ext>
            </a:extLst>
          </p:cNvPr>
          <p:cNvSpPr txBox="1">
            <a:spLocks/>
          </p:cNvSpPr>
          <p:nvPr/>
        </p:nvSpPr>
        <p:spPr>
          <a:xfrm>
            <a:off x="554734" y="5968351"/>
            <a:ext cx="11082528" cy="430647"/>
          </a:xfrm>
          <a:prstGeom prst="roundRect">
            <a:avLst>
              <a:gd name="adj" fmla="val 28896"/>
            </a:avLst>
          </a:prstGeom>
          <a:solidFill>
            <a:schemeClr val="bg1"/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lang="ru-RU" sz="1400" dirty="0">
                <a:solidFill>
                  <a:srgbClr val="000000"/>
                </a:solidFill>
                <a:latin typeface="+mj-lt"/>
              </a:rPr>
              <a:t>Необходимо определить </a:t>
            </a:r>
            <a:r>
              <a:rPr lang="ru-RU" sz="1400" b="1" dirty="0">
                <a:solidFill>
                  <a:schemeClr val="accent3"/>
                </a:solidFill>
                <a:latin typeface="+mj-lt"/>
              </a:rPr>
              <a:t>руководителя</a:t>
            </a:r>
            <a:r>
              <a:rPr lang="ru-RU" sz="1400" dirty="0">
                <a:solidFill>
                  <a:srgbClr val="000000"/>
                </a:solidFill>
                <a:latin typeface="+mj-lt"/>
              </a:rPr>
              <a:t> и </a:t>
            </a:r>
            <a:r>
              <a:rPr lang="ru-RU" sz="1400" b="1" dirty="0">
                <a:solidFill>
                  <a:schemeClr val="accent3"/>
                </a:solidFill>
                <a:latin typeface="+mj-lt"/>
              </a:rPr>
              <a:t>регулярность встреч </a:t>
            </a:r>
            <a:r>
              <a:rPr lang="ru-RU" sz="1400" dirty="0">
                <a:solidFill>
                  <a:srgbClr val="000000"/>
                </a:solidFill>
                <a:latin typeface="+mj-lt"/>
              </a:rPr>
              <a:t>для рабочей группы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j-lt"/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E36F4BD8-27F6-4F55-BE76-453DC70A54B7}"/>
              </a:ext>
            </a:extLst>
          </p:cNvPr>
          <p:cNvCxnSpPr>
            <a:cxnSpLocks/>
            <a:stCxn id="9" idx="1"/>
            <a:endCxn id="104" idx="0"/>
          </p:cNvCxnSpPr>
          <p:nvPr/>
        </p:nvCxnSpPr>
        <p:spPr>
          <a:xfrm rot="10800000" flipV="1">
            <a:off x="1636339" y="1569489"/>
            <a:ext cx="6331003" cy="484666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1BC718D-5B57-4474-9554-99BB62151CD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7967341" y="5496143"/>
            <a:ext cx="3669923" cy="360850"/>
          </a:xfrm>
          <a:prstGeom prst="rect">
            <a:avLst/>
          </a:prstGeom>
          <a:solidFill>
            <a:srgbClr val="E6757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ru-RU" sz="1400"/>
              <a:t>Собственники квартир</a:t>
            </a:r>
            <a:endParaRPr lang="ru-RU" sz="1400" dirty="0"/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86B3B68D-64A5-4F48-8C67-B4157F72FEA7}"/>
              </a:ext>
            </a:extLst>
          </p:cNvPr>
          <p:cNvCxnSpPr>
            <a:cxnSpLocks/>
            <a:stCxn id="104" idx="2"/>
            <a:endCxn id="50" idx="0"/>
          </p:cNvCxnSpPr>
          <p:nvPr/>
        </p:nvCxnSpPr>
        <p:spPr>
          <a:xfrm>
            <a:off x="1636338" y="3863933"/>
            <a:ext cx="1" cy="1416767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8D22D46-269E-4FB8-B556-C45222EB0D40}"/>
              </a:ext>
            </a:extLst>
          </p:cNvPr>
          <p:cNvSpPr txBox="1">
            <a:spLocks/>
          </p:cNvSpPr>
          <p:nvPr/>
        </p:nvSpPr>
        <p:spPr>
          <a:xfrm>
            <a:off x="586750" y="4176448"/>
            <a:ext cx="2103548" cy="7917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72000" tIns="72000" rIns="72000" bIns="7200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/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Взаимодействие в</a:t>
            </a:r>
            <a:r>
              <a:rPr lang="en-US" dirty="0"/>
              <a:t> </a:t>
            </a:r>
            <a:r>
              <a:rPr lang="ru-RU" dirty="0"/>
              <a:t>рамках экспертных групп</a:t>
            </a:r>
          </a:p>
        </p:txBody>
      </p:sp>
      <p:cxnSp>
        <p:nvCxnSpPr>
          <p:cNvPr id="79" name="Connector: Elbow 72">
            <a:extLst>
              <a:ext uri="{FF2B5EF4-FFF2-40B4-BE49-F238E27FC236}">
                <a16:creationId xmlns:a16="http://schemas.microsoft.com/office/drawing/2014/main" id="{08A5DCD0-94B8-4D05-AE76-C98C6DE95594}"/>
              </a:ext>
            </a:extLst>
          </p:cNvPr>
          <p:cNvCxnSpPr>
            <a:cxnSpLocks/>
            <a:stCxn id="61" idx="2"/>
            <a:endCxn id="70" idx="0"/>
          </p:cNvCxnSpPr>
          <p:nvPr/>
        </p:nvCxnSpPr>
        <p:spPr>
          <a:xfrm>
            <a:off x="9802303" y="4783846"/>
            <a:ext cx="0" cy="712297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A420EC6-CBB0-4451-82D9-A2863091812A}"/>
              </a:ext>
            </a:extLst>
          </p:cNvPr>
          <p:cNvSpPr txBox="1">
            <a:spLocks/>
          </p:cNvSpPr>
          <p:nvPr/>
        </p:nvSpPr>
        <p:spPr>
          <a:xfrm>
            <a:off x="7967341" y="4959569"/>
            <a:ext cx="3669923" cy="360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72000" tIns="72000" rIns="72000" bIns="72000" rtlCol="0" anchor="ctr" anchorCtr="1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Взаимодействие при подготовке ОСС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5684F-94E8-472B-BA7A-792B6B7D2E54}"/>
              </a:ext>
            </a:extLst>
          </p:cNvPr>
          <p:cNvSpPr txBox="1">
            <a:spLocks/>
          </p:cNvSpPr>
          <p:nvPr/>
        </p:nvSpPr>
        <p:spPr>
          <a:xfrm>
            <a:off x="3214507" y="1424718"/>
            <a:ext cx="1811922" cy="360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72000" tIns="72000" rIns="72000" bIns="72000" rtlCol="0" anchor="ctr" anchorCtr="1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/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Целеполагание</a:t>
            </a:r>
          </a:p>
        </p:txBody>
      </p: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71D91072-323F-46D6-9B76-E0951A5536D3}"/>
              </a:ext>
            </a:extLst>
          </p:cNvPr>
          <p:cNvGrpSpPr/>
          <p:nvPr/>
        </p:nvGrpSpPr>
        <p:grpSpPr>
          <a:xfrm>
            <a:off x="3058744" y="2422853"/>
            <a:ext cx="2123448" cy="1072383"/>
            <a:chOff x="2970696" y="2791550"/>
            <a:chExt cx="2123448" cy="1072383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04549C9-C3EA-47D5-B640-57F8BC6BA62F}"/>
                </a:ext>
              </a:extLst>
            </p:cNvPr>
            <p:cNvSpPr txBox="1">
              <a:spLocks/>
            </p:cNvSpPr>
            <p:nvPr/>
          </p:nvSpPr>
          <p:spPr>
            <a:xfrm>
              <a:off x="2970696" y="2791550"/>
              <a:ext cx="2123448" cy="360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wrap="square" lIns="72000" tIns="72000" rIns="72000" bIns="72000" rtlCol="0" anchor="ctr" anchorCtr="1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400"/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dirty="0"/>
                <a:t>Контроль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F35E952-7F6B-47BF-985D-2FBC910B3FBF}"/>
                </a:ext>
              </a:extLst>
            </p:cNvPr>
            <p:cNvSpPr txBox="1">
              <a:spLocks/>
            </p:cNvSpPr>
            <p:nvPr/>
          </p:nvSpPr>
          <p:spPr>
            <a:xfrm>
              <a:off x="2970696" y="3503083"/>
              <a:ext cx="2123448" cy="3608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wrap="square" lIns="72000" tIns="72000" rIns="72000" bIns="72000" rtlCol="0" anchor="ctr" anchorCtr="1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400"/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dirty="0"/>
                <a:t>Эскалация проблем</a:t>
              </a:r>
            </a:p>
          </p:txBody>
        </p: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BBC5D6D3-5902-48D3-8F5A-F6DF29F1531C}"/>
              </a:ext>
            </a:extLst>
          </p:cNvPr>
          <p:cNvGrpSpPr/>
          <p:nvPr/>
        </p:nvGrpSpPr>
        <p:grpSpPr>
          <a:xfrm>
            <a:off x="2717944" y="2900597"/>
            <a:ext cx="2805048" cy="116894"/>
            <a:chOff x="2706054" y="3269294"/>
            <a:chExt cx="2652731" cy="116894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33E2F57-1E8C-4622-AA90-AFAA4C8948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6054" y="3269294"/>
              <a:ext cx="2652731" cy="0"/>
            </a:xfrm>
            <a:prstGeom prst="straightConnector1">
              <a:avLst/>
            </a:prstGeom>
            <a:ln w="6350" cap="sq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A56FA5B-E7A3-4840-8BD5-DDE968259B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6054" y="3386188"/>
              <a:ext cx="2652731" cy="0"/>
            </a:xfrm>
            <a:prstGeom prst="straightConnector1">
              <a:avLst/>
            </a:prstGeom>
            <a:ln w="6350" cap="sq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DDC966-0058-43B0-80C1-90DB186FC3CD}"/>
              </a:ext>
            </a:extLst>
          </p:cNvPr>
          <p:cNvSpPr txBox="1">
            <a:spLocks/>
          </p:cNvSpPr>
          <p:nvPr/>
        </p:nvSpPr>
        <p:spPr>
          <a:xfrm>
            <a:off x="7967341" y="1373675"/>
            <a:ext cx="3669923" cy="391628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1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800" b="1">
                <a:solidFill>
                  <a:schemeClr val="accent3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</a:pPr>
            <a:r>
              <a:rPr lang="ru-RU" sz="1600" dirty="0">
                <a:solidFill>
                  <a:srgbClr val="FFFFFF"/>
                </a:solidFill>
                <a:cs typeface="Arial" panose="020B0604020202020204" pitchFamily="34" charset="0"/>
              </a:rPr>
              <a:t>Руководство города</a:t>
            </a:r>
            <a:endParaRPr lang="en-US" sz="1600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84A1A9D-DCDE-4FD9-BB51-D863F84B48E1}"/>
              </a:ext>
            </a:extLst>
          </p:cNvPr>
          <p:cNvCxnSpPr>
            <a:cxnSpLocks/>
          </p:cNvCxnSpPr>
          <p:nvPr/>
        </p:nvCxnSpPr>
        <p:spPr>
          <a:xfrm flipH="1" flipV="1">
            <a:off x="7626541" y="3322874"/>
            <a:ext cx="197776" cy="3245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5BE9B571-3EE0-4851-8DC5-F75A30E1F692}"/>
              </a:ext>
            </a:extLst>
          </p:cNvPr>
          <p:cNvCxnSpPr>
            <a:cxnSpLocks/>
            <a:stCxn id="58" idx="1"/>
          </p:cNvCxnSpPr>
          <p:nvPr/>
        </p:nvCxnSpPr>
        <p:spPr>
          <a:xfrm flipH="1">
            <a:off x="7824317" y="2052061"/>
            <a:ext cx="143024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04B9051-707F-49D4-BA4F-363CEAD3233B}"/>
              </a:ext>
            </a:extLst>
          </p:cNvPr>
          <p:cNvCxnSpPr>
            <a:cxnSpLocks/>
          </p:cNvCxnSpPr>
          <p:nvPr/>
        </p:nvCxnSpPr>
        <p:spPr>
          <a:xfrm flipH="1">
            <a:off x="7824317" y="2626965"/>
            <a:ext cx="143024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9A6DBD1-40E9-41BB-AA32-547B932DBE98}"/>
              </a:ext>
            </a:extLst>
          </p:cNvPr>
          <p:cNvCxnSpPr>
            <a:cxnSpLocks/>
          </p:cNvCxnSpPr>
          <p:nvPr/>
        </p:nvCxnSpPr>
        <p:spPr>
          <a:xfrm flipH="1">
            <a:off x="7824317" y="3201870"/>
            <a:ext cx="143024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5BFF4BC-D661-4589-9ABA-D1924A6F9EA4}"/>
              </a:ext>
            </a:extLst>
          </p:cNvPr>
          <p:cNvCxnSpPr>
            <a:cxnSpLocks/>
          </p:cNvCxnSpPr>
          <p:nvPr/>
        </p:nvCxnSpPr>
        <p:spPr>
          <a:xfrm flipH="1">
            <a:off x="7824317" y="3669053"/>
            <a:ext cx="143024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D61861D-18A9-4F30-B24C-5D56DEDA61E6}"/>
              </a:ext>
            </a:extLst>
          </p:cNvPr>
          <p:cNvCxnSpPr>
            <a:cxnSpLocks/>
          </p:cNvCxnSpPr>
          <p:nvPr/>
        </p:nvCxnSpPr>
        <p:spPr>
          <a:xfrm flipH="1">
            <a:off x="7824317" y="4136236"/>
            <a:ext cx="143024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Left Bracket 194">
            <a:extLst>
              <a:ext uri="{FF2B5EF4-FFF2-40B4-BE49-F238E27FC236}">
                <a16:creationId xmlns:a16="http://schemas.microsoft.com/office/drawing/2014/main" id="{B80E7AEC-7B92-4AF4-9D01-6003DA8C72B6}"/>
              </a:ext>
            </a:extLst>
          </p:cNvPr>
          <p:cNvSpPr>
            <a:spLocks/>
          </p:cNvSpPr>
          <p:nvPr/>
        </p:nvSpPr>
        <p:spPr>
          <a:xfrm>
            <a:off x="7824317" y="1652751"/>
            <a:ext cx="143024" cy="2950093"/>
          </a:xfrm>
          <a:prstGeom prst="leftBracket">
            <a:avLst>
              <a:gd name="adj" fmla="val 0"/>
            </a:avLst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155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34A8EB35-026D-4318-AE8C-E420E5BC80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30342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5" progId="TCLayout.ActiveDocument.1">
                  <p:embed/>
                </p:oleObj>
              </mc:Choice>
              <mc:Fallback>
                <p:oleObj name="think-cell Slide" r:id="rId5" imgW="592" imgH="59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4A8EB35-026D-4318-AE8C-E420E5BC80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81">
            <a:extLst>
              <a:ext uri="{FF2B5EF4-FFF2-40B4-BE49-F238E27FC236}">
                <a16:creationId xmlns:a16="http://schemas.microsoft.com/office/drawing/2014/main" id="{426470A3-C4DA-430B-BA3F-B7CF93B22749}"/>
              </a:ext>
            </a:extLst>
          </p:cNvPr>
          <p:cNvSpPr>
            <a:spLocks/>
          </p:cNvSpPr>
          <p:nvPr/>
        </p:nvSpPr>
        <p:spPr>
          <a:xfrm>
            <a:off x="0" y="1266825"/>
            <a:ext cx="12192001" cy="657288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800" b="1" dirty="0">
              <a:solidFill>
                <a:schemeClr val="accent3"/>
              </a:solidFill>
            </a:endParaRPr>
          </a:p>
        </p:txBody>
      </p:sp>
      <p:sp>
        <p:nvSpPr>
          <p:cNvPr id="108" name="Arrow: Pentagon 107">
            <a:extLst>
              <a:ext uri="{FF2B5EF4-FFF2-40B4-BE49-F238E27FC236}">
                <a16:creationId xmlns:a16="http://schemas.microsoft.com/office/drawing/2014/main" id="{40271532-D700-45E4-A71E-ADC0357A8A90}"/>
              </a:ext>
            </a:extLst>
          </p:cNvPr>
          <p:cNvSpPr>
            <a:spLocks/>
          </p:cNvSpPr>
          <p:nvPr/>
        </p:nvSpPr>
        <p:spPr>
          <a:xfrm>
            <a:off x="9158062" y="1266825"/>
            <a:ext cx="3033939" cy="4911725"/>
          </a:xfrm>
          <a:prstGeom prst="homePlate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A40BCE6-6EE3-4032-A00B-AFFE531777B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07286" y="4140055"/>
            <a:ext cx="1216987" cy="1"/>
          </a:xfrm>
          <a:prstGeom prst="bentConnector3">
            <a:avLst>
              <a:gd name="adj1" fmla="val 50000"/>
            </a:avLst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2. Slide Title">
            <a:extLst>
              <a:ext uri="{FF2B5EF4-FFF2-40B4-BE49-F238E27FC236}">
                <a16:creationId xmlns:a16="http://schemas.microsoft.com/office/drawing/2014/main" id="{F9C9D75E-2E94-44EE-B94F-AD7929D9AC8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 err="1"/>
              <a:t>Оргмодель</a:t>
            </a:r>
            <a:r>
              <a:rPr lang="ru-RU" dirty="0"/>
              <a:t> агрегатора зависит от целевой организационно-правовой формы (ОПФ) и схемы подчинения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484645E5-F605-4C16-BB82-F6FB9F93417B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038" y="41275"/>
            <a:ext cx="3843337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n-US" sz="1000" b="1" dirty="0"/>
              <a:t>4</a:t>
            </a:r>
            <a:r>
              <a:rPr lang="ru-RU" sz="1000" b="1" dirty="0"/>
              <a:t>. </a:t>
            </a:r>
            <a:r>
              <a:rPr lang="ru-RU" sz="1000" b="1" dirty="0" err="1"/>
              <a:t>Оргмодель</a:t>
            </a:r>
            <a:endParaRPr lang="ru-RU" sz="10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EF3D9B-69E9-4D53-9400-5270AF13612E}"/>
              </a:ext>
            </a:extLst>
          </p:cNvPr>
          <p:cNvGrpSpPr>
            <a:grpSpLocks/>
          </p:cNvGrpSpPr>
          <p:nvPr/>
        </p:nvGrpSpPr>
        <p:grpSpPr>
          <a:xfrm>
            <a:off x="2674302" y="1266825"/>
            <a:ext cx="974407" cy="657288"/>
            <a:chOff x="5395913" y="1266825"/>
            <a:chExt cx="974407" cy="613810"/>
          </a:xfrm>
          <a:solidFill>
            <a:schemeClr val="bg2"/>
          </a:solidFill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307E138-5C4B-49CF-A39D-4AA9BB441062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29C00B22-09B2-4780-9440-6958ABEADBB6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7246303B-0557-4495-A49D-36DC46FB3D48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1AE5139-8716-4608-A462-4C69F022A4B3}"/>
              </a:ext>
            </a:extLst>
          </p:cNvPr>
          <p:cNvSpPr>
            <a:spLocks/>
          </p:cNvSpPr>
          <p:nvPr/>
        </p:nvSpPr>
        <p:spPr>
          <a:xfrm>
            <a:off x="-25224" y="1266825"/>
            <a:ext cx="2752724" cy="493897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C4C8B-604A-465C-B91A-6CC0AFF6E080}"/>
              </a:ext>
            </a:extLst>
          </p:cNvPr>
          <p:cNvSpPr txBox="1">
            <a:spLocks/>
          </p:cNvSpPr>
          <p:nvPr/>
        </p:nvSpPr>
        <p:spPr>
          <a:xfrm>
            <a:off x="554735" y="1406579"/>
            <a:ext cx="2093592" cy="3777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300" b="1" dirty="0">
                <a:solidFill>
                  <a:schemeClr val="bg1"/>
                </a:solidFill>
                <a:cs typeface="Arial" panose="020B0604020202020204" pitchFamily="34" charset="0"/>
              </a:rPr>
              <a:t>1. Какая нужна ОПФ?</a:t>
            </a:r>
            <a:endParaRPr lang="en-US" sz="13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381B09-3E1E-4C71-BD86-39A4C3DD2036}"/>
              </a:ext>
            </a:extLst>
          </p:cNvPr>
          <p:cNvSpPr>
            <a:spLocks/>
          </p:cNvSpPr>
          <p:nvPr/>
        </p:nvSpPr>
        <p:spPr>
          <a:xfrm>
            <a:off x="554735" y="1986120"/>
            <a:ext cx="2043685" cy="3004851"/>
          </a:xfrm>
          <a:prstGeom prst="roundRect">
            <a:avLst>
              <a:gd name="adj" fmla="val 654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DA1AEE-C1CE-49FE-9ED5-9B774D865D44}"/>
              </a:ext>
            </a:extLst>
          </p:cNvPr>
          <p:cNvSpPr txBox="1"/>
          <p:nvPr/>
        </p:nvSpPr>
        <p:spPr>
          <a:xfrm>
            <a:off x="645048" y="2128932"/>
            <a:ext cx="1863059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ОПФ определяется исходя из </a:t>
            </a:r>
            <a:r>
              <a:rPr lang="ru-RU" sz="1200" b="1" dirty="0">
                <a:solidFill>
                  <a:schemeClr val="accent3"/>
                </a:solidFill>
              </a:rPr>
              <a:t>целевого функционала </a:t>
            </a:r>
            <a:r>
              <a:rPr lang="ru-RU" sz="1200" dirty="0"/>
              <a:t>и необходимости: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оказывать услуги и получать за это плату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проводить гибкие и быстрые закупки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получать субсидии от города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200" dirty="0"/>
              <a:t>нанимать новых сотрудников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308F7-7339-4B4A-9C0E-53120FC13281}"/>
              </a:ext>
            </a:extLst>
          </p:cNvPr>
          <p:cNvSpPr txBox="1">
            <a:spLocks/>
          </p:cNvSpPr>
          <p:nvPr/>
        </p:nvSpPr>
        <p:spPr>
          <a:xfrm>
            <a:off x="554735" y="5195550"/>
            <a:ext cx="2043685" cy="687321"/>
          </a:xfrm>
          <a:prstGeom prst="roundRect">
            <a:avLst>
              <a:gd name="adj" fmla="val 13331"/>
            </a:avLst>
          </a:prstGeom>
          <a:solidFill>
            <a:schemeClr val="bg1">
              <a:alpha val="66000"/>
            </a:schemeClr>
          </a:solidFill>
        </p:spPr>
        <p:txBody>
          <a:bodyPr vert="horz" wrap="square" lIns="36000" tIns="36000" rIns="0" bIns="36000" rtlCol="0" anchor="t" anchorCtr="0">
            <a:noAutofit/>
          </a:bodyPr>
          <a:lstStyle>
            <a:lvl1pPr lvl="0" indent="0" defTabSz="645732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Font typeface="Segoe UI" panose="020B0502040204020203" pitchFamily="34" charset="0"/>
              <a:buChar char="​"/>
              <a:defRPr lang="en-US" sz="988" dirty="0">
                <a:sym typeface="+mn-lt"/>
              </a:defRPr>
            </a:lvl1pPr>
            <a:lvl2pPr marL="162701" lvl="1" indent="-160159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988" dirty="0">
                <a:sym typeface="+mn-lt"/>
              </a:defRPr>
            </a:lvl2pPr>
            <a:lvl3pPr marL="312692" lvl="2" indent="-15253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988" dirty="0">
                <a:sym typeface="+mn-lt"/>
              </a:defRPr>
            </a:lvl3pPr>
            <a:lvl4pPr marL="422007" lvl="3" indent="-106773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988" dirty="0">
                <a:sym typeface="+mn-lt"/>
              </a:defRPr>
            </a:lvl4pPr>
            <a:lvl5pPr marL="577082" lvl="4" indent="-104231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988" dirty="0">
                <a:sym typeface="+mn-lt"/>
              </a:defRPr>
            </a:lvl5pPr>
            <a:lvl6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6pPr>
            <a:lvl7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7pPr>
            <a:lvl8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8pPr>
            <a:lvl9pPr marL="766807" indent="-121075" defTabSz="645732">
              <a:lnSpc>
                <a:spcPct val="100000"/>
              </a:lnSpc>
              <a:spcBef>
                <a:spcPts val="0"/>
              </a:spcBef>
              <a:spcAft>
                <a:spcPts val="212"/>
              </a:spcAft>
              <a:buSzPct val="100000"/>
              <a:buFont typeface="Arial" panose="020B0604020202020204" pitchFamily="34" charset="0"/>
              <a:buChar char="▫"/>
              <a:defRPr sz="1130">
                <a:cs typeface="Arial" panose="020B0604020202020204" pitchFamily="34" charset="0"/>
              </a:defRPr>
            </a:lvl9pPr>
          </a:lstStyle>
          <a:p>
            <a:pPr marL="0" marR="0" lvl="0" indent="0" algn="l" defTabSz="645732" rtl="0" eaLnBrk="1" fontAlgn="auto" latinLnBrk="0" hangingPunct="1">
              <a:lnSpc>
                <a:spcPct val="100000"/>
              </a:lnSpc>
              <a:spcBef>
                <a:spcPts val="212"/>
              </a:spcBef>
              <a:spcAft>
                <a:spcPts val="212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Для определения ОПФ требуется юридическая экспертиза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2A355A-CBBD-4DC2-A2B5-9B7E69AF7173}"/>
              </a:ext>
            </a:extLst>
          </p:cNvPr>
          <p:cNvSpPr txBox="1">
            <a:spLocks/>
          </p:cNvSpPr>
          <p:nvPr/>
        </p:nvSpPr>
        <p:spPr>
          <a:xfrm>
            <a:off x="4236397" y="1406579"/>
            <a:ext cx="3238588" cy="3777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300" b="1" dirty="0">
                <a:solidFill>
                  <a:schemeClr val="bg1"/>
                </a:solidFill>
                <a:cs typeface="Arial" panose="020B0604020202020204" pitchFamily="34" charset="0"/>
              </a:rPr>
              <a:t>2. Кому подчиняется агрегатор?</a:t>
            </a:r>
          </a:p>
        </p:txBody>
      </p:sp>
      <p:sp>
        <p:nvSpPr>
          <p:cNvPr id="20" name="AutoShape 250">
            <a:extLst>
              <a:ext uri="{FF2B5EF4-FFF2-40B4-BE49-F238E27FC236}">
                <a16:creationId xmlns:a16="http://schemas.microsoft.com/office/drawing/2014/main" id="{1FCF5C0B-5152-4197-A4C9-73E0175309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65764" y="2026591"/>
            <a:ext cx="4457884" cy="424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/>
          <a:p>
            <a:r>
              <a:rPr lang="ru-RU" sz="1200" b="1" dirty="0">
                <a:solidFill>
                  <a:schemeClr val="accent3"/>
                </a:solidFill>
                <a:latin typeface="+mn-lt"/>
              </a:rPr>
              <a:t>Предлагаемая схема подчинения</a:t>
            </a:r>
            <a:r>
              <a:rPr lang="en-US" sz="1200" b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US" sz="1200" b="1" dirty="0">
                <a:latin typeface="+mn-lt"/>
              </a:rPr>
              <a:t>– </a:t>
            </a:r>
            <a:r>
              <a:rPr lang="ru-RU" sz="1200" dirty="0">
                <a:latin typeface="+mn-lt"/>
              </a:rPr>
              <a:t>агрегатор является </a:t>
            </a:r>
            <a:r>
              <a:rPr lang="ru-RU" sz="1200" dirty="0" err="1">
                <a:latin typeface="+mn-lt"/>
              </a:rPr>
              <a:t>подвед</a:t>
            </a:r>
            <a:r>
              <a:rPr lang="ru-RU" sz="1200" dirty="0">
                <a:latin typeface="+mn-lt"/>
              </a:rPr>
              <a:t>. </a:t>
            </a:r>
            <a:r>
              <a:rPr lang="ru-RU" sz="1200" dirty="0"/>
              <a:t>о</a:t>
            </a:r>
            <a:r>
              <a:rPr lang="ru-RU" sz="1200" dirty="0">
                <a:latin typeface="+mn-lt"/>
              </a:rPr>
              <a:t>рганизацией </a:t>
            </a:r>
            <a:r>
              <a:rPr lang="ru-RU" sz="1200" dirty="0" err="1">
                <a:latin typeface="+mn-lt"/>
              </a:rPr>
              <a:t>ДИТа</a:t>
            </a:r>
            <a:r>
              <a:rPr lang="ru-RU" sz="1200" dirty="0">
                <a:latin typeface="+mn-lt"/>
              </a:rPr>
              <a:t> </a:t>
            </a:r>
            <a:endParaRPr lang="en-GB" sz="1200" dirty="0">
              <a:solidFill>
                <a:schemeClr val="accent3"/>
              </a:solidFill>
              <a:latin typeface="+mn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6848DC-494A-46C8-9BE1-1BF0064D35FF}"/>
              </a:ext>
            </a:extLst>
          </p:cNvPr>
          <p:cNvGrpSpPr>
            <a:grpSpLocks/>
          </p:cNvGrpSpPr>
          <p:nvPr/>
        </p:nvGrpSpPr>
        <p:grpSpPr>
          <a:xfrm>
            <a:off x="8119893" y="1266825"/>
            <a:ext cx="974407" cy="657288"/>
            <a:chOff x="5395913" y="1266825"/>
            <a:chExt cx="974407" cy="613810"/>
          </a:xfrm>
          <a:solidFill>
            <a:schemeClr val="bg2"/>
          </a:solidFill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38F92371-CF48-4383-B044-01A0DE904876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7F6F4996-A24A-4795-8BF5-0D9450F20473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68729CE9-9A14-4AF0-BEEC-9876814B6375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>
              <a:solidFill>
                <a:schemeClr val="bg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2FAE40F-86CE-47EE-BEE1-B6003BA827B6}"/>
              </a:ext>
            </a:extLst>
          </p:cNvPr>
          <p:cNvSpPr txBox="1">
            <a:spLocks/>
          </p:cNvSpPr>
          <p:nvPr/>
        </p:nvSpPr>
        <p:spPr>
          <a:xfrm>
            <a:off x="6502463" y="5638799"/>
            <a:ext cx="1617430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r>
              <a:rPr lang="ru-RU" sz="1200" dirty="0"/>
              <a:t>Подразделения ДИТ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1DC7A-A4AA-433D-B789-9D9A2DE5ED7B}"/>
              </a:ext>
            </a:extLst>
          </p:cNvPr>
          <p:cNvSpPr txBox="1">
            <a:spLocks/>
          </p:cNvSpPr>
          <p:nvPr/>
        </p:nvSpPr>
        <p:spPr>
          <a:xfrm>
            <a:off x="3338525" y="2791251"/>
            <a:ext cx="1383647" cy="7403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pPr algn="ctr"/>
            <a:r>
              <a:rPr lang="ru-RU" sz="1200" b="1" dirty="0">
                <a:solidFill>
                  <a:schemeClr val="bg2"/>
                </a:solidFill>
              </a:rPr>
              <a:t>Аппарат мэра</a:t>
            </a:r>
            <a:endParaRPr lang="en-US" sz="1200" b="1" dirty="0">
              <a:solidFill>
                <a:schemeClr val="bg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FF1BCC-A00D-4A12-9380-8CDD41C24560}"/>
              </a:ext>
            </a:extLst>
          </p:cNvPr>
          <p:cNvSpPr txBox="1">
            <a:spLocks/>
          </p:cNvSpPr>
          <p:nvPr/>
        </p:nvSpPr>
        <p:spPr>
          <a:xfrm>
            <a:off x="6431256" y="2731822"/>
            <a:ext cx="1715288" cy="9177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pPr algn="ctr"/>
            <a:r>
              <a:rPr lang="ru-RU" sz="1200" b="1" dirty="0">
                <a:solidFill>
                  <a:schemeClr val="bg2"/>
                </a:solidFill>
              </a:rPr>
              <a:t>ДИТ</a:t>
            </a:r>
            <a:endParaRPr lang="en-US" sz="1200" b="1" dirty="0">
              <a:solidFill>
                <a:schemeClr val="bg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140D8B-E274-40B7-A554-DA8757AC7550}"/>
              </a:ext>
            </a:extLst>
          </p:cNvPr>
          <p:cNvSpPr txBox="1">
            <a:spLocks/>
          </p:cNvSpPr>
          <p:nvPr/>
        </p:nvSpPr>
        <p:spPr>
          <a:xfrm>
            <a:off x="3338525" y="4748548"/>
            <a:ext cx="1400280" cy="6852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defPPr>
              <a:defRPr lang="en-US"/>
            </a:defPPr>
            <a:lvl1pPr lvl="0" indent="0" defTabSz="895350">
              <a:buClr>
                <a:schemeClr val="tx2"/>
              </a:buClr>
              <a:buSzPct val="100000"/>
              <a:defRPr sz="1400" baseline="0"/>
            </a:lvl1pPr>
            <a:lvl2pPr marL="1619" lvl="1" indent="0" defTabSz="895350">
              <a:buClr>
                <a:srgbClr val="3E5057"/>
              </a:buClr>
              <a:buSzPct val="125000"/>
              <a:buFont typeface="Arial" charset="0"/>
              <a:buNone/>
              <a:defRPr sz="1000" b="1" baseline="0">
                <a:solidFill>
                  <a:sysClr val="windowText" lastClr="000000"/>
                </a:solidFill>
              </a:defRPr>
            </a:lvl2pPr>
            <a:lvl3pPr marL="457200" lvl="2" indent="-261938" defTabSz="895350">
              <a:buClr>
                <a:schemeClr val="tx2"/>
              </a:buClr>
              <a:buSzPct val="120000"/>
              <a:buFont typeface="Arial" charset="0"/>
              <a:buChar char="–"/>
              <a:defRPr sz="1400" baseline="0"/>
            </a:lvl3pPr>
            <a:lvl4pPr marL="614363" lvl="3" indent="-155575" defTabSz="895350">
              <a:buClr>
                <a:schemeClr val="tx2"/>
              </a:buClr>
              <a:buSzPct val="120000"/>
              <a:buFont typeface="Arial" charset="0"/>
              <a:buChar char="▫"/>
              <a:defRPr sz="1400" baseline="0"/>
            </a:lvl4pPr>
            <a:lvl5pPr marL="749808" lvl="4" indent="-130175" defTabSz="895350">
              <a:buClr>
                <a:schemeClr val="tx2"/>
              </a:buClr>
              <a:buSzPct val="89000"/>
              <a:buFont typeface="Arial" charset="0"/>
              <a:buChar char="-"/>
              <a:defRPr sz="1400" baseline="0"/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 algn="ctr"/>
            <a:r>
              <a:rPr lang="ru-RU" sz="1200" b="1" dirty="0"/>
              <a:t>Агрегатор</a:t>
            </a:r>
            <a:endParaRPr lang="en-US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3987E4-CB20-42F6-8D41-92F8C8549EB3}"/>
              </a:ext>
            </a:extLst>
          </p:cNvPr>
          <p:cNvSpPr txBox="1">
            <a:spLocks/>
          </p:cNvSpPr>
          <p:nvPr/>
        </p:nvSpPr>
        <p:spPr>
          <a:xfrm>
            <a:off x="6955117" y="4748547"/>
            <a:ext cx="667566" cy="685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0BDAF8-71D2-4CF8-A857-79FEF4E59F68}"/>
              </a:ext>
            </a:extLst>
          </p:cNvPr>
          <p:cNvSpPr txBox="1">
            <a:spLocks/>
          </p:cNvSpPr>
          <p:nvPr/>
        </p:nvSpPr>
        <p:spPr>
          <a:xfrm>
            <a:off x="7985267" y="4748547"/>
            <a:ext cx="667566" cy="685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endParaRPr lang="en-US" sz="800" b="1" dirty="0">
              <a:solidFill>
                <a:schemeClr val="bg2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7BEA3D-4869-4F90-9B3B-6A070F9EE106}"/>
              </a:ext>
            </a:extLst>
          </p:cNvPr>
          <p:cNvSpPr txBox="1">
            <a:spLocks/>
          </p:cNvSpPr>
          <p:nvPr/>
        </p:nvSpPr>
        <p:spPr>
          <a:xfrm>
            <a:off x="5821667" y="4748547"/>
            <a:ext cx="667566" cy="685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36000" tIns="36000" rIns="36000" bIns="36000" rtlCol="0" anchor="ctr" anchorCtr="0">
            <a:noAutofit/>
          </a:bodyPr>
          <a:lstStyle>
            <a:lvl1pPr marL="0" lvl="0" indent="0" defTabSz="877443" eaLnBrk="1" latinLnBrk="0" hangingPunct="1">
              <a:buClr>
                <a:schemeClr val="tx2"/>
              </a:buClr>
              <a:buSzPct val="100000"/>
              <a:defRPr lang="x-none" baseline="0">
                <a:latin typeface="+mn-lt"/>
              </a:defRPr>
            </a:lvl1pPr>
            <a:lvl2pPr marL="189802" lvl="1" indent="-188246" defTabSz="877443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baseline="0">
                <a:latin typeface="+mn-lt"/>
              </a:defRPr>
            </a:lvl2pPr>
            <a:lvl3pPr marL="448056" lvl="2" indent="-256699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baseline="0">
                <a:latin typeface="+mn-lt"/>
              </a:defRPr>
            </a:lvl3pPr>
            <a:lvl4pPr marL="602076" lvl="3" indent="-152464" defTabSz="877443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baseline="0">
                <a:latin typeface="+mn-lt"/>
              </a:defRPr>
            </a:lvl4pPr>
            <a:lvl5pPr marL="734812" lvl="4" indent="-127572" defTabSz="877443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5pPr>
            <a:lvl6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6pPr>
            <a:lvl7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7pPr>
            <a:lvl8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8pPr>
            <a:lvl9pPr marL="734812" indent="-127572" defTabSz="877443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1568" baseline="0">
                <a:latin typeface="+mn-lt"/>
              </a:defRPr>
            </a:lvl9pPr>
          </a:lstStyle>
          <a:p>
            <a:endParaRPr lang="en-US" sz="800" b="1" dirty="0">
              <a:solidFill>
                <a:schemeClr val="bg2"/>
              </a:solidFill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254E6C22-4C74-477F-B666-5FFFCEF3E3C2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rot="5400000">
            <a:off x="5114297" y="2573945"/>
            <a:ext cx="1098972" cy="3250235"/>
          </a:xfrm>
          <a:prstGeom prst="bentConnector3">
            <a:avLst>
              <a:gd name="adj1" fmla="val 50000"/>
            </a:avLst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AB4E80D-CCED-4859-85C9-830619A2C5EC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 rot="16200000" flipH="1">
            <a:off x="7254490" y="3683986"/>
            <a:ext cx="1098971" cy="1030150"/>
          </a:xfrm>
          <a:prstGeom prst="bentConnector3">
            <a:avLst/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C624D4B-C42A-42CC-8B33-98B336DB5E4D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5400000">
            <a:off x="6172690" y="3632336"/>
            <a:ext cx="1098971" cy="1133450"/>
          </a:xfrm>
          <a:prstGeom prst="bentConnector3">
            <a:avLst/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66">
            <a:extLst>
              <a:ext uri="{FF2B5EF4-FFF2-40B4-BE49-F238E27FC236}">
                <a16:creationId xmlns:a16="http://schemas.microsoft.com/office/drawing/2014/main" id="{AA3E7371-95B3-410B-9740-1DA87E8D1748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7288900" y="3649576"/>
            <a:ext cx="0" cy="1098971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ight Bracket 55">
            <a:extLst>
              <a:ext uri="{FF2B5EF4-FFF2-40B4-BE49-F238E27FC236}">
                <a16:creationId xmlns:a16="http://schemas.microsoft.com/office/drawing/2014/main" id="{4EB55713-F97E-412A-9529-0CF1BE3132FD}"/>
              </a:ext>
            </a:extLst>
          </p:cNvPr>
          <p:cNvSpPr/>
          <p:nvPr/>
        </p:nvSpPr>
        <p:spPr>
          <a:xfrm rot="5400000">
            <a:off x="7214390" y="4146488"/>
            <a:ext cx="45719" cy="2831166"/>
          </a:xfrm>
          <a:prstGeom prst="rightBracket">
            <a:avLst>
              <a:gd name="adj" fmla="val 61659"/>
            </a:avLst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15C5535-68F1-4E9E-9F0E-389FDE992900}"/>
              </a:ext>
            </a:extLst>
          </p:cNvPr>
          <p:cNvSpPr txBox="1">
            <a:spLocks/>
          </p:cNvSpPr>
          <p:nvPr/>
        </p:nvSpPr>
        <p:spPr>
          <a:xfrm>
            <a:off x="9366585" y="1406579"/>
            <a:ext cx="2270680" cy="3777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1300" b="1" dirty="0">
                <a:solidFill>
                  <a:schemeClr val="bg1"/>
                </a:solidFill>
                <a:cs typeface="Arial" panose="020B0604020202020204" pitchFamily="34" charset="0"/>
              </a:rPr>
              <a:t>3. Нужна ли новая структура?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544097C5-24A2-4CC9-A2EE-7BEF6C580D82}"/>
              </a:ext>
            </a:extLst>
          </p:cNvPr>
          <p:cNvSpPr>
            <a:spLocks/>
          </p:cNvSpPr>
          <p:nvPr/>
        </p:nvSpPr>
        <p:spPr>
          <a:xfrm>
            <a:off x="9366585" y="1986121"/>
            <a:ext cx="2270680" cy="3309192"/>
          </a:xfrm>
          <a:prstGeom prst="roundRect">
            <a:avLst>
              <a:gd name="adj" fmla="val 654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FAE37C-C13E-495F-AF5E-AC73DDBFF17B}"/>
              </a:ext>
            </a:extLst>
          </p:cNvPr>
          <p:cNvSpPr txBox="1"/>
          <p:nvPr/>
        </p:nvSpPr>
        <p:spPr>
          <a:xfrm>
            <a:off x="9508441" y="2082975"/>
            <a:ext cx="1966197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Потребность в создании новой структуры определяется исходя из </a:t>
            </a:r>
            <a:r>
              <a:rPr lang="ru-RU" sz="1200" b="1" dirty="0">
                <a:solidFill>
                  <a:schemeClr val="accent1">
                    <a:lumMod val="50000"/>
                  </a:schemeClr>
                </a:solidFill>
              </a:rPr>
              <a:t>оценки существующих организаций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Имеются ли </a:t>
            </a:r>
            <a:r>
              <a:rPr lang="ru-RU" sz="1200" dirty="0" err="1"/>
              <a:t>подвед</a:t>
            </a:r>
            <a:r>
              <a:rPr lang="ru-RU" sz="1200" dirty="0"/>
              <a:t>. организации со </a:t>
            </a:r>
            <a:r>
              <a:rPr lang="ru-RU" sz="1200" b="1" dirty="0">
                <a:solidFill>
                  <a:schemeClr val="accent1">
                    <a:lumMod val="50000"/>
                  </a:schemeClr>
                </a:solidFill>
              </a:rPr>
              <a:t>схожим функционалом?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Подходят ли </a:t>
            </a:r>
            <a:r>
              <a:rPr lang="ru-RU" sz="1200" b="1" dirty="0">
                <a:solidFill>
                  <a:schemeClr val="accent1">
                    <a:lumMod val="50000"/>
                  </a:schemeClr>
                </a:solidFill>
              </a:rPr>
              <a:t>ОПФ</a:t>
            </a:r>
            <a:r>
              <a:rPr lang="ru-RU" sz="1200" b="1" dirty="0">
                <a:solidFill>
                  <a:schemeClr val="accent3"/>
                </a:solidFill>
              </a:rPr>
              <a:t> </a:t>
            </a:r>
            <a:r>
              <a:rPr lang="ru-RU" sz="1200" dirty="0"/>
              <a:t>существующих </a:t>
            </a:r>
            <a:r>
              <a:rPr lang="ru-RU" sz="1200" dirty="0" err="1"/>
              <a:t>подвед</a:t>
            </a:r>
            <a:r>
              <a:rPr lang="ru-RU" sz="1200" dirty="0"/>
              <a:t>. организаций для создания на их базе агрегатора?</a:t>
            </a:r>
          </a:p>
          <a:p>
            <a:endParaRPr lang="ru-RU" sz="1200" dirty="0"/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70827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CC968CC-413B-4B5B-89D2-354B72D37D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7248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95" imgH="396" progId="TCLayout.ActiveDocument.1">
                  <p:embed/>
                </p:oleObj>
              </mc:Choice>
              <mc:Fallback>
                <p:oleObj name="think-cell Slide" r:id="rId19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CC968CC-413B-4B5B-89D2-354B72D37D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9E9057A0-DA1B-4516-A661-AA00587097D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/>
              <a:t>Стоимость работы агрегатора (без затрат на сервисы) </a:t>
            </a:r>
            <a:br>
              <a:rPr lang="en-US" dirty="0"/>
            </a:br>
            <a:r>
              <a:rPr lang="ru-RU" dirty="0"/>
              <a:t>в первый год после запуска составит 56,6 млн рублей</a:t>
            </a:r>
            <a:endParaRPr lang="en-US" dirty="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12AE6D83-AD7F-4DE2-B00A-CB8C8EDC757A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038" y="41275"/>
            <a:ext cx="3843337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sz="1000" b="1" dirty="0"/>
              <a:t>5. Ресурсы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D96EA4-0A09-4E2C-8F75-C576909415A1}"/>
              </a:ext>
            </a:extLst>
          </p:cNvPr>
          <p:cNvSpPr>
            <a:spLocks/>
          </p:cNvSpPr>
          <p:nvPr/>
        </p:nvSpPr>
        <p:spPr>
          <a:xfrm>
            <a:off x="2810702" y="1298466"/>
            <a:ext cx="1122951" cy="3516650"/>
          </a:xfrm>
          <a:custGeom>
            <a:avLst/>
            <a:gdLst>
              <a:gd name="connsiteX0" fmla="*/ 0 w 1045410"/>
              <a:gd name="connsiteY0" fmla="*/ 0 h 4670295"/>
              <a:gd name="connsiteX1" fmla="*/ 478971 w 1045410"/>
              <a:gd name="connsiteY1" fmla="*/ 0 h 4670295"/>
              <a:gd name="connsiteX2" fmla="*/ 613708 w 1045410"/>
              <a:gd name="connsiteY2" fmla="*/ 134738 h 4670295"/>
              <a:gd name="connsiteX3" fmla="*/ 613708 w 1045410"/>
              <a:gd name="connsiteY3" fmla="*/ 1549224 h 4670295"/>
              <a:gd name="connsiteX4" fmla="*/ 621473 w 1045410"/>
              <a:gd name="connsiteY4" fmla="*/ 1562345 h 4670295"/>
              <a:gd name="connsiteX5" fmla="*/ 1018334 w 1045410"/>
              <a:gd name="connsiteY5" fmla="*/ 2233020 h 4670295"/>
              <a:gd name="connsiteX6" fmla="*/ 1018334 w 1045410"/>
              <a:gd name="connsiteY6" fmla="*/ 2430868 h 4670295"/>
              <a:gd name="connsiteX7" fmla="*/ 621473 w 1045410"/>
              <a:gd name="connsiteY7" fmla="*/ 3101542 h 4670295"/>
              <a:gd name="connsiteX8" fmla="*/ 613708 w 1045410"/>
              <a:gd name="connsiteY8" fmla="*/ 3114662 h 4670295"/>
              <a:gd name="connsiteX9" fmla="*/ 613708 w 1045410"/>
              <a:gd name="connsiteY9" fmla="*/ 4535557 h 4670295"/>
              <a:gd name="connsiteX10" fmla="*/ 478971 w 1045410"/>
              <a:gd name="connsiteY10" fmla="*/ 4670295 h 4670295"/>
              <a:gd name="connsiteX11" fmla="*/ 0 w 1045410"/>
              <a:gd name="connsiteY11" fmla="*/ 4670295 h 4670295"/>
              <a:gd name="connsiteX12" fmla="*/ 134738 w 1045410"/>
              <a:gd name="connsiteY12" fmla="*/ 4535557 h 4670295"/>
              <a:gd name="connsiteX13" fmla="*/ 134738 w 1045410"/>
              <a:gd name="connsiteY13" fmla="*/ 3114662 h 4670295"/>
              <a:gd name="connsiteX14" fmla="*/ 142502 w 1045410"/>
              <a:gd name="connsiteY14" fmla="*/ 3101542 h 4670295"/>
              <a:gd name="connsiteX15" fmla="*/ 539363 w 1045410"/>
              <a:gd name="connsiteY15" fmla="*/ 2430868 h 4670295"/>
              <a:gd name="connsiteX16" fmla="*/ 539363 w 1045410"/>
              <a:gd name="connsiteY16" fmla="*/ 2233020 h 4670295"/>
              <a:gd name="connsiteX17" fmla="*/ 142502 w 1045410"/>
              <a:gd name="connsiteY17" fmla="*/ 1562345 h 4670295"/>
              <a:gd name="connsiteX18" fmla="*/ 134738 w 1045410"/>
              <a:gd name="connsiteY18" fmla="*/ 1549224 h 4670295"/>
              <a:gd name="connsiteX19" fmla="*/ 134738 w 1045410"/>
              <a:gd name="connsiteY19" fmla="*/ 134738 h 4670295"/>
              <a:gd name="connsiteX20" fmla="*/ 0 w 1045410"/>
              <a:gd name="connsiteY20" fmla="*/ 0 h 467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45410" h="4670295">
                <a:moveTo>
                  <a:pt x="0" y="0"/>
                </a:moveTo>
                <a:lnTo>
                  <a:pt x="478971" y="0"/>
                </a:lnTo>
                <a:cubicBezTo>
                  <a:pt x="553384" y="0"/>
                  <a:pt x="613708" y="60325"/>
                  <a:pt x="613708" y="134738"/>
                </a:cubicBezTo>
                <a:lnTo>
                  <a:pt x="613708" y="1549224"/>
                </a:lnTo>
                <a:lnTo>
                  <a:pt x="621473" y="1562345"/>
                </a:lnTo>
                <a:cubicBezTo>
                  <a:pt x="744589" y="1770404"/>
                  <a:pt x="926047" y="2077059"/>
                  <a:pt x="1018334" y="2233020"/>
                </a:cubicBezTo>
                <a:cubicBezTo>
                  <a:pt x="1054436" y="2294028"/>
                  <a:pt x="1054436" y="2369859"/>
                  <a:pt x="1018334" y="2430868"/>
                </a:cubicBezTo>
                <a:cubicBezTo>
                  <a:pt x="926047" y="2586828"/>
                  <a:pt x="744589" y="2893483"/>
                  <a:pt x="621473" y="3101542"/>
                </a:cubicBezTo>
                <a:lnTo>
                  <a:pt x="613708" y="3114662"/>
                </a:lnTo>
                <a:lnTo>
                  <a:pt x="613708" y="4535557"/>
                </a:lnTo>
                <a:cubicBezTo>
                  <a:pt x="613708" y="4609971"/>
                  <a:pt x="553384" y="4670295"/>
                  <a:pt x="478971" y="4670295"/>
                </a:cubicBezTo>
                <a:lnTo>
                  <a:pt x="0" y="4670295"/>
                </a:lnTo>
                <a:cubicBezTo>
                  <a:pt x="74413" y="4670295"/>
                  <a:pt x="134738" y="4609971"/>
                  <a:pt x="134738" y="4535557"/>
                </a:cubicBezTo>
                <a:lnTo>
                  <a:pt x="134738" y="3114662"/>
                </a:lnTo>
                <a:lnTo>
                  <a:pt x="142502" y="3101542"/>
                </a:lnTo>
                <a:cubicBezTo>
                  <a:pt x="265618" y="2893483"/>
                  <a:pt x="447076" y="2586828"/>
                  <a:pt x="539363" y="2430868"/>
                </a:cubicBezTo>
                <a:cubicBezTo>
                  <a:pt x="575465" y="2369859"/>
                  <a:pt x="575465" y="2294028"/>
                  <a:pt x="539363" y="2233020"/>
                </a:cubicBezTo>
                <a:cubicBezTo>
                  <a:pt x="447076" y="2077059"/>
                  <a:pt x="265618" y="1770404"/>
                  <a:pt x="142502" y="1562345"/>
                </a:cubicBezTo>
                <a:lnTo>
                  <a:pt x="134738" y="1549224"/>
                </a:lnTo>
                <a:lnTo>
                  <a:pt x="134738" y="134738"/>
                </a:lnTo>
                <a:cubicBezTo>
                  <a:pt x="134738" y="60325"/>
                  <a:pt x="74413" y="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5063944-D1C5-470A-815F-57F5229724CF}"/>
              </a:ext>
            </a:extLst>
          </p:cNvPr>
          <p:cNvSpPr>
            <a:spLocks/>
          </p:cNvSpPr>
          <p:nvPr/>
        </p:nvSpPr>
        <p:spPr>
          <a:xfrm>
            <a:off x="-9524" y="1266825"/>
            <a:ext cx="3562349" cy="491172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0C343B-3790-4560-B12C-2CAC4D46A7DA}"/>
              </a:ext>
            </a:extLst>
          </p:cNvPr>
          <p:cNvSpPr>
            <a:spLocks/>
          </p:cNvSpPr>
          <p:nvPr/>
        </p:nvSpPr>
        <p:spPr>
          <a:xfrm>
            <a:off x="364242" y="1497243"/>
            <a:ext cx="2882297" cy="4483455"/>
          </a:xfrm>
          <a:prstGeom prst="roundRect">
            <a:avLst>
              <a:gd name="adj" fmla="val 6077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200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29" name="CustomIcon">
            <a:extLst>
              <a:ext uri="{FF2B5EF4-FFF2-40B4-BE49-F238E27FC236}">
                <a16:creationId xmlns:a16="http://schemas.microsoft.com/office/drawing/2014/main" id="{A6C74923-4B8C-4D2F-8CC3-8E25A28C338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24947" y="4714810"/>
            <a:ext cx="631346" cy="631346"/>
          </a:xfrm>
          <a:prstGeom prst="rect">
            <a:avLst/>
          </a:prstGeom>
        </p:spPr>
      </p:pic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A696B837-FB53-40B6-95DA-238BCA3E7A14}"/>
              </a:ext>
            </a:extLst>
          </p:cNvPr>
          <p:cNvSpPr>
            <a:spLocks/>
          </p:cNvSpPr>
          <p:nvPr/>
        </p:nvSpPr>
        <p:spPr>
          <a:xfrm>
            <a:off x="3552825" y="5832699"/>
            <a:ext cx="8639175" cy="345851"/>
          </a:xfrm>
          <a:prstGeom prst="homePlate">
            <a:avLst>
              <a:gd name="adj" fmla="val 0"/>
            </a:avLst>
          </a:prstGeom>
          <a:solidFill>
            <a:schemeClr val="accent4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5526D50-F9BF-4EDB-9DCC-242E83D0B3A3}"/>
              </a:ext>
            </a:extLst>
          </p:cNvPr>
          <p:cNvGrpSpPr/>
          <p:nvPr/>
        </p:nvGrpSpPr>
        <p:grpSpPr>
          <a:xfrm>
            <a:off x="3975987" y="4395330"/>
            <a:ext cx="1643764" cy="279340"/>
            <a:chOff x="3975987" y="4126699"/>
            <a:chExt cx="1643764" cy="279340"/>
          </a:xfrm>
        </p:grpSpPr>
        <p:sp>
          <p:nvSpPr>
            <p:cNvPr id="17" name="TrackerNumBlue">
              <a:extLst>
                <a:ext uri="{FF2B5EF4-FFF2-40B4-BE49-F238E27FC236}">
                  <a16:creationId xmlns:a16="http://schemas.microsoft.com/office/drawing/2014/main" id="{313AFB73-5BCA-49FE-8FB3-0DDA644D213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3975987" y="4126699"/>
              <a:ext cx="279340" cy="27934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r>
                <a:rPr lang="ru-RU" sz="1400" b="1" dirty="0">
                  <a:solidFill>
                    <a:schemeClr val="bg1"/>
                  </a:solidFill>
                  <a:sym typeface="+mn-lt"/>
                </a:rPr>
                <a:t>2</a:t>
              </a:r>
              <a:endParaRPr lang="en-US" sz="14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ECFA6D-FB22-42B1-8743-0BF03868F7A4}"/>
                </a:ext>
              </a:extLst>
            </p:cNvPr>
            <p:cNvSpPr txBox="1">
              <a:spLocks/>
            </p:cNvSpPr>
            <p:nvPr/>
          </p:nvSpPr>
          <p:spPr>
            <a:xfrm>
              <a:off x="4397377" y="4126699"/>
              <a:ext cx="1222374" cy="239293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Поддержка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D21321-1218-44F1-939D-EC7FC9F3D652}"/>
              </a:ext>
            </a:extLst>
          </p:cNvPr>
          <p:cNvGrpSpPr/>
          <p:nvPr/>
        </p:nvGrpSpPr>
        <p:grpSpPr>
          <a:xfrm>
            <a:off x="3975987" y="5220657"/>
            <a:ext cx="1643764" cy="418475"/>
            <a:chOff x="3975987" y="4862834"/>
            <a:chExt cx="1643764" cy="418475"/>
          </a:xfrm>
        </p:grpSpPr>
        <p:sp>
          <p:nvSpPr>
            <p:cNvPr id="18" name="TrackerNumBlue">
              <a:extLst>
                <a:ext uri="{FF2B5EF4-FFF2-40B4-BE49-F238E27FC236}">
                  <a16:creationId xmlns:a16="http://schemas.microsoft.com/office/drawing/2014/main" id="{D5AB15C3-ED08-4E86-A399-945390B257D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3975987" y="4862834"/>
              <a:ext cx="279340" cy="27934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r>
                <a:rPr lang="ru-RU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</a:t>
              </a:r>
              <a:endParaRPr lang="en-US" sz="14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D67BC8-9FB1-4806-B0A2-1D1DB28979AD}"/>
                </a:ext>
              </a:extLst>
            </p:cNvPr>
            <p:cNvSpPr txBox="1">
              <a:spLocks/>
            </p:cNvSpPr>
            <p:nvPr/>
          </p:nvSpPr>
          <p:spPr>
            <a:xfrm>
              <a:off x="4397377" y="4862834"/>
              <a:ext cx="1222374" cy="418475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Накладные расходы</a:t>
              </a:r>
            </a:p>
          </p:txBody>
        </p:sp>
      </p:grpSp>
      <p:cxnSp>
        <p:nvCxnSpPr>
          <p:cNvPr id="26" name="LineBasicDefault 17">
            <a:extLst>
              <a:ext uri="{FF2B5EF4-FFF2-40B4-BE49-F238E27FC236}">
                <a16:creationId xmlns:a16="http://schemas.microsoft.com/office/drawing/2014/main" id="{FCBDC563-D354-4CC0-89F0-9449BA9BBB88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024672" y="4085129"/>
            <a:ext cx="5612592" cy="0"/>
          </a:xfrm>
          <a:prstGeom prst="straightConnector1">
            <a:avLst/>
          </a:prstGeom>
          <a:ln w="12700" cap="sq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BasicDefault 44">
            <a:extLst>
              <a:ext uri="{FF2B5EF4-FFF2-40B4-BE49-F238E27FC236}">
                <a16:creationId xmlns:a16="http://schemas.microsoft.com/office/drawing/2014/main" id="{0D5E214A-768B-4D88-92E5-78E34BDAE6C3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024672" y="2562843"/>
            <a:ext cx="5612592" cy="0"/>
          </a:xfrm>
          <a:prstGeom prst="straightConnector1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30" name="LineBasicDefault 44">
            <a:extLst>
              <a:ext uri="{FF2B5EF4-FFF2-40B4-BE49-F238E27FC236}">
                <a16:creationId xmlns:a16="http://schemas.microsoft.com/office/drawing/2014/main" id="{A31F680D-C467-44E4-9468-04C830F6176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6024672" y="3086461"/>
            <a:ext cx="5612592" cy="0"/>
          </a:xfrm>
          <a:prstGeom prst="straightConnector1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31" name="LineBasicDefault 44">
            <a:extLst>
              <a:ext uri="{FF2B5EF4-FFF2-40B4-BE49-F238E27FC236}">
                <a16:creationId xmlns:a16="http://schemas.microsoft.com/office/drawing/2014/main" id="{3396C5E6-2F27-471E-A31D-F515ED1503A5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024672" y="3813795"/>
            <a:ext cx="5612592" cy="0"/>
          </a:xfrm>
          <a:prstGeom prst="straightConnector1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37" name="LineBasicDefault 44">
            <a:extLst>
              <a:ext uri="{FF2B5EF4-FFF2-40B4-BE49-F238E27FC236}">
                <a16:creationId xmlns:a16="http://schemas.microsoft.com/office/drawing/2014/main" id="{C32A4797-F19C-43FE-BBCF-2D24B0CA16E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3975987" y="1829675"/>
            <a:ext cx="7661277" cy="0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EC3AB1-71D9-455B-95F4-FA1DC3B45A66}"/>
              </a:ext>
            </a:extLst>
          </p:cNvPr>
          <p:cNvCxnSpPr>
            <a:cxnSpLocks/>
          </p:cNvCxnSpPr>
          <p:nvPr/>
        </p:nvCxnSpPr>
        <p:spPr>
          <a:xfrm>
            <a:off x="6024672" y="2815127"/>
            <a:ext cx="5612592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17EDA5-4150-494B-A4BE-1B31ABF03E1D}"/>
              </a:ext>
            </a:extLst>
          </p:cNvPr>
          <p:cNvCxnSpPr>
            <a:cxnSpLocks/>
          </p:cNvCxnSpPr>
          <p:nvPr/>
        </p:nvCxnSpPr>
        <p:spPr>
          <a:xfrm>
            <a:off x="6024672" y="3357795"/>
            <a:ext cx="5612592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90" name="LineBasicDefault 44">
            <a:extLst>
              <a:ext uri="{FF2B5EF4-FFF2-40B4-BE49-F238E27FC236}">
                <a16:creationId xmlns:a16="http://schemas.microsoft.com/office/drawing/2014/main" id="{E48B3A85-F6B8-45B2-BB4A-83250702A198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3975987" y="4353485"/>
            <a:ext cx="7661277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neBasicDefault 44">
            <a:extLst>
              <a:ext uri="{FF2B5EF4-FFF2-40B4-BE49-F238E27FC236}">
                <a16:creationId xmlns:a16="http://schemas.microsoft.com/office/drawing/2014/main" id="{28BE72A8-BCEF-4E6A-B589-61A5D115460C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3975987" y="5178817"/>
            <a:ext cx="7661277" cy="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248699-AA6D-4E1C-AF6D-09AE3C95F06F}"/>
              </a:ext>
            </a:extLst>
          </p:cNvPr>
          <p:cNvSpPr txBox="1">
            <a:spLocks/>
          </p:cNvSpPr>
          <p:nvPr/>
        </p:nvSpPr>
        <p:spPr>
          <a:xfrm>
            <a:off x="3975987" y="5884958"/>
            <a:ext cx="861932" cy="21544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Итого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613E543-3DB3-4290-B822-6449BE47D43F}"/>
              </a:ext>
            </a:extLst>
          </p:cNvPr>
          <p:cNvGrpSpPr/>
          <p:nvPr/>
        </p:nvGrpSpPr>
        <p:grpSpPr>
          <a:xfrm>
            <a:off x="3975987" y="1871520"/>
            <a:ext cx="1643763" cy="413721"/>
            <a:chOff x="3975987" y="1709187"/>
            <a:chExt cx="1643763" cy="413721"/>
          </a:xfrm>
        </p:grpSpPr>
        <p:sp>
          <p:nvSpPr>
            <p:cNvPr id="13" name="TrackerNumBlue">
              <a:extLst>
                <a:ext uri="{FF2B5EF4-FFF2-40B4-BE49-F238E27FC236}">
                  <a16:creationId xmlns:a16="http://schemas.microsoft.com/office/drawing/2014/main" id="{84B433E3-321A-4F28-98EE-87B1E09DE16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3975987" y="1709187"/>
              <a:ext cx="279340" cy="279340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025E4E-B0C4-4CAD-90AC-C8584817C364}"/>
                </a:ext>
              </a:extLst>
            </p:cNvPr>
            <p:cNvSpPr txBox="1">
              <a:spLocks/>
            </p:cNvSpPr>
            <p:nvPr/>
          </p:nvSpPr>
          <p:spPr>
            <a:xfrm>
              <a:off x="4397376" y="1709187"/>
              <a:ext cx="1222374" cy="413721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Штат </a:t>
              </a:r>
              <a:b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</a:br>
              <a:r>
                <a:rPr kumimoji="0" lang="ru-RU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агрегатора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FEE09DD-FCD5-4B95-9392-B8FF23DD2BBD}"/>
              </a:ext>
            </a:extLst>
          </p:cNvPr>
          <p:cNvSpPr txBox="1">
            <a:spLocks/>
          </p:cNvSpPr>
          <p:nvPr/>
        </p:nvSpPr>
        <p:spPr>
          <a:xfrm>
            <a:off x="9449773" y="4126974"/>
            <a:ext cx="21800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b="1" dirty="0">
                <a:solidFill>
                  <a:schemeClr val="accent3"/>
                </a:solidFill>
              </a:rPr>
              <a:t>15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9146B3-E51A-42E4-9317-AD48C10A97C2}"/>
              </a:ext>
            </a:extLst>
          </p:cNvPr>
          <p:cNvSpPr txBox="1">
            <a:spLocks/>
          </p:cNvSpPr>
          <p:nvPr/>
        </p:nvSpPr>
        <p:spPr>
          <a:xfrm>
            <a:off x="9129172" y="5857898"/>
            <a:ext cx="75020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ru-RU" b="1" dirty="0">
                <a:solidFill>
                  <a:schemeClr val="bg1"/>
                </a:solidFill>
              </a:rPr>
              <a:t>9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чел.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202A4-5E97-4938-BAC9-2618EB63C110}"/>
              </a:ext>
            </a:extLst>
          </p:cNvPr>
          <p:cNvSpPr txBox="1"/>
          <p:nvPr/>
        </p:nvSpPr>
        <p:spPr>
          <a:xfrm>
            <a:off x="9505741" y="1871520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E2916B-44A5-46DB-8E90-89AB48DF9179}"/>
              </a:ext>
            </a:extLst>
          </p:cNvPr>
          <p:cNvSpPr txBox="1"/>
          <p:nvPr/>
        </p:nvSpPr>
        <p:spPr>
          <a:xfrm>
            <a:off x="9505741" y="2121422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BDE0BC-2BCD-44C6-A00B-9EF638BD3B0D}"/>
              </a:ext>
            </a:extLst>
          </p:cNvPr>
          <p:cNvSpPr txBox="1"/>
          <p:nvPr/>
        </p:nvSpPr>
        <p:spPr>
          <a:xfrm>
            <a:off x="9505741" y="2585638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3</a:t>
            </a:r>
            <a:endParaRPr 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AE32AB-7601-4D26-BFA9-10C7346D1AD7}"/>
              </a:ext>
            </a:extLst>
          </p:cNvPr>
          <p:cNvSpPr txBox="1"/>
          <p:nvPr/>
        </p:nvSpPr>
        <p:spPr>
          <a:xfrm>
            <a:off x="9505741" y="2856972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2</a:t>
            </a:r>
            <a:endParaRPr 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AFFB39-2101-4E1A-8A07-338B7B6F01EA}"/>
              </a:ext>
            </a:extLst>
          </p:cNvPr>
          <p:cNvSpPr txBox="1"/>
          <p:nvPr/>
        </p:nvSpPr>
        <p:spPr>
          <a:xfrm>
            <a:off x="9505741" y="3128306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2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129DF8-2423-4F38-968A-34DCB076D851}"/>
              </a:ext>
            </a:extLst>
          </p:cNvPr>
          <p:cNvSpPr txBox="1"/>
          <p:nvPr/>
        </p:nvSpPr>
        <p:spPr>
          <a:xfrm>
            <a:off x="9505741" y="3493462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E4BA51-4B52-4DCB-BEF1-0DB303B30A89}"/>
              </a:ext>
            </a:extLst>
          </p:cNvPr>
          <p:cNvSpPr txBox="1"/>
          <p:nvPr/>
        </p:nvSpPr>
        <p:spPr>
          <a:xfrm>
            <a:off x="9505741" y="3855640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2</a:t>
            </a:r>
            <a:endParaRPr 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7A4FCBF-0856-4AD8-A359-27298F968BCA}"/>
              </a:ext>
            </a:extLst>
          </p:cNvPr>
          <p:cNvSpPr txBox="1">
            <a:spLocks/>
          </p:cNvSpPr>
          <p:nvPr/>
        </p:nvSpPr>
        <p:spPr>
          <a:xfrm>
            <a:off x="9427216" y="4673818"/>
            <a:ext cx="242054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200" b="1" dirty="0">
                <a:solidFill>
                  <a:schemeClr val="accent3"/>
                </a:solidFill>
              </a:rPr>
              <a:t>~</a:t>
            </a:r>
            <a:r>
              <a:rPr lang="ru-RU" sz="1200" b="1" dirty="0">
                <a:solidFill>
                  <a:schemeClr val="accent3"/>
                </a:solidFill>
              </a:rPr>
              <a:t>4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4D3B5A1-4D45-4A1D-A11F-AA7164AA6F52}"/>
              </a:ext>
            </a:extLst>
          </p:cNvPr>
          <p:cNvSpPr txBox="1">
            <a:spLocks/>
          </p:cNvSpPr>
          <p:nvPr/>
        </p:nvSpPr>
        <p:spPr>
          <a:xfrm>
            <a:off x="9518783" y="5406812"/>
            <a:ext cx="7998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200" b="1" dirty="0">
                <a:solidFill>
                  <a:schemeClr val="accent3"/>
                </a:solidFill>
              </a:rPr>
              <a:t>-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AC1D3E-5F6E-4F8C-92FE-FC0E6396A82C}"/>
              </a:ext>
            </a:extLst>
          </p:cNvPr>
          <p:cNvSpPr>
            <a:spLocks/>
          </p:cNvSpPr>
          <p:nvPr/>
        </p:nvSpPr>
        <p:spPr>
          <a:xfrm>
            <a:off x="9076384" y="1415520"/>
            <a:ext cx="964786" cy="372310"/>
          </a:xfrm>
          <a:prstGeom prst="rect">
            <a:avLst/>
          </a:prstGeom>
          <a:solidFill>
            <a:srgbClr val="FBFCF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Чел</a:t>
            </a:r>
            <a:r>
              <a:rPr lang="ru-RU" sz="1200" b="1" dirty="0">
                <a:solidFill>
                  <a:schemeClr val="accent3"/>
                </a:solidFill>
                <a:latin typeface="Verdana"/>
              </a:rPr>
              <a:t>овек</a:t>
            </a:r>
            <a:endParaRPr lang="en-US" sz="1200" b="1" dirty="0" err="1">
              <a:solidFill>
                <a:schemeClr val="accent3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47FF63D-7F67-45AA-9912-B03F936BDEC6}"/>
              </a:ext>
            </a:extLst>
          </p:cNvPr>
          <p:cNvSpPr txBox="1">
            <a:spLocks/>
          </p:cNvSpPr>
          <p:nvPr/>
        </p:nvSpPr>
        <p:spPr>
          <a:xfrm>
            <a:off x="10844025" y="4126974"/>
            <a:ext cx="38311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200" b="1" dirty="0">
                <a:solidFill>
                  <a:schemeClr val="accent3"/>
                </a:solidFill>
              </a:rPr>
              <a:t>35</a:t>
            </a:r>
            <a:r>
              <a:rPr lang="en-US" sz="1200" b="1" dirty="0">
                <a:solidFill>
                  <a:schemeClr val="accent3"/>
                </a:solidFill>
              </a:rPr>
              <a:t>,</a:t>
            </a:r>
            <a:r>
              <a:rPr lang="ru-RU" sz="1200" b="1" dirty="0">
                <a:solidFill>
                  <a:schemeClr val="accent3"/>
                </a:solidFill>
              </a:rPr>
              <a:t>1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68FE797-91FF-4810-8665-03B4B7807F2D}"/>
              </a:ext>
            </a:extLst>
          </p:cNvPr>
          <p:cNvSpPr txBox="1">
            <a:spLocks/>
          </p:cNvSpPr>
          <p:nvPr/>
        </p:nvSpPr>
        <p:spPr>
          <a:xfrm>
            <a:off x="10446092" y="5859037"/>
            <a:ext cx="1612558" cy="2413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</a:rPr>
              <a:t>56</a:t>
            </a:r>
            <a:r>
              <a:rPr lang="en-US" b="1" dirty="0">
                <a:solidFill>
                  <a:schemeClr val="bg1"/>
                </a:solidFill>
              </a:rPr>
              <a:t>,</a:t>
            </a:r>
            <a:r>
              <a:rPr lang="ru-RU" b="1" dirty="0">
                <a:solidFill>
                  <a:schemeClr val="bg1"/>
                </a:solidFill>
              </a:rPr>
              <a:t>6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млн руб.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0B0BD7-C98C-4D52-B36D-5C29FAE73660}"/>
              </a:ext>
            </a:extLst>
          </p:cNvPr>
          <p:cNvSpPr txBox="1"/>
          <p:nvPr/>
        </p:nvSpPr>
        <p:spPr>
          <a:xfrm>
            <a:off x="10915842" y="1871520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2,3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956813C-8DC8-4BFC-91FB-E2C24D63E208}"/>
              </a:ext>
            </a:extLst>
          </p:cNvPr>
          <p:cNvSpPr txBox="1"/>
          <p:nvPr/>
        </p:nvSpPr>
        <p:spPr>
          <a:xfrm>
            <a:off x="10915842" y="2121422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2,3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2388062-E881-469A-94E3-FD8E811274D2}"/>
              </a:ext>
            </a:extLst>
          </p:cNvPr>
          <p:cNvSpPr txBox="1"/>
          <p:nvPr/>
        </p:nvSpPr>
        <p:spPr>
          <a:xfrm>
            <a:off x="10915842" y="2585638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7</a:t>
            </a:r>
            <a:r>
              <a:rPr lang="en-US" sz="1200" dirty="0"/>
              <a:t>,</a:t>
            </a:r>
            <a:r>
              <a:rPr lang="ru-RU" sz="1200" dirty="0"/>
              <a:t>0</a:t>
            </a:r>
            <a:endParaRPr lang="en-US" sz="12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D34A6E4-A34A-4044-A93C-B3A803849706}"/>
              </a:ext>
            </a:extLst>
          </p:cNvPr>
          <p:cNvSpPr txBox="1"/>
          <p:nvPr/>
        </p:nvSpPr>
        <p:spPr>
          <a:xfrm>
            <a:off x="10915842" y="2856972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4</a:t>
            </a:r>
            <a:r>
              <a:rPr lang="en-US" sz="1200" dirty="0"/>
              <a:t>,</a:t>
            </a:r>
            <a:r>
              <a:rPr lang="ru-RU" sz="1200" dirty="0"/>
              <a:t>7</a:t>
            </a:r>
            <a:endParaRPr lang="en-US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EDE1B5-84DF-48B8-B56A-37356F741007}"/>
              </a:ext>
            </a:extLst>
          </p:cNvPr>
          <p:cNvSpPr txBox="1"/>
          <p:nvPr/>
        </p:nvSpPr>
        <p:spPr>
          <a:xfrm>
            <a:off x="10915842" y="3128306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4</a:t>
            </a:r>
            <a:r>
              <a:rPr lang="en-US" sz="1200" dirty="0"/>
              <a:t>,</a:t>
            </a:r>
            <a:r>
              <a:rPr lang="ru-RU" sz="1200" dirty="0"/>
              <a:t>7</a:t>
            </a:r>
            <a:endParaRPr 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D1984D2-0175-43A5-A864-DCEFD715FCEA}"/>
              </a:ext>
            </a:extLst>
          </p:cNvPr>
          <p:cNvSpPr txBox="1"/>
          <p:nvPr/>
        </p:nvSpPr>
        <p:spPr>
          <a:xfrm>
            <a:off x="10915842" y="3493462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4,7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AE8544B-5640-47D9-8F8E-1EFC60F2C243}"/>
              </a:ext>
            </a:extLst>
          </p:cNvPr>
          <p:cNvSpPr txBox="1"/>
          <p:nvPr/>
        </p:nvSpPr>
        <p:spPr>
          <a:xfrm>
            <a:off x="10915842" y="3855640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1200" dirty="0"/>
              <a:t>4</a:t>
            </a:r>
            <a:r>
              <a:rPr lang="en-US" sz="1200" dirty="0"/>
              <a:t>,</a:t>
            </a:r>
            <a:r>
              <a:rPr lang="ru-RU" sz="1200" dirty="0"/>
              <a:t>7</a:t>
            </a:r>
            <a:endParaRPr 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E43127-6912-4970-ADBC-C07F1DE820D1}"/>
              </a:ext>
            </a:extLst>
          </p:cNvPr>
          <p:cNvSpPr txBox="1">
            <a:spLocks/>
          </p:cNvSpPr>
          <p:nvPr/>
        </p:nvSpPr>
        <p:spPr>
          <a:xfrm>
            <a:off x="10904621" y="4673818"/>
            <a:ext cx="274114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solidFill>
                  <a:schemeClr val="accent3"/>
                </a:solidFill>
              </a:rPr>
              <a:t>8</a:t>
            </a:r>
            <a:r>
              <a:rPr lang="en-US" sz="1200" b="1" dirty="0">
                <a:solidFill>
                  <a:schemeClr val="accent3"/>
                </a:solidFill>
              </a:rPr>
              <a:t>,</a:t>
            </a:r>
            <a:r>
              <a:rPr lang="ru-RU" sz="1200" b="1" dirty="0">
                <a:solidFill>
                  <a:schemeClr val="accent3"/>
                </a:solidFill>
              </a:rPr>
              <a:t>4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75E9A8-4990-4D9C-A23C-BB5BF91C107E}"/>
              </a:ext>
            </a:extLst>
          </p:cNvPr>
          <p:cNvSpPr txBox="1">
            <a:spLocks/>
          </p:cNvSpPr>
          <p:nvPr/>
        </p:nvSpPr>
        <p:spPr>
          <a:xfrm>
            <a:off x="10850119" y="5406812"/>
            <a:ext cx="383118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b="1" dirty="0">
                <a:solidFill>
                  <a:schemeClr val="accent3"/>
                </a:solidFill>
              </a:rPr>
              <a:t>13</a:t>
            </a:r>
            <a:r>
              <a:rPr lang="en-US" sz="1200" b="1" dirty="0">
                <a:solidFill>
                  <a:schemeClr val="accent3"/>
                </a:solidFill>
              </a:rPr>
              <a:t>,</a:t>
            </a:r>
            <a:r>
              <a:rPr lang="ru-RU" sz="1200" b="1" dirty="0">
                <a:solidFill>
                  <a:schemeClr val="accent3"/>
                </a:solidFill>
              </a:rPr>
              <a:t>1</a:t>
            </a:r>
            <a:endParaRPr lang="en-US" sz="1200" b="1" dirty="0">
              <a:solidFill>
                <a:schemeClr val="accent3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6C1F4EE-D1CE-430D-9383-58CAD67A295A}"/>
              </a:ext>
            </a:extLst>
          </p:cNvPr>
          <p:cNvSpPr>
            <a:spLocks/>
          </p:cNvSpPr>
          <p:nvPr/>
        </p:nvSpPr>
        <p:spPr>
          <a:xfrm>
            <a:off x="10446092" y="1415520"/>
            <a:ext cx="1191172" cy="372310"/>
          </a:xfrm>
          <a:prstGeom prst="rect">
            <a:avLst/>
          </a:prstGeom>
          <a:solidFill>
            <a:srgbClr val="FBFCF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Расходы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r>
              <a:rPr lang="ru-RU" sz="1200" dirty="0">
                <a:solidFill>
                  <a:schemeClr val="tx1"/>
                </a:solidFill>
                <a:latin typeface="Verdana"/>
              </a:rPr>
              <a:t>м</a:t>
            </a:r>
            <a:r>
              <a:rPr kumimoji="0" lang="ru-RU" sz="12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лн</a:t>
            </a:r>
            <a:r>
              <a:rPr kumimoji="0" lang="ru-RU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руб. в год</a:t>
            </a:r>
            <a:endParaRPr lang="en-US" sz="1200" dirty="0" err="1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357102-0386-4066-8696-74AEBAE19BAC}"/>
              </a:ext>
            </a:extLst>
          </p:cNvPr>
          <p:cNvSpPr>
            <a:spLocks/>
          </p:cNvSpPr>
          <p:nvPr/>
        </p:nvSpPr>
        <p:spPr>
          <a:xfrm>
            <a:off x="6024672" y="1871520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Руководитель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A3DE08-FCA8-43F4-B8F2-3A2701ECCF35}"/>
              </a:ext>
            </a:extLst>
          </p:cNvPr>
          <p:cNvSpPr>
            <a:spLocks/>
          </p:cNvSpPr>
          <p:nvPr/>
        </p:nvSpPr>
        <p:spPr>
          <a:xfrm>
            <a:off x="6024672" y="2121422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Проектный менеджер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532677-6370-47FE-990F-392E42E0A762}"/>
              </a:ext>
            </a:extLst>
          </p:cNvPr>
          <p:cNvSpPr>
            <a:spLocks/>
          </p:cNvSpPr>
          <p:nvPr/>
        </p:nvSpPr>
        <p:spPr>
          <a:xfrm>
            <a:off x="6024672" y="2585638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Продуктовый менеджер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7479D2-4536-4AF5-907E-C8AD90E8786D}"/>
              </a:ext>
            </a:extLst>
          </p:cNvPr>
          <p:cNvSpPr>
            <a:spLocks/>
          </p:cNvSpPr>
          <p:nvPr/>
        </p:nvSpPr>
        <p:spPr>
          <a:xfrm>
            <a:off x="6024672" y="2856972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Менеджер по тендерам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4443105-8379-4DCD-9350-347B04D359C2}"/>
              </a:ext>
            </a:extLst>
          </p:cNvPr>
          <p:cNvSpPr>
            <a:spLocks/>
          </p:cNvSpPr>
          <p:nvPr/>
        </p:nvSpPr>
        <p:spPr>
          <a:xfrm>
            <a:off x="6024672" y="3128306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Менеджер по продвижению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1E31613-4859-4DBB-91BC-F8DBDE602411}"/>
              </a:ext>
            </a:extLst>
          </p:cNvPr>
          <p:cNvSpPr>
            <a:spLocks/>
          </p:cNvSpPr>
          <p:nvPr/>
        </p:nvSpPr>
        <p:spPr>
          <a:xfrm>
            <a:off x="6024672" y="3399640"/>
            <a:ext cx="2646790" cy="372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Менеджер по работе с УК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и префектурами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C9AFDE-ECA1-45ED-B1FE-59B5C43C2598}"/>
              </a:ext>
            </a:extLst>
          </p:cNvPr>
          <p:cNvSpPr>
            <a:spLocks/>
          </p:cNvSpPr>
          <p:nvPr/>
        </p:nvSpPr>
        <p:spPr>
          <a:xfrm>
            <a:off x="6024672" y="3855640"/>
            <a:ext cx="2646790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Менеджер по обратной связи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4A202D8-3B5E-4E18-9385-8B1D52E99D18}"/>
              </a:ext>
            </a:extLst>
          </p:cNvPr>
          <p:cNvSpPr>
            <a:spLocks/>
          </p:cNvSpPr>
          <p:nvPr/>
        </p:nvSpPr>
        <p:spPr>
          <a:xfrm>
            <a:off x="6024672" y="4395330"/>
            <a:ext cx="2646790" cy="74164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Управление персоналом, бухгалтерия и документооборот, ИТ-поддержка, финансы, юридический отдел, АХО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5012CDD-F4A8-4A06-BC8C-86D6712B0374}"/>
              </a:ext>
            </a:extLst>
          </p:cNvPr>
          <p:cNvSpPr>
            <a:spLocks/>
          </p:cNvSpPr>
          <p:nvPr/>
        </p:nvSpPr>
        <p:spPr>
          <a:xfrm>
            <a:off x="6024672" y="5220657"/>
            <a:ext cx="2646790" cy="55697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Содержание помещений, техническое оборудование 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и офисные материалы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EA4D1BF-EDCB-492B-81FD-023F3B44A003}"/>
              </a:ext>
            </a:extLst>
          </p:cNvPr>
          <p:cNvSpPr>
            <a:spLocks/>
          </p:cNvSpPr>
          <p:nvPr/>
        </p:nvSpPr>
        <p:spPr>
          <a:xfrm>
            <a:off x="6024672" y="1600186"/>
            <a:ext cx="2646790" cy="187644"/>
          </a:xfrm>
          <a:prstGeom prst="rect">
            <a:avLst/>
          </a:prstGeom>
          <a:solidFill>
            <a:srgbClr val="FBFCF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Должность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/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функционал</a:t>
            </a:r>
            <a:endParaRPr lang="en-US" sz="1200" dirty="0" err="1">
              <a:solidFill>
                <a:schemeClr val="accent3"/>
              </a:solidFill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3C63731-B8C8-407E-9267-5BA0B3929293}"/>
              </a:ext>
            </a:extLst>
          </p:cNvPr>
          <p:cNvCxnSpPr>
            <a:cxnSpLocks/>
          </p:cNvCxnSpPr>
          <p:nvPr/>
        </p:nvCxnSpPr>
        <p:spPr>
          <a:xfrm>
            <a:off x="6024672" y="2101009"/>
            <a:ext cx="5612592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4B48F13-9F58-40B8-B375-7810AA8EB27B}"/>
              </a:ext>
            </a:extLst>
          </p:cNvPr>
          <p:cNvGrpSpPr/>
          <p:nvPr/>
        </p:nvGrpSpPr>
        <p:grpSpPr>
          <a:xfrm>
            <a:off x="454487" y="1577987"/>
            <a:ext cx="2701806" cy="4321965"/>
            <a:chOff x="476280" y="1577987"/>
            <a:chExt cx="2701806" cy="432196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7780C0-2A5C-4E4E-9024-70EA3E87CC5D}"/>
                </a:ext>
              </a:extLst>
            </p:cNvPr>
            <p:cNvSpPr txBox="1">
              <a:spLocks/>
            </p:cNvSpPr>
            <p:nvPr/>
          </p:nvSpPr>
          <p:spPr>
            <a:xfrm>
              <a:off x="476280" y="1577987"/>
              <a:ext cx="1909386" cy="340247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Подход к оценке требуемых ресурсов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B51E20-58E0-4B15-A827-1E937FE4E328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>
            <a:xfrm>
              <a:off x="476280" y="1998978"/>
              <a:ext cx="2701806" cy="1815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Объем необходимых ресурсов рассчитывается как сумма </a:t>
              </a:r>
              <a:r>
                <a:rPr lang="ru-RU" sz="1200" b="1" dirty="0">
                  <a:solidFill>
                    <a:schemeClr val="accent3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ФОТа штата</a:t>
              </a: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, затрат </a:t>
              </a:r>
              <a:b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</a:b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на </a:t>
              </a:r>
              <a:r>
                <a:rPr lang="ru-RU" sz="1200" b="1" dirty="0">
                  <a:solidFill>
                    <a:schemeClr val="accent3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поддерживающие функции </a:t>
              </a:r>
              <a:br>
                <a:rPr lang="ru-RU" sz="1200" b="1" dirty="0">
                  <a:solidFill>
                    <a:schemeClr val="accent3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</a:b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и </a:t>
              </a:r>
              <a:r>
                <a:rPr lang="ru-RU" sz="1200" b="1" dirty="0">
                  <a:solidFill>
                    <a:schemeClr val="accent3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накладных расходов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900"/>
                </a:spcBef>
                <a:spcAft>
                  <a:spcPts val="300"/>
                </a:spcAft>
                <a:buClrTx/>
                <a:buSzPct val="100000"/>
                <a:buFont typeface="Segoe UI" panose="020B0502040204020203" pitchFamily="34" charset="0"/>
                <a:buChar char="​"/>
                <a:tabLst/>
                <a:defRPr/>
              </a:pP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Количество ПШЕ рассчитывается на основе экспертной оценки </a:t>
              </a:r>
              <a:b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</a:b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для штата и бенчмарков </a:t>
              </a:r>
              <a:b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</a:br>
              <a:r>
                <a:rPr lang="ru-RU" sz="1200" dirty="0">
                  <a:solidFill>
                    <a:srgbClr val="000000"/>
                  </a:solidFill>
                  <a:latin typeface="Verdana" panose="020B0604030504040204" pitchFamily="34" charset="0"/>
                  <a:sym typeface="Verdana" panose="020B0604030504040204" pitchFamily="34" charset="0"/>
                </a:rPr>
                <a:t>для поддерживающих функций</a:t>
              </a: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sym typeface="Verdana" panose="020B060403050404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65C26F-113E-47FF-BF37-6E3B8159255B}"/>
                </a:ext>
              </a:extLst>
            </p:cNvPr>
            <p:cNvSpPr txBox="1">
              <a:spLocks/>
            </p:cNvSpPr>
            <p:nvPr/>
          </p:nvSpPr>
          <p:spPr>
            <a:xfrm>
              <a:off x="476280" y="3895604"/>
              <a:ext cx="2292088" cy="184666"/>
            </a:xfrm>
            <a:prstGeom prst="rect">
              <a:avLst/>
            </a:prstGeom>
          </p:spPr>
          <p:txBody>
            <a:bodyPr vert="horz" wrap="square" lIns="0" tIns="0" rIns="0" bIns="0" rtlCol="0" anchor="b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None/>
                <a:tabLst/>
                <a:defRPr/>
              </a:pPr>
              <a:r>
                <a:rPr kumimoji="0" lang="ru-R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C92723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  <a:sym typeface="+mn-lt"/>
                </a:rPr>
                <a:t>Ключевые допущения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3AC39C7-D985-4585-9759-59494948507F}"/>
                </a:ext>
              </a:extLst>
            </p:cNvPr>
            <p:cNvSpPr txBox="1"/>
            <p:nvPr/>
          </p:nvSpPr>
          <p:spPr>
            <a:xfrm>
              <a:off x="476280" y="4161014"/>
              <a:ext cx="1971645" cy="173893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1"/>
              <a:r>
                <a:rPr lang="ru-RU" sz="1200" dirty="0"/>
                <a:t>Ежемесячная заработная плата (ЗП) – </a:t>
              </a:r>
              <a:r>
                <a:rPr lang="ru-RU" sz="1200" b="1" dirty="0">
                  <a:solidFill>
                    <a:srgbClr val="C00000"/>
                  </a:solidFill>
                </a:rPr>
                <a:t>150 тыс. руб.</a:t>
              </a:r>
            </a:p>
            <a:p>
              <a:pPr lvl="1"/>
              <a:r>
                <a:rPr lang="ru-RU" sz="1200" dirty="0"/>
                <a:t>Дополнительные страховые взносы – </a:t>
              </a:r>
              <a:r>
                <a:rPr lang="ru-RU" sz="1200" b="1" dirty="0">
                  <a:solidFill>
                    <a:srgbClr val="C00000"/>
                  </a:solidFill>
                </a:rPr>
                <a:t>30% от ЗП </a:t>
              </a:r>
            </a:p>
            <a:p>
              <a:pPr lvl="1"/>
              <a:r>
                <a:rPr lang="ru-RU" sz="1200" dirty="0"/>
                <a:t>Объем накладных расходов – </a:t>
              </a:r>
              <a:r>
                <a:rPr lang="ru-RU" sz="1200" b="1" dirty="0">
                  <a:solidFill>
                    <a:srgbClr val="C00000"/>
                  </a:solidFill>
                </a:rPr>
                <a:t>30% от суммарного ФОТа</a:t>
              </a:r>
            </a:p>
          </p:txBody>
        </p:sp>
      </p:grpSp>
      <p:cxnSp>
        <p:nvCxnSpPr>
          <p:cNvPr id="70" name="LineBasicDefault 44">
            <a:extLst>
              <a:ext uri="{FF2B5EF4-FFF2-40B4-BE49-F238E27FC236}">
                <a16:creationId xmlns:a16="http://schemas.microsoft.com/office/drawing/2014/main" id="{9178E7E6-ED85-455B-829F-F777298E604D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6024672" y="2334010"/>
            <a:ext cx="5612592" cy="0"/>
          </a:xfrm>
          <a:prstGeom prst="straightConnector1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B681AF4B-8C34-46B0-B44C-55B74A40CBA3}"/>
              </a:ext>
            </a:extLst>
          </p:cNvPr>
          <p:cNvSpPr>
            <a:spLocks/>
          </p:cNvSpPr>
          <p:nvPr/>
        </p:nvSpPr>
        <p:spPr>
          <a:xfrm>
            <a:off x="6024672" y="2360892"/>
            <a:ext cx="3356626" cy="18764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949" tIns="2949" rIns="2949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rgbClr val="000000"/>
                </a:solidFill>
                <a:latin typeface="Verdana"/>
              </a:rPr>
              <a:t>Проектировщик</a:t>
            </a:r>
            <a:r>
              <a:rPr lang="en-US" sz="1200" dirty="0">
                <a:solidFill>
                  <a:srgbClr val="000000"/>
                </a:solidFill>
                <a:latin typeface="Verdana"/>
              </a:rPr>
              <a:t>/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инженер</a:t>
            </a:r>
            <a:r>
              <a:rPr lang="ru-RU" sz="1200" baseline="30000" dirty="0">
                <a:solidFill>
                  <a:srgbClr val="000000"/>
                </a:solidFill>
                <a:latin typeface="Verdana"/>
              </a:rPr>
              <a:t>1</a:t>
            </a:r>
            <a:r>
              <a:rPr lang="ru-RU" sz="1200" dirty="0">
                <a:solidFill>
                  <a:srgbClr val="000000"/>
                </a:solidFill>
                <a:latin typeface="Verdana"/>
              </a:rPr>
              <a:t> </a:t>
            </a:r>
            <a:endParaRPr lang="en-US" sz="1200" dirty="0" err="1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90544D-4388-48AB-9ECC-895D10D68490}"/>
              </a:ext>
            </a:extLst>
          </p:cNvPr>
          <p:cNvSpPr txBox="1"/>
          <p:nvPr/>
        </p:nvSpPr>
        <p:spPr>
          <a:xfrm>
            <a:off x="9505741" y="2355766"/>
            <a:ext cx="106073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927CC4-65AC-413F-A70A-B0E954B22272}"/>
              </a:ext>
            </a:extLst>
          </p:cNvPr>
          <p:cNvSpPr txBox="1"/>
          <p:nvPr/>
        </p:nvSpPr>
        <p:spPr>
          <a:xfrm>
            <a:off x="10915842" y="2355766"/>
            <a:ext cx="251672" cy="184666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en-US" sz="1200" dirty="0"/>
              <a:t>4,7</a:t>
            </a:r>
          </a:p>
        </p:txBody>
      </p:sp>
      <p:sp>
        <p:nvSpPr>
          <p:cNvPr id="75" name="4. Footnote">
            <a:extLst>
              <a:ext uri="{FF2B5EF4-FFF2-40B4-BE49-F238E27FC236}">
                <a16:creationId xmlns:a16="http://schemas.microsoft.com/office/drawing/2014/main" id="{63C0396B-62AC-4F34-965B-D9A09495A262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>
                <a:latin typeface="+mn-lt"/>
                <a:ea typeface="+mn-ea"/>
                <a:cs typeface="+mn-cs"/>
                <a:sym typeface="+mn-lt"/>
              </a:rPr>
              <a:t>1.	Оценка на основе ресурсных потребностей КП МПТЦ, ~45 человек на все новое строительство в Москве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2003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6" hidden="1">
            <a:extLst>
              <a:ext uri="{FF2B5EF4-FFF2-40B4-BE49-F238E27FC236}">
                <a16:creationId xmlns:a16="http://schemas.microsoft.com/office/drawing/2014/main" id="{79042E24-7679-4D4E-86BA-CA8C6A11CE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8" name="Object 6" hidden="1">
                        <a:extLst>
                          <a:ext uri="{FF2B5EF4-FFF2-40B4-BE49-F238E27FC236}">
                            <a16:creationId xmlns:a16="http://schemas.microsoft.com/office/drawing/2014/main" id="{79042E24-7679-4D4E-86BA-CA8C6A11C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Прямоугольник 81">
            <a:extLst>
              <a:ext uri="{FF2B5EF4-FFF2-40B4-BE49-F238E27FC236}">
                <a16:creationId xmlns:a16="http://schemas.microsoft.com/office/drawing/2014/main" id="{46B0F0F6-C806-43DB-88CD-118309BEE8E3}"/>
              </a:ext>
            </a:extLst>
          </p:cNvPr>
          <p:cNvSpPr>
            <a:spLocks/>
          </p:cNvSpPr>
          <p:nvPr/>
        </p:nvSpPr>
        <p:spPr>
          <a:xfrm>
            <a:off x="438149" y="1266825"/>
            <a:ext cx="11753852" cy="657288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989" tIns="53494" rIns="106989" bIns="534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800" b="1" dirty="0">
              <a:solidFill>
                <a:schemeClr val="accent3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7A117E9-7278-41EC-945B-D1B204CBA95F}"/>
              </a:ext>
            </a:extLst>
          </p:cNvPr>
          <p:cNvGrpSpPr>
            <a:grpSpLocks/>
          </p:cNvGrpSpPr>
          <p:nvPr/>
        </p:nvGrpSpPr>
        <p:grpSpPr>
          <a:xfrm>
            <a:off x="5932632" y="1266825"/>
            <a:ext cx="939389" cy="657288"/>
            <a:chOff x="5395913" y="1266825"/>
            <a:chExt cx="974407" cy="613810"/>
          </a:xfrm>
          <a:gradFill flip="none" rotWithShape="1">
            <a:gsLst>
              <a:gs pos="12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  <a:tileRect/>
          </a:gradFill>
        </p:grpSpPr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3A5574E1-02CA-4C7D-90D4-3189B0FF319E}"/>
                </a:ext>
              </a:extLst>
            </p:cNvPr>
            <p:cNvSpPr/>
            <p:nvPr/>
          </p:nvSpPr>
          <p:spPr>
            <a:xfrm>
              <a:off x="5395913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1" name="Arrow: Chevron 40">
              <a:extLst>
                <a:ext uri="{FF2B5EF4-FFF2-40B4-BE49-F238E27FC236}">
                  <a16:creationId xmlns:a16="http://schemas.microsoft.com/office/drawing/2014/main" id="{073AEB6C-937E-4C75-A4E9-E3B147ED5EB5}"/>
                </a:ext>
              </a:extLst>
            </p:cNvPr>
            <p:cNvSpPr/>
            <p:nvPr/>
          </p:nvSpPr>
          <p:spPr>
            <a:xfrm>
              <a:off x="5712534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2" name="Arrow: Chevron 41">
              <a:extLst>
                <a:ext uri="{FF2B5EF4-FFF2-40B4-BE49-F238E27FC236}">
                  <a16:creationId xmlns:a16="http://schemas.microsoft.com/office/drawing/2014/main" id="{9B2743D0-D838-4E7D-9719-201270B1C6DF}"/>
                </a:ext>
              </a:extLst>
            </p:cNvPr>
            <p:cNvSpPr/>
            <p:nvPr/>
          </p:nvSpPr>
          <p:spPr>
            <a:xfrm>
              <a:off x="6029155" y="1266825"/>
              <a:ext cx="341165" cy="613810"/>
            </a:xfrm>
            <a:prstGeom prst="chevron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2. Slide Title">
            <a:extLst>
              <a:ext uri="{FF2B5EF4-FFF2-40B4-BE49-F238E27FC236}">
                <a16:creationId xmlns:a16="http://schemas.microsoft.com/office/drawing/2014/main" id="{575E3A99-2643-4FA4-9D76-1B2EF14F9C4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Для агрегатора должны быть сформулированы ключевые показатели эффективности (КПЭ)</a:t>
            </a:r>
          </a:p>
        </p:txBody>
      </p: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D03DBC97-8E3C-4E80-9DF5-497B6EBFD9D3}"/>
              </a:ext>
            </a:extLst>
          </p:cNvPr>
          <p:cNvSpPr>
            <a:spLocks/>
          </p:cNvSpPr>
          <p:nvPr/>
        </p:nvSpPr>
        <p:spPr>
          <a:xfrm>
            <a:off x="-9525" y="1266825"/>
            <a:ext cx="5997002" cy="491172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FF0C5BE-8F55-455C-BCD8-AF9D2B98031D}"/>
              </a:ext>
            </a:extLst>
          </p:cNvPr>
          <p:cNvSpPr>
            <a:spLocks/>
          </p:cNvSpPr>
          <p:nvPr/>
        </p:nvSpPr>
        <p:spPr>
          <a:xfrm>
            <a:off x="6277128" y="5415120"/>
            <a:ext cx="5360134" cy="607071"/>
          </a:xfrm>
          <a:prstGeom prst="rect">
            <a:avLst/>
          </a:prstGeom>
          <a:solidFill>
            <a:schemeClr val="accent1"/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</a:pPr>
            <a:r>
              <a:rPr lang="ru-RU" sz="1500" dirty="0">
                <a:solidFill>
                  <a:srgbClr val="000000"/>
                </a:solidFill>
              </a:rPr>
              <a:t>Перечень КПЭ будет детализирован после утверждения страт. целей и функционала</a:t>
            </a:r>
          </a:p>
        </p:txBody>
      </p:sp>
      <p:sp>
        <p:nvSpPr>
          <p:cNvPr id="162" name="1. On-page tracker">
            <a:extLst>
              <a:ext uri="{FF2B5EF4-FFF2-40B4-BE49-F238E27FC236}">
                <a16:creationId xmlns:a16="http://schemas.microsoft.com/office/drawing/2014/main" id="{53D45FD2-5A30-467D-AE83-D8B2635C2D2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038" y="41275"/>
            <a:ext cx="3843337" cy="1538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sz="1000" b="1" dirty="0"/>
              <a:t>6. Управление эффективностью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96D66C1-38E2-4374-97FC-B61FED224A9A}"/>
              </a:ext>
            </a:extLst>
          </p:cNvPr>
          <p:cNvSpPr>
            <a:spLocks/>
          </p:cNvSpPr>
          <p:nvPr/>
        </p:nvSpPr>
        <p:spPr>
          <a:xfrm>
            <a:off x="554734" y="2084909"/>
            <a:ext cx="5143092" cy="1205230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CA31426-8785-482B-9F64-F551D55E45D8}"/>
              </a:ext>
            </a:extLst>
          </p:cNvPr>
          <p:cNvGrpSpPr/>
          <p:nvPr/>
        </p:nvGrpSpPr>
        <p:grpSpPr>
          <a:xfrm>
            <a:off x="796865" y="2187387"/>
            <a:ext cx="4658830" cy="1000274"/>
            <a:chOff x="796865" y="2223282"/>
            <a:chExt cx="4658830" cy="1000274"/>
          </a:xfrm>
        </p:grpSpPr>
        <p:pic>
          <p:nvPicPr>
            <p:cNvPr id="12" name="CustomIcon">
              <a:extLst>
                <a:ext uri="{FF2B5EF4-FFF2-40B4-BE49-F238E27FC236}">
                  <a16:creationId xmlns:a16="http://schemas.microsoft.com/office/drawing/2014/main" id="{230C0855-00A8-4F5D-9E18-64F889DE5649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6865" y="2418619"/>
              <a:ext cx="609600" cy="609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222C3B-1F9C-4C8A-92E1-E8327FCCA4E9}"/>
                </a:ext>
              </a:extLst>
            </p:cNvPr>
            <p:cNvSpPr txBox="1">
              <a:spLocks/>
            </p:cNvSpPr>
            <p:nvPr/>
          </p:nvSpPr>
          <p:spPr>
            <a:xfrm>
              <a:off x="1648596" y="2223282"/>
              <a:ext cx="3807099" cy="100027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500" b="1" dirty="0">
                  <a:solidFill>
                    <a:schemeClr val="accent3"/>
                  </a:solidFill>
                </a:rPr>
                <a:t>Объективность</a:t>
              </a:r>
            </a:p>
            <a:p>
              <a:r>
                <a:rPr lang="ru-RU" sz="1500" dirty="0"/>
                <a:t>Отсутствие субъективной качественной оценки и максимальная прозрачность</a:t>
              </a:r>
              <a:endParaRPr lang="en-US" sz="1500" dirty="0"/>
            </a:p>
          </p:txBody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C41363B-764C-4B11-A312-1B42D5476E90}"/>
              </a:ext>
            </a:extLst>
          </p:cNvPr>
          <p:cNvSpPr>
            <a:spLocks/>
          </p:cNvSpPr>
          <p:nvPr/>
        </p:nvSpPr>
        <p:spPr>
          <a:xfrm>
            <a:off x="554733" y="3450935"/>
            <a:ext cx="5143092" cy="1205230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7" name="CustomIcon">
            <a:extLst>
              <a:ext uri="{FF2B5EF4-FFF2-40B4-BE49-F238E27FC236}">
                <a16:creationId xmlns:a16="http://schemas.microsoft.com/office/drawing/2014/main" id="{36E8B257-3C88-40D8-B0BB-61036C5F915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6865" y="3748750"/>
            <a:ext cx="609600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2C9B05-F4E1-4B7E-849A-09F5B4841265}"/>
              </a:ext>
            </a:extLst>
          </p:cNvPr>
          <p:cNvSpPr txBox="1">
            <a:spLocks/>
          </p:cNvSpPr>
          <p:nvPr/>
        </p:nvSpPr>
        <p:spPr>
          <a:xfrm>
            <a:off x="1648596" y="3553413"/>
            <a:ext cx="3807099" cy="1000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b="1" dirty="0">
                <a:solidFill>
                  <a:schemeClr val="accent3"/>
                </a:solidFill>
              </a:rPr>
              <a:t>Вклад в достижение целей</a:t>
            </a:r>
          </a:p>
          <a:p>
            <a:r>
              <a:rPr lang="ru-RU" sz="1500" dirty="0"/>
              <a:t>Прямое влияние показателя </a:t>
            </a:r>
            <a:br>
              <a:rPr lang="ru-RU" sz="1500" dirty="0"/>
            </a:br>
            <a:r>
              <a:rPr lang="ru-RU" sz="1500" dirty="0"/>
              <a:t>на достижение страт. целей, </a:t>
            </a:r>
            <a:br>
              <a:rPr lang="ru-RU" sz="1500" dirty="0"/>
            </a:br>
            <a:r>
              <a:rPr lang="ru-RU" sz="1500" dirty="0"/>
              <a:t>а не промежуточных результатов</a:t>
            </a:r>
            <a:endParaRPr lang="en-US" sz="15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F998BA3-104D-428D-8612-495A43A61AEF}"/>
              </a:ext>
            </a:extLst>
          </p:cNvPr>
          <p:cNvSpPr>
            <a:spLocks/>
          </p:cNvSpPr>
          <p:nvPr/>
        </p:nvSpPr>
        <p:spPr>
          <a:xfrm>
            <a:off x="554733" y="4816961"/>
            <a:ext cx="5143092" cy="1205230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10" name="CustomIcon">
            <a:extLst>
              <a:ext uri="{FF2B5EF4-FFF2-40B4-BE49-F238E27FC236}">
                <a16:creationId xmlns:a16="http://schemas.microsoft.com/office/drawing/2014/main" id="{B2DF1057-C741-4AAF-850C-EB680FD2026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6865" y="5114776"/>
            <a:ext cx="609600" cy="609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9E3F6A-BE1A-4A4C-B9E7-2C870E403D5F}"/>
              </a:ext>
            </a:extLst>
          </p:cNvPr>
          <p:cNvSpPr txBox="1">
            <a:spLocks/>
          </p:cNvSpPr>
          <p:nvPr/>
        </p:nvSpPr>
        <p:spPr>
          <a:xfrm>
            <a:off x="1648596" y="4919439"/>
            <a:ext cx="3807099" cy="100027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b="1" dirty="0">
                <a:solidFill>
                  <a:schemeClr val="accent3"/>
                </a:solidFill>
              </a:rPr>
              <a:t>Влияние сотрудников</a:t>
            </a:r>
          </a:p>
          <a:p>
            <a:r>
              <a:rPr lang="ru-RU" sz="1500" dirty="0"/>
              <a:t>Возможность персонала </a:t>
            </a:r>
            <a:br>
              <a:rPr lang="ru-RU" sz="1500" dirty="0"/>
            </a:br>
            <a:r>
              <a:rPr lang="ru-RU" sz="1500" dirty="0"/>
              <a:t>в значительной степени влиять </a:t>
            </a:r>
            <a:br>
              <a:rPr lang="ru-RU" sz="1500" dirty="0"/>
            </a:br>
            <a:r>
              <a:rPr lang="ru-RU" sz="1500" dirty="0"/>
              <a:t>на достижение показателя</a:t>
            </a:r>
            <a:endParaRPr 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29985-5F75-44C1-9CF3-BF7961F38995}"/>
              </a:ext>
            </a:extLst>
          </p:cNvPr>
          <p:cNvSpPr txBox="1">
            <a:spLocks/>
          </p:cNvSpPr>
          <p:nvPr/>
        </p:nvSpPr>
        <p:spPr>
          <a:xfrm>
            <a:off x="6277128" y="2084909"/>
            <a:ext cx="5360134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dirty="0"/>
              <a:t>Агрегатор должен нести </a:t>
            </a:r>
            <a:r>
              <a:rPr lang="ru-RU" sz="1500" b="1" dirty="0">
                <a:solidFill>
                  <a:schemeClr val="accent3"/>
                </a:solidFill>
              </a:rPr>
              <a:t>полную ответственность за внедрение </a:t>
            </a:r>
            <a:r>
              <a:rPr lang="ru-RU" sz="1500" dirty="0"/>
              <a:t>сервисов и за </a:t>
            </a:r>
            <a:r>
              <a:rPr lang="ru-RU" sz="1500" b="1" dirty="0">
                <a:solidFill>
                  <a:schemeClr val="accent3"/>
                </a:solidFill>
              </a:rPr>
              <a:t>удовлетворенность</a:t>
            </a:r>
            <a:r>
              <a:rPr lang="ru-RU" sz="1500" dirty="0"/>
              <a:t> жителей при их использовании, поэтому предлагаются следующие показатели:</a:t>
            </a:r>
            <a:endParaRPr lang="en-US" sz="15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84C504D-CD42-4C82-8258-92BFAE4FDA6F}"/>
              </a:ext>
            </a:extLst>
          </p:cNvPr>
          <p:cNvSpPr txBox="1">
            <a:spLocks/>
          </p:cNvSpPr>
          <p:nvPr/>
        </p:nvSpPr>
        <p:spPr>
          <a:xfrm>
            <a:off x="6277128" y="3141660"/>
            <a:ext cx="328616" cy="590349"/>
          </a:xfrm>
          <a:prstGeom prst="rect">
            <a:avLst/>
          </a:prstGeom>
        </p:spPr>
        <p:txBody>
          <a:bodyPr vert="horz" wrap="square" lIns="0" tIns="0" rIns="0" bIns="3600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3600" b="1" dirty="0">
                <a:solidFill>
                  <a:schemeClr val="accent3"/>
                </a:solidFill>
              </a:rPr>
              <a:t>1</a:t>
            </a:r>
            <a:endParaRPr lang="en-US" sz="3600" b="1" dirty="0">
              <a:solidFill>
                <a:schemeClr val="accent3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235A7-BACF-47C0-90E6-459C960789EF}"/>
              </a:ext>
            </a:extLst>
          </p:cNvPr>
          <p:cNvSpPr txBox="1">
            <a:spLocks/>
          </p:cNvSpPr>
          <p:nvPr/>
        </p:nvSpPr>
        <p:spPr>
          <a:xfrm>
            <a:off x="6728460" y="3321418"/>
            <a:ext cx="4908802" cy="230832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b="1" dirty="0">
                <a:solidFill>
                  <a:schemeClr val="accent3"/>
                </a:solidFill>
              </a:rPr>
              <a:t>Количество </a:t>
            </a:r>
            <a:r>
              <a:rPr lang="ru-RU" sz="1500" dirty="0"/>
              <a:t>подключенных</a:t>
            </a:r>
            <a:r>
              <a:rPr lang="ru-RU" sz="1500" b="1" dirty="0">
                <a:solidFill>
                  <a:schemeClr val="accent3"/>
                </a:solidFill>
              </a:rPr>
              <a:t> домов</a:t>
            </a:r>
            <a:endParaRPr lang="en-US" sz="1500" b="1" dirty="0">
              <a:solidFill>
                <a:schemeClr val="accent3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065ADEA-663B-4E18-AE8C-337F52DDAEE7}"/>
              </a:ext>
            </a:extLst>
          </p:cNvPr>
          <p:cNvSpPr txBox="1">
            <a:spLocks/>
          </p:cNvSpPr>
          <p:nvPr/>
        </p:nvSpPr>
        <p:spPr>
          <a:xfrm>
            <a:off x="6277128" y="3865430"/>
            <a:ext cx="328616" cy="590349"/>
          </a:xfrm>
          <a:prstGeom prst="rect">
            <a:avLst/>
          </a:prstGeom>
        </p:spPr>
        <p:txBody>
          <a:bodyPr vert="horz" wrap="none" lIns="0" tIns="0" rIns="0" bIns="3600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3600" b="1" dirty="0">
                <a:solidFill>
                  <a:schemeClr val="accent3"/>
                </a:solidFill>
              </a:rPr>
              <a:t>2</a:t>
            </a:r>
            <a:endParaRPr lang="en-US" sz="3600" b="1" dirty="0">
              <a:solidFill>
                <a:schemeClr val="accent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A99F03-198F-42A7-BF50-0D6195FFE821}"/>
              </a:ext>
            </a:extLst>
          </p:cNvPr>
          <p:cNvSpPr txBox="1">
            <a:spLocks/>
          </p:cNvSpPr>
          <p:nvPr/>
        </p:nvSpPr>
        <p:spPr>
          <a:xfrm>
            <a:off x="6728460" y="3929772"/>
            <a:ext cx="4908802" cy="4616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b="1" dirty="0">
                <a:solidFill>
                  <a:schemeClr val="accent3"/>
                </a:solidFill>
              </a:rPr>
              <a:t>Дни бесперебойной эксплуатации </a:t>
            </a:r>
            <a:r>
              <a:rPr lang="ru-RU" sz="1500" dirty="0"/>
              <a:t>в год </a:t>
            </a:r>
            <a:br>
              <a:rPr lang="ru-RU" sz="1500" b="1" dirty="0">
                <a:solidFill>
                  <a:schemeClr val="accent3"/>
                </a:solidFill>
              </a:rPr>
            </a:br>
            <a:r>
              <a:rPr lang="ru-RU" sz="1500" dirty="0"/>
              <a:t>(в разрезе каждого сервиса/дома)</a:t>
            </a:r>
            <a:endParaRPr lang="en-US" sz="15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6D3CE0-D39D-4AD3-9BC4-A3E1ADAC6E25}"/>
              </a:ext>
            </a:extLst>
          </p:cNvPr>
          <p:cNvSpPr txBox="1">
            <a:spLocks/>
          </p:cNvSpPr>
          <p:nvPr/>
        </p:nvSpPr>
        <p:spPr>
          <a:xfrm>
            <a:off x="6277128" y="4640274"/>
            <a:ext cx="328616" cy="590349"/>
          </a:xfrm>
          <a:prstGeom prst="rect">
            <a:avLst/>
          </a:prstGeom>
        </p:spPr>
        <p:txBody>
          <a:bodyPr vert="horz" wrap="none" lIns="0" tIns="0" rIns="0" bIns="3600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3600" b="1" dirty="0">
                <a:solidFill>
                  <a:schemeClr val="accent3"/>
                </a:solidFill>
              </a:rPr>
              <a:t>3</a:t>
            </a:r>
            <a:endParaRPr lang="en-US" sz="3600" b="1" dirty="0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2D1ED-454E-445C-B665-964E3D5974E1}"/>
              </a:ext>
            </a:extLst>
          </p:cNvPr>
          <p:cNvSpPr txBox="1">
            <a:spLocks/>
          </p:cNvSpPr>
          <p:nvPr/>
        </p:nvSpPr>
        <p:spPr>
          <a:xfrm>
            <a:off x="6728460" y="4589200"/>
            <a:ext cx="4908802" cy="6924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500" dirty="0"/>
              <a:t>Количественный</a:t>
            </a:r>
            <a:r>
              <a:rPr lang="ru-RU" sz="1500" b="1" dirty="0">
                <a:solidFill>
                  <a:schemeClr val="accent3"/>
                </a:solidFill>
              </a:rPr>
              <a:t> показатель удовлетворенности </a:t>
            </a:r>
            <a:r>
              <a:rPr lang="ru-RU" sz="1500" dirty="0"/>
              <a:t>жителей на дом </a:t>
            </a:r>
            <a:br>
              <a:rPr lang="ru-RU" sz="1500" dirty="0"/>
            </a:br>
            <a:r>
              <a:rPr lang="ru-RU" sz="1500" dirty="0"/>
              <a:t>(напр., Net Promoter Score)</a:t>
            </a:r>
            <a:endParaRPr lang="en-US" sz="15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44F224-358E-426F-8798-8728F27BFCE8}"/>
              </a:ext>
            </a:extLst>
          </p:cNvPr>
          <p:cNvSpPr txBox="1">
            <a:spLocks/>
          </p:cNvSpPr>
          <p:nvPr/>
        </p:nvSpPr>
        <p:spPr>
          <a:xfrm>
            <a:off x="554734" y="1333859"/>
            <a:ext cx="5143092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700" b="1" dirty="0">
                <a:solidFill>
                  <a:schemeClr val="bg2"/>
                </a:solidFill>
                <a:cs typeface="Arial" panose="020B0604020202020204" pitchFamily="34" charset="0"/>
              </a:rPr>
              <a:t>Характеристики КПЭ в лучших мировых практиках</a:t>
            </a:r>
            <a:endParaRPr lang="en-US" sz="17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B65A1D-8898-429F-ACED-71BD6D0559B8}"/>
              </a:ext>
            </a:extLst>
          </p:cNvPr>
          <p:cNvSpPr txBox="1">
            <a:spLocks/>
          </p:cNvSpPr>
          <p:nvPr/>
        </p:nvSpPr>
        <p:spPr>
          <a:xfrm>
            <a:off x="6277128" y="1333859"/>
            <a:ext cx="5360134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700" b="1" dirty="0">
                <a:solidFill>
                  <a:schemeClr val="bg2"/>
                </a:solidFill>
                <a:cs typeface="Arial" panose="020B0604020202020204" pitchFamily="34" charset="0"/>
              </a:rPr>
              <a:t>Предварительный перечень КПЭ </a:t>
            </a:r>
            <a:br>
              <a:rPr lang="ru-RU" sz="1700" b="1" dirty="0">
                <a:solidFill>
                  <a:schemeClr val="bg2"/>
                </a:solidFill>
                <a:cs typeface="Arial" panose="020B0604020202020204" pitchFamily="34" charset="0"/>
              </a:rPr>
            </a:br>
            <a:r>
              <a:rPr lang="ru-RU" sz="1700" b="1" dirty="0">
                <a:solidFill>
                  <a:schemeClr val="bg2"/>
                </a:solidFill>
                <a:cs typeface="Arial" panose="020B0604020202020204" pitchFamily="34" charset="0"/>
              </a:rPr>
              <a:t>для агрегатора</a:t>
            </a:r>
            <a:endParaRPr lang="en-US" sz="17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700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6" hidden="1">
            <a:extLst>
              <a:ext uri="{FF2B5EF4-FFF2-40B4-BE49-F238E27FC236}">
                <a16:creationId xmlns:a16="http://schemas.microsoft.com/office/drawing/2014/main" id="{34B7A0D8-C536-4497-B0C5-1AE23C04D0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120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5" imgW="395" imgH="396" progId="TCLayout.ActiveDocument.1">
                  <p:embed/>
                </p:oleObj>
              </mc:Choice>
              <mc:Fallback>
                <p:oleObj name="think-cell Slide" r:id="rId65" imgW="395" imgH="396" progId="TCLayout.ActiveDocument.1">
                  <p:embed/>
                  <p:pic>
                    <p:nvPicPr>
                      <p:cNvPr id="23" name="Object 6" hidden="1">
                        <a:extLst>
                          <a:ext uri="{FF2B5EF4-FFF2-40B4-BE49-F238E27FC236}">
                            <a16:creationId xmlns:a16="http://schemas.microsoft.com/office/drawing/2014/main" id="{34B7A0D8-C536-4497-B0C5-1AE23C04D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7825E-182E-4C97-8387-184960188F1D}"/>
              </a:ext>
            </a:extLst>
          </p:cNvPr>
          <p:cNvSpPr>
            <a:spLocks/>
          </p:cNvSpPr>
          <p:nvPr/>
        </p:nvSpPr>
        <p:spPr>
          <a:xfrm>
            <a:off x="554734" y="1373675"/>
            <a:ext cx="11082528" cy="523706"/>
          </a:xfrm>
          <a:prstGeom prst="roundRect">
            <a:avLst>
              <a:gd name="adj" fmla="val 12061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8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DA10143-4FE9-4E08-A24B-B3755DBA86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Распределение функционала по вовлеченным сторонам </a:t>
            </a:r>
            <a:br>
              <a:rPr lang="en-US" dirty="0"/>
            </a:br>
            <a:r>
              <a:rPr lang="ru-RU" dirty="0"/>
              <a:t>(1/</a:t>
            </a:r>
            <a:r>
              <a:rPr lang="pl-PL" dirty="0"/>
              <a:t>3</a:t>
            </a:r>
            <a:r>
              <a:rPr lang="ru-RU" dirty="0"/>
              <a:t>)</a:t>
            </a:r>
          </a:p>
        </p:txBody>
      </p:sp>
      <p:sp>
        <p:nvSpPr>
          <p:cNvPr id="630" name="Rectangle: Rounded Corners 629">
            <a:extLst>
              <a:ext uri="{FF2B5EF4-FFF2-40B4-BE49-F238E27FC236}">
                <a16:creationId xmlns:a16="http://schemas.microsoft.com/office/drawing/2014/main" id="{07E34B32-2957-4385-A59E-96CB84999405}"/>
              </a:ext>
            </a:extLst>
          </p:cNvPr>
          <p:cNvSpPr>
            <a:spLocks/>
          </p:cNvSpPr>
          <p:nvPr/>
        </p:nvSpPr>
        <p:spPr>
          <a:xfrm>
            <a:off x="8125199" y="1605915"/>
            <a:ext cx="778376" cy="4530143"/>
          </a:xfrm>
          <a:prstGeom prst="roundRect">
            <a:avLst>
              <a:gd name="adj" fmla="val 9638"/>
            </a:avLst>
          </a:prstGeom>
          <a:solidFill>
            <a:schemeClr val="accent1"/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endParaRPr lang="en-US" sz="800" dirty="0" err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411531-2026-4928-A0D0-A0B2B838299B}"/>
              </a:ext>
            </a:extLst>
          </p:cNvPr>
          <p:cNvGrpSpPr/>
          <p:nvPr/>
        </p:nvGrpSpPr>
        <p:grpSpPr>
          <a:xfrm>
            <a:off x="10453519" y="1027367"/>
            <a:ext cx="1183745" cy="153888"/>
            <a:chOff x="10312453" y="1027367"/>
            <a:chExt cx="1183745" cy="15388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6A0175-20FA-4798-8EFF-260D9DA742ED}"/>
                </a:ext>
              </a:extLst>
            </p:cNvPr>
            <p:cNvSpPr>
              <a:spLocks/>
            </p:cNvSpPr>
            <p:nvPr/>
          </p:nvSpPr>
          <p:spPr>
            <a:xfrm>
              <a:off x="10524778" y="1050450"/>
              <a:ext cx="971420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r>
                <a:rPr lang="ru-RU" sz="700" dirty="0"/>
                <a:t>Выполняет функцию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0611056-7F61-40B1-9070-4F097830C05E}"/>
                </a:ext>
              </a:extLst>
            </p:cNvPr>
            <p:cNvGrpSpPr/>
            <p:nvPr/>
          </p:nvGrpSpPr>
          <p:grpSpPr>
            <a:xfrm>
              <a:off x="10312453" y="1027367"/>
              <a:ext cx="153888" cy="153888"/>
              <a:chOff x="10126688" y="1289273"/>
              <a:chExt cx="153888" cy="15388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20AEE85-067E-4C69-97FF-51DFF4BA62E6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7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51" name="Graphic 50">
                <a:extLst>
                  <a:ext uri="{FF2B5EF4-FFF2-40B4-BE49-F238E27FC236}">
                    <a16:creationId xmlns:a16="http://schemas.microsoft.com/office/drawing/2014/main" id="{792A5FE9-95DA-4423-8A00-96BCEAB1B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7">
                <a:extLst>
                  <a:ext uri="{96DAC541-7B7A-43D3-8B79-37D633B846F1}">
                    <asvg:svgBlip xmlns:asvg="http://schemas.microsoft.com/office/drawing/2016/SVG/main" r:embed="rId68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3FC2CAD-0406-44F7-9CDA-A4ED4B36BA05}"/>
              </a:ext>
            </a:extLst>
          </p:cNvPr>
          <p:cNvSpPr txBox="1">
            <a:spLocks/>
          </p:cNvSpPr>
          <p:nvPr/>
        </p:nvSpPr>
        <p:spPr>
          <a:xfrm>
            <a:off x="8167551" y="1729026"/>
            <a:ext cx="69367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ru-RU" sz="800" b="1" dirty="0">
                <a:solidFill>
                  <a:srgbClr val="000000"/>
                </a:solidFill>
                <a:cs typeface="+mn-cs"/>
              </a:rPr>
              <a:t>Агрегатор</a:t>
            </a:r>
            <a:endParaRPr lang="en-US" sz="800" b="1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1850BA-C672-4173-98A2-66061C41E2AD}"/>
              </a:ext>
            </a:extLst>
          </p:cNvPr>
          <p:cNvSpPr txBox="1">
            <a:spLocks/>
          </p:cNvSpPr>
          <p:nvPr/>
        </p:nvSpPr>
        <p:spPr>
          <a:xfrm>
            <a:off x="6622368" y="1605916"/>
            <a:ext cx="738868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Собственни-ки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квартир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11533-FAEC-416A-8C24-F8A3A4BAAE8A}"/>
              </a:ext>
            </a:extLst>
          </p:cNvPr>
          <p:cNvSpPr txBox="1">
            <a:spLocks/>
          </p:cNvSpPr>
          <p:nvPr/>
        </p:nvSpPr>
        <p:spPr>
          <a:xfrm>
            <a:off x="4327696" y="1605916"/>
            <a:ext cx="697307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Руковод-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ство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города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8A9AC2-E48B-4014-AF5D-812EB5403C8F}"/>
              </a:ext>
            </a:extLst>
          </p:cNvPr>
          <p:cNvSpPr txBox="1">
            <a:spLocks/>
          </p:cNvSpPr>
          <p:nvPr/>
        </p:nvSpPr>
        <p:spPr>
          <a:xfrm>
            <a:off x="5686990" y="1605916"/>
            <a:ext cx="52257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Застрой-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щик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0F9D39-BE3F-40BB-A808-BD9EA5EB6D89}"/>
              </a:ext>
            </a:extLst>
          </p:cNvPr>
          <p:cNvSpPr txBox="1">
            <a:spLocks/>
          </p:cNvSpPr>
          <p:nvPr/>
        </p:nvSpPr>
        <p:spPr>
          <a:xfrm>
            <a:off x="5101080" y="1605916"/>
            <a:ext cx="509833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Префек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-туры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37C5A-0661-4950-9212-D0884807EAAE}"/>
              </a:ext>
            </a:extLst>
          </p:cNvPr>
          <p:cNvSpPr txBox="1">
            <a:spLocks/>
          </p:cNvSpPr>
          <p:nvPr/>
        </p:nvSpPr>
        <p:spPr>
          <a:xfrm>
            <a:off x="6285646" y="1729026"/>
            <a:ext cx="26064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УК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4538C-BE1A-4FB7-A424-A882CEBE738E}"/>
              </a:ext>
            </a:extLst>
          </p:cNvPr>
          <p:cNvSpPr txBox="1">
            <a:spLocks/>
          </p:cNvSpPr>
          <p:nvPr/>
        </p:nvSpPr>
        <p:spPr>
          <a:xfrm>
            <a:off x="7437313" y="1605916"/>
            <a:ext cx="61180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Мусорный оператор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151F98-D363-434D-9F64-F5971591233A}"/>
              </a:ext>
            </a:extLst>
          </p:cNvPr>
          <p:cNvSpPr txBox="1">
            <a:spLocks/>
          </p:cNvSpPr>
          <p:nvPr/>
        </p:nvSpPr>
        <p:spPr>
          <a:xfrm>
            <a:off x="9934187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ДИТ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ACF19-BE3D-4F05-A54C-639AF0AF78CF}"/>
              </a:ext>
            </a:extLst>
          </p:cNvPr>
          <p:cNvSpPr txBox="1">
            <a:spLocks/>
          </p:cNvSpPr>
          <p:nvPr/>
        </p:nvSpPr>
        <p:spPr>
          <a:xfrm>
            <a:off x="8979652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Коммерческие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CFFB9-C86E-4902-BAF2-7BF6EA6E4C02}"/>
              </a:ext>
            </a:extLst>
          </p:cNvPr>
          <p:cNvSpPr txBox="1">
            <a:spLocks/>
          </p:cNvSpPr>
          <p:nvPr/>
        </p:nvSpPr>
        <p:spPr>
          <a:xfrm>
            <a:off x="609598" y="1729026"/>
            <a:ext cx="12690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Блок функций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4266E9-8F53-468B-AC32-16FC8FDD5259}"/>
              </a:ext>
            </a:extLst>
          </p:cNvPr>
          <p:cNvSpPr txBox="1">
            <a:spLocks/>
          </p:cNvSpPr>
          <p:nvPr/>
        </p:nvSpPr>
        <p:spPr>
          <a:xfrm>
            <a:off x="10498162" y="1729026"/>
            <a:ext cx="1084236" cy="13048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Электронный дом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A2164-17EC-46A8-ADD3-9DD72D466EC9}"/>
              </a:ext>
            </a:extLst>
          </p:cNvPr>
          <p:cNvSpPr txBox="1">
            <a:spLocks/>
          </p:cNvSpPr>
          <p:nvPr/>
        </p:nvSpPr>
        <p:spPr>
          <a:xfrm>
            <a:off x="1954733" y="1729026"/>
            <a:ext cx="229688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Функция</a:t>
            </a:r>
          </a:p>
        </p:txBody>
      </p:sp>
      <p:sp>
        <p:nvSpPr>
          <p:cNvPr id="940" name="TextBox 939">
            <a:extLst>
              <a:ext uri="{FF2B5EF4-FFF2-40B4-BE49-F238E27FC236}">
                <a16:creationId xmlns:a16="http://schemas.microsoft.com/office/drawing/2014/main" id="{70573CD8-C035-4AC2-BFD4-712EA170AE0D}"/>
              </a:ext>
            </a:extLst>
          </p:cNvPr>
          <p:cNvSpPr txBox="1"/>
          <p:nvPr/>
        </p:nvSpPr>
        <p:spPr>
          <a:xfrm>
            <a:off x="609598" y="2791284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Управление проектом</a:t>
            </a:r>
          </a:p>
        </p:txBody>
      </p:sp>
      <p:sp>
        <p:nvSpPr>
          <p:cNvPr id="942" name="TextBox 941">
            <a:extLst>
              <a:ext uri="{FF2B5EF4-FFF2-40B4-BE49-F238E27FC236}">
                <a16:creationId xmlns:a16="http://schemas.microsoft.com/office/drawing/2014/main" id="{9015D7E2-4A2A-460C-92D3-E61B9C1BB309}"/>
              </a:ext>
            </a:extLst>
          </p:cNvPr>
          <p:cNvSpPr txBox="1"/>
          <p:nvPr/>
        </p:nvSpPr>
        <p:spPr>
          <a:xfrm>
            <a:off x="609598" y="3640708"/>
            <a:ext cx="1269058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Разработка стандартов и методологий </a:t>
            </a:r>
          </a:p>
        </p:txBody>
      </p:sp>
      <p:sp>
        <p:nvSpPr>
          <p:cNvPr id="944" name="TextBox 943">
            <a:extLst>
              <a:ext uri="{FF2B5EF4-FFF2-40B4-BE49-F238E27FC236}">
                <a16:creationId xmlns:a16="http://schemas.microsoft.com/office/drawing/2014/main" id="{E9D85AFE-2760-410F-89D3-F12859DFBBA4}"/>
              </a:ext>
            </a:extLst>
          </p:cNvPr>
          <p:cNvSpPr txBox="1"/>
          <p:nvPr/>
        </p:nvSpPr>
        <p:spPr>
          <a:xfrm>
            <a:off x="609598" y="5262261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Контрактование </a:t>
            </a:r>
          </a:p>
        </p:txBody>
      </p:sp>
      <p:sp>
        <p:nvSpPr>
          <p:cNvPr id="938" name="TextBox 937">
            <a:extLst>
              <a:ext uri="{FF2B5EF4-FFF2-40B4-BE49-F238E27FC236}">
                <a16:creationId xmlns:a16="http://schemas.microsoft.com/office/drawing/2014/main" id="{4B7D9398-1826-4BD8-8234-AFD2A4F73F8F}"/>
              </a:ext>
            </a:extLst>
          </p:cNvPr>
          <p:cNvSpPr txBox="1"/>
          <p:nvPr/>
        </p:nvSpPr>
        <p:spPr>
          <a:xfrm>
            <a:off x="609598" y="1937828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Стратегия </a:t>
            </a:r>
          </a:p>
        </p:txBody>
      </p:sp>
      <p:sp>
        <p:nvSpPr>
          <p:cNvPr id="948" name="TextBox 947">
            <a:extLst>
              <a:ext uri="{FF2B5EF4-FFF2-40B4-BE49-F238E27FC236}">
                <a16:creationId xmlns:a16="http://schemas.microsoft.com/office/drawing/2014/main" id="{6BB55B02-D91A-4B63-9B5C-F68F35CC3941}"/>
              </a:ext>
            </a:extLst>
          </p:cNvPr>
          <p:cNvSpPr txBox="1"/>
          <p:nvPr/>
        </p:nvSpPr>
        <p:spPr>
          <a:xfrm>
            <a:off x="1954733" y="1937828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Принятие стратегических решений</a:t>
            </a: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F9FB0482-2ED5-44AB-BF4C-7797029C0F0D}"/>
              </a:ext>
            </a:extLst>
          </p:cNvPr>
          <p:cNvGrpSpPr>
            <a:grpSpLocks/>
          </p:cNvGrpSpPr>
          <p:nvPr/>
        </p:nvGrpSpPr>
        <p:grpSpPr>
          <a:xfrm>
            <a:off x="4617115" y="1932455"/>
            <a:ext cx="118468" cy="118468"/>
            <a:chOff x="10126688" y="1289273"/>
            <a:chExt cx="153888" cy="153888"/>
          </a:xfrm>
        </p:grpSpPr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97D2C852-0A19-47E0-A008-9A734F6EA0A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87" name="Graphic 1086">
              <a:extLst>
                <a:ext uri="{FF2B5EF4-FFF2-40B4-BE49-F238E27FC236}">
                  <a16:creationId xmlns:a16="http://schemas.microsoft.com/office/drawing/2014/main" id="{B76DAD3B-770C-41E7-A2D8-E024DD36D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50" name="TextBox 949">
            <a:extLst>
              <a:ext uri="{FF2B5EF4-FFF2-40B4-BE49-F238E27FC236}">
                <a16:creationId xmlns:a16="http://schemas.microsoft.com/office/drawing/2014/main" id="{E884E7B2-A471-4E33-BF0B-491E8CFE7C27}"/>
              </a:ext>
            </a:extLst>
          </p:cNvPr>
          <p:cNvSpPr txBox="1"/>
          <p:nvPr/>
        </p:nvSpPr>
        <p:spPr>
          <a:xfrm>
            <a:off x="1954733" y="2126444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Целеполагание</a:t>
            </a:r>
          </a:p>
        </p:txBody>
      </p: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C935BFC0-9C83-4299-A336-B40009B19CB5}"/>
              </a:ext>
            </a:extLst>
          </p:cNvPr>
          <p:cNvGrpSpPr>
            <a:grpSpLocks/>
          </p:cNvGrpSpPr>
          <p:nvPr/>
        </p:nvGrpSpPr>
        <p:grpSpPr>
          <a:xfrm>
            <a:off x="4617115" y="2121071"/>
            <a:ext cx="118468" cy="118468"/>
            <a:chOff x="10126688" y="1289273"/>
            <a:chExt cx="153888" cy="153888"/>
          </a:xfrm>
        </p:grpSpPr>
        <p:sp>
          <p:nvSpPr>
            <p:cNvPr id="1089" name="Oval 1088">
              <a:extLst>
                <a:ext uri="{FF2B5EF4-FFF2-40B4-BE49-F238E27FC236}">
                  <a16:creationId xmlns:a16="http://schemas.microsoft.com/office/drawing/2014/main" id="{36964C70-2576-48A3-9782-374CDCAD892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90" name="Graphic 1089">
              <a:extLst>
                <a:ext uri="{FF2B5EF4-FFF2-40B4-BE49-F238E27FC236}">
                  <a16:creationId xmlns:a16="http://schemas.microsoft.com/office/drawing/2014/main" id="{D20DA1C7-C344-4185-898B-9B4C613D5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52" name="TextBox 951">
            <a:extLst>
              <a:ext uri="{FF2B5EF4-FFF2-40B4-BE49-F238E27FC236}">
                <a16:creationId xmlns:a16="http://schemas.microsoft.com/office/drawing/2014/main" id="{4AE0C7FB-0E44-471B-8EE2-FD7CD8A29D83}"/>
              </a:ext>
            </a:extLst>
          </p:cNvPr>
          <p:cNvSpPr txBox="1"/>
          <p:nvPr/>
        </p:nvSpPr>
        <p:spPr>
          <a:xfrm>
            <a:off x="1954733" y="2309687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Утверждение подхода к реализации и финансирования </a:t>
            </a:r>
          </a:p>
        </p:txBody>
      </p:sp>
      <p:sp>
        <p:nvSpPr>
          <p:cNvPr id="954" name="TextBox 953">
            <a:extLst>
              <a:ext uri="{FF2B5EF4-FFF2-40B4-BE49-F238E27FC236}">
                <a16:creationId xmlns:a16="http://schemas.microsoft.com/office/drawing/2014/main" id="{A94A610D-A35D-42CE-8A39-D7DBD4134C56}"/>
              </a:ext>
            </a:extLst>
          </p:cNvPr>
          <p:cNvSpPr txBox="1"/>
          <p:nvPr/>
        </p:nvSpPr>
        <p:spPr>
          <a:xfrm>
            <a:off x="1954733" y="2600652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Назначение ответственных за реализацию</a:t>
            </a:r>
          </a:p>
        </p:txBody>
      </p: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287E06F9-1CCD-4787-BAE8-678A7C418C85}"/>
              </a:ext>
            </a:extLst>
          </p:cNvPr>
          <p:cNvGrpSpPr>
            <a:grpSpLocks/>
          </p:cNvGrpSpPr>
          <p:nvPr/>
        </p:nvGrpSpPr>
        <p:grpSpPr>
          <a:xfrm>
            <a:off x="4617115" y="2358175"/>
            <a:ext cx="118468" cy="118468"/>
            <a:chOff x="10126688" y="1289273"/>
            <a:chExt cx="153888" cy="153888"/>
          </a:xfrm>
        </p:grpSpPr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11DBA77B-91E6-4A8B-8BEC-4B354FA3C2C3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96" name="Graphic 1095">
              <a:extLst>
                <a:ext uri="{FF2B5EF4-FFF2-40B4-BE49-F238E27FC236}">
                  <a16:creationId xmlns:a16="http://schemas.microsoft.com/office/drawing/2014/main" id="{B5025C27-296D-4FA8-A29F-AC9B431EB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384427DD-2034-4855-B32A-35C1BFC62B9A}"/>
              </a:ext>
            </a:extLst>
          </p:cNvPr>
          <p:cNvGrpSpPr>
            <a:grpSpLocks/>
          </p:cNvGrpSpPr>
          <p:nvPr/>
        </p:nvGrpSpPr>
        <p:grpSpPr>
          <a:xfrm>
            <a:off x="6356735" y="5445504"/>
            <a:ext cx="118468" cy="118468"/>
            <a:chOff x="10126688" y="1289273"/>
            <a:chExt cx="153888" cy="153888"/>
          </a:xfrm>
        </p:grpSpPr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6A370871-944E-4C1A-9E94-41A32F257F2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02" name="Graphic 1101">
              <a:extLst>
                <a:ext uri="{FF2B5EF4-FFF2-40B4-BE49-F238E27FC236}">
                  <a16:creationId xmlns:a16="http://schemas.microsoft.com/office/drawing/2014/main" id="{4853DA68-1AF0-44B7-925C-CD984BAAB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84" name="TextBox 983">
            <a:extLst>
              <a:ext uri="{FF2B5EF4-FFF2-40B4-BE49-F238E27FC236}">
                <a16:creationId xmlns:a16="http://schemas.microsoft.com/office/drawing/2014/main" id="{416B0FA0-CD75-4241-9276-7A65A309146B}"/>
              </a:ext>
            </a:extLst>
          </p:cNvPr>
          <p:cNvSpPr txBox="1"/>
          <p:nvPr/>
        </p:nvSpPr>
        <p:spPr>
          <a:xfrm>
            <a:off x="1954733" y="5920168"/>
            <a:ext cx="2296886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Заключение договоров между поставщиками и собственниками </a:t>
            </a:r>
          </a:p>
        </p:txBody>
      </p: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E9554D08-C17B-4322-9450-D91286FF96D5}"/>
              </a:ext>
            </a:extLst>
          </p:cNvPr>
          <p:cNvGrpSpPr>
            <a:grpSpLocks/>
          </p:cNvGrpSpPr>
          <p:nvPr/>
        </p:nvGrpSpPr>
        <p:grpSpPr>
          <a:xfrm>
            <a:off x="6932568" y="5968884"/>
            <a:ext cx="118468" cy="118468"/>
            <a:chOff x="10126688" y="1289273"/>
            <a:chExt cx="153888" cy="153888"/>
          </a:xfrm>
        </p:grpSpPr>
        <p:sp>
          <p:nvSpPr>
            <p:cNvPr id="1107" name="Oval 1106">
              <a:extLst>
                <a:ext uri="{FF2B5EF4-FFF2-40B4-BE49-F238E27FC236}">
                  <a16:creationId xmlns:a16="http://schemas.microsoft.com/office/drawing/2014/main" id="{266D4B4C-BAE5-492F-BEA6-251654B87E3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08" name="Graphic 1107">
              <a:extLst>
                <a:ext uri="{FF2B5EF4-FFF2-40B4-BE49-F238E27FC236}">
                  <a16:creationId xmlns:a16="http://schemas.microsoft.com/office/drawing/2014/main" id="{3AC9A712-1590-46A5-A04E-91E2DB7A9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16F0A4AD-3988-4178-91AE-273DD9C3601A}"/>
              </a:ext>
            </a:extLst>
          </p:cNvPr>
          <p:cNvGrpSpPr>
            <a:grpSpLocks/>
          </p:cNvGrpSpPr>
          <p:nvPr/>
        </p:nvGrpSpPr>
        <p:grpSpPr>
          <a:xfrm>
            <a:off x="8457429" y="5968884"/>
            <a:ext cx="118468" cy="118468"/>
            <a:chOff x="10126688" y="1289273"/>
            <a:chExt cx="153888" cy="153888"/>
          </a:xfrm>
        </p:grpSpPr>
        <p:sp>
          <p:nvSpPr>
            <p:cNvPr id="1110" name="Oval 1109">
              <a:extLst>
                <a:ext uri="{FF2B5EF4-FFF2-40B4-BE49-F238E27FC236}">
                  <a16:creationId xmlns:a16="http://schemas.microsoft.com/office/drawing/2014/main" id="{B02C98BD-B907-4680-BC06-BD883D9CBCFF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11" name="Graphic 1110">
              <a:extLst>
                <a:ext uri="{FF2B5EF4-FFF2-40B4-BE49-F238E27FC236}">
                  <a16:creationId xmlns:a16="http://schemas.microsoft.com/office/drawing/2014/main" id="{D877FBE3-7884-4DA7-94EC-8069EA17E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82" name="TextBox 981">
            <a:extLst>
              <a:ext uri="{FF2B5EF4-FFF2-40B4-BE49-F238E27FC236}">
                <a16:creationId xmlns:a16="http://schemas.microsoft.com/office/drawing/2014/main" id="{8B002C9B-CA96-4C47-B7F5-0E86C1A72FFF}"/>
              </a:ext>
            </a:extLst>
          </p:cNvPr>
          <p:cNvSpPr txBox="1"/>
          <p:nvPr/>
        </p:nvSpPr>
        <p:spPr>
          <a:xfrm>
            <a:off x="1954733" y="5634120"/>
            <a:ext cx="2296886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Заключение договоров между УК и мусорным оператором</a:t>
            </a:r>
          </a:p>
        </p:txBody>
      </p: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0B41FC75-02B3-45B0-9119-F6F272782F64}"/>
              </a:ext>
            </a:extLst>
          </p:cNvPr>
          <p:cNvGrpSpPr>
            <a:grpSpLocks/>
          </p:cNvGrpSpPr>
          <p:nvPr/>
        </p:nvGrpSpPr>
        <p:grpSpPr>
          <a:xfrm>
            <a:off x="8455153" y="5445504"/>
            <a:ext cx="118468" cy="118468"/>
            <a:chOff x="10126688" y="1289273"/>
            <a:chExt cx="153888" cy="153888"/>
          </a:xfrm>
        </p:grpSpPr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89F9C5F4-913C-4C17-A96A-ABE71F0911D8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17" name="Graphic 1116">
              <a:extLst>
                <a:ext uri="{FF2B5EF4-FFF2-40B4-BE49-F238E27FC236}">
                  <a16:creationId xmlns:a16="http://schemas.microsoft.com/office/drawing/2014/main" id="{981048F2-73ED-4244-B647-4475E6B1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C9CC408D-D8D0-47AC-A7C3-26F21B8B49DF}"/>
              </a:ext>
            </a:extLst>
          </p:cNvPr>
          <p:cNvGrpSpPr>
            <a:grpSpLocks/>
          </p:cNvGrpSpPr>
          <p:nvPr/>
        </p:nvGrpSpPr>
        <p:grpSpPr>
          <a:xfrm>
            <a:off x="5889046" y="4535491"/>
            <a:ext cx="118468" cy="118468"/>
            <a:chOff x="10126688" y="1289273"/>
            <a:chExt cx="153888" cy="153888"/>
          </a:xfrm>
        </p:grpSpPr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FEF2BD8D-4FED-44E7-811B-3C5BEB3A1329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99" name="Graphic 1098">
              <a:extLst>
                <a:ext uri="{FF2B5EF4-FFF2-40B4-BE49-F238E27FC236}">
                  <a16:creationId xmlns:a16="http://schemas.microsoft.com/office/drawing/2014/main" id="{5B348AAF-7D65-4EED-A4A8-37CAE16CD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A4B91DE1-DAE5-4C35-9A12-3B076E98EEA4}"/>
              </a:ext>
            </a:extLst>
          </p:cNvPr>
          <p:cNvGrpSpPr>
            <a:grpSpLocks/>
          </p:cNvGrpSpPr>
          <p:nvPr/>
        </p:nvGrpSpPr>
        <p:grpSpPr>
          <a:xfrm>
            <a:off x="8455153" y="5256888"/>
            <a:ext cx="118468" cy="118468"/>
            <a:chOff x="10126688" y="1289273"/>
            <a:chExt cx="153888" cy="153888"/>
          </a:xfrm>
        </p:grpSpPr>
        <p:sp>
          <p:nvSpPr>
            <p:cNvPr id="1119" name="Oval 1118">
              <a:extLst>
                <a:ext uri="{FF2B5EF4-FFF2-40B4-BE49-F238E27FC236}">
                  <a16:creationId xmlns:a16="http://schemas.microsoft.com/office/drawing/2014/main" id="{FF42BAAA-3380-48B0-9F87-24FD325C2149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20" name="Graphic 1119">
              <a:extLst>
                <a:ext uri="{FF2B5EF4-FFF2-40B4-BE49-F238E27FC236}">
                  <a16:creationId xmlns:a16="http://schemas.microsoft.com/office/drawing/2014/main" id="{203166D8-A48F-4C2C-86EE-C61372779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F7958435-DE19-467E-8725-B7D661E76573}"/>
              </a:ext>
            </a:extLst>
          </p:cNvPr>
          <p:cNvGrpSpPr>
            <a:grpSpLocks/>
          </p:cNvGrpSpPr>
          <p:nvPr/>
        </p:nvGrpSpPr>
        <p:grpSpPr>
          <a:xfrm>
            <a:off x="8455153" y="5068272"/>
            <a:ext cx="118468" cy="118468"/>
            <a:chOff x="10126688" y="1289273"/>
            <a:chExt cx="153888" cy="153888"/>
          </a:xfrm>
        </p:grpSpPr>
        <p:sp>
          <p:nvSpPr>
            <p:cNvPr id="1122" name="Oval 1121">
              <a:extLst>
                <a:ext uri="{FF2B5EF4-FFF2-40B4-BE49-F238E27FC236}">
                  <a16:creationId xmlns:a16="http://schemas.microsoft.com/office/drawing/2014/main" id="{BC249A99-147C-40F5-849E-1BA88F2AA32A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23" name="Graphic 1122">
              <a:extLst>
                <a:ext uri="{FF2B5EF4-FFF2-40B4-BE49-F238E27FC236}">
                  <a16:creationId xmlns:a16="http://schemas.microsoft.com/office/drawing/2014/main" id="{4E936AA6-44FC-460F-A7A5-F0EC457D7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15A23550-506F-45D9-829B-B89AAC6C12EF}"/>
              </a:ext>
            </a:extLst>
          </p:cNvPr>
          <p:cNvGrpSpPr>
            <a:grpSpLocks/>
          </p:cNvGrpSpPr>
          <p:nvPr/>
        </p:nvGrpSpPr>
        <p:grpSpPr>
          <a:xfrm>
            <a:off x="8455153" y="4879656"/>
            <a:ext cx="118468" cy="118468"/>
            <a:chOff x="10126688" y="1289273"/>
            <a:chExt cx="153888" cy="153888"/>
          </a:xfrm>
        </p:grpSpPr>
        <p:sp>
          <p:nvSpPr>
            <p:cNvPr id="1125" name="Oval 1124">
              <a:extLst>
                <a:ext uri="{FF2B5EF4-FFF2-40B4-BE49-F238E27FC236}">
                  <a16:creationId xmlns:a16="http://schemas.microsoft.com/office/drawing/2014/main" id="{25969063-9715-4CA6-B588-BA3C64552D6B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26" name="Graphic 1125">
              <a:extLst>
                <a:ext uri="{FF2B5EF4-FFF2-40B4-BE49-F238E27FC236}">
                  <a16:creationId xmlns:a16="http://schemas.microsoft.com/office/drawing/2014/main" id="{6F3CD078-426C-42D9-8B2B-A1BDEA81F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72" name="TextBox 971">
            <a:extLst>
              <a:ext uri="{FF2B5EF4-FFF2-40B4-BE49-F238E27FC236}">
                <a16:creationId xmlns:a16="http://schemas.microsoft.com/office/drawing/2014/main" id="{05AEA36F-CCC1-4502-839F-7E8FB2154BBB}"/>
              </a:ext>
            </a:extLst>
          </p:cNvPr>
          <p:cNvSpPr txBox="1"/>
          <p:nvPr/>
        </p:nvSpPr>
        <p:spPr>
          <a:xfrm>
            <a:off x="1954733" y="4486775"/>
            <a:ext cx="2296886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Создание базовой инфраструктуры в рамках Смарт-стандарта при строительстве</a:t>
            </a:r>
          </a:p>
        </p:txBody>
      </p:sp>
      <p:sp>
        <p:nvSpPr>
          <p:cNvPr id="970" name="TextBox 969">
            <a:extLst>
              <a:ext uri="{FF2B5EF4-FFF2-40B4-BE49-F238E27FC236}">
                <a16:creationId xmlns:a16="http://schemas.microsoft.com/office/drawing/2014/main" id="{0C23CB51-8921-4196-A23A-A7493FBE766C}"/>
              </a:ext>
            </a:extLst>
          </p:cNvPr>
          <p:cNvSpPr txBox="1"/>
          <p:nvPr/>
        </p:nvSpPr>
        <p:spPr>
          <a:xfrm>
            <a:off x="1954733" y="4201183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Мониторинг соблюдения стандартов, регламентов и требований </a:t>
            </a:r>
          </a:p>
        </p:txBody>
      </p: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7B4A17E3-59E5-4F56-A097-C7AC7D584FC2}"/>
              </a:ext>
            </a:extLst>
          </p:cNvPr>
          <p:cNvGrpSpPr>
            <a:grpSpLocks/>
          </p:cNvGrpSpPr>
          <p:nvPr/>
        </p:nvGrpSpPr>
        <p:grpSpPr>
          <a:xfrm>
            <a:off x="8455153" y="4249671"/>
            <a:ext cx="118468" cy="118468"/>
            <a:chOff x="10126688" y="1289273"/>
            <a:chExt cx="153888" cy="153888"/>
          </a:xfrm>
        </p:grpSpPr>
        <p:sp>
          <p:nvSpPr>
            <p:cNvPr id="1131" name="Oval 1130">
              <a:extLst>
                <a:ext uri="{FF2B5EF4-FFF2-40B4-BE49-F238E27FC236}">
                  <a16:creationId xmlns:a16="http://schemas.microsoft.com/office/drawing/2014/main" id="{3C89261E-B5F2-4B36-A31D-9ED85CD9517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32" name="Graphic 1131">
              <a:extLst>
                <a:ext uri="{FF2B5EF4-FFF2-40B4-BE49-F238E27FC236}">
                  <a16:creationId xmlns:a16="http://schemas.microsoft.com/office/drawing/2014/main" id="{8672947B-B6B1-4CDD-86B3-310D6E1B2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33" name="Group 1132">
            <a:extLst>
              <a:ext uri="{FF2B5EF4-FFF2-40B4-BE49-F238E27FC236}">
                <a16:creationId xmlns:a16="http://schemas.microsoft.com/office/drawing/2014/main" id="{8E773F6F-5B57-43BF-A6B9-C336E778ED23}"/>
              </a:ext>
            </a:extLst>
          </p:cNvPr>
          <p:cNvGrpSpPr>
            <a:grpSpLocks/>
          </p:cNvGrpSpPr>
          <p:nvPr/>
        </p:nvGrpSpPr>
        <p:grpSpPr>
          <a:xfrm>
            <a:off x="8455153" y="4012567"/>
            <a:ext cx="118468" cy="118468"/>
            <a:chOff x="10126688" y="1289273"/>
            <a:chExt cx="153888" cy="153888"/>
          </a:xfrm>
        </p:grpSpPr>
        <p:sp>
          <p:nvSpPr>
            <p:cNvPr id="1134" name="Oval 1133">
              <a:extLst>
                <a:ext uri="{FF2B5EF4-FFF2-40B4-BE49-F238E27FC236}">
                  <a16:creationId xmlns:a16="http://schemas.microsoft.com/office/drawing/2014/main" id="{8A807FAE-3693-46DC-98AD-BD8DB03E5DF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35" name="Graphic 1134">
              <a:extLst>
                <a:ext uri="{FF2B5EF4-FFF2-40B4-BE49-F238E27FC236}">
                  <a16:creationId xmlns:a16="http://schemas.microsoft.com/office/drawing/2014/main" id="{A5D9500E-18FC-4226-A45A-2D1A090C5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36" name="Group 1135">
            <a:extLst>
              <a:ext uri="{FF2B5EF4-FFF2-40B4-BE49-F238E27FC236}">
                <a16:creationId xmlns:a16="http://schemas.microsoft.com/office/drawing/2014/main" id="{8056D339-72FB-417F-BF6D-E59B74C772DE}"/>
              </a:ext>
            </a:extLst>
          </p:cNvPr>
          <p:cNvGrpSpPr>
            <a:grpSpLocks/>
          </p:cNvGrpSpPr>
          <p:nvPr/>
        </p:nvGrpSpPr>
        <p:grpSpPr>
          <a:xfrm>
            <a:off x="8455153" y="3823951"/>
            <a:ext cx="118468" cy="118468"/>
            <a:chOff x="10126688" y="1289273"/>
            <a:chExt cx="153888" cy="153888"/>
          </a:xfrm>
        </p:grpSpPr>
        <p:sp>
          <p:nvSpPr>
            <p:cNvPr id="1137" name="Oval 1136">
              <a:extLst>
                <a:ext uri="{FF2B5EF4-FFF2-40B4-BE49-F238E27FC236}">
                  <a16:creationId xmlns:a16="http://schemas.microsoft.com/office/drawing/2014/main" id="{689611C9-3957-422F-9D0B-EBBEA467E0C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38" name="Graphic 1137">
              <a:extLst>
                <a:ext uri="{FF2B5EF4-FFF2-40B4-BE49-F238E27FC236}">
                  <a16:creationId xmlns:a16="http://schemas.microsoft.com/office/drawing/2014/main" id="{0CB387F4-3F84-4BA7-B1F2-3109BED42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E4C6FC05-6BDE-4DFF-83C3-2066E43DE5BB}"/>
              </a:ext>
            </a:extLst>
          </p:cNvPr>
          <p:cNvGrpSpPr>
            <a:grpSpLocks/>
          </p:cNvGrpSpPr>
          <p:nvPr/>
        </p:nvGrpSpPr>
        <p:grpSpPr>
          <a:xfrm>
            <a:off x="8455153" y="3635335"/>
            <a:ext cx="118468" cy="118468"/>
            <a:chOff x="10126688" y="1289273"/>
            <a:chExt cx="153888" cy="153888"/>
          </a:xfrm>
        </p:grpSpPr>
        <p:sp>
          <p:nvSpPr>
            <p:cNvPr id="1140" name="Oval 1139">
              <a:extLst>
                <a:ext uri="{FF2B5EF4-FFF2-40B4-BE49-F238E27FC236}">
                  <a16:creationId xmlns:a16="http://schemas.microsoft.com/office/drawing/2014/main" id="{E9A2D2C4-6EEA-40D6-806E-E5D19AD47C9A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41" name="Graphic 1140">
              <a:extLst>
                <a:ext uri="{FF2B5EF4-FFF2-40B4-BE49-F238E27FC236}">
                  <a16:creationId xmlns:a16="http://schemas.microsoft.com/office/drawing/2014/main" id="{DC325C13-2184-41D8-BA50-5F54EF7C5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42" name="Group 1141">
            <a:extLst>
              <a:ext uri="{FF2B5EF4-FFF2-40B4-BE49-F238E27FC236}">
                <a16:creationId xmlns:a16="http://schemas.microsoft.com/office/drawing/2014/main" id="{BAC504A6-CCDF-4B2D-8568-94C62E298F7D}"/>
              </a:ext>
            </a:extLst>
          </p:cNvPr>
          <p:cNvGrpSpPr>
            <a:grpSpLocks/>
          </p:cNvGrpSpPr>
          <p:nvPr/>
        </p:nvGrpSpPr>
        <p:grpSpPr>
          <a:xfrm>
            <a:off x="8455153" y="3446719"/>
            <a:ext cx="118468" cy="118468"/>
            <a:chOff x="10126688" y="1289273"/>
            <a:chExt cx="153888" cy="153888"/>
          </a:xfrm>
        </p:grpSpPr>
        <p:sp>
          <p:nvSpPr>
            <p:cNvPr id="1143" name="Oval 1142">
              <a:extLst>
                <a:ext uri="{FF2B5EF4-FFF2-40B4-BE49-F238E27FC236}">
                  <a16:creationId xmlns:a16="http://schemas.microsoft.com/office/drawing/2014/main" id="{8540524A-22DD-4818-8057-9059E099B05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44" name="Graphic 1143">
              <a:extLst>
                <a:ext uri="{FF2B5EF4-FFF2-40B4-BE49-F238E27FC236}">
                  <a16:creationId xmlns:a16="http://schemas.microsoft.com/office/drawing/2014/main" id="{6B75C0AF-8296-48AB-8C0F-4B14FDF04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EE205D28-DC63-44DC-A48D-E115A8593A28}"/>
              </a:ext>
            </a:extLst>
          </p:cNvPr>
          <p:cNvGrpSpPr>
            <a:grpSpLocks/>
          </p:cNvGrpSpPr>
          <p:nvPr/>
        </p:nvGrpSpPr>
        <p:grpSpPr>
          <a:xfrm>
            <a:off x="8455153" y="3258103"/>
            <a:ext cx="118468" cy="118468"/>
            <a:chOff x="10126688" y="1289273"/>
            <a:chExt cx="153888" cy="153888"/>
          </a:xfrm>
        </p:grpSpPr>
        <p:sp>
          <p:nvSpPr>
            <p:cNvPr id="1146" name="Oval 1145">
              <a:extLst>
                <a:ext uri="{FF2B5EF4-FFF2-40B4-BE49-F238E27FC236}">
                  <a16:creationId xmlns:a16="http://schemas.microsoft.com/office/drawing/2014/main" id="{ACF82BD7-9CAB-47ED-810A-A3B76EC85B1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47" name="Graphic 1146">
              <a:extLst>
                <a:ext uri="{FF2B5EF4-FFF2-40B4-BE49-F238E27FC236}">
                  <a16:creationId xmlns:a16="http://schemas.microsoft.com/office/drawing/2014/main" id="{78C884E5-EC73-45BD-BC2E-CBD575539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5BDEB524-7908-4C37-A7BB-B4F4CCF80101}"/>
              </a:ext>
            </a:extLst>
          </p:cNvPr>
          <p:cNvGrpSpPr>
            <a:grpSpLocks/>
          </p:cNvGrpSpPr>
          <p:nvPr/>
        </p:nvGrpSpPr>
        <p:grpSpPr>
          <a:xfrm>
            <a:off x="4617115" y="2595279"/>
            <a:ext cx="118468" cy="118468"/>
            <a:chOff x="10126688" y="1289273"/>
            <a:chExt cx="153888" cy="153888"/>
          </a:xfrm>
        </p:grpSpPr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3452381C-101B-4E1F-8BB0-A366314ED3F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93" name="Graphic 1092">
              <a:extLst>
                <a:ext uri="{FF2B5EF4-FFF2-40B4-BE49-F238E27FC236}">
                  <a16:creationId xmlns:a16="http://schemas.microsoft.com/office/drawing/2014/main" id="{484790AD-B8CD-4581-BFF1-58F1F7170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58" name="TextBox 957">
            <a:extLst>
              <a:ext uri="{FF2B5EF4-FFF2-40B4-BE49-F238E27FC236}">
                <a16:creationId xmlns:a16="http://schemas.microsoft.com/office/drawing/2014/main" id="{08491C31-A9CA-4386-9B55-16E955223967}"/>
              </a:ext>
            </a:extLst>
          </p:cNvPr>
          <p:cNvSpPr txBox="1"/>
          <p:nvPr/>
        </p:nvSpPr>
        <p:spPr>
          <a:xfrm>
            <a:off x="1954733" y="3074860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Контроль реализации </a:t>
            </a:r>
          </a:p>
        </p:txBody>
      </p:sp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134F1A3C-8E3F-4A4E-B453-30C3E7349F3A}"/>
              </a:ext>
            </a:extLst>
          </p:cNvPr>
          <p:cNvGrpSpPr>
            <a:grpSpLocks/>
          </p:cNvGrpSpPr>
          <p:nvPr/>
        </p:nvGrpSpPr>
        <p:grpSpPr>
          <a:xfrm>
            <a:off x="8455153" y="3069487"/>
            <a:ext cx="118468" cy="118468"/>
            <a:chOff x="10126688" y="1289273"/>
            <a:chExt cx="153888" cy="153888"/>
          </a:xfrm>
        </p:grpSpPr>
        <p:sp>
          <p:nvSpPr>
            <p:cNvPr id="1149" name="Oval 1148">
              <a:extLst>
                <a:ext uri="{FF2B5EF4-FFF2-40B4-BE49-F238E27FC236}">
                  <a16:creationId xmlns:a16="http://schemas.microsoft.com/office/drawing/2014/main" id="{C2EE8B1C-AB57-48BE-996B-3E3A916B074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50" name="Graphic 1149">
              <a:extLst>
                <a:ext uri="{FF2B5EF4-FFF2-40B4-BE49-F238E27FC236}">
                  <a16:creationId xmlns:a16="http://schemas.microsoft.com/office/drawing/2014/main" id="{8598B57A-2F03-423A-A37C-4B9D99E28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956" name="TextBox 955">
            <a:extLst>
              <a:ext uri="{FF2B5EF4-FFF2-40B4-BE49-F238E27FC236}">
                <a16:creationId xmlns:a16="http://schemas.microsoft.com/office/drawing/2014/main" id="{AA690F01-4A1B-4CEF-B9C9-36CEFF2F5356}"/>
              </a:ext>
            </a:extLst>
          </p:cNvPr>
          <p:cNvSpPr txBox="1"/>
          <p:nvPr/>
        </p:nvSpPr>
        <p:spPr>
          <a:xfrm>
            <a:off x="1954733" y="2783895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Планирование и формирование подхода к реализации</a:t>
            </a:r>
          </a:p>
        </p:txBody>
      </p: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0D59E79D-F6C2-43DC-8FFE-234A5DFEA333}"/>
              </a:ext>
            </a:extLst>
          </p:cNvPr>
          <p:cNvGrpSpPr>
            <a:grpSpLocks/>
          </p:cNvGrpSpPr>
          <p:nvPr/>
        </p:nvGrpSpPr>
        <p:grpSpPr>
          <a:xfrm>
            <a:off x="8455153" y="2832383"/>
            <a:ext cx="118468" cy="118468"/>
            <a:chOff x="10126688" y="1289273"/>
            <a:chExt cx="153888" cy="153888"/>
          </a:xfrm>
        </p:grpSpPr>
        <p:sp>
          <p:nvSpPr>
            <p:cNvPr id="1152" name="Oval 1151">
              <a:extLst>
                <a:ext uri="{FF2B5EF4-FFF2-40B4-BE49-F238E27FC236}">
                  <a16:creationId xmlns:a16="http://schemas.microsoft.com/office/drawing/2014/main" id="{857E4946-A44A-4DDE-A04B-0BB6A5EE98B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153" name="Graphic 1152">
              <a:extLst>
                <a:ext uri="{FF2B5EF4-FFF2-40B4-BE49-F238E27FC236}">
                  <a16:creationId xmlns:a16="http://schemas.microsoft.com/office/drawing/2014/main" id="{6921A568-8EC4-484E-97D8-C4CFA7CD4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cxnSp>
        <p:nvCxnSpPr>
          <p:cNvPr id="934" name="HorizontalLine2 1119232">
            <a:extLst>
              <a:ext uri="{FF2B5EF4-FFF2-40B4-BE49-F238E27FC236}">
                <a16:creationId xmlns:a16="http://schemas.microsoft.com/office/drawing/2014/main" id="{B366F165-FB6B-4831-877A-937B27CBE01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09598" y="2748821"/>
            <a:ext cx="743952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HorizontalLine2 1119232">
            <a:extLst>
              <a:ext uri="{FF2B5EF4-FFF2-40B4-BE49-F238E27FC236}">
                <a16:creationId xmlns:a16="http://schemas.microsoft.com/office/drawing/2014/main" id="{A1DF1A75-E369-4B32-9ED4-9351BE1B666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979652" y="2748821"/>
            <a:ext cx="2602746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HorizontalLine2 1119232">
            <a:extLst>
              <a:ext uri="{FF2B5EF4-FFF2-40B4-BE49-F238E27FC236}">
                <a16:creationId xmlns:a16="http://schemas.microsoft.com/office/drawing/2014/main" id="{AC852322-F509-45E8-9456-975167FAE1A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8167551" y="2748821"/>
            <a:ext cx="693672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HorizontalLine2 1119232">
            <a:extLst>
              <a:ext uri="{FF2B5EF4-FFF2-40B4-BE49-F238E27FC236}">
                <a16:creationId xmlns:a16="http://schemas.microsoft.com/office/drawing/2014/main" id="{D344563C-5760-4832-8BD8-4FF584ED60FB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09598" y="3600261"/>
            <a:ext cx="743952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HorizontalLine2 1119232">
            <a:extLst>
              <a:ext uri="{FF2B5EF4-FFF2-40B4-BE49-F238E27FC236}">
                <a16:creationId xmlns:a16="http://schemas.microsoft.com/office/drawing/2014/main" id="{20ABF098-2A55-467A-A686-FAD528C4F7F5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8979652" y="3600261"/>
            <a:ext cx="2602746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HorizontalLine2 1119232">
            <a:extLst>
              <a:ext uri="{FF2B5EF4-FFF2-40B4-BE49-F238E27FC236}">
                <a16:creationId xmlns:a16="http://schemas.microsoft.com/office/drawing/2014/main" id="{F1F41D13-5A1B-4007-8A42-FF743F1A30AF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8167551" y="3600261"/>
            <a:ext cx="693672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HorizontalLine2 1119232">
            <a:extLst>
              <a:ext uri="{FF2B5EF4-FFF2-40B4-BE49-F238E27FC236}">
                <a16:creationId xmlns:a16="http://schemas.microsoft.com/office/drawing/2014/main" id="{502DDF0F-155F-4D09-9AFF-2B87BA42F87F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609598" y="5221814"/>
            <a:ext cx="743952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HorizontalLine2 1119232">
            <a:extLst>
              <a:ext uri="{FF2B5EF4-FFF2-40B4-BE49-F238E27FC236}">
                <a16:creationId xmlns:a16="http://schemas.microsoft.com/office/drawing/2014/main" id="{DDA469E8-A78B-46F4-B1CB-3C0213CFD56B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979652" y="5221814"/>
            <a:ext cx="2602746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HorizontalLine2 1119232">
            <a:extLst>
              <a:ext uri="{FF2B5EF4-FFF2-40B4-BE49-F238E27FC236}">
                <a16:creationId xmlns:a16="http://schemas.microsoft.com/office/drawing/2014/main" id="{72B06A74-7C23-46A4-A709-BA3123CB946A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8167551" y="5221814"/>
            <a:ext cx="693672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HorizontalLine2 1119232">
            <a:extLst>
              <a:ext uri="{FF2B5EF4-FFF2-40B4-BE49-F238E27FC236}">
                <a16:creationId xmlns:a16="http://schemas.microsoft.com/office/drawing/2014/main" id="{D59A0F75-950E-45FD-A7D4-282BDFF9BBA4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1954733" y="2085997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HorizontalLine2 1119232">
            <a:extLst>
              <a:ext uri="{FF2B5EF4-FFF2-40B4-BE49-F238E27FC236}">
                <a16:creationId xmlns:a16="http://schemas.microsoft.com/office/drawing/2014/main" id="{A5FFBE58-488A-4613-8C44-BA44B188D14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8167551" y="2085997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HorizontalLine2 1119232">
            <a:extLst>
              <a:ext uri="{FF2B5EF4-FFF2-40B4-BE49-F238E27FC236}">
                <a16:creationId xmlns:a16="http://schemas.microsoft.com/office/drawing/2014/main" id="{FBFA4EF7-2019-4F89-8593-E7EAFED7F750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8979652" y="2085997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HorizontalLine2 1119232">
            <a:extLst>
              <a:ext uri="{FF2B5EF4-FFF2-40B4-BE49-F238E27FC236}">
                <a16:creationId xmlns:a16="http://schemas.microsoft.com/office/drawing/2014/main" id="{B45A0310-780D-470A-942F-B8FEE288CA29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1954733" y="2274613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HorizontalLine2 1119232">
            <a:extLst>
              <a:ext uri="{FF2B5EF4-FFF2-40B4-BE49-F238E27FC236}">
                <a16:creationId xmlns:a16="http://schemas.microsoft.com/office/drawing/2014/main" id="{2D9F9BE6-0A9E-4973-AA25-CCA68ECB50C6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8167551" y="2274613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HorizontalLine2 1119232">
            <a:extLst>
              <a:ext uri="{FF2B5EF4-FFF2-40B4-BE49-F238E27FC236}">
                <a16:creationId xmlns:a16="http://schemas.microsoft.com/office/drawing/2014/main" id="{71798D1F-3A51-4A9E-8BD3-5688ED375BAB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>
          <a:xfrm>
            <a:off x="8979652" y="2274613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HorizontalLine2 1119232">
            <a:extLst>
              <a:ext uri="{FF2B5EF4-FFF2-40B4-BE49-F238E27FC236}">
                <a16:creationId xmlns:a16="http://schemas.microsoft.com/office/drawing/2014/main" id="{FDF670AC-B0F8-4462-8250-C1068E4708CA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1954733" y="2560205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HorizontalLine2 1119232">
            <a:extLst>
              <a:ext uri="{FF2B5EF4-FFF2-40B4-BE49-F238E27FC236}">
                <a16:creationId xmlns:a16="http://schemas.microsoft.com/office/drawing/2014/main" id="{B8854E5B-FD24-48F5-8089-5F0A1A442E9A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8167551" y="2560205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HorizontalLine2 1119232">
            <a:extLst>
              <a:ext uri="{FF2B5EF4-FFF2-40B4-BE49-F238E27FC236}">
                <a16:creationId xmlns:a16="http://schemas.microsoft.com/office/drawing/2014/main" id="{408E5F87-FF9E-4322-A8D2-C61BD1384D1E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8979652" y="2560205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HorizontalLine2 1119232">
            <a:extLst>
              <a:ext uri="{FF2B5EF4-FFF2-40B4-BE49-F238E27FC236}">
                <a16:creationId xmlns:a16="http://schemas.microsoft.com/office/drawing/2014/main" id="{59FA8961-5CC0-453E-A5F0-70818429AC07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1954733" y="3034413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HorizontalLine2 1119232">
            <a:extLst>
              <a:ext uri="{FF2B5EF4-FFF2-40B4-BE49-F238E27FC236}">
                <a16:creationId xmlns:a16="http://schemas.microsoft.com/office/drawing/2014/main" id="{8520F48A-0F1A-40E9-8670-0176ACC26AF4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8167551" y="3034413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HorizontalLine2 1119232">
            <a:extLst>
              <a:ext uri="{FF2B5EF4-FFF2-40B4-BE49-F238E27FC236}">
                <a16:creationId xmlns:a16="http://schemas.microsoft.com/office/drawing/2014/main" id="{B662F8BE-20B6-479C-B28C-0AFB73416516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8979652" y="3034413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HorizontalLine2 1119232">
            <a:extLst>
              <a:ext uri="{FF2B5EF4-FFF2-40B4-BE49-F238E27FC236}">
                <a16:creationId xmlns:a16="http://schemas.microsoft.com/office/drawing/2014/main" id="{C5B9EDDE-44CC-4BDA-8A7C-C9655E5A8E87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1954733" y="3223029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HorizontalLine2 1119232">
            <a:extLst>
              <a:ext uri="{FF2B5EF4-FFF2-40B4-BE49-F238E27FC236}">
                <a16:creationId xmlns:a16="http://schemas.microsoft.com/office/drawing/2014/main" id="{1DABCAD8-F402-47D8-83D7-B12AD6BF8195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8167551" y="3223029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HorizontalLine2 1119232">
            <a:extLst>
              <a:ext uri="{FF2B5EF4-FFF2-40B4-BE49-F238E27FC236}">
                <a16:creationId xmlns:a16="http://schemas.microsoft.com/office/drawing/2014/main" id="{9E49866B-2E2A-4B19-B810-92CE9763CDBB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8979652" y="3223029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HorizontalLine2 1119232">
            <a:extLst>
              <a:ext uri="{FF2B5EF4-FFF2-40B4-BE49-F238E27FC236}">
                <a16:creationId xmlns:a16="http://schemas.microsoft.com/office/drawing/2014/main" id="{3D24EC76-9519-4934-9BB4-38BD208A8FE2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1954733" y="3411645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HorizontalLine2 1119232">
            <a:extLst>
              <a:ext uri="{FF2B5EF4-FFF2-40B4-BE49-F238E27FC236}">
                <a16:creationId xmlns:a16="http://schemas.microsoft.com/office/drawing/2014/main" id="{05B84611-9777-4B39-9157-E6988C99D89F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8167551" y="3411645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HorizontalLine2 1119232">
            <a:extLst>
              <a:ext uri="{FF2B5EF4-FFF2-40B4-BE49-F238E27FC236}">
                <a16:creationId xmlns:a16="http://schemas.microsoft.com/office/drawing/2014/main" id="{BB9F4D60-ADEC-4762-9248-247DF0F8F881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>
            <a:off x="8979652" y="3411645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HorizontalLine2 1119232">
            <a:extLst>
              <a:ext uri="{FF2B5EF4-FFF2-40B4-BE49-F238E27FC236}">
                <a16:creationId xmlns:a16="http://schemas.microsoft.com/office/drawing/2014/main" id="{514A1CD4-A099-447F-86D2-982B8253451D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1954733" y="3788877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HorizontalLine2 1119232">
            <a:extLst>
              <a:ext uri="{FF2B5EF4-FFF2-40B4-BE49-F238E27FC236}">
                <a16:creationId xmlns:a16="http://schemas.microsoft.com/office/drawing/2014/main" id="{996E9390-EE8A-4509-8CC3-9E2B91AA7655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>
            <a:off x="8167551" y="3788877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HorizontalLine2 1119232">
            <a:extLst>
              <a:ext uri="{FF2B5EF4-FFF2-40B4-BE49-F238E27FC236}">
                <a16:creationId xmlns:a16="http://schemas.microsoft.com/office/drawing/2014/main" id="{EF96F99B-53D4-4775-9A4F-07155834F3C5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8979652" y="3788877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HorizontalLine2 1119232">
            <a:extLst>
              <a:ext uri="{FF2B5EF4-FFF2-40B4-BE49-F238E27FC236}">
                <a16:creationId xmlns:a16="http://schemas.microsoft.com/office/drawing/2014/main" id="{F9517896-1751-4CE9-B2D5-85455A1A2874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1954733" y="3977493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HorizontalLine2 1119232">
            <a:extLst>
              <a:ext uri="{FF2B5EF4-FFF2-40B4-BE49-F238E27FC236}">
                <a16:creationId xmlns:a16="http://schemas.microsoft.com/office/drawing/2014/main" id="{A2062A47-EF57-4602-80E8-3C1D168D2D65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8167551" y="3977493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1" name="HorizontalLine2 1119232">
            <a:extLst>
              <a:ext uri="{FF2B5EF4-FFF2-40B4-BE49-F238E27FC236}">
                <a16:creationId xmlns:a16="http://schemas.microsoft.com/office/drawing/2014/main" id="{FF3FB718-B520-407A-B791-B5EAF9C22083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8979652" y="3977493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HorizontalLine2 1119232">
            <a:extLst>
              <a:ext uri="{FF2B5EF4-FFF2-40B4-BE49-F238E27FC236}">
                <a16:creationId xmlns:a16="http://schemas.microsoft.com/office/drawing/2014/main" id="{D8A4E842-5752-4325-B299-634A809AB6DD}"/>
              </a:ext>
            </a:extLst>
          </p:cNvPr>
          <p:cNvCxnSpPr>
            <a:cxnSpLocks/>
          </p:cNvCxnSpPr>
          <p:nvPr>
            <p:custDataLst>
              <p:tags r:id="rId36"/>
            </p:custDataLst>
          </p:nvPr>
        </p:nvCxnSpPr>
        <p:spPr>
          <a:xfrm>
            <a:off x="1954733" y="4166109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HorizontalLine2 1119232">
            <a:extLst>
              <a:ext uri="{FF2B5EF4-FFF2-40B4-BE49-F238E27FC236}">
                <a16:creationId xmlns:a16="http://schemas.microsoft.com/office/drawing/2014/main" id="{3B31912D-9BCB-45AF-96D6-113FC7ED4CA0}"/>
              </a:ext>
            </a:extLst>
          </p:cNvPr>
          <p:cNvCxnSpPr>
            <a:cxnSpLocks/>
          </p:cNvCxnSpPr>
          <p:nvPr>
            <p:custDataLst>
              <p:tags r:id="rId37"/>
            </p:custDataLst>
          </p:nvPr>
        </p:nvCxnSpPr>
        <p:spPr>
          <a:xfrm>
            <a:off x="8167551" y="4166109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HorizontalLine2 1119232">
            <a:extLst>
              <a:ext uri="{FF2B5EF4-FFF2-40B4-BE49-F238E27FC236}">
                <a16:creationId xmlns:a16="http://schemas.microsoft.com/office/drawing/2014/main" id="{7A350105-A8BF-494C-99B8-E49C2FB40AD1}"/>
              </a:ext>
            </a:extLst>
          </p:cNvPr>
          <p:cNvCxnSpPr>
            <a:cxnSpLocks/>
          </p:cNvCxnSpPr>
          <p:nvPr>
            <p:custDataLst>
              <p:tags r:id="rId38"/>
            </p:custDataLst>
          </p:nvPr>
        </p:nvCxnSpPr>
        <p:spPr>
          <a:xfrm>
            <a:off x="8979652" y="4166109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HorizontalLine2 1119232">
            <a:extLst>
              <a:ext uri="{FF2B5EF4-FFF2-40B4-BE49-F238E27FC236}">
                <a16:creationId xmlns:a16="http://schemas.microsoft.com/office/drawing/2014/main" id="{C3F18F7D-0CFB-429E-949D-1EE5B9899EC4}"/>
              </a:ext>
            </a:extLst>
          </p:cNvPr>
          <p:cNvCxnSpPr>
            <a:cxnSpLocks/>
          </p:cNvCxnSpPr>
          <p:nvPr>
            <p:custDataLst>
              <p:tags r:id="rId39"/>
            </p:custDataLst>
          </p:nvPr>
        </p:nvCxnSpPr>
        <p:spPr>
          <a:xfrm>
            <a:off x="1954733" y="4844582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HorizontalLine2 1119232">
            <a:extLst>
              <a:ext uri="{FF2B5EF4-FFF2-40B4-BE49-F238E27FC236}">
                <a16:creationId xmlns:a16="http://schemas.microsoft.com/office/drawing/2014/main" id="{8B34EFC6-AF19-495E-91B2-53721BF80B72}"/>
              </a:ext>
            </a:extLst>
          </p:cNvPr>
          <p:cNvCxnSpPr>
            <a:cxnSpLocks/>
          </p:cNvCxnSpPr>
          <p:nvPr>
            <p:custDataLst>
              <p:tags r:id="rId40"/>
            </p:custDataLst>
          </p:nvPr>
        </p:nvCxnSpPr>
        <p:spPr>
          <a:xfrm>
            <a:off x="8167551" y="4844582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HorizontalLine2 1119232">
            <a:extLst>
              <a:ext uri="{FF2B5EF4-FFF2-40B4-BE49-F238E27FC236}">
                <a16:creationId xmlns:a16="http://schemas.microsoft.com/office/drawing/2014/main" id="{085C0B60-BCC0-4358-8880-C09024876147}"/>
              </a:ext>
            </a:extLst>
          </p:cNvPr>
          <p:cNvCxnSpPr>
            <a:cxnSpLocks/>
          </p:cNvCxnSpPr>
          <p:nvPr>
            <p:custDataLst>
              <p:tags r:id="rId41"/>
            </p:custDataLst>
          </p:nvPr>
        </p:nvCxnSpPr>
        <p:spPr>
          <a:xfrm>
            <a:off x="8979652" y="4844582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HorizontalLine2 1119232">
            <a:extLst>
              <a:ext uri="{FF2B5EF4-FFF2-40B4-BE49-F238E27FC236}">
                <a16:creationId xmlns:a16="http://schemas.microsoft.com/office/drawing/2014/main" id="{F212F379-D164-45A6-92FE-BE2F1620BEA0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>
          <a:xfrm>
            <a:off x="1954733" y="5033198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HorizontalLine2 1119232">
            <a:extLst>
              <a:ext uri="{FF2B5EF4-FFF2-40B4-BE49-F238E27FC236}">
                <a16:creationId xmlns:a16="http://schemas.microsoft.com/office/drawing/2014/main" id="{15AAC4A7-B6B0-41A0-A7EE-96D5916AFA00}"/>
              </a:ext>
            </a:extLst>
          </p:cNvPr>
          <p:cNvCxnSpPr>
            <a:cxnSpLocks/>
          </p:cNvCxnSpPr>
          <p:nvPr>
            <p:custDataLst>
              <p:tags r:id="rId43"/>
            </p:custDataLst>
          </p:nvPr>
        </p:nvCxnSpPr>
        <p:spPr>
          <a:xfrm>
            <a:off x="8167551" y="5033198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HorizontalLine2 1119232">
            <a:extLst>
              <a:ext uri="{FF2B5EF4-FFF2-40B4-BE49-F238E27FC236}">
                <a16:creationId xmlns:a16="http://schemas.microsoft.com/office/drawing/2014/main" id="{3D00D047-13B3-454B-9F53-F41C21348AC7}"/>
              </a:ext>
            </a:extLst>
          </p:cNvPr>
          <p:cNvCxnSpPr>
            <a:cxnSpLocks/>
          </p:cNvCxnSpPr>
          <p:nvPr>
            <p:custDataLst>
              <p:tags r:id="rId44"/>
            </p:custDataLst>
          </p:nvPr>
        </p:nvCxnSpPr>
        <p:spPr>
          <a:xfrm>
            <a:off x="8979652" y="5033198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HorizontalLine2 1119232">
            <a:extLst>
              <a:ext uri="{FF2B5EF4-FFF2-40B4-BE49-F238E27FC236}">
                <a16:creationId xmlns:a16="http://schemas.microsoft.com/office/drawing/2014/main" id="{DA01F853-682F-4A81-A8D6-C05B3FFBB52E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>
          <a:xfrm>
            <a:off x="1954733" y="5410430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HorizontalLine2 1119232">
            <a:extLst>
              <a:ext uri="{FF2B5EF4-FFF2-40B4-BE49-F238E27FC236}">
                <a16:creationId xmlns:a16="http://schemas.microsoft.com/office/drawing/2014/main" id="{5381D000-E4C4-4AE8-9DF9-F21120BDE02C}"/>
              </a:ext>
            </a:extLst>
          </p:cNvPr>
          <p:cNvCxnSpPr>
            <a:cxnSpLocks/>
          </p:cNvCxnSpPr>
          <p:nvPr>
            <p:custDataLst>
              <p:tags r:id="rId46"/>
            </p:custDataLst>
          </p:nvPr>
        </p:nvCxnSpPr>
        <p:spPr>
          <a:xfrm>
            <a:off x="8167551" y="5410430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HorizontalLine2 1119232">
            <a:extLst>
              <a:ext uri="{FF2B5EF4-FFF2-40B4-BE49-F238E27FC236}">
                <a16:creationId xmlns:a16="http://schemas.microsoft.com/office/drawing/2014/main" id="{46C4A943-45B1-4D33-91C2-E5CFF744A2D2}"/>
              </a:ext>
            </a:extLst>
          </p:cNvPr>
          <p:cNvCxnSpPr>
            <a:cxnSpLocks/>
          </p:cNvCxnSpPr>
          <p:nvPr>
            <p:custDataLst>
              <p:tags r:id="rId47"/>
            </p:custDataLst>
          </p:nvPr>
        </p:nvCxnSpPr>
        <p:spPr>
          <a:xfrm>
            <a:off x="8979652" y="5410430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HorizontalLine2 1119232">
            <a:extLst>
              <a:ext uri="{FF2B5EF4-FFF2-40B4-BE49-F238E27FC236}">
                <a16:creationId xmlns:a16="http://schemas.microsoft.com/office/drawing/2014/main" id="{FB1F6430-8A26-4FAE-8EC4-74F5A54622B7}"/>
              </a:ext>
            </a:extLst>
          </p:cNvPr>
          <p:cNvCxnSpPr>
            <a:cxnSpLocks/>
          </p:cNvCxnSpPr>
          <p:nvPr>
            <p:custDataLst>
              <p:tags r:id="rId48"/>
            </p:custDataLst>
          </p:nvPr>
        </p:nvCxnSpPr>
        <p:spPr>
          <a:xfrm>
            <a:off x="1954733" y="5599046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HorizontalLine2 1119232">
            <a:extLst>
              <a:ext uri="{FF2B5EF4-FFF2-40B4-BE49-F238E27FC236}">
                <a16:creationId xmlns:a16="http://schemas.microsoft.com/office/drawing/2014/main" id="{559D2A5F-134F-4C8C-A7CC-F05C4F3D66A0}"/>
              </a:ext>
            </a:extLst>
          </p:cNvPr>
          <p:cNvCxnSpPr>
            <a:cxnSpLocks/>
          </p:cNvCxnSpPr>
          <p:nvPr>
            <p:custDataLst>
              <p:tags r:id="rId49"/>
            </p:custDataLst>
          </p:nvPr>
        </p:nvCxnSpPr>
        <p:spPr>
          <a:xfrm>
            <a:off x="8167551" y="5599046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HorizontalLine2 1119232">
            <a:extLst>
              <a:ext uri="{FF2B5EF4-FFF2-40B4-BE49-F238E27FC236}">
                <a16:creationId xmlns:a16="http://schemas.microsoft.com/office/drawing/2014/main" id="{BF8EA126-4BC9-4E39-8818-C1C183253916}"/>
              </a:ext>
            </a:extLst>
          </p:cNvPr>
          <p:cNvCxnSpPr>
            <a:cxnSpLocks/>
          </p:cNvCxnSpPr>
          <p:nvPr>
            <p:custDataLst>
              <p:tags r:id="rId50"/>
            </p:custDataLst>
          </p:nvPr>
        </p:nvCxnSpPr>
        <p:spPr>
          <a:xfrm>
            <a:off x="8979652" y="5599046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HorizontalLine2 1119232">
            <a:extLst>
              <a:ext uri="{FF2B5EF4-FFF2-40B4-BE49-F238E27FC236}">
                <a16:creationId xmlns:a16="http://schemas.microsoft.com/office/drawing/2014/main" id="{D64C7A41-70AE-44BF-A741-FE4F96F1A92F}"/>
              </a:ext>
            </a:extLst>
          </p:cNvPr>
          <p:cNvCxnSpPr>
            <a:cxnSpLocks/>
          </p:cNvCxnSpPr>
          <p:nvPr>
            <p:custDataLst>
              <p:tags r:id="rId51"/>
            </p:custDataLst>
          </p:nvPr>
        </p:nvCxnSpPr>
        <p:spPr>
          <a:xfrm>
            <a:off x="1954733" y="5885094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HorizontalLine2 1119232">
            <a:extLst>
              <a:ext uri="{FF2B5EF4-FFF2-40B4-BE49-F238E27FC236}">
                <a16:creationId xmlns:a16="http://schemas.microsoft.com/office/drawing/2014/main" id="{A84D1689-4E3A-4856-8F18-2B580A990834}"/>
              </a:ext>
            </a:extLst>
          </p:cNvPr>
          <p:cNvCxnSpPr>
            <a:cxnSpLocks/>
          </p:cNvCxnSpPr>
          <p:nvPr>
            <p:custDataLst>
              <p:tags r:id="rId52"/>
            </p:custDataLst>
          </p:nvPr>
        </p:nvCxnSpPr>
        <p:spPr>
          <a:xfrm>
            <a:off x="8167551" y="5885094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HorizontalLine2 1119232">
            <a:extLst>
              <a:ext uri="{FF2B5EF4-FFF2-40B4-BE49-F238E27FC236}">
                <a16:creationId xmlns:a16="http://schemas.microsoft.com/office/drawing/2014/main" id="{D78785D1-1DE6-4292-976C-DCE0BB617DA9}"/>
              </a:ext>
            </a:extLst>
          </p:cNvPr>
          <p:cNvCxnSpPr>
            <a:cxnSpLocks/>
          </p:cNvCxnSpPr>
          <p:nvPr>
            <p:custDataLst>
              <p:tags r:id="rId53"/>
            </p:custDataLst>
          </p:nvPr>
        </p:nvCxnSpPr>
        <p:spPr>
          <a:xfrm>
            <a:off x="8979652" y="5885094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0" name="TextBox 959">
            <a:extLst>
              <a:ext uri="{FF2B5EF4-FFF2-40B4-BE49-F238E27FC236}">
                <a16:creationId xmlns:a16="http://schemas.microsoft.com/office/drawing/2014/main" id="{641698AA-1CF7-40D6-81D5-B99C1857C848}"/>
              </a:ext>
            </a:extLst>
          </p:cNvPr>
          <p:cNvSpPr txBox="1"/>
          <p:nvPr/>
        </p:nvSpPr>
        <p:spPr>
          <a:xfrm>
            <a:off x="1954733" y="3263476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Координация участников процесса</a:t>
            </a:r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656FEE06-04A5-4029-9E63-C127558B2165}"/>
              </a:ext>
            </a:extLst>
          </p:cNvPr>
          <p:cNvSpPr txBox="1"/>
          <p:nvPr/>
        </p:nvSpPr>
        <p:spPr>
          <a:xfrm>
            <a:off x="1954733" y="3452092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Формирование отчетности</a:t>
            </a: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DF497FFE-7BBD-4FFC-A0D2-2CD97C94EBC2}"/>
              </a:ext>
            </a:extLst>
          </p:cNvPr>
          <p:cNvSpPr txBox="1"/>
          <p:nvPr/>
        </p:nvSpPr>
        <p:spPr>
          <a:xfrm>
            <a:off x="1954733" y="3640708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Доработка Смарт-стандарта</a:t>
            </a:r>
          </a:p>
        </p:txBody>
      </p:sp>
      <p:sp>
        <p:nvSpPr>
          <p:cNvPr id="966" name="TextBox 965">
            <a:extLst>
              <a:ext uri="{FF2B5EF4-FFF2-40B4-BE49-F238E27FC236}">
                <a16:creationId xmlns:a16="http://schemas.microsoft.com/office/drawing/2014/main" id="{E56FC7CF-5FC1-4246-BC18-321C7AE021DC}"/>
              </a:ext>
            </a:extLst>
          </p:cNvPr>
          <p:cNvSpPr txBox="1"/>
          <p:nvPr/>
        </p:nvSpPr>
        <p:spPr>
          <a:xfrm>
            <a:off x="1954733" y="3829324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Регламентация ключевых бизнес-процессов</a:t>
            </a: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DD5FE497-277C-4DE6-A204-A49FB40596F7}"/>
              </a:ext>
            </a:extLst>
          </p:cNvPr>
          <p:cNvSpPr txBox="1"/>
          <p:nvPr/>
        </p:nvSpPr>
        <p:spPr>
          <a:xfrm>
            <a:off x="1954733" y="4017940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Составление перечня требований к сервисам</a:t>
            </a:r>
          </a:p>
        </p:txBody>
      </p:sp>
      <p:sp>
        <p:nvSpPr>
          <p:cNvPr id="974" name="TextBox 973">
            <a:extLst>
              <a:ext uri="{FF2B5EF4-FFF2-40B4-BE49-F238E27FC236}">
                <a16:creationId xmlns:a16="http://schemas.microsoft.com/office/drawing/2014/main" id="{49F28636-60A4-4BFB-98C9-6542BD9770EF}"/>
              </a:ext>
            </a:extLst>
          </p:cNvPr>
          <p:cNvSpPr txBox="1"/>
          <p:nvPr/>
        </p:nvSpPr>
        <p:spPr>
          <a:xfrm>
            <a:off x="1954733" y="4885029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Подготовка интеграции с городскими системами</a:t>
            </a:r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F7C4DDFF-0548-454B-B57F-B17AEDE51CC3}"/>
              </a:ext>
            </a:extLst>
          </p:cNvPr>
          <p:cNvSpPr txBox="1"/>
          <p:nvPr/>
        </p:nvSpPr>
        <p:spPr>
          <a:xfrm>
            <a:off x="1954733" y="5073645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Подготовка интеграции с единым фронт-</a:t>
            </a:r>
            <a:r>
              <a:rPr lang="ru-RU" sz="700" dirty="0" err="1"/>
              <a:t>эндом</a:t>
            </a:r>
            <a:endParaRPr lang="ru-RU" sz="70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6A526DE8-2779-4241-B76A-593B9A05B85D}"/>
              </a:ext>
            </a:extLst>
          </p:cNvPr>
          <p:cNvSpPr txBox="1"/>
          <p:nvPr/>
        </p:nvSpPr>
        <p:spPr>
          <a:xfrm>
            <a:off x="1954733" y="5262261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Проработка ключевых контрактных механизмов</a:t>
            </a:r>
          </a:p>
        </p:txBody>
      </p:sp>
      <p:sp>
        <p:nvSpPr>
          <p:cNvPr id="980" name="TextBox 979">
            <a:extLst>
              <a:ext uri="{FF2B5EF4-FFF2-40B4-BE49-F238E27FC236}">
                <a16:creationId xmlns:a16="http://schemas.microsoft.com/office/drawing/2014/main" id="{CE309E5C-5C10-4063-AD4C-6EFF783CA9C8}"/>
              </a:ext>
            </a:extLst>
          </p:cNvPr>
          <p:cNvSpPr txBox="1"/>
          <p:nvPr/>
        </p:nvSpPr>
        <p:spPr>
          <a:xfrm>
            <a:off x="1954733" y="5450877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Заключение договоров между УК и агрегатором </a:t>
            </a:r>
          </a:p>
        </p:txBody>
      </p:sp>
      <p:cxnSp>
        <p:nvCxnSpPr>
          <p:cNvPr id="268" name="HorizontalLine2 1119232">
            <a:extLst>
              <a:ext uri="{FF2B5EF4-FFF2-40B4-BE49-F238E27FC236}">
                <a16:creationId xmlns:a16="http://schemas.microsoft.com/office/drawing/2014/main" id="{566F3CD9-58F4-441A-8367-2BE0F90DB417}"/>
              </a:ext>
            </a:extLst>
          </p:cNvPr>
          <p:cNvCxnSpPr>
            <a:cxnSpLocks/>
          </p:cNvCxnSpPr>
          <p:nvPr>
            <p:custDataLst>
              <p:tags r:id="rId54"/>
            </p:custDataLst>
          </p:nvPr>
        </p:nvCxnSpPr>
        <p:spPr>
          <a:xfrm>
            <a:off x="609598" y="4451701"/>
            <a:ext cx="743952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HorizontalLine2 1119232">
            <a:extLst>
              <a:ext uri="{FF2B5EF4-FFF2-40B4-BE49-F238E27FC236}">
                <a16:creationId xmlns:a16="http://schemas.microsoft.com/office/drawing/2014/main" id="{156F9BAD-875B-4446-BDAE-5540D2E79752}"/>
              </a:ext>
            </a:extLst>
          </p:cNvPr>
          <p:cNvCxnSpPr>
            <a:cxnSpLocks/>
          </p:cNvCxnSpPr>
          <p:nvPr>
            <p:custDataLst>
              <p:tags r:id="rId55"/>
            </p:custDataLst>
          </p:nvPr>
        </p:nvCxnSpPr>
        <p:spPr>
          <a:xfrm>
            <a:off x="8979652" y="4451701"/>
            <a:ext cx="2602746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HorizontalLine2 1119232">
            <a:extLst>
              <a:ext uri="{FF2B5EF4-FFF2-40B4-BE49-F238E27FC236}">
                <a16:creationId xmlns:a16="http://schemas.microsoft.com/office/drawing/2014/main" id="{46666248-FB37-451F-BA56-1C1ED736355C}"/>
              </a:ext>
            </a:extLst>
          </p:cNvPr>
          <p:cNvCxnSpPr>
            <a:cxnSpLocks/>
          </p:cNvCxnSpPr>
          <p:nvPr>
            <p:custDataLst>
              <p:tags r:id="rId56"/>
            </p:custDataLst>
          </p:nvPr>
        </p:nvCxnSpPr>
        <p:spPr>
          <a:xfrm>
            <a:off x="8167551" y="4451701"/>
            <a:ext cx="693672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D154C90B-919A-4609-940F-65250D8367AF}"/>
              </a:ext>
            </a:extLst>
          </p:cNvPr>
          <p:cNvSpPr txBox="1"/>
          <p:nvPr/>
        </p:nvSpPr>
        <p:spPr>
          <a:xfrm>
            <a:off x="609598" y="4486775"/>
            <a:ext cx="1269058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Подготовка инфраструктуры</a:t>
            </a: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416E4C71-41CC-48D2-A586-1CFBA75D5E5C}"/>
              </a:ext>
            </a:extLst>
          </p:cNvPr>
          <p:cNvGrpSpPr>
            <a:grpSpLocks/>
          </p:cNvGrpSpPr>
          <p:nvPr/>
        </p:nvGrpSpPr>
        <p:grpSpPr>
          <a:xfrm>
            <a:off x="6356735" y="5682836"/>
            <a:ext cx="118468" cy="118468"/>
            <a:chOff x="10126688" y="1289273"/>
            <a:chExt cx="153888" cy="153888"/>
          </a:xfrm>
        </p:grpSpPr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C9F43EFB-8964-4A55-87F9-4442AD425DC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75" name="Graphic 274">
              <a:extLst>
                <a:ext uri="{FF2B5EF4-FFF2-40B4-BE49-F238E27FC236}">
                  <a16:creationId xmlns:a16="http://schemas.microsoft.com/office/drawing/2014/main" id="{0E203E55-05C2-4710-A874-DD72B07D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9084305F-73D4-4234-8EEF-47B13E1D69B1}"/>
              </a:ext>
            </a:extLst>
          </p:cNvPr>
          <p:cNvSpPr txBox="1"/>
          <p:nvPr/>
        </p:nvSpPr>
        <p:spPr>
          <a:xfrm>
            <a:off x="6094352" y="5945682"/>
            <a:ext cx="791722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счетчикам ИПУ</a:t>
            </a:r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34C93442-CF76-4908-9DC6-9658DDBE34FA}"/>
              </a:ext>
            </a:extLst>
          </p:cNvPr>
          <p:cNvGrpSpPr>
            <a:grpSpLocks/>
          </p:cNvGrpSpPr>
          <p:nvPr/>
        </p:nvGrpSpPr>
        <p:grpSpPr>
          <a:xfrm>
            <a:off x="7683983" y="5682836"/>
            <a:ext cx="118468" cy="118468"/>
            <a:chOff x="10126688" y="1289273"/>
            <a:chExt cx="153888" cy="153888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18A71409-B77D-439F-89C2-D2C356723D6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79" name="Graphic 278">
              <a:extLst>
                <a:ext uri="{FF2B5EF4-FFF2-40B4-BE49-F238E27FC236}">
                  <a16:creationId xmlns:a16="http://schemas.microsoft.com/office/drawing/2014/main" id="{EDDD1F93-6CC3-4C4B-805C-916061953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80" name="TextBox 279">
            <a:extLst>
              <a:ext uri="{FF2B5EF4-FFF2-40B4-BE49-F238E27FC236}">
                <a16:creationId xmlns:a16="http://schemas.microsoft.com/office/drawing/2014/main" id="{818CF508-DE4B-4B18-B067-6D2C0B999ADA}"/>
              </a:ext>
            </a:extLst>
          </p:cNvPr>
          <p:cNvSpPr txBox="1">
            <a:spLocks/>
          </p:cNvSpPr>
          <p:nvPr/>
        </p:nvSpPr>
        <p:spPr>
          <a:xfrm>
            <a:off x="7224683" y="5073645"/>
            <a:ext cx="115214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700" dirty="0"/>
              <a:t>Координация процесса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50FD9B58-472E-45D9-A0E1-A2C3C87ABAB2}"/>
              </a:ext>
            </a:extLst>
          </p:cNvPr>
          <p:cNvSpPr txBox="1">
            <a:spLocks/>
          </p:cNvSpPr>
          <p:nvPr/>
        </p:nvSpPr>
        <p:spPr>
          <a:xfrm>
            <a:off x="7224683" y="4885029"/>
            <a:ext cx="115214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700" dirty="0"/>
              <a:t>Координация процесса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1E357E72-2A95-46DA-B33F-C6ADA3A9A30D}"/>
              </a:ext>
            </a:extLst>
          </p:cNvPr>
          <p:cNvSpPr txBox="1"/>
          <p:nvPr/>
        </p:nvSpPr>
        <p:spPr>
          <a:xfrm>
            <a:off x="8625230" y="5927394"/>
            <a:ext cx="791722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счетчикам ИПУ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4603FE0F-0EE3-4EB7-84D7-C83214FD888E}"/>
              </a:ext>
            </a:extLst>
          </p:cNvPr>
          <p:cNvGrpSpPr>
            <a:grpSpLocks/>
          </p:cNvGrpSpPr>
          <p:nvPr/>
        </p:nvGrpSpPr>
        <p:grpSpPr>
          <a:xfrm>
            <a:off x="9450994" y="4879656"/>
            <a:ext cx="118468" cy="118468"/>
            <a:chOff x="10126688" y="1289273"/>
            <a:chExt cx="153888" cy="153888"/>
          </a:xfrm>
        </p:grpSpPr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282D283-A134-44E5-8260-F4950DBCA86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85" name="Graphic 284">
              <a:extLst>
                <a:ext uri="{FF2B5EF4-FFF2-40B4-BE49-F238E27FC236}">
                  <a16:creationId xmlns:a16="http://schemas.microsoft.com/office/drawing/2014/main" id="{C014D8CB-6122-4EDC-B283-4ABCB167D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211BEFA8-C3F5-445B-A242-7D249DBE3BBD}"/>
              </a:ext>
            </a:extLst>
          </p:cNvPr>
          <p:cNvSpPr txBox="1"/>
          <p:nvPr/>
        </p:nvSpPr>
        <p:spPr>
          <a:xfrm>
            <a:off x="10530463" y="4888058"/>
            <a:ext cx="1140109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Интеграция</a:t>
            </a:r>
            <a:r>
              <a:rPr lang="en-US" sz="700" dirty="0"/>
              <a:t> </a:t>
            </a:r>
            <a:r>
              <a:rPr lang="ru-RU" sz="700" dirty="0"/>
              <a:t>через </a:t>
            </a:r>
            <a:r>
              <a:rPr lang="en-US" sz="700" dirty="0"/>
              <a:t>API</a:t>
            </a:r>
            <a:r>
              <a:rPr lang="ru-RU" sz="700" dirty="0"/>
              <a:t> 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01B2FBB-B227-43FB-AE7C-142DB0C3CC43}"/>
              </a:ext>
            </a:extLst>
          </p:cNvPr>
          <p:cNvGrpSpPr>
            <a:grpSpLocks/>
          </p:cNvGrpSpPr>
          <p:nvPr/>
        </p:nvGrpSpPr>
        <p:grpSpPr>
          <a:xfrm>
            <a:off x="11176328" y="5068272"/>
            <a:ext cx="118468" cy="118468"/>
            <a:chOff x="10126688" y="1289273"/>
            <a:chExt cx="153888" cy="153888"/>
          </a:xfrm>
        </p:grpSpPr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4B2E548D-E442-4A43-BC01-4C5DF59BA6C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89" name="Graphic 288">
              <a:extLst>
                <a:ext uri="{FF2B5EF4-FFF2-40B4-BE49-F238E27FC236}">
                  <a16:creationId xmlns:a16="http://schemas.microsoft.com/office/drawing/2014/main" id="{123B1D8F-EB5D-4C7F-824D-E601DCA35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9D5FA2E3-6A27-4AF8-B15C-63564ECCB6C8}"/>
              </a:ext>
            </a:extLst>
          </p:cNvPr>
          <p:cNvSpPr txBox="1"/>
          <p:nvPr/>
        </p:nvSpPr>
        <p:spPr>
          <a:xfrm>
            <a:off x="9822053" y="5073645"/>
            <a:ext cx="1320859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Интеграция для фронт-</a:t>
            </a:r>
            <a:r>
              <a:rPr lang="ru-RU" sz="700" dirty="0" err="1"/>
              <a:t>энда</a:t>
            </a:r>
            <a:endParaRPr lang="ru-RU" sz="700" dirty="0"/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CB0687A-9BA0-4150-91FA-1759A53F12A6}"/>
              </a:ext>
            </a:extLst>
          </p:cNvPr>
          <p:cNvGrpSpPr>
            <a:grpSpLocks/>
          </p:cNvGrpSpPr>
          <p:nvPr/>
        </p:nvGrpSpPr>
        <p:grpSpPr>
          <a:xfrm>
            <a:off x="9967593" y="4884574"/>
            <a:ext cx="118468" cy="118468"/>
            <a:chOff x="10126688" y="1289273"/>
            <a:chExt cx="153888" cy="153888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9361D015-EFFA-49EC-9314-CDA264EF34CE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91" name="Graphic 190">
              <a:extLst>
                <a:ext uri="{FF2B5EF4-FFF2-40B4-BE49-F238E27FC236}">
                  <a16:creationId xmlns:a16="http://schemas.microsoft.com/office/drawing/2014/main" id="{E4B237E5-BCDA-43FB-8EF1-941726B76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D02EB193-4C59-4C04-8E88-905D92BB9321}"/>
              </a:ext>
            </a:extLst>
          </p:cNvPr>
          <p:cNvSpPr txBox="1">
            <a:spLocks/>
          </p:cNvSpPr>
          <p:nvPr/>
        </p:nvSpPr>
        <p:spPr>
          <a:xfrm>
            <a:off x="7426134" y="1395978"/>
            <a:ext cx="2543735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Платформа сервисов умного дома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2A5DA51-6D83-4D6D-B24E-16DBD779CECC}"/>
              </a:ext>
            </a:extLst>
          </p:cNvPr>
          <p:cNvSpPr txBox="1">
            <a:spLocks/>
          </p:cNvSpPr>
          <p:nvPr/>
        </p:nvSpPr>
        <p:spPr>
          <a:xfrm>
            <a:off x="4327696" y="1395978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Город</a:t>
            </a:r>
          </a:p>
        </p:txBody>
      </p:sp>
      <p:cxnSp>
        <p:nvCxnSpPr>
          <p:cNvPr id="194" name="HorizontalLine2 1119232">
            <a:extLst>
              <a:ext uri="{FF2B5EF4-FFF2-40B4-BE49-F238E27FC236}">
                <a16:creationId xmlns:a16="http://schemas.microsoft.com/office/drawing/2014/main" id="{5E593B18-ADE0-407D-BE74-366ACD90E53B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>
          <a:xfrm>
            <a:off x="4327696" y="1560673"/>
            <a:ext cx="1283217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HorizontalLine2 1119232">
            <a:extLst>
              <a:ext uri="{FF2B5EF4-FFF2-40B4-BE49-F238E27FC236}">
                <a16:creationId xmlns:a16="http://schemas.microsoft.com/office/drawing/2014/main" id="{BABACCED-3C4D-4211-BE88-D5B97AC105B6}"/>
              </a:ext>
            </a:extLst>
          </p:cNvPr>
          <p:cNvCxnSpPr>
            <a:cxnSpLocks/>
          </p:cNvCxnSpPr>
          <p:nvPr>
            <p:custDataLst>
              <p:tags r:id="rId58"/>
            </p:custDataLst>
          </p:nvPr>
        </p:nvCxnSpPr>
        <p:spPr>
          <a:xfrm>
            <a:off x="7426134" y="1560673"/>
            <a:ext cx="4093076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C797E4F4-84B8-4A38-9954-5BA9D8028E9E}"/>
              </a:ext>
            </a:extLst>
          </p:cNvPr>
          <p:cNvSpPr txBox="1">
            <a:spLocks/>
          </p:cNvSpPr>
          <p:nvPr/>
        </p:nvSpPr>
        <p:spPr>
          <a:xfrm>
            <a:off x="5692100" y="1407844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Дом</a:t>
            </a:r>
          </a:p>
        </p:txBody>
      </p:sp>
      <p:cxnSp>
        <p:nvCxnSpPr>
          <p:cNvPr id="197" name="HorizontalLine2 1119232">
            <a:extLst>
              <a:ext uri="{FF2B5EF4-FFF2-40B4-BE49-F238E27FC236}">
                <a16:creationId xmlns:a16="http://schemas.microsoft.com/office/drawing/2014/main" id="{AF9727F8-E761-40A6-9E26-F74FDA7AC32E}"/>
              </a:ext>
            </a:extLst>
          </p:cNvPr>
          <p:cNvCxnSpPr>
            <a:cxnSpLocks/>
          </p:cNvCxnSpPr>
          <p:nvPr>
            <p:custDataLst>
              <p:tags r:id="rId59"/>
            </p:custDataLst>
          </p:nvPr>
        </p:nvCxnSpPr>
        <p:spPr>
          <a:xfrm>
            <a:off x="5692100" y="1572539"/>
            <a:ext cx="1532583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HorizontalLine2 1119232">
            <a:extLst>
              <a:ext uri="{FF2B5EF4-FFF2-40B4-BE49-F238E27FC236}">
                <a16:creationId xmlns:a16="http://schemas.microsoft.com/office/drawing/2014/main" id="{B60BC865-51C8-4011-91F6-21E9E9BF5D75}"/>
              </a:ext>
            </a:extLst>
          </p:cNvPr>
          <p:cNvCxnSpPr>
            <a:cxnSpLocks/>
          </p:cNvCxnSpPr>
          <p:nvPr>
            <p:custDataLst>
              <p:tags r:id="rId60"/>
            </p:custDataLst>
          </p:nvPr>
        </p:nvCxnSpPr>
        <p:spPr>
          <a:xfrm>
            <a:off x="1954733" y="4702675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HorizontalLine2 1119232">
            <a:extLst>
              <a:ext uri="{FF2B5EF4-FFF2-40B4-BE49-F238E27FC236}">
                <a16:creationId xmlns:a16="http://schemas.microsoft.com/office/drawing/2014/main" id="{4C067D07-D5F3-4141-8560-6D3AA0C566DF}"/>
              </a:ext>
            </a:extLst>
          </p:cNvPr>
          <p:cNvCxnSpPr>
            <a:cxnSpLocks/>
          </p:cNvCxnSpPr>
          <p:nvPr>
            <p:custDataLst>
              <p:tags r:id="rId61"/>
            </p:custDataLst>
          </p:nvPr>
        </p:nvCxnSpPr>
        <p:spPr>
          <a:xfrm>
            <a:off x="8167551" y="4702675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HorizontalLine2 1119232">
            <a:extLst>
              <a:ext uri="{FF2B5EF4-FFF2-40B4-BE49-F238E27FC236}">
                <a16:creationId xmlns:a16="http://schemas.microsoft.com/office/drawing/2014/main" id="{ED405EF2-2491-4F70-9889-4ED67263C44D}"/>
              </a:ext>
            </a:extLst>
          </p:cNvPr>
          <p:cNvCxnSpPr>
            <a:cxnSpLocks/>
          </p:cNvCxnSpPr>
          <p:nvPr>
            <p:custDataLst>
              <p:tags r:id="rId62"/>
            </p:custDataLst>
          </p:nvPr>
        </p:nvCxnSpPr>
        <p:spPr>
          <a:xfrm>
            <a:off x="8979652" y="4702675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A3BAF1AC-12E7-433C-8AA4-CEDD16C5A551}"/>
              </a:ext>
            </a:extLst>
          </p:cNvPr>
          <p:cNvSpPr txBox="1"/>
          <p:nvPr/>
        </p:nvSpPr>
        <p:spPr>
          <a:xfrm>
            <a:off x="1954733" y="4723880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700" dirty="0"/>
              <a:t>Обеспечение соответствия инфраструктуры</a:t>
            </a:r>
            <a:r>
              <a:rPr lang="ru-RU" sz="700" baseline="30000" dirty="0"/>
              <a:t>1</a:t>
            </a:r>
            <a:r>
              <a:rPr lang="ru-RU" sz="700" dirty="0"/>
              <a:t> 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7BB61A28-7E72-4052-ABF2-B3A8EF8548B0}"/>
              </a:ext>
            </a:extLst>
          </p:cNvPr>
          <p:cNvGrpSpPr>
            <a:grpSpLocks/>
          </p:cNvGrpSpPr>
          <p:nvPr/>
        </p:nvGrpSpPr>
        <p:grpSpPr>
          <a:xfrm>
            <a:off x="8456108" y="4708776"/>
            <a:ext cx="118468" cy="118468"/>
            <a:chOff x="10126688" y="1289273"/>
            <a:chExt cx="153888" cy="153888"/>
          </a:xfrm>
        </p:grpSpPr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5DE78A21-203D-4785-82FF-E8DF53DD7046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04" name="Graphic 203">
              <a:extLst>
                <a:ext uri="{FF2B5EF4-FFF2-40B4-BE49-F238E27FC236}">
                  <a16:creationId xmlns:a16="http://schemas.microsoft.com/office/drawing/2014/main" id="{AADC3483-13E0-458C-A879-42FAE001F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05" name="4. Footnote">
            <a:extLst>
              <a:ext uri="{FF2B5EF4-FFF2-40B4-BE49-F238E27FC236}">
                <a16:creationId xmlns:a16="http://schemas.microsoft.com/office/drawing/2014/main" id="{2BE516DB-7B91-45C9-83D6-212BDFA35B44}"/>
              </a:ext>
            </a:extLst>
          </p:cNvPr>
          <p:cNvSpPr txBox="1">
            <a:spLocks/>
          </p:cNvSpPr>
          <p:nvPr>
            <p:custDataLst>
              <p:tags r:id="rId63"/>
            </p:custDataLst>
          </p:nvPr>
        </p:nvSpPr>
        <p:spPr>
          <a:xfrm>
            <a:off x="554736" y="6292544"/>
            <a:ext cx="11082528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1.Предоставление технических условий, согласование проектной документации, прием инфраструктуры по окончании строительства</a:t>
            </a:r>
          </a:p>
          <a:p>
            <a:pPr lvl="0"/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1264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6" hidden="1">
            <a:extLst>
              <a:ext uri="{FF2B5EF4-FFF2-40B4-BE49-F238E27FC236}">
                <a16:creationId xmlns:a16="http://schemas.microsoft.com/office/drawing/2014/main" id="{34B7A0D8-C536-4497-B0C5-1AE23C04D0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00250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2" imgW="395" imgH="396" progId="TCLayout.ActiveDocument.1">
                  <p:embed/>
                </p:oleObj>
              </mc:Choice>
              <mc:Fallback>
                <p:oleObj name="think-cell Slide" r:id="rId52" imgW="395" imgH="396" progId="TCLayout.ActiveDocument.1">
                  <p:embed/>
                  <p:pic>
                    <p:nvPicPr>
                      <p:cNvPr id="23" name="Object 6" hidden="1">
                        <a:extLst>
                          <a:ext uri="{FF2B5EF4-FFF2-40B4-BE49-F238E27FC236}">
                            <a16:creationId xmlns:a16="http://schemas.microsoft.com/office/drawing/2014/main" id="{34B7A0D8-C536-4497-B0C5-1AE23C04D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7825E-182E-4C97-8387-184960188F1D}"/>
              </a:ext>
            </a:extLst>
          </p:cNvPr>
          <p:cNvSpPr>
            <a:spLocks/>
          </p:cNvSpPr>
          <p:nvPr/>
        </p:nvSpPr>
        <p:spPr>
          <a:xfrm>
            <a:off x="554734" y="1373675"/>
            <a:ext cx="11082528" cy="523706"/>
          </a:xfrm>
          <a:prstGeom prst="roundRect">
            <a:avLst>
              <a:gd name="adj" fmla="val 12061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8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DA10143-4FE9-4E08-A24B-B3755DBA86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Распределение функционала по вовлеченным сторонам </a:t>
            </a:r>
            <a:br>
              <a:rPr lang="en-US" dirty="0"/>
            </a:br>
            <a:r>
              <a:rPr lang="ru-RU" dirty="0"/>
              <a:t>(2/</a:t>
            </a:r>
            <a:r>
              <a:rPr lang="pl-PL" dirty="0"/>
              <a:t>3</a:t>
            </a:r>
            <a:r>
              <a:rPr lang="ru-RU" dirty="0"/>
              <a:t>)</a:t>
            </a:r>
          </a:p>
        </p:txBody>
      </p:sp>
      <p:sp>
        <p:nvSpPr>
          <p:cNvPr id="630" name="Rectangle: Rounded Corners 629">
            <a:extLst>
              <a:ext uri="{FF2B5EF4-FFF2-40B4-BE49-F238E27FC236}">
                <a16:creationId xmlns:a16="http://schemas.microsoft.com/office/drawing/2014/main" id="{07E34B32-2957-4385-A59E-96CB84999405}"/>
              </a:ext>
            </a:extLst>
          </p:cNvPr>
          <p:cNvSpPr>
            <a:spLocks/>
          </p:cNvSpPr>
          <p:nvPr/>
        </p:nvSpPr>
        <p:spPr>
          <a:xfrm>
            <a:off x="8125199" y="1605916"/>
            <a:ext cx="778376" cy="4458376"/>
          </a:xfrm>
          <a:prstGeom prst="roundRect">
            <a:avLst>
              <a:gd name="adj" fmla="val 9638"/>
            </a:avLst>
          </a:prstGeom>
          <a:solidFill>
            <a:schemeClr val="accent1"/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endParaRPr lang="en-US" sz="800" dirty="0" err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411531-2026-4928-A0D0-A0B2B838299B}"/>
              </a:ext>
            </a:extLst>
          </p:cNvPr>
          <p:cNvGrpSpPr/>
          <p:nvPr/>
        </p:nvGrpSpPr>
        <p:grpSpPr>
          <a:xfrm>
            <a:off x="10453519" y="1027367"/>
            <a:ext cx="1183745" cy="153888"/>
            <a:chOff x="10312453" y="1027367"/>
            <a:chExt cx="1183745" cy="15388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F6A0175-20FA-4798-8EFF-260D9DA742ED}"/>
                </a:ext>
              </a:extLst>
            </p:cNvPr>
            <p:cNvSpPr>
              <a:spLocks/>
            </p:cNvSpPr>
            <p:nvPr/>
          </p:nvSpPr>
          <p:spPr>
            <a:xfrm>
              <a:off x="10524778" y="1050450"/>
              <a:ext cx="971420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r>
                <a:rPr lang="ru-RU" sz="700" dirty="0"/>
                <a:t>Выполняет функцию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0611056-7F61-40B1-9070-4F097830C05E}"/>
                </a:ext>
              </a:extLst>
            </p:cNvPr>
            <p:cNvGrpSpPr/>
            <p:nvPr/>
          </p:nvGrpSpPr>
          <p:grpSpPr>
            <a:xfrm>
              <a:off x="10312453" y="1027367"/>
              <a:ext cx="153888" cy="153888"/>
              <a:chOff x="10126688" y="1289273"/>
              <a:chExt cx="153888" cy="15388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20AEE85-067E-4C69-97FF-51DFF4BA62E6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7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51" name="Graphic 50">
                <a:extLst>
                  <a:ext uri="{FF2B5EF4-FFF2-40B4-BE49-F238E27FC236}">
                    <a16:creationId xmlns:a16="http://schemas.microsoft.com/office/drawing/2014/main" id="{792A5FE9-95DA-4423-8A00-96BCEAB1B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3CFFB9-C86E-4902-BAF2-7BF6EA6E4C02}"/>
              </a:ext>
            </a:extLst>
          </p:cNvPr>
          <p:cNvSpPr txBox="1">
            <a:spLocks/>
          </p:cNvSpPr>
          <p:nvPr/>
        </p:nvSpPr>
        <p:spPr>
          <a:xfrm>
            <a:off x="609598" y="1729026"/>
            <a:ext cx="12690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Блок функций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A2164-17EC-46A8-ADD3-9DD72D466EC9}"/>
              </a:ext>
            </a:extLst>
          </p:cNvPr>
          <p:cNvSpPr txBox="1">
            <a:spLocks/>
          </p:cNvSpPr>
          <p:nvPr/>
        </p:nvSpPr>
        <p:spPr>
          <a:xfrm>
            <a:off x="1954733" y="1729026"/>
            <a:ext cx="229688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Функция</a:t>
            </a: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F11A056D-68C7-4AA5-BB01-FF0B6043AC7A}"/>
              </a:ext>
            </a:extLst>
          </p:cNvPr>
          <p:cNvSpPr txBox="1">
            <a:spLocks/>
          </p:cNvSpPr>
          <p:nvPr/>
        </p:nvSpPr>
        <p:spPr>
          <a:xfrm>
            <a:off x="609598" y="1937828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Подключение домов</a:t>
            </a:r>
          </a:p>
        </p:txBody>
      </p:sp>
      <p:sp>
        <p:nvSpPr>
          <p:cNvPr id="986" name="TextBox 985">
            <a:extLst>
              <a:ext uri="{FF2B5EF4-FFF2-40B4-BE49-F238E27FC236}">
                <a16:creationId xmlns:a16="http://schemas.microsoft.com/office/drawing/2014/main" id="{DC4A4AFF-C75A-4EA4-994C-75D1020574DB}"/>
              </a:ext>
            </a:extLst>
          </p:cNvPr>
          <p:cNvSpPr txBox="1">
            <a:spLocks/>
          </p:cNvSpPr>
          <p:nvPr/>
        </p:nvSpPr>
        <p:spPr>
          <a:xfrm>
            <a:off x="1954733" y="1937828"/>
            <a:ext cx="2296886" cy="2159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Определение потенциальных домов для внедрения сервисов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FB24D-7E9E-4983-BF1E-2F1FD67995CA}"/>
              </a:ext>
            </a:extLst>
          </p:cNvPr>
          <p:cNvSpPr txBox="1">
            <a:spLocks/>
          </p:cNvSpPr>
          <p:nvPr/>
        </p:nvSpPr>
        <p:spPr>
          <a:xfrm>
            <a:off x="609598" y="2742432"/>
            <a:ext cx="1269058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Подключение поставщиков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6DD7DF-16F5-4892-B0C5-0E1EE8B84FE3}"/>
              </a:ext>
            </a:extLst>
          </p:cNvPr>
          <p:cNvSpPr txBox="1">
            <a:spLocks/>
          </p:cNvSpPr>
          <p:nvPr/>
        </p:nvSpPr>
        <p:spPr>
          <a:xfrm>
            <a:off x="609598" y="4586452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Эксплуатация сервисов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83F742-676A-4528-881B-396FF7CECCC1}"/>
              </a:ext>
            </a:extLst>
          </p:cNvPr>
          <p:cNvSpPr txBox="1">
            <a:spLocks/>
          </p:cNvSpPr>
          <p:nvPr/>
        </p:nvSpPr>
        <p:spPr>
          <a:xfrm>
            <a:off x="1954733" y="3685328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Определение перечня потенциальных поставщиков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BDBA24-6E1E-4B69-97C2-C8B64D566AD0}"/>
              </a:ext>
            </a:extLst>
          </p:cNvPr>
          <p:cNvSpPr txBox="1">
            <a:spLocks/>
          </p:cNvSpPr>
          <p:nvPr/>
        </p:nvSpPr>
        <p:spPr>
          <a:xfrm>
            <a:off x="1954733" y="4253752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Поддержание и обновление реестра поставщиков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C052D3-7E59-4D6E-B531-3C218AEE2C5B}"/>
              </a:ext>
            </a:extLst>
          </p:cNvPr>
          <p:cNvSpPr txBox="1">
            <a:spLocks/>
          </p:cNvSpPr>
          <p:nvPr/>
        </p:nvSpPr>
        <p:spPr>
          <a:xfrm>
            <a:off x="1954733" y="4586452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Передача общедомового имущества в управление поставщикам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7E20E45-AA1A-4FC7-B6A7-1460C94EB817}"/>
              </a:ext>
            </a:extLst>
          </p:cNvPr>
          <p:cNvGrpSpPr/>
          <p:nvPr/>
        </p:nvGrpSpPr>
        <p:grpSpPr>
          <a:xfrm>
            <a:off x="609598" y="2683804"/>
            <a:ext cx="10972800" cy="0"/>
            <a:chOff x="609598" y="3009065"/>
            <a:chExt cx="10972800" cy="0"/>
          </a:xfrm>
        </p:grpSpPr>
        <p:cxnSp>
          <p:nvCxnSpPr>
            <p:cNvPr id="937" name="HorizontalLine2 1119232">
              <a:extLst>
                <a:ext uri="{FF2B5EF4-FFF2-40B4-BE49-F238E27FC236}">
                  <a16:creationId xmlns:a16="http://schemas.microsoft.com/office/drawing/2014/main" id="{21AA70DB-1486-4DBB-8431-71C721AE35A0}"/>
                </a:ext>
              </a:extLst>
            </p:cNvPr>
            <p:cNvCxnSpPr>
              <a:cxnSpLocks/>
            </p:cNvCxnSpPr>
            <p:nvPr>
              <p:custDataLst>
                <p:tags r:id="rId48"/>
              </p:custDataLst>
            </p:nvPr>
          </p:nvCxnSpPr>
          <p:spPr>
            <a:xfrm>
              <a:off x="609598" y="3009065"/>
              <a:ext cx="7439524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6" name="HorizontalLine2 1119232">
              <a:extLst>
                <a:ext uri="{FF2B5EF4-FFF2-40B4-BE49-F238E27FC236}">
                  <a16:creationId xmlns:a16="http://schemas.microsoft.com/office/drawing/2014/main" id="{DFD82744-BF5E-4C29-96B1-6381AB02558A}"/>
                </a:ext>
              </a:extLst>
            </p:cNvPr>
            <p:cNvCxnSpPr>
              <a:cxnSpLocks/>
            </p:cNvCxnSpPr>
            <p:nvPr>
              <p:custDataLst>
                <p:tags r:id="rId49"/>
              </p:custDataLst>
            </p:nvPr>
          </p:nvCxnSpPr>
          <p:spPr>
            <a:xfrm>
              <a:off x="8167551" y="3009065"/>
              <a:ext cx="693672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HorizontalLine2 1119232">
              <a:extLst>
                <a:ext uri="{FF2B5EF4-FFF2-40B4-BE49-F238E27FC236}">
                  <a16:creationId xmlns:a16="http://schemas.microsoft.com/office/drawing/2014/main" id="{B75D54AA-3941-45FD-A3D4-ACF45460E3C7}"/>
                </a:ext>
              </a:extLst>
            </p:cNvPr>
            <p:cNvCxnSpPr>
              <a:cxnSpLocks/>
            </p:cNvCxnSpPr>
            <p:nvPr>
              <p:custDataLst>
                <p:tags r:id="rId50"/>
              </p:custDataLst>
            </p:nvPr>
          </p:nvCxnSpPr>
          <p:spPr>
            <a:xfrm>
              <a:off x="8979652" y="3009065"/>
              <a:ext cx="2602746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DCC5D0-B288-47D1-B614-4A3FBC72E3EB}"/>
              </a:ext>
            </a:extLst>
          </p:cNvPr>
          <p:cNvGrpSpPr/>
          <p:nvPr/>
        </p:nvGrpSpPr>
        <p:grpSpPr>
          <a:xfrm>
            <a:off x="609598" y="4527824"/>
            <a:ext cx="10972800" cy="0"/>
            <a:chOff x="609598" y="4033137"/>
            <a:chExt cx="10972800" cy="0"/>
          </a:xfrm>
        </p:grpSpPr>
        <p:cxnSp>
          <p:nvCxnSpPr>
            <p:cNvPr id="1308" name="HorizontalLine2 1119232">
              <a:extLst>
                <a:ext uri="{FF2B5EF4-FFF2-40B4-BE49-F238E27FC236}">
                  <a16:creationId xmlns:a16="http://schemas.microsoft.com/office/drawing/2014/main" id="{7411CAB5-BCB4-44D4-BB88-D3A01DD58F45}"/>
                </a:ext>
              </a:extLst>
            </p:cNvPr>
            <p:cNvCxnSpPr>
              <a:cxnSpLocks/>
            </p:cNvCxnSpPr>
            <p:nvPr>
              <p:custDataLst>
                <p:tags r:id="rId45"/>
              </p:custDataLst>
            </p:nvPr>
          </p:nvCxnSpPr>
          <p:spPr>
            <a:xfrm>
              <a:off x="609598" y="4033137"/>
              <a:ext cx="7439524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HorizontalLine2 1119232">
              <a:extLst>
                <a:ext uri="{FF2B5EF4-FFF2-40B4-BE49-F238E27FC236}">
                  <a16:creationId xmlns:a16="http://schemas.microsoft.com/office/drawing/2014/main" id="{7ADF687F-FDF8-4A93-926D-5F39BC56C71D}"/>
                </a:ext>
              </a:extLst>
            </p:cNvPr>
            <p:cNvCxnSpPr>
              <a:cxnSpLocks/>
            </p:cNvCxnSpPr>
            <p:nvPr>
              <p:custDataLst>
                <p:tags r:id="rId46"/>
              </p:custDataLst>
            </p:nvPr>
          </p:nvCxnSpPr>
          <p:spPr>
            <a:xfrm>
              <a:off x="8167551" y="4033137"/>
              <a:ext cx="693672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" name="HorizontalLine2 1119232">
              <a:extLst>
                <a:ext uri="{FF2B5EF4-FFF2-40B4-BE49-F238E27FC236}">
                  <a16:creationId xmlns:a16="http://schemas.microsoft.com/office/drawing/2014/main" id="{69D589FD-A1B1-4CDA-ADD3-4F96C9F66406}"/>
                </a:ext>
              </a:extLst>
            </p:cNvPr>
            <p:cNvCxnSpPr>
              <a:cxnSpLocks/>
            </p:cNvCxnSpPr>
            <p:nvPr>
              <p:custDataLst>
                <p:tags r:id="rId47"/>
              </p:custDataLst>
            </p:nvPr>
          </p:nvCxnSpPr>
          <p:spPr>
            <a:xfrm>
              <a:off x="8979652" y="4033137"/>
              <a:ext cx="2602746" cy="0"/>
            </a:xfrm>
            <a:prstGeom prst="line">
              <a:avLst/>
            </a:prstGeom>
            <a:ln w="1270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983FD0F-A03D-4ABB-A3CD-A3D40DC6C000}"/>
              </a:ext>
            </a:extLst>
          </p:cNvPr>
          <p:cNvGrpSpPr/>
          <p:nvPr/>
        </p:nvGrpSpPr>
        <p:grpSpPr>
          <a:xfrm>
            <a:off x="1954733" y="2212356"/>
            <a:ext cx="9627665" cy="0"/>
            <a:chOff x="1954733" y="2213753"/>
            <a:chExt cx="9627665" cy="0"/>
          </a:xfrm>
        </p:grpSpPr>
        <p:cxnSp>
          <p:nvCxnSpPr>
            <p:cNvPr id="1084" name="HorizontalLine2 1119232">
              <a:extLst>
                <a:ext uri="{FF2B5EF4-FFF2-40B4-BE49-F238E27FC236}">
                  <a16:creationId xmlns:a16="http://schemas.microsoft.com/office/drawing/2014/main" id="{6B51DF3C-4EF9-4EA9-9EEB-45B9BA05B810}"/>
                </a:ext>
              </a:extLst>
            </p:cNvPr>
            <p:cNvCxnSpPr>
              <a:cxnSpLocks/>
            </p:cNvCxnSpPr>
            <p:nvPr>
              <p:custDataLst>
                <p:tags r:id="rId42"/>
              </p:custDataLst>
            </p:nvPr>
          </p:nvCxnSpPr>
          <p:spPr>
            <a:xfrm>
              <a:off x="1954733" y="2213753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HorizontalLine2 1119232">
              <a:extLst>
                <a:ext uri="{FF2B5EF4-FFF2-40B4-BE49-F238E27FC236}">
                  <a16:creationId xmlns:a16="http://schemas.microsoft.com/office/drawing/2014/main" id="{8E8CC5E2-801C-49C8-BD93-547A4FEFF152}"/>
                </a:ext>
              </a:extLst>
            </p:cNvPr>
            <p:cNvCxnSpPr>
              <a:cxnSpLocks/>
            </p:cNvCxnSpPr>
            <p:nvPr>
              <p:custDataLst>
                <p:tags r:id="rId43"/>
              </p:custDataLst>
            </p:nvPr>
          </p:nvCxnSpPr>
          <p:spPr>
            <a:xfrm>
              <a:off x="8979652" y="2213753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8" name="HorizontalLine2 1119232">
              <a:extLst>
                <a:ext uri="{FF2B5EF4-FFF2-40B4-BE49-F238E27FC236}">
                  <a16:creationId xmlns:a16="http://schemas.microsoft.com/office/drawing/2014/main" id="{07FDFC70-CCB4-4E47-9727-A90BCABC6008}"/>
                </a:ext>
              </a:extLst>
            </p:cNvPr>
            <p:cNvCxnSpPr>
              <a:cxnSpLocks/>
            </p:cNvCxnSpPr>
            <p:nvPr>
              <p:custDataLst>
                <p:tags r:id="rId44"/>
              </p:custDataLst>
            </p:nvPr>
          </p:nvCxnSpPr>
          <p:spPr>
            <a:xfrm>
              <a:off x="8167551" y="2213753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902E0A5-C923-42D9-9867-3025BCA64B0F}"/>
              </a:ext>
            </a:extLst>
          </p:cNvPr>
          <p:cNvGrpSpPr/>
          <p:nvPr/>
        </p:nvGrpSpPr>
        <p:grpSpPr>
          <a:xfrm>
            <a:off x="1954733" y="2448080"/>
            <a:ext cx="9627665" cy="0"/>
            <a:chOff x="1954733" y="2497029"/>
            <a:chExt cx="9627665" cy="0"/>
          </a:xfrm>
        </p:grpSpPr>
        <p:cxnSp>
          <p:nvCxnSpPr>
            <p:cNvPr id="1310" name="HorizontalLine2 1119232">
              <a:extLst>
                <a:ext uri="{FF2B5EF4-FFF2-40B4-BE49-F238E27FC236}">
                  <a16:creationId xmlns:a16="http://schemas.microsoft.com/office/drawing/2014/main" id="{90EAB579-4D5D-4274-9E74-E6050E4D9BC7}"/>
                </a:ext>
              </a:extLst>
            </p:cNvPr>
            <p:cNvCxnSpPr>
              <a:cxnSpLocks/>
            </p:cNvCxnSpPr>
            <p:nvPr>
              <p:custDataLst>
                <p:tags r:id="rId39"/>
              </p:custDataLst>
            </p:nvPr>
          </p:nvCxnSpPr>
          <p:spPr>
            <a:xfrm>
              <a:off x="1954733" y="2497029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HorizontalLine2 1119232">
              <a:extLst>
                <a:ext uri="{FF2B5EF4-FFF2-40B4-BE49-F238E27FC236}">
                  <a16:creationId xmlns:a16="http://schemas.microsoft.com/office/drawing/2014/main" id="{511C3BFD-7B86-458C-B299-BB0CE3CC9212}"/>
                </a:ext>
              </a:extLst>
            </p:cNvPr>
            <p:cNvCxnSpPr>
              <a:cxnSpLocks/>
            </p:cNvCxnSpPr>
            <p:nvPr>
              <p:custDataLst>
                <p:tags r:id="rId40"/>
              </p:custDataLst>
            </p:nvPr>
          </p:nvCxnSpPr>
          <p:spPr>
            <a:xfrm>
              <a:off x="8979652" y="2497029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HorizontalLine2 1119232">
              <a:extLst>
                <a:ext uri="{FF2B5EF4-FFF2-40B4-BE49-F238E27FC236}">
                  <a16:creationId xmlns:a16="http://schemas.microsoft.com/office/drawing/2014/main" id="{14BBFFC4-589C-44B7-A0CE-E334BFD0C0B0}"/>
                </a:ext>
              </a:extLst>
            </p:cNvPr>
            <p:cNvCxnSpPr>
              <a:cxnSpLocks/>
            </p:cNvCxnSpPr>
            <p:nvPr>
              <p:custDataLst>
                <p:tags r:id="rId41"/>
              </p:custDataLst>
            </p:nvPr>
          </p:nvCxnSpPr>
          <p:spPr>
            <a:xfrm>
              <a:off x="8167551" y="2497029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B54752E-5753-41C4-8FF7-5DEF37C419B4}"/>
              </a:ext>
            </a:extLst>
          </p:cNvPr>
          <p:cNvGrpSpPr/>
          <p:nvPr/>
        </p:nvGrpSpPr>
        <p:grpSpPr>
          <a:xfrm>
            <a:off x="1954733" y="3155252"/>
            <a:ext cx="9627665" cy="0"/>
            <a:chOff x="1954733" y="3291885"/>
            <a:chExt cx="9627665" cy="0"/>
          </a:xfrm>
        </p:grpSpPr>
        <p:cxnSp>
          <p:nvCxnSpPr>
            <p:cNvPr id="1313" name="HorizontalLine2 1119232">
              <a:extLst>
                <a:ext uri="{FF2B5EF4-FFF2-40B4-BE49-F238E27FC236}">
                  <a16:creationId xmlns:a16="http://schemas.microsoft.com/office/drawing/2014/main" id="{5124129A-32E8-449F-8D2F-C03CC3F1FDFB}"/>
                </a:ext>
              </a:extLst>
            </p:cNvPr>
            <p:cNvCxnSpPr>
              <a:cxnSpLocks/>
            </p:cNvCxnSpPr>
            <p:nvPr>
              <p:custDataLst>
                <p:tags r:id="rId36"/>
              </p:custDataLst>
            </p:nvPr>
          </p:nvCxnSpPr>
          <p:spPr>
            <a:xfrm>
              <a:off x="1954733" y="329188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8" name="HorizontalLine2 1119232">
              <a:extLst>
                <a:ext uri="{FF2B5EF4-FFF2-40B4-BE49-F238E27FC236}">
                  <a16:creationId xmlns:a16="http://schemas.microsoft.com/office/drawing/2014/main" id="{4F476AD2-210B-4BBA-9347-57E953A5F93F}"/>
                </a:ext>
              </a:extLst>
            </p:cNvPr>
            <p:cNvCxnSpPr>
              <a:cxnSpLocks/>
            </p:cNvCxnSpPr>
            <p:nvPr>
              <p:custDataLst>
                <p:tags r:id="rId37"/>
              </p:custDataLst>
            </p:nvPr>
          </p:nvCxnSpPr>
          <p:spPr>
            <a:xfrm>
              <a:off x="8979652" y="329188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HorizontalLine2 1119232">
              <a:extLst>
                <a:ext uri="{FF2B5EF4-FFF2-40B4-BE49-F238E27FC236}">
                  <a16:creationId xmlns:a16="http://schemas.microsoft.com/office/drawing/2014/main" id="{A24244CD-84B8-43F4-91AF-1AB1FF0FFFFA}"/>
                </a:ext>
              </a:extLst>
            </p:cNvPr>
            <p:cNvCxnSpPr>
              <a:cxnSpLocks/>
            </p:cNvCxnSpPr>
            <p:nvPr>
              <p:custDataLst>
                <p:tags r:id="rId38"/>
              </p:custDataLst>
            </p:nvPr>
          </p:nvCxnSpPr>
          <p:spPr>
            <a:xfrm>
              <a:off x="8167551" y="329188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C0E6417-1DA2-4BBC-BE58-AA9F766E2821}"/>
              </a:ext>
            </a:extLst>
          </p:cNvPr>
          <p:cNvGrpSpPr/>
          <p:nvPr/>
        </p:nvGrpSpPr>
        <p:grpSpPr>
          <a:xfrm>
            <a:off x="1954733" y="3390976"/>
            <a:ext cx="9627665" cy="0"/>
            <a:chOff x="1954733" y="3521101"/>
            <a:chExt cx="9627665" cy="0"/>
          </a:xfrm>
        </p:grpSpPr>
        <p:cxnSp>
          <p:nvCxnSpPr>
            <p:cNvPr id="1314" name="HorizontalLine2 1119232">
              <a:extLst>
                <a:ext uri="{FF2B5EF4-FFF2-40B4-BE49-F238E27FC236}">
                  <a16:creationId xmlns:a16="http://schemas.microsoft.com/office/drawing/2014/main" id="{0699BCB5-8FCA-4531-B175-1ABFFD87C3BA}"/>
                </a:ext>
              </a:extLst>
            </p:cNvPr>
            <p:cNvCxnSpPr>
              <a:cxnSpLocks/>
            </p:cNvCxnSpPr>
            <p:nvPr>
              <p:custDataLst>
                <p:tags r:id="rId33"/>
              </p:custDataLst>
            </p:nvPr>
          </p:nvCxnSpPr>
          <p:spPr>
            <a:xfrm>
              <a:off x="1954733" y="3521101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HorizontalLine2 1119232">
              <a:extLst>
                <a:ext uri="{FF2B5EF4-FFF2-40B4-BE49-F238E27FC236}">
                  <a16:creationId xmlns:a16="http://schemas.microsoft.com/office/drawing/2014/main" id="{1FB942F5-546E-4379-8F4E-0B40BD9D9815}"/>
                </a:ext>
              </a:extLst>
            </p:cNvPr>
            <p:cNvCxnSpPr>
              <a:cxnSpLocks/>
            </p:cNvCxnSpPr>
            <p:nvPr>
              <p:custDataLst>
                <p:tags r:id="rId34"/>
              </p:custDataLst>
            </p:nvPr>
          </p:nvCxnSpPr>
          <p:spPr>
            <a:xfrm>
              <a:off x="8979652" y="3521101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HorizontalLine2 1119232">
              <a:extLst>
                <a:ext uri="{FF2B5EF4-FFF2-40B4-BE49-F238E27FC236}">
                  <a16:creationId xmlns:a16="http://schemas.microsoft.com/office/drawing/2014/main" id="{734CFFAE-D7E4-4FF0-B9E9-886D4763D491}"/>
                </a:ext>
              </a:extLst>
            </p:cNvPr>
            <p:cNvCxnSpPr>
              <a:cxnSpLocks/>
            </p:cNvCxnSpPr>
            <p:nvPr>
              <p:custDataLst>
                <p:tags r:id="rId35"/>
              </p:custDataLst>
            </p:nvPr>
          </p:nvCxnSpPr>
          <p:spPr>
            <a:xfrm>
              <a:off x="8167551" y="3521101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BEF5CA9-2338-45B2-9539-6C3AB6273C8D}"/>
              </a:ext>
            </a:extLst>
          </p:cNvPr>
          <p:cNvGrpSpPr/>
          <p:nvPr/>
        </p:nvGrpSpPr>
        <p:grpSpPr>
          <a:xfrm>
            <a:off x="1954733" y="3626700"/>
            <a:ext cx="9627665" cy="0"/>
            <a:chOff x="1954733" y="3803921"/>
            <a:chExt cx="9627665" cy="0"/>
          </a:xfrm>
        </p:grpSpPr>
        <p:cxnSp>
          <p:nvCxnSpPr>
            <p:cNvPr id="1315" name="HorizontalLine2 1119232">
              <a:extLst>
                <a:ext uri="{FF2B5EF4-FFF2-40B4-BE49-F238E27FC236}">
                  <a16:creationId xmlns:a16="http://schemas.microsoft.com/office/drawing/2014/main" id="{B7EB7BD2-5F19-431F-A323-B2499ED85CB0}"/>
                </a:ext>
              </a:extLst>
            </p:cNvPr>
            <p:cNvCxnSpPr>
              <a:cxnSpLocks/>
            </p:cNvCxnSpPr>
            <p:nvPr>
              <p:custDataLst>
                <p:tags r:id="rId30"/>
              </p:custDataLst>
            </p:nvPr>
          </p:nvCxnSpPr>
          <p:spPr>
            <a:xfrm>
              <a:off x="1954733" y="3803921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0" name="HorizontalLine2 1119232">
              <a:extLst>
                <a:ext uri="{FF2B5EF4-FFF2-40B4-BE49-F238E27FC236}">
                  <a16:creationId xmlns:a16="http://schemas.microsoft.com/office/drawing/2014/main" id="{CCCE77D8-851E-44D8-9FAD-B42602F07735}"/>
                </a:ext>
              </a:extLst>
            </p:cNvPr>
            <p:cNvCxnSpPr>
              <a:cxnSpLocks/>
            </p:cNvCxnSpPr>
            <p:nvPr>
              <p:custDataLst>
                <p:tags r:id="rId31"/>
              </p:custDataLst>
            </p:nvPr>
          </p:nvCxnSpPr>
          <p:spPr>
            <a:xfrm>
              <a:off x="8979652" y="3803921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3" name="HorizontalLine2 1119232">
              <a:extLst>
                <a:ext uri="{FF2B5EF4-FFF2-40B4-BE49-F238E27FC236}">
                  <a16:creationId xmlns:a16="http://schemas.microsoft.com/office/drawing/2014/main" id="{74A73D31-42AC-4709-9FAE-4B8522A37F1F}"/>
                </a:ext>
              </a:extLst>
            </p:cNvPr>
            <p:cNvCxnSpPr>
              <a:cxnSpLocks/>
            </p:cNvCxnSpPr>
            <p:nvPr>
              <p:custDataLst>
                <p:tags r:id="rId32"/>
              </p:custDataLst>
            </p:nvPr>
          </p:nvCxnSpPr>
          <p:spPr>
            <a:xfrm>
              <a:off x="8167551" y="3803921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676B3D0-BFCF-400F-AA14-FD09A2517F1B}"/>
              </a:ext>
            </a:extLst>
          </p:cNvPr>
          <p:cNvGrpSpPr/>
          <p:nvPr/>
        </p:nvGrpSpPr>
        <p:grpSpPr>
          <a:xfrm>
            <a:off x="1954733" y="4195124"/>
            <a:ext cx="9627665" cy="0"/>
            <a:chOff x="1954733" y="4262353"/>
            <a:chExt cx="9627665" cy="0"/>
          </a:xfrm>
        </p:grpSpPr>
        <p:cxnSp>
          <p:nvCxnSpPr>
            <p:cNvPr id="1316" name="HorizontalLine2 1119232">
              <a:extLst>
                <a:ext uri="{FF2B5EF4-FFF2-40B4-BE49-F238E27FC236}">
                  <a16:creationId xmlns:a16="http://schemas.microsoft.com/office/drawing/2014/main" id="{013A1F37-034C-4E46-BA4B-F1BCE8DE46F5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>
            <a:xfrm>
              <a:off x="1954733" y="4262353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1" name="HorizontalLine2 1119232">
              <a:extLst>
                <a:ext uri="{FF2B5EF4-FFF2-40B4-BE49-F238E27FC236}">
                  <a16:creationId xmlns:a16="http://schemas.microsoft.com/office/drawing/2014/main" id="{38974365-F523-4710-8AC4-26ACA2C432D0}"/>
                </a:ext>
              </a:extLst>
            </p:cNvPr>
            <p:cNvCxnSpPr>
              <a:cxnSpLocks/>
            </p:cNvCxnSpPr>
            <p:nvPr>
              <p:custDataLst>
                <p:tags r:id="rId28"/>
              </p:custDataLst>
            </p:nvPr>
          </p:nvCxnSpPr>
          <p:spPr>
            <a:xfrm>
              <a:off x="8979652" y="4262353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HorizontalLine2 1119232">
              <a:extLst>
                <a:ext uri="{FF2B5EF4-FFF2-40B4-BE49-F238E27FC236}">
                  <a16:creationId xmlns:a16="http://schemas.microsoft.com/office/drawing/2014/main" id="{6A6BAB15-E81C-44D3-B4A3-10A974465A25}"/>
                </a:ext>
              </a:extLst>
            </p:cNvPr>
            <p:cNvCxnSpPr>
              <a:cxnSpLocks/>
            </p:cNvCxnSpPr>
            <p:nvPr>
              <p:custDataLst>
                <p:tags r:id="rId29"/>
              </p:custDataLst>
            </p:nvPr>
          </p:nvCxnSpPr>
          <p:spPr>
            <a:xfrm>
              <a:off x="8167551" y="4262353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764D12-206D-425A-ACD0-46AAD54C1596}"/>
              </a:ext>
            </a:extLst>
          </p:cNvPr>
          <p:cNvGrpSpPr/>
          <p:nvPr/>
        </p:nvGrpSpPr>
        <p:grpSpPr>
          <a:xfrm>
            <a:off x="1954733" y="4860524"/>
            <a:ext cx="9627665" cy="0"/>
            <a:chOff x="1954733" y="4720785"/>
            <a:chExt cx="9627665" cy="0"/>
          </a:xfrm>
        </p:grpSpPr>
        <p:cxnSp>
          <p:nvCxnSpPr>
            <p:cNvPr id="1318" name="HorizontalLine2 1119232">
              <a:extLst>
                <a:ext uri="{FF2B5EF4-FFF2-40B4-BE49-F238E27FC236}">
                  <a16:creationId xmlns:a16="http://schemas.microsoft.com/office/drawing/2014/main" id="{87DE7103-7CE5-42D2-8418-CDF3A5AF3559}"/>
                </a:ext>
              </a:extLst>
            </p:cNvPr>
            <p:cNvCxnSpPr>
              <a:cxnSpLocks/>
            </p:cNvCxnSpPr>
            <p:nvPr>
              <p:custDataLst>
                <p:tags r:id="rId24"/>
              </p:custDataLst>
            </p:nvPr>
          </p:nvCxnSpPr>
          <p:spPr>
            <a:xfrm>
              <a:off x="1954733" y="472078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3" name="HorizontalLine2 1119232">
              <a:extLst>
                <a:ext uri="{FF2B5EF4-FFF2-40B4-BE49-F238E27FC236}">
                  <a16:creationId xmlns:a16="http://schemas.microsoft.com/office/drawing/2014/main" id="{0F34B442-C941-4DE6-A066-C0341E3D357F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>
            <a:xfrm>
              <a:off x="8979652" y="472078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HorizontalLine2 1119232">
              <a:extLst>
                <a:ext uri="{FF2B5EF4-FFF2-40B4-BE49-F238E27FC236}">
                  <a16:creationId xmlns:a16="http://schemas.microsoft.com/office/drawing/2014/main" id="{22B4A442-51A6-4927-ABF6-D811DC8C39B7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>
            <a:xfrm>
              <a:off x="8167551" y="472078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F3CF612-C02E-4D26-B5E3-48F0A13093EA}"/>
              </a:ext>
            </a:extLst>
          </p:cNvPr>
          <p:cNvGrpSpPr/>
          <p:nvPr/>
        </p:nvGrpSpPr>
        <p:grpSpPr>
          <a:xfrm>
            <a:off x="1954733" y="5096248"/>
            <a:ext cx="9627665" cy="0"/>
            <a:chOff x="1954733" y="5003605"/>
            <a:chExt cx="9627665" cy="0"/>
          </a:xfrm>
        </p:grpSpPr>
        <p:cxnSp>
          <p:nvCxnSpPr>
            <p:cNvPr id="1319" name="HorizontalLine2 1119232">
              <a:extLst>
                <a:ext uri="{FF2B5EF4-FFF2-40B4-BE49-F238E27FC236}">
                  <a16:creationId xmlns:a16="http://schemas.microsoft.com/office/drawing/2014/main" id="{5154ECB6-57F3-439D-9B8B-CE7D52A7BE94}"/>
                </a:ext>
              </a:extLst>
            </p:cNvPr>
            <p:cNvCxnSpPr>
              <a:cxnSpLocks/>
            </p:cNvCxnSpPr>
            <p:nvPr>
              <p:custDataLst>
                <p:tags r:id="rId21"/>
              </p:custDataLst>
            </p:nvPr>
          </p:nvCxnSpPr>
          <p:spPr>
            <a:xfrm>
              <a:off x="1954733" y="500360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HorizontalLine2 1119232">
              <a:extLst>
                <a:ext uri="{FF2B5EF4-FFF2-40B4-BE49-F238E27FC236}">
                  <a16:creationId xmlns:a16="http://schemas.microsoft.com/office/drawing/2014/main" id="{7AB7F4F9-5CAE-42AD-BC51-6EA4FF342887}"/>
                </a:ext>
              </a:extLst>
            </p:cNvPr>
            <p:cNvCxnSpPr>
              <a:cxnSpLocks/>
            </p:cNvCxnSpPr>
            <p:nvPr>
              <p:custDataLst>
                <p:tags r:id="rId22"/>
              </p:custDataLst>
            </p:nvPr>
          </p:nvCxnSpPr>
          <p:spPr>
            <a:xfrm>
              <a:off x="8979652" y="500360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HorizontalLine2 1119232">
              <a:extLst>
                <a:ext uri="{FF2B5EF4-FFF2-40B4-BE49-F238E27FC236}">
                  <a16:creationId xmlns:a16="http://schemas.microsoft.com/office/drawing/2014/main" id="{6FBDC0B5-56D8-469D-8994-BB10D44E2D82}"/>
                </a:ext>
              </a:extLst>
            </p:cNvPr>
            <p:cNvCxnSpPr>
              <a:cxnSpLocks/>
            </p:cNvCxnSpPr>
            <p:nvPr>
              <p:custDataLst>
                <p:tags r:id="rId23"/>
              </p:custDataLst>
            </p:nvPr>
          </p:nvCxnSpPr>
          <p:spPr>
            <a:xfrm>
              <a:off x="8167551" y="500360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CC9BB54-1E48-4D1D-AE69-75017637CFDF}"/>
              </a:ext>
            </a:extLst>
          </p:cNvPr>
          <p:cNvGrpSpPr/>
          <p:nvPr/>
        </p:nvGrpSpPr>
        <p:grpSpPr>
          <a:xfrm>
            <a:off x="1954733" y="5567696"/>
            <a:ext cx="9627665" cy="0"/>
            <a:chOff x="1954733" y="5569245"/>
            <a:chExt cx="9627665" cy="0"/>
          </a:xfrm>
        </p:grpSpPr>
        <p:cxnSp>
          <p:nvCxnSpPr>
            <p:cNvPr id="1320" name="HorizontalLine2 1119232">
              <a:extLst>
                <a:ext uri="{FF2B5EF4-FFF2-40B4-BE49-F238E27FC236}">
                  <a16:creationId xmlns:a16="http://schemas.microsoft.com/office/drawing/2014/main" id="{434051BF-3A20-4F7B-A2A3-FEB93026B24A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>
            <a:xfrm>
              <a:off x="1954733" y="556924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5" name="HorizontalLine2 1119232">
              <a:extLst>
                <a:ext uri="{FF2B5EF4-FFF2-40B4-BE49-F238E27FC236}">
                  <a16:creationId xmlns:a16="http://schemas.microsoft.com/office/drawing/2014/main" id="{BFC5103B-AA63-42EE-B1BF-E4018097E38E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>
            <a:xfrm>
              <a:off x="8979652" y="556924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8" name="HorizontalLine2 1119232">
              <a:extLst>
                <a:ext uri="{FF2B5EF4-FFF2-40B4-BE49-F238E27FC236}">
                  <a16:creationId xmlns:a16="http://schemas.microsoft.com/office/drawing/2014/main" id="{800C04C8-0E13-408A-8A00-A06A748C30B9}"/>
                </a:ext>
              </a:extLst>
            </p:cNvPr>
            <p:cNvCxnSpPr>
              <a:cxnSpLocks/>
            </p:cNvCxnSpPr>
            <p:nvPr>
              <p:custDataLst>
                <p:tags r:id="rId20"/>
              </p:custDataLst>
            </p:nvPr>
          </p:nvCxnSpPr>
          <p:spPr>
            <a:xfrm>
              <a:off x="8167551" y="556924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807EAC3-175D-4924-B1BD-9DBD6EBCF5E9}"/>
              </a:ext>
            </a:extLst>
          </p:cNvPr>
          <p:cNvGrpSpPr/>
          <p:nvPr/>
        </p:nvGrpSpPr>
        <p:grpSpPr>
          <a:xfrm>
            <a:off x="1954733" y="5803420"/>
            <a:ext cx="9627665" cy="0"/>
            <a:chOff x="1954733" y="5798461"/>
            <a:chExt cx="9627665" cy="0"/>
          </a:xfrm>
        </p:grpSpPr>
        <p:cxnSp>
          <p:nvCxnSpPr>
            <p:cNvPr id="1321" name="HorizontalLine2 1119232">
              <a:extLst>
                <a:ext uri="{FF2B5EF4-FFF2-40B4-BE49-F238E27FC236}">
                  <a16:creationId xmlns:a16="http://schemas.microsoft.com/office/drawing/2014/main" id="{14E9F999-1144-43CC-B72A-72FEEE7E571D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>
            <a:xfrm>
              <a:off x="1954733" y="5798461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HorizontalLine2 1119232">
              <a:extLst>
                <a:ext uri="{FF2B5EF4-FFF2-40B4-BE49-F238E27FC236}">
                  <a16:creationId xmlns:a16="http://schemas.microsoft.com/office/drawing/2014/main" id="{2787B474-EA90-45C8-BD23-DBFD0FDC4A09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>
            <a:xfrm>
              <a:off x="8979652" y="5798461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HorizontalLine2 1119232">
              <a:extLst>
                <a:ext uri="{FF2B5EF4-FFF2-40B4-BE49-F238E27FC236}">
                  <a16:creationId xmlns:a16="http://schemas.microsoft.com/office/drawing/2014/main" id="{05BB2710-27AF-458D-9805-ADFC3AC2E568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>
            <a:xfrm>
              <a:off x="8167551" y="5798461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8" name="TextBox 987">
            <a:extLst>
              <a:ext uri="{FF2B5EF4-FFF2-40B4-BE49-F238E27FC236}">
                <a16:creationId xmlns:a16="http://schemas.microsoft.com/office/drawing/2014/main" id="{4D946ECF-6FD4-442D-A4D5-66613ED076CD}"/>
              </a:ext>
            </a:extLst>
          </p:cNvPr>
          <p:cNvSpPr txBox="1">
            <a:spLocks/>
          </p:cNvSpPr>
          <p:nvPr/>
        </p:nvSpPr>
        <p:spPr>
          <a:xfrm>
            <a:off x="1954733" y="2276357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Подготовка рекламных материалов для жителей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FBE456-338A-49D1-A6A0-53E0B786EEE5}"/>
              </a:ext>
            </a:extLst>
          </p:cNvPr>
          <p:cNvSpPr txBox="1">
            <a:spLocks/>
          </p:cNvSpPr>
          <p:nvPr/>
        </p:nvSpPr>
        <p:spPr>
          <a:xfrm>
            <a:off x="1954733" y="2983529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Поиск поставщиков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262561-9FCA-4BDA-867D-18E21976CE39}"/>
              </a:ext>
            </a:extLst>
          </p:cNvPr>
          <p:cNvSpPr txBox="1">
            <a:spLocks/>
          </p:cNvSpPr>
          <p:nvPr/>
        </p:nvSpPr>
        <p:spPr>
          <a:xfrm>
            <a:off x="1954733" y="4023401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Заключение контрактов с поставщиками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1854C9-F4FF-47A2-AC3A-9E7109713503}"/>
              </a:ext>
            </a:extLst>
          </p:cNvPr>
          <p:cNvSpPr txBox="1">
            <a:spLocks/>
          </p:cNvSpPr>
          <p:nvPr/>
        </p:nvSpPr>
        <p:spPr>
          <a:xfrm>
            <a:off x="1954733" y="5160249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Прием оборудования на баланс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06F55-C048-47A9-A573-988F3F3F8574}"/>
              </a:ext>
            </a:extLst>
          </p:cNvPr>
          <p:cNvSpPr txBox="1">
            <a:spLocks/>
          </p:cNvSpPr>
          <p:nvPr/>
        </p:nvSpPr>
        <p:spPr>
          <a:xfrm>
            <a:off x="1954733" y="5395973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Эксплуатация</a:t>
            </a: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DBA84E9-4784-4FA8-816D-F611226E2D9B}"/>
              </a:ext>
            </a:extLst>
          </p:cNvPr>
          <p:cNvSpPr txBox="1">
            <a:spLocks/>
          </p:cNvSpPr>
          <p:nvPr/>
        </p:nvSpPr>
        <p:spPr>
          <a:xfrm>
            <a:off x="1954733" y="5631697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Обработка платежей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0E8ADAEA-17DE-4981-9E3D-E3AE8043C977}"/>
              </a:ext>
            </a:extLst>
          </p:cNvPr>
          <p:cNvSpPr txBox="1">
            <a:spLocks/>
          </p:cNvSpPr>
          <p:nvPr/>
        </p:nvSpPr>
        <p:spPr>
          <a:xfrm>
            <a:off x="1954733" y="5867424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Распределение платежей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1482C1-69F0-4048-9057-08608E5D81DD}"/>
              </a:ext>
            </a:extLst>
          </p:cNvPr>
          <p:cNvSpPr txBox="1">
            <a:spLocks/>
          </p:cNvSpPr>
          <p:nvPr/>
        </p:nvSpPr>
        <p:spPr>
          <a:xfrm>
            <a:off x="1954733" y="4924525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Установка дополнительного оборудования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CBFA31-2C15-491D-9B4C-1AA027750263}"/>
              </a:ext>
            </a:extLst>
          </p:cNvPr>
          <p:cNvSpPr txBox="1">
            <a:spLocks/>
          </p:cNvSpPr>
          <p:nvPr/>
        </p:nvSpPr>
        <p:spPr>
          <a:xfrm>
            <a:off x="1954733" y="3219253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Сбор коммерческих предложений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8E7579-6C4A-4798-8B10-F94BBDBF5BD4}"/>
              </a:ext>
            </a:extLst>
          </p:cNvPr>
          <p:cNvSpPr txBox="1">
            <a:spLocks/>
          </p:cNvSpPr>
          <p:nvPr/>
        </p:nvSpPr>
        <p:spPr>
          <a:xfrm>
            <a:off x="1954733" y="3454977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Проведение тендера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2D8400-0AD1-408D-B291-F0B482F04C3A}"/>
              </a:ext>
            </a:extLst>
          </p:cNvPr>
          <p:cNvSpPr txBox="1">
            <a:spLocks/>
          </p:cNvSpPr>
          <p:nvPr/>
        </p:nvSpPr>
        <p:spPr>
          <a:xfrm>
            <a:off x="1954733" y="2747805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Составление </a:t>
            </a:r>
            <a:r>
              <a:rPr lang="ru-RU" sz="700" dirty="0" err="1"/>
              <a:t>ТЗ</a:t>
            </a:r>
            <a:r>
              <a:rPr lang="ru-RU" sz="700" dirty="0"/>
              <a:t> для поставщиков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8B9C4-DFBB-4260-8BC0-6E486E4EB685}"/>
              </a:ext>
            </a:extLst>
          </p:cNvPr>
          <p:cNvSpPr txBox="1">
            <a:spLocks/>
          </p:cNvSpPr>
          <p:nvPr/>
        </p:nvSpPr>
        <p:spPr>
          <a:xfrm>
            <a:off x="1954733" y="2512081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Организация </a:t>
            </a:r>
            <a:r>
              <a:rPr lang="ru-RU" sz="700" dirty="0" err="1"/>
              <a:t>ОСС</a:t>
            </a:r>
            <a:endParaRPr lang="ru-RU" sz="700" dirty="0"/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8F72C00-0855-4EB7-BDD9-BF0043036437}"/>
              </a:ext>
            </a:extLst>
          </p:cNvPr>
          <p:cNvGrpSpPr>
            <a:grpSpLocks/>
          </p:cNvGrpSpPr>
          <p:nvPr/>
        </p:nvGrpSpPr>
        <p:grpSpPr>
          <a:xfrm>
            <a:off x="5296763" y="2506708"/>
            <a:ext cx="118468" cy="118468"/>
            <a:chOff x="10126688" y="1289273"/>
            <a:chExt cx="153888" cy="153888"/>
          </a:xfrm>
        </p:grpSpPr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42749E39-B00E-4CA7-A087-C6EA319CD7D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34" name="Graphic 233">
              <a:extLst>
                <a:ext uri="{FF2B5EF4-FFF2-40B4-BE49-F238E27FC236}">
                  <a16:creationId xmlns:a16="http://schemas.microsoft.com/office/drawing/2014/main" id="{1B7BB21C-AB6A-467F-ACBE-1D0856471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77BAC78-61B3-4550-9FFA-3327593418E1}"/>
              </a:ext>
            </a:extLst>
          </p:cNvPr>
          <p:cNvGrpSpPr/>
          <p:nvPr/>
        </p:nvGrpSpPr>
        <p:grpSpPr>
          <a:xfrm>
            <a:off x="1954733" y="2919528"/>
            <a:ext cx="9627665" cy="0"/>
            <a:chOff x="1954733" y="3291885"/>
            <a:chExt cx="9627665" cy="0"/>
          </a:xfrm>
        </p:grpSpPr>
        <p:cxnSp>
          <p:nvCxnSpPr>
            <p:cNvPr id="258" name="HorizontalLine2 1119232">
              <a:extLst>
                <a:ext uri="{FF2B5EF4-FFF2-40B4-BE49-F238E27FC236}">
                  <a16:creationId xmlns:a16="http://schemas.microsoft.com/office/drawing/2014/main" id="{E740E749-3757-402E-8D64-0DB77012D7E6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>
            <a:xfrm>
              <a:off x="1954733" y="329188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HorizontalLine2 1119232">
              <a:extLst>
                <a:ext uri="{FF2B5EF4-FFF2-40B4-BE49-F238E27FC236}">
                  <a16:creationId xmlns:a16="http://schemas.microsoft.com/office/drawing/2014/main" id="{66B2BF9C-5105-4911-B0FA-9E1485463CA5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>
            <a:xfrm>
              <a:off x="8979652" y="329188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HorizontalLine2 1119232">
              <a:extLst>
                <a:ext uri="{FF2B5EF4-FFF2-40B4-BE49-F238E27FC236}">
                  <a16:creationId xmlns:a16="http://schemas.microsoft.com/office/drawing/2014/main" id="{47B04D8A-7739-4291-838F-052C38BFC284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>
            <a:xfrm>
              <a:off x="8167551" y="329188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9E7C69E-D0FC-469C-96F8-C45582BD8099}"/>
              </a:ext>
            </a:extLst>
          </p:cNvPr>
          <p:cNvGrpSpPr/>
          <p:nvPr/>
        </p:nvGrpSpPr>
        <p:grpSpPr>
          <a:xfrm>
            <a:off x="1954733" y="3959400"/>
            <a:ext cx="9627665" cy="0"/>
            <a:chOff x="1954733" y="4262353"/>
            <a:chExt cx="9627665" cy="0"/>
          </a:xfrm>
        </p:grpSpPr>
        <p:cxnSp>
          <p:nvCxnSpPr>
            <p:cNvPr id="262" name="HorizontalLine2 1119232">
              <a:extLst>
                <a:ext uri="{FF2B5EF4-FFF2-40B4-BE49-F238E27FC236}">
                  <a16:creationId xmlns:a16="http://schemas.microsoft.com/office/drawing/2014/main" id="{389857FA-CF8B-473A-88D9-D355FFB32187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>
            <a:xfrm>
              <a:off x="1954733" y="4262353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HorizontalLine2 1119232">
              <a:extLst>
                <a:ext uri="{FF2B5EF4-FFF2-40B4-BE49-F238E27FC236}">
                  <a16:creationId xmlns:a16="http://schemas.microsoft.com/office/drawing/2014/main" id="{8024FAD1-7A3A-4577-85D1-B7B92886CAFB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>
            <a:xfrm>
              <a:off x="8979652" y="4262353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HorizontalLine2 1119232">
              <a:extLst>
                <a:ext uri="{FF2B5EF4-FFF2-40B4-BE49-F238E27FC236}">
                  <a16:creationId xmlns:a16="http://schemas.microsoft.com/office/drawing/2014/main" id="{B9985ED4-D55E-4EA5-905D-545D6A832D50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>
            <a:xfrm>
              <a:off x="8167551" y="4262353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8DEE4AD-8784-44CE-B054-C3E52F1310FB}"/>
              </a:ext>
            </a:extLst>
          </p:cNvPr>
          <p:cNvGrpSpPr/>
          <p:nvPr/>
        </p:nvGrpSpPr>
        <p:grpSpPr>
          <a:xfrm>
            <a:off x="1954733" y="5331972"/>
            <a:ext cx="9627665" cy="0"/>
            <a:chOff x="1954733" y="5003605"/>
            <a:chExt cx="9627665" cy="0"/>
          </a:xfrm>
        </p:grpSpPr>
        <p:cxnSp>
          <p:nvCxnSpPr>
            <p:cNvPr id="266" name="HorizontalLine2 1119232">
              <a:extLst>
                <a:ext uri="{FF2B5EF4-FFF2-40B4-BE49-F238E27FC236}">
                  <a16:creationId xmlns:a16="http://schemas.microsoft.com/office/drawing/2014/main" id="{CFA423D8-5697-47A8-B4D7-E6097E5261DB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1954733" y="5003605"/>
              <a:ext cx="6094389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HorizontalLine2 1119232">
              <a:extLst>
                <a:ext uri="{FF2B5EF4-FFF2-40B4-BE49-F238E27FC236}">
                  <a16:creationId xmlns:a16="http://schemas.microsoft.com/office/drawing/2014/main" id="{CA59E1D2-6656-497F-9032-A99230CC8374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8979652" y="5003605"/>
              <a:ext cx="2602746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HorizontalLine2 1119232">
              <a:extLst>
                <a:ext uri="{FF2B5EF4-FFF2-40B4-BE49-F238E27FC236}">
                  <a16:creationId xmlns:a16="http://schemas.microsoft.com/office/drawing/2014/main" id="{F7BB24C7-3CC0-492B-9BC2-41A64C9962F6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>
            <a:xfrm>
              <a:off x="8167551" y="5003605"/>
              <a:ext cx="693672" cy="0"/>
            </a:xfrm>
            <a:prstGeom prst="line">
              <a:avLst/>
            </a:prstGeom>
            <a:ln w="6350">
              <a:solidFill>
                <a:srgbClr val="B3B3B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328D84AE-6FC8-484C-AD19-F92C93865DB1}"/>
              </a:ext>
            </a:extLst>
          </p:cNvPr>
          <p:cNvGrpSpPr>
            <a:grpSpLocks/>
          </p:cNvGrpSpPr>
          <p:nvPr/>
        </p:nvGrpSpPr>
        <p:grpSpPr>
          <a:xfrm>
            <a:off x="6356735" y="4634940"/>
            <a:ext cx="118468" cy="118468"/>
            <a:chOff x="10126688" y="1289273"/>
            <a:chExt cx="153888" cy="153888"/>
          </a:xfrm>
        </p:grpSpPr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87522DD2-BF28-41FC-BE09-97DEBE9D58B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88" name="Graphic 287">
              <a:extLst>
                <a:ext uri="{FF2B5EF4-FFF2-40B4-BE49-F238E27FC236}">
                  <a16:creationId xmlns:a16="http://schemas.microsoft.com/office/drawing/2014/main" id="{C1CDEE5E-07C1-43FB-AD3C-74EA5626A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A131FF8-EE3D-46AA-8F6B-32AE0D05B209}"/>
              </a:ext>
            </a:extLst>
          </p:cNvPr>
          <p:cNvGrpSpPr>
            <a:grpSpLocks/>
          </p:cNvGrpSpPr>
          <p:nvPr/>
        </p:nvGrpSpPr>
        <p:grpSpPr>
          <a:xfrm>
            <a:off x="6356735" y="5154876"/>
            <a:ext cx="118468" cy="118468"/>
            <a:chOff x="10126688" y="1289273"/>
            <a:chExt cx="153888" cy="153888"/>
          </a:xfrm>
        </p:grpSpPr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5D75411A-EE85-48BE-A99E-5A5D98109426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91" name="Graphic 290">
              <a:extLst>
                <a:ext uri="{FF2B5EF4-FFF2-40B4-BE49-F238E27FC236}">
                  <a16:creationId xmlns:a16="http://schemas.microsoft.com/office/drawing/2014/main" id="{12254380-2D14-446B-B36B-83EAB670F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BD22BC49-59A0-46F3-BA2C-FD05004FE8E3}"/>
              </a:ext>
            </a:extLst>
          </p:cNvPr>
          <p:cNvGrpSpPr>
            <a:grpSpLocks/>
          </p:cNvGrpSpPr>
          <p:nvPr/>
        </p:nvGrpSpPr>
        <p:grpSpPr>
          <a:xfrm>
            <a:off x="7683983" y="4919152"/>
            <a:ext cx="118468" cy="118468"/>
            <a:chOff x="10126688" y="1289273"/>
            <a:chExt cx="153888" cy="153888"/>
          </a:xfrm>
        </p:grpSpPr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271A548A-766A-404F-A874-5F5A15337ACF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94" name="Graphic 293">
              <a:extLst>
                <a:ext uri="{FF2B5EF4-FFF2-40B4-BE49-F238E27FC236}">
                  <a16:creationId xmlns:a16="http://schemas.microsoft.com/office/drawing/2014/main" id="{FAFEAFD8-1D47-4331-9B05-8E2E93248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9F8F2BEF-6B5D-443C-81BD-969F18DCC173}"/>
              </a:ext>
            </a:extLst>
          </p:cNvPr>
          <p:cNvGrpSpPr>
            <a:grpSpLocks/>
          </p:cNvGrpSpPr>
          <p:nvPr/>
        </p:nvGrpSpPr>
        <p:grpSpPr>
          <a:xfrm>
            <a:off x="8455153" y="1986544"/>
            <a:ext cx="118468" cy="118468"/>
            <a:chOff x="10126688" y="1289273"/>
            <a:chExt cx="153888" cy="153888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2DC0E80-1D52-4445-88F4-6E229EF79992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E051D29E-D5ED-4DEB-9F07-07CFC9301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357B599E-10B7-421D-B253-B7FCA9B4D3C8}"/>
              </a:ext>
            </a:extLst>
          </p:cNvPr>
          <p:cNvGrpSpPr>
            <a:grpSpLocks/>
          </p:cNvGrpSpPr>
          <p:nvPr/>
        </p:nvGrpSpPr>
        <p:grpSpPr>
          <a:xfrm>
            <a:off x="8455153" y="2742432"/>
            <a:ext cx="118468" cy="118468"/>
            <a:chOff x="10126688" y="1289273"/>
            <a:chExt cx="153888" cy="153888"/>
          </a:xfrm>
        </p:grpSpPr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B5C706BB-90E3-41EF-9C45-405C57B5E62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00" name="Graphic 299">
              <a:extLst>
                <a:ext uri="{FF2B5EF4-FFF2-40B4-BE49-F238E27FC236}">
                  <a16:creationId xmlns:a16="http://schemas.microsoft.com/office/drawing/2014/main" id="{927508ED-5FED-489F-9F0D-8E2E2E1F7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F76B4A79-2FF3-4D2B-8F27-BA74E83D1EC4}"/>
              </a:ext>
            </a:extLst>
          </p:cNvPr>
          <p:cNvGrpSpPr>
            <a:grpSpLocks/>
          </p:cNvGrpSpPr>
          <p:nvPr/>
        </p:nvGrpSpPr>
        <p:grpSpPr>
          <a:xfrm>
            <a:off x="8455153" y="3449604"/>
            <a:ext cx="118468" cy="118468"/>
            <a:chOff x="10126688" y="1289273"/>
            <a:chExt cx="153888" cy="153888"/>
          </a:xfrm>
        </p:grpSpPr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169A743E-DE1D-4147-BBEE-A3361E92A04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03" name="Graphic 302">
              <a:extLst>
                <a:ext uri="{FF2B5EF4-FFF2-40B4-BE49-F238E27FC236}">
                  <a16:creationId xmlns:a16="http://schemas.microsoft.com/office/drawing/2014/main" id="{28AAF4E3-C6FD-4667-AF6E-8B60E0D26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26733B7C-604E-4F9C-A1C5-266DDD87869D}"/>
              </a:ext>
            </a:extLst>
          </p:cNvPr>
          <p:cNvGrpSpPr>
            <a:grpSpLocks/>
          </p:cNvGrpSpPr>
          <p:nvPr/>
        </p:nvGrpSpPr>
        <p:grpSpPr>
          <a:xfrm>
            <a:off x="8455153" y="4018028"/>
            <a:ext cx="118468" cy="118468"/>
            <a:chOff x="10126688" y="1289273"/>
            <a:chExt cx="153888" cy="153888"/>
          </a:xfrm>
        </p:grpSpPr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987D92E-FB90-4D13-B8EC-3868DB4B5CC3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06" name="Graphic 305">
              <a:extLst>
                <a:ext uri="{FF2B5EF4-FFF2-40B4-BE49-F238E27FC236}">
                  <a16:creationId xmlns:a16="http://schemas.microsoft.com/office/drawing/2014/main" id="{AD1CE8CF-89F2-4C9E-927C-F3B1AE72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8D6A472-6AB8-4397-9158-6A7B21E8169D}"/>
              </a:ext>
            </a:extLst>
          </p:cNvPr>
          <p:cNvGrpSpPr>
            <a:grpSpLocks/>
          </p:cNvGrpSpPr>
          <p:nvPr/>
        </p:nvGrpSpPr>
        <p:grpSpPr>
          <a:xfrm>
            <a:off x="8455153" y="4302240"/>
            <a:ext cx="118468" cy="118468"/>
            <a:chOff x="10126688" y="1289273"/>
            <a:chExt cx="153888" cy="153888"/>
          </a:xfrm>
        </p:grpSpPr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C17A3B00-1CD0-44AB-A815-1310555EDB4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09" name="Graphic 308">
              <a:extLst>
                <a:ext uri="{FF2B5EF4-FFF2-40B4-BE49-F238E27FC236}">
                  <a16:creationId xmlns:a16="http://schemas.microsoft.com/office/drawing/2014/main" id="{E9CBDAC1-83E1-491C-A378-685E1B374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2BEE45F-EA77-4D24-8D0B-38F1504DFA59}"/>
              </a:ext>
            </a:extLst>
          </p:cNvPr>
          <p:cNvGrpSpPr>
            <a:grpSpLocks/>
          </p:cNvGrpSpPr>
          <p:nvPr/>
        </p:nvGrpSpPr>
        <p:grpSpPr>
          <a:xfrm>
            <a:off x="8455153" y="5626324"/>
            <a:ext cx="118468" cy="118468"/>
            <a:chOff x="10126688" y="1289273"/>
            <a:chExt cx="153888" cy="153888"/>
          </a:xfrm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BC8C9AA1-741A-43FE-ACAF-41FAB357B08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12" name="Graphic 311">
              <a:extLst>
                <a:ext uri="{FF2B5EF4-FFF2-40B4-BE49-F238E27FC236}">
                  <a16:creationId xmlns:a16="http://schemas.microsoft.com/office/drawing/2014/main" id="{365129D3-76D3-4C32-BA16-87B1B7723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AA618C5-39DD-4BB2-B67B-4D242D85EE1E}"/>
              </a:ext>
            </a:extLst>
          </p:cNvPr>
          <p:cNvGrpSpPr>
            <a:grpSpLocks/>
          </p:cNvGrpSpPr>
          <p:nvPr/>
        </p:nvGrpSpPr>
        <p:grpSpPr>
          <a:xfrm>
            <a:off x="8455153" y="5862051"/>
            <a:ext cx="118468" cy="118468"/>
            <a:chOff x="10126688" y="1289273"/>
            <a:chExt cx="153888" cy="153888"/>
          </a:xfrm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25153602-B583-4481-B92D-F077A3A34F5B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15" name="Graphic 314">
              <a:extLst>
                <a:ext uri="{FF2B5EF4-FFF2-40B4-BE49-F238E27FC236}">
                  <a16:creationId xmlns:a16="http://schemas.microsoft.com/office/drawing/2014/main" id="{1DB5458D-BBE5-4314-96F2-D940E9089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661474ED-D8BD-4AA7-BBAF-8434166F92F0}"/>
              </a:ext>
            </a:extLst>
          </p:cNvPr>
          <p:cNvGrpSpPr>
            <a:grpSpLocks/>
          </p:cNvGrpSpPr>
          <p:nvPr/>
        </p:nvGrpSpPr>
        <p:grpSpPr>
          <a:xfrm>
            <a:off x="8455153" y="3733816"/>
            <a:ext cx="118468" cy="118468"/>
            <a:chOff x="10126688" y="1289273"/>
            <a:chExt cx="153888" cy="153888"/>
          </a:xfrm>
        </p:grpSpPr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E33AE3FE-CCBB-42B4-8874-520FCA89B2CF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18" name="Graphic 317">
              <a:extLst>
                <a:ext uri="{FF2B5EF4-FFF2-40B4-BE49-F238E27FC236}">
                  <a16:creationId xmlns:a16="http://schemas.microsoft.com/office/drawing/2014/main" id="{21D0F256-6E7E-4514-B2F2-09252F469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621E2FB5-77E2-42A8-BBBB-428A834AA457}"/>
              </a:ext>
            </a:extLst>
          </p:cNvPr>
          <p:cNvGrpSpPr>
            <a:grpSpLocks/>
          </p:cNvGrpSpPr>
          <p:nvPr/>
        </p:nvGrpSpPr>
        <p:grpSpPr>
          <a:xfrm>
            <a:off x="8455153" y="2978156"/>
            <a:ext cx="118468" cy="118468"/>
            <a:chOff x="10126688" y="1289273"/>
            <a:chExt cx="153888" cy="153888"/>
          </a:xfrm>
        </p:grpSpPr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4E526A68-C8F3-48E3-BBCE-584E38006FB7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21" name="Graphic 320">
              <a:extLst>
                <a:ext uri="{FF2B5EF4-FFF2-40B4-BE49-F238E27FC236}">
                  <a16:creationId xmlns:a16="http://schemas.microsoft.com/office/drawing/2014/main" id="{7EC452A7-9F93-4D64-80A0-39F096F98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1AF3B3E-C9E8-49F9-920D-58C9E1E05609}"/>
              </a:ext>
            </a:extLst>
          </p:cNvPr>
          <p:cNvGrpSpPr>
            <a:grpSpLocks/>
          </p:cNvGrpSpPr>
          <p:nvPr/>
        </p:nvGrpSpPr>
        <p:grpSpPr>
          <a:xfrm>
            <a:off x="8455153" y="3213880"/>
            <a:ext cx="118468" cy="118468"/>
            <a:chOff x="10126688" y="1289273"/>
            <a:chExt cx="153888" cy="153888"/>
          </a:xfrm>
        </p:grpSpPr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A9D14864-84E1-48B2-A496-C26E4D70C414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24" name="Graphic 323">
              <a:extLst>
                <a:ext uri="{FF2B5EF4-FFF2-40B4-BE49-F238E27FC236}">
                  <a16:creationId xmlns:a16="http://schemas.microsoft.com/office/drawing/2014/main" id="{EFFC3568-3FF4-44EC-BD35-D1DF89C68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498DA0A7-6E4E-40F1-B633-122E54E97D3E}"/>
              </a:ext>
            </a:extLst>
          </p:cNvPr>
          <p:cNvGrpSpPr>
            <a:grpSpLocks/>
          </p:cNvGrpSpPr>
          <p:nvPr/>
        </p:nvGrpSpPr>
        <p:grpSpPr>
          <a:xfrm>
            <a:off x="8455153" y="2270984"/>
            <a:ext cx="118468" cy="118468"/>
            <a:chOff x="10126688" y="1289273"/>
            <a:chExt cx="153888" cy="153888"/>
          </a:xfrm>
        </p:grpSpPr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214BF03-DDA5-4183-8068-7AF5EF3C42DD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27" name="Graphic 326">
              <a:extLst>
                <a:ext uri="{FF2B5EF4-FFF2-40B4-BE49-F238E27FC236}">
                  <a16:creationId xmlns:a16="http://schemas.microsoft.com/office/drawing/2014/main" id="{31AFFC44-AD6E-433B-98F1-0CAB9C09A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29" name="TextBox 328">
            <a:extLst>
              <a:ext uri="{FF2B5EF4-FFF2-40B4-BE49-F238E27FC236}">
                <a16:creationId xmlns:a16="http://schemas.microsoft.com/office/drawing/2014/main" id="{BB6DDCC0-B2D0-4464-AB20-74448B419C41}"/>
              </a:ext>
            </a:extLst>
          </p:cNvPr>
          <p:cNvSpPr txBox="1">
            <a:spLocks/>
          </p:cNvSpPr>
          <p:nvPr/>
        </p:nvSpPr>
        <p:spPr>
          <a:xfrm>
            <a:off x="6835322" y="5631697"/>
            <a:ext cx="1568805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 исключением счетчиков ИПУ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4E72B056-CE26-4513-8A10-13D9C9CF32F9}"/>
              </a:ext>
            </a:extLst>
          </p:cNvPr>
          <p:cNvSpPr txBox="1">
            <a:spLocks/>
          </p:cNvSpPr>
          <p:nvPr/>
        </p:nvSpPr>
        <p:spPr>
          <a:xfrm>
            <a:off x="6835322" y="5867424"/>
            <a:ext cx="1568805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За исключением счетчиков ИПУ</a:t>
            </a:r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B7659D5A-C608-4F92-90E3-FBC9ADD7F12F}"/>
              </a:ext>
            </a:extLst>
          </p:cNvPr>
          <p:cNvGrpSpPr>
            <a:grpSpLocks/>
          </p:cNvGrpSpPr>
          <p:nvPr/>
        </p:nvGrpSpPr>
        <p:grpSpPr>
          <a:xfrm>
            <a:off x="9359647" y="4919152"/>
            <a:ext cx="118468" cy="118468"/>
            <a:chOff x="10126688" y="1289273"/>
            <a:chExt cx="153888" cy="153888"/>
          </a:xfrm>
        </p:grpSpPr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64F0077-647D-435F-84A4-F09508A75863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33" name="Graphic 332">
              <a:extLst>
                <a:ext uri="{FF2B5EF4-FFF2-40B4-BE49-F238E27FC236}">
                  <a16:creationId xmlns:a16="http://schemas.microsoft.com/office/drawing/2014/main" id="{56058C9C-B068-4420-AEAB-61433F925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3B65DF73-5392-4299-AC8B-DA6F23359FBA}"/>
              </a:ext>
            </a:extLst>
          </p:cNvPr>
          <p:cNvGrpSpPr>
            <a:grpSpLocks/>
          </p:cNvGrpSpPr>
          <p:nvPr/>
        </p:nvGrpSpPr>
        <p:grpSpPr>
          <a:xfrm>
            <a:off x="9359647" y="5390600"/>
            <a:ext cx="118468" cy="118468"/>
            <a:chOff x="10126688" y="1289273"/>
            <a:chExt cx="153888" cy="153888"/>
          </a:xfrm>
        </p:grpSpPr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583673FE-1368-4DE4-B1CD-98F9799379A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36" name="Graphic 335">
              <a:extLst>
                <a:ext uri="{FF2B5EF4-FFF2-40B4-BE49-F238E27FC236}">
                  <a16:creationId xmlns:a16="http://schemas.microsoft.com/office/drawing/2014/main" id="{33A67202-BBFB-404D-B33B-2FBD8DD1E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F5DA1A89-09C1-4E8E-A5A1-7C660B1BA48C}"/>
              </a:ext>
            </a:extLst>
          </p:cNvPr>
          <p:cNvSpPr txBox="1">
            <a:spLocks/>
          </p:cNvSpPr>
          <p:nvPr/>
        </p:nvSpPr>
        <p:spPr>
          <a:xfrm>
            <a:off x="8369001" y="4924525"/>
            <a:ext cx="926827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своим сервисам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8C691C2-1DCD-4D9B-8F4C-9547C95BFFC1}"/>
              </a:ext>
            </a:extLst>
          </p:cNvPr>
          <p:cNvSpPr txBox="1">
            <a:spLocks/>
          </p:cNvSpPr>
          <p:nvPr/>
        </p:nvSpPr>
        <p:spPr>
          <a:xfrm>
            <a:off x="8369001" y="5395973"/>
            <a:ext cx="926827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своим сервисам</a:t>
            </a:r>
          </a:p>
        </p:txBody>
      </p: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97428BD4-E333-4324-AF44-CCD4DEA74CAE}"/>
              </a:ext>
            </a:extLst>
          </p:cNvPr>
          <p:cNvGrpSpPr>
            <a:grpSpLocks/>
          </p:cNvGrpSpPr>
          <p:nvPr/>
        </p:nvGrpSpPr>
        <p:grpSpPr>
          <a:xfrm>
            <a:off x="10314181" y="4919152"/>
            <a:ext cx="118468" cy="118468"/>
            <a:chOff x="10126688" y="1289273"/>
            <a:chExt cx="153888" cy="153888"/>
          </a:xfrm>
        </p:grpSpPr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808C8298-E708-4754-A71E-18AF08F1B3E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41" name="Graphic 340">
              <a:extLst>
                <a:ext uri="{FF2B5EF4-FFF2-40B4-BE49-F238E27FC236}">
                  <a16:creationId xmlns:a16="http://schemas.microsoft.com/office/drawing/2014/main" id="{EE8FEEF0-C08B-4F60-B9E5-11758BD0A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EC58AE93-CF9C-494C-82D2-09EE6428537E}"/>
              </a:ext>
            </a:extLst>
          </p:cNvPr>
          <p:cNvGrpSpPr>
            <a:grpSpLocks/>
          </p:cNvGrpSpPr>
          <p:nvPr/>
        </p:nvGrpSpPr>
        <p:grpSpPr>
          <a:xfrm>
            <a:off x="10314181" y="5390600"/>
            <a:ext cx="118468" cy="118468"/>
            <a:chOff x="10126688" y="1289273"/>
            <a:chExt cx="153888" cy="153888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E4AEC3E0-2F56-498F-8D9A-51EFC0B16B06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344" name="Graphic 343">
              <a:extLst>
                <a:ext uri="{FF2B5EF4-FFF2-40B4-BE49-F238E27FC236}">
                  <a16:creationId xmlns:a16="http://schemas.microsoft.com/office/drawing/2014/main" id="{219DCC6C-E2B3-40E9-ABE7-395F4FE58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45" name="TextBox 344">
            <a:extLst>
              <a:ext uri="{FF2B5EF4-FFF2-40B4-BE49-F238E27FC236}">
                <a16:creationId xmlns:a16="http://schemas.microsoft.com/office/drawing/2014/main" id="{CB71B368-3FB1-439F-A375-90A0BFBAA592}"/>
              </a:ext>
            </a:extLst>
          </p:cNvPr>
          <p:cNvSpPr txBox="1">
            <a:spLocks/>
          </p:cNvSpPr>
          <p:nvPr/>
        </p:nvSpPr>
        <p:spPr>
          <a:xfrm>
            <a:off x="10490684" y="4924525"/>
            <a:ext cx="926827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своим сервисам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AA81947D-C156-4EBD-9965-23AECBB69577}"/>
              </a:ext>
            </a:extLst>
          </p:cNvPr>
          <p:cNvSpPr txBox="1">
            <a:spLocks/>
          </p:cNvSpPr>
          <p:nvPr/>
        </p:nvSpPr>
        <p:spPr>
          <a:xfrm>
            <a:off x="10490684" y="5395973"/>
            <a:ext cx="926827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По своим сервисам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6DF79D5-BCAC-4823-96CF-F8D95E0256A4}"/>
              </a:ext>
            </a:extLst>
          </p:cNvPr>
          <p:cNvSpPr txBox="1">
            <a:spLocks/>
          </p:cNvSpPr>
          <p:nvPr/>
        </p:nvSpPr>
        <p:spPr>
          <a:xfrm>
            <a:off x="8167551" y="1729026"/>
            <a:ext cx="69367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ru-RU" sz="800" b="1" dirty="0">
                <a:solidFill>
                  <a:srgbClr val="000000"/>
                </a:solidFill>
                <a:cs typeface="+mn-cs"/>
              </a:rPr>
              <a:t>Агрегатор</a:t>
            </a:r>
            <a:endParaRPr lang="en-US" sz="800" b="1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60D49-914C-4EB7-84C3-D195EA937514}"/>
              </a:ext>
            </a:extLst>
          </p:cNvPr>
          <p:cNvSpPr txBox="1">
            <a:spLocks/>
          </p:cNvSpPr>
          <p:nvPr/>
        </p:nvSpPr>
        <p:spPr>
          <a:xfrm>
            <a:off x="6622368" y="1605916"/>
            <a:ext cx="738868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Собственни-ки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квартир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ADF3422-8250-4773-A3ED-70EE88420C59}"/>
              </a:ext>
            </a:extLst>
          </p:cNvPr>
          <p:cNvSpPr txBox="1">
            <a:spLocks/>
          </p:cNvSpPr>
          <p:nvPr/>
        </p:nvSpPr>
        <p:spPr>
          <a:xfrm>
            <a:off x="4327696" y="1605916"/>
            <a:ext cx="697307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Руковод-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ство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города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55323F8-9A66-4019-AE1A-03BB3E690D2E}"/>
              </a:ext>
            </a:extLst>
          </p:cNvPr>
          <p:cNvSpPr txBox="1">
            <a:spLocks/>
          </p:cNvSpPr>
          <p:nvPr/>
        </p:nvSpPr>
        <p:spPr>
          <a:xfrm>
            <a:off x="5686990" y="1605916"/>
            <a:ext cx="52257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Застрой-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щик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93D4DDB-53C4-46A1-BFDB-E2A7FFAF9B02}"/>
              </a:ext>
            </a:extLst>
          </p:cNvPr>
          <p:cNvSpPr txBox="1">
            <a:spLocks/>
          </p:cNvSpPr>
          <p:nvPr/>
        </p:nvSpPr>
        <p:spPr>
          <a:xfrm>
            <a:off x="5101080" y="1605916"/>
            <a:ext cx="509833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Префек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-туры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4B1B191-E570-4615-B90C-A713446B86E4}"/>
              </a:ext>
            </a:extLst>
          </p:cNvPr>
          <p:cNvSpPr txBox="1">
            <a:spLocks/>
          </p:cNvSpPr>
          <p:nvPr/>
        </p:nvSpPr>
        <p:spPr>
          <a:xfrm>
            <a:off x="6285646" y="1729026"/>
            <a:ext cx="26064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УК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5D0644F-D34E-4AE5-AFB8-CDF4CE686578}"/>
              </a:ext>
            </a:extLst>
          </p:cNvPr>
          <p:cNvSpPr txBox="1">
            <a:spLocks/>
          </p:cNvSpPr>
          <p:nvPr/>
        </p:nvSpPr>
        <p:spPr>
          <a:xfrm>
            <a:off x="7437313" y="1605916"/>
            <a:ext cx="61180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Мусорный оператор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EA222D0-2CB3-493E-9D85-F92436E41E0D}"/>
              </a:ext>
            </a:extLst>
          </p:cNvPr>
          <p:cNvSpPr txBox="1">
            <a:spLocks/>
          </p:cNvSpPr>
          <p:nvPr/>
        </p:nvSpPr>
        <p:spPr>
          <a:xfrm>
            <a:off x="9934187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ДИТ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B065296-A885-4A73-AA0D-5048E3DCE7D3}"/>
              </a:ext>
            </a:extLst>
          </p:cNvPr>
          <p:cNvSpPr txBox="1">
            <a:spLocks/>
          </p:cNvSpPr>
          <p:nvPr/>
        </p:nvSpPr>
        <p:spPr>
          <a:xfrm>
            <a:off x="8979652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Коммерческие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44654C1-2BD5-4A01-8D17-193C80FB1028}"/>
              </a:ext>
            </a:extLst>
          </p:cNvPr>
          <p:cNvSpPr txBox="1">
            <a:spLocks/>
          </p:cNvSpPr>
          <p:nvPr/>
        </p:nvSpPr>
        <p:spPr>
          <a:xfrm>
            <a:off x="10498162" y="1729026"/>
            <a:ext cx="1084236" cy="13048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Электронный дом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BFD07D-7B75-4FFD-94D0-905EDA4171FF}"/>
              </a:ext>
            </a:extLst>
          </p:cNvPr>
          <p:cNvSpPr txBox="1">
            <a:spLocks/>
          </p:cNvSpPr>
          <p:nvPr/>
        </p:nvSpPr>
        <p:spPr>
          <a:xfrm>
            <a:off x="7426134" y="1395978"/>
            <a:ext cx="2543735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Платформа сервисов умного дома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7B096CC-8568-48BB-B421-A3C9CB61B634}"/>
              </a:ext>
            </a:extLst>
          </p:cNvPr>
          <p:cNvSpPr txBox="1">
            <a:spLocks/>
          </p:cNvSpPr>
          <p:nvPr/>
        </p:nvSpPr>
        <p:spPr>
          <a:xfrm>
            <a:off x="4327696" y="1395978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Город</a:t>
            </a:r>
          </a:p>
        </p:txBody>
      </p:sp>
      <p:cxnSp>
        <p:nvCxnSpPr>
          <p:cNvPr id="186" name="HorizontalLine2 1119232">
            <a:extLst>
              <a:ext uri="{FF2B5EF4-FFF2-40B4-BE49-F238E27FC236}">
                <a16:creationId xmlns:a16="http://schemas.microsoft.com/office/drawing/2014/main" id="{040BF327-3A60-4537-A18D-09036BDCD7A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4327696" y="1560673"/>
            <a:ext cx="1283217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HorizontalLine2 1119232">
            <a:extLst>
              <a:ext uri="{FF2B5EF4-FFF2-40B4-BE49-F238E27FC236}">
                <a16:creationId xmlns:a16="http://schemas.microsoft.com/office/drawing/2014/main" id="{7BA53732-E902-4C4E-9E05-07C2488869F7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7426134" y="1560673"/>
            <a:ext cx="4093076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73E8869B-3BCD-4B69-95C5-7D037F535858}"/>
              </a:ext>
            </a:extLst>
          </p:cNvPr>
          <p:cNvSpPr txBox="1">
            <a:spLocks/>
          </p:cNvSpPr>
          <p:nvPr/>
        </p:nvSpPr>
        <p:spPr>
          <a:xfrm>
            <a:off x="5692100" y="1407844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Дом</a:t>
            </a:r>
          </a:p>
        </p:txBody>
      </p:sp>
      <p:cxnSp>
        <p:nvCxnSpPr>
          <p:cNvPr id="189" name="HorizontalLine2 1119232">
            <a:extLst>
              <a:ext uri="{FF2B5EF4-FFF2-40B4-BE49-F238E27FC236}">
                <a16:creationId xmlns:a16="http://schemas.microsoft.com/office/drawing/2014/main" id="{3D551F46-8145-40D5-9828-DADB888AF6D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692100" y="1572539"/>
            <a:ext cx="1532583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916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6" hidden="1">
            <a:extLst>
              <a:ext uri="{FF2B5EF4-FFF2-40B4-BE49-F238E27FC236}">
                <a16:creationId xmlns:a16="http://schemas.microsoft.com/office/drawing/2014/main" id="{34B7A0D8-C536-4497-B0C5-1AE23C04D0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232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6" progId="TCLayout.ActiveDocument.1">
                  <p:embed/>
                </p:oleObj>
              </mc:Choice>
              <mc:Fallback>
                <p:oleObj name="think-cell Slide" r:id="rId25" imgW="395" imgH="396" progId="TCLayout.ActiveDocument.1">
                  <p:embed/>
                  <p:pic>
                    <p:nvPicPr>
                      <p:cNvPr id="23" name="Object 6" hidden="1">
                        <a:extLst>
                          <a:ext uri="{FF2B5EF4-FFF2-40B4-BE49-F238E27FC236}">
                            <a16:creationId xmlns:a16="http://schemas.microsoft.com/office/drawing/2014/main" id="{34B7A0D8-C536-4497-B0C5-1AE23C04D0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37825E-182E-4C97-8387-184960188F1D}"/>
              </a:ext>
            </a:extLst>
          </p:cNvPr>
          <p:cNvSpPr>
            <a:spLocks/>
          </p:cNvSpPr>
          <p:nvPr/>
        </p:nvSpPr>
        <p:spPr>
          <a:xfrm>
            <a:off x="554734" y="1373675"/>
            <a:ext cx="11082528" cy="523706"/>
          </a:xfrm>
          <a:prstGeom prst="roundRect">
            <a:avLst>
              <a:gd name="adj" fmla="val 1388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8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DA10143-4FE9-4E08-A24B-B3755DBA86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Распределение функционала по вовлеченным сторонам </a:t>
            </a:r>
            <a:br>
              <a:rPr lang="en-US" dirty="0"/>
            </a:br>
            <a:r>
              <a:rPr lang="ru-RU" dirty="0"/>
              <a:t>(3/</a:t>
            </a:r>
            <a:r>
              <a:rPr lang="pl-PL" dirty="0"/>
              <a:t>3</a:t>
            </a:r>
            <a:r>
              <a:rPr lang="ru-RU" dirty="0"/>
              <a:t>)</a:t>
            </a:r>
          </a:p>
        </p:txBody>
      </p:sp>
      <p:sp>
        <p:nvSpPr>
          <p:cNvPr id="630" name="Rectangle: Rounded Corners 629">
            <a:extLst>
              <a:ext uri="{FF2B5EF4-FFF2-40B4-BE49-F238E27FC236}">
                <a16:creationId xmlns:a16="http://schemas.microsoft.com/office/drawing/2014/main" id="{07E34B32-2957-4385-A59E-96CB84999405}"/>
              </a:ext>
            </a:extLst>
          </p:cNvPr>
          <p:cNvSpPr>
            <a:spLocks/>
          </p:cNvSpPr>
          <p:nvPr/>
        </p:nvSpPr>
        <p:spPr>
          <a:xfrm>
            <a:off x="8125199" y="1605916"/>
            <a:ext cx="778376" cy="4458376"/>
          </a:xfrm>
          <a:prstGeom prst="roundRect">
            <a:avLst>
              <a:gd name="adj" fmla="val 9638"/>
            </a:avLst>
          </a:prstGeom>
          <a:solidFill>
            <a:schemeClr val="accent1"/>
          </a:solidFill>
          <a:effectLst/>
        </p:spPr>
        <p:txBody>
          <a:bodyPr vert="horz" wrap="square" lIns="36000" tIns="36000" rIns="36000" bIns="3600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</a:pPr>
            <a:endParaRPr lang="en-US" sz="800" dirty="0" err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CFFB9-C86E-4902-BAF2-7BF6EA6E4C02}"/>
              </a:ext>
            </a:extLst>
          </p:cNvPr>
          <p:cNvSpPr txBox="1">
            <a:spLocks/>
          </p:cNvSpPr>
          <p:nvPr/>
        </p:nvSpPr>
        <p:spPr>
          <a:xfrm>
            <a:off x="609598" y="1729026"/>
            <a:ext cx="12690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Блок функций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0A2164-17EC-46A8-ADD3-9DD72D466EC9}"/>
              </a:ext>
            </a:extLst>
          </p:cNvPr>
          <p:cNvSpPr txBox="1">
            <a:spLocks/>
          </p:cNvSpPr>
          <p:nvPr/>
        </p:nvSpPr>
        <p:spPr>
          <a:xfrm>
            <a:off x="1954733" y="1729026"/>
            <a:ext cx="2296886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Функция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DDCFB-5D87-4BCB-B593-774D51CE0ACD}"/>
              </a:ext>
            </a:extLst>
          </p:cNvPr>
          <p:cNvSpPr txBox="1"/>
          <p:nvPr/>
        </p:nvSpPr>
        <p:spPr>
          <a:xfrm>
            <a:off x="609598" y="1937828"/>
            <a:ext cx="1269058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Инновации (внедрение новых сервисов)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C8026-3206-430B-976F-CAF36267A017}"/>
              </a:ext>
            </a:extLst>
          </p:cNvPr>
          <p:cNvSpPr txBox="1"/>
          <p:nvPr/>
        </p:nvSpPr>
        <p:spPr>
          <a:xfrm>
            <a:off x="609598" y="3345590"/>
            <a:ext cx="1269058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b="1" dirty="0"/>
              <a:t>Обратная связь</a:t>
            </a:r>
          </a:p>
        </p:txBody>
      </p: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2037A70-48D9-41B7-A6FC-41B8095C326A}"/>
              </a:ext>
            </a:extLst>
          </p:cNvPr>
          <p:cNvGrpSpPr>
            <a:grpSpLocks/>
          </p:cNvGrpSpPr>
          <p:nvPr/>
        </p:nvGrpSpPr>
        <p:grpSpPr>
          <a:xfrm>
            <a:off x="8455153" y="1986316"/>
            <a:ext cx="118468" cy="118468"/>
            <a:chOff x="10126688" y="1289273"/>
            <a:chExt cx="153888" cy="153888"/>
          </a:xfrm>
        </p:grpSpPr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D1D10D64-9EEC-460E-8E64-9820FC3D0801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068" name="Graphic 1067">
              <a:extLst>
                <a:ext uri="{FF2B5EF4-FFF2-40B4-BE49-F238E27FC236}">
                  <a16:creationId xmlns:a16="http://schemas.microsoft.com/office/drawing/2014/main" id="{954981FD-3940-4042-93C6-8A6D885BB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BC60825-1340-43AC-84A5-8DDDD2BCFC4F}"/>
              </a:ext>
            </a:extLst>
          </p:cNvPr>
          <p:cNvSpPr txBox="1"/>
          <p:nvPr/>
        </p:nvSpPr>
        <p:spPr>
          <a:xfrm>
            <a:off x="1954733" y="1937828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Мониторинг инноваций в российской и мировой практиках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B35B75-168A-4BA7-9932-F20AECAE11C6}"/>
              </a:ext>
            </a:extLst>
          </p:cNvPr>
          <p:cNvSpPr txBox="1"/>
          <p:nvPr/>
        </p:nvSpPr>
        <p:spPr>
          <a:xfrm>
            <a:off x="1954733" y="2282939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/>
              <a:t>Исследование потребностей жителей</a:t>
            </a:r>
            <a:endParaRPr lang="ru-RU" sz="700" dirty="0"/>
          </a:p>
        </p:txBody>
      </p: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866C0B8D-1A2D-4450-AA66-9C8BF853E7FA}"/>
              </a:ext>
            </a:extLst>
          </p:cNvPr>
          <p:cNvGrpSpPr>
            <a:grpSpLocks/>
          </p:cNvGrpSpPr>
          <p:nvPr/>
        </p:nvGrpSpPr>
        <p:grpSpPr>
          <a:xfrm>
            <a:off x="8455153" y="2277566"/>
            <a:ext cx="118468" cy="118468"/>
            <a:chOff x="10126688" y="1289273"/>
            <a:chExt cx="153888" cy="153888"/>
          </a:xfrm>
        </p:grpSpPr>
        <p:sp>
          <p:nvSpPr>
            <p:cNvPr id="903" name="Oval 902">
              <a:extLst>
                <a:ext uri="{FF2B5EF4-FFF2-40B4-BE49-F238E27FC236}">
                  <a16:creationId xmlns:a16="http://schemas.microsoft.com/office/drawing/2014/main" id="{874E8826-0840-4288-B880-B83FE362CBBA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904" name="Graphic 903">
              <a:extLst>
                <a:ext uri="{FF2B5EF4-FFF2-40B4-BE49-F238E27FC236}">
                  <a16:creationId xmlns:a16="http://schemas.microsoft.com/office/drawing/2014/main" id="{9D074868-5276-42A6-BAFB-24EBAD2AF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7C72028-C4BC-43C7-BC0F-164F56911B42}"/>
              </a:ext>
            </a:extLst>
          </p:cNvPr>
          <p:cNvSpPr txBox="1"/>
          <p:nvPr/>
        </p:nvSpPr>
        <p:spPr>
          <a:xfrm>
            <a:off x="1954733" y="2520328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Выбор потенциальных сервисов для пилотирования </a:t>
            </a:r>
          </a:p>
        </p:txBody>
      </p:sp>
      <p:grpSp>
        <p:nvGrpSpPr>
          <p:cNvPr id="905" name="Group 904">
            <a:extLst>
              <a:ext uri="{FF2B5EF4-FFF2-40B4-BE49-F238E27FC236}">
                <a16:creationId xmlns:a16="http://schemas.microsoft.com/office/drawing/2014/main" id="{12AB74EB-DB8B-4DA4-B1FA-EA86D0EA3F1E}"/>
              </a:ext>
            </a:extLst>
          </p:cNvPr>
          <p:cNvGrpSpPr>
            <a:grpSpLocks/>
          </p:cNvGrpSpPr>
          <p:nvPr/>
        </p:nvGrpSpPr>
        <p:grpSpPr>
          <a:xfrm>
            <a:off x="8455153" y="2568816"/>
            <a:ext cx="118468" cy="118468"/>
            <a:chOff x="10126688" y="1289273"/>
            <a:chExt cx="153888" cy="153888"/>
          </a:xfrm>
        </p:grpSpPr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BE1B95D2-3F48-4EE4-A5A6-21C98FE65085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907" name="Graphic 906">
              <a:extLst>
                <a:ext uri="{FF2B5EF4-FFF2-40B4-BE49-F238E27FC236}">
                  <a16:creationId xmlns:a16="http://schemas.microsoft.com/office/drawing/2014/main" id="{F0B3EF19-2E30-4D6B-8624-40BA35137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CC4C0ED-AAB5-49E0-BB34-85A6556CA971}"/>
              </a:ext>
            </a:extLst>
          </p:cNvPr>
          <p:cNvSpPr txBox="1"/>
          <p:nvPr/>
        </p:nvSpPr>
        <p:spPr>
          <a:xfrm>
            <a:off x="1954733" y="2865439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Пилотирование сервисов</a:t>
            </a:r>
          </a:p>
        </p:txBody>
      </p:sp>
      <p:grpSp>
        <p:nvGrpSpPr>
          <p:cNvPr id="908" name="Group 907">
            <a:extLst>
              <a:ext uri="{FF2B5EF4-FFF2-40B4-BE49-F238E27FC236}">
                <a16:creationId xmlns:a16="http://schemas.microsoft.com/office/drawing/2014/main" id="{CBB14D81-E1FD-4920-B4C8-14642BF66F3C}"/>
              </a:ext>
            </a:extLst>
          </p:cNvPr>
          <p:cNvGrpSpPr>
            <a:grpSpLocks/>
          </p:cNvGrpSpPr>
          <p:nvPr/>
        </p:nvGrpSpPr>
        <p:grpSpPr>
          <a:xfrm>
            <a:off x="8455153" y="2860066"/>
            <a:ext cx="118468" cy="118468"/>
            <a:chOff x="10126688" y="1289273"/>
            <a:chExt cx="153888" cy="153888"/>
          </a:xfrm>
        </p:grpSpPr>
        <p:sp>
          <p:nvSpPr>
            <p:cNvPr id="909" name="Oval 908">
              <a:extLst>
                <a:ext uri="{FF2B5EF4-FFF2-40B4-BE49-F238E27FC236}">
                  <a16:creationId xmlns:a16="http://schemas.microsoft.com/office/drawing/2014/main" id="{803F43CB-446D-4B97-8E09-A73EC857169C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910" name="Graphic 909">
              <a:extLst>
                <a:ext uri="{FF2B5EF4-FFF2-40B4-BE49-F238E27FC236}">
                  <a16:creationId xmlns:a16="http://schemas.microsoft.com/office/drawing/2014/main" id="{7D00293B-CFFE-4899-A511-54E3A294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B6B0A61-DE37-4607-85D6-5E9E97B68AA9}"/>
              </a:ext>
            </a:extLst>
          </p:cNvPr>
          <p:cNvSpPr txBox="1"/>
          <p:nvPr/>
        </p:nvSpPr>
        <p:spPr>
          <a:xfrm>
            <a:off x="1954733" y="3108201"/>
            <a:ext cx="2296886" cy="1077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Оценка эффекта и потенциала внедрения</a:t>
            </a:r>
          </a:p>
        </p:txBody>
      </p:sp>
      <p:grpSp>
        <p:nvGrpSpPr>
          <p:cNvPr id="911" name="Group 910">
            <a:extLst>
              <a:ext uri="{FF2B5EF4-FFF2-40B4-BE49-F238E27FC236}">
                <a16:creationId xmlns:a16="http://schemas.microsoft.com/office/drawing/2014/main" id="{9CF9293D-A180-4FD9-87BD-57DFF0A127EA}"/>
              </a:ext>
            </a:extLst>
          </p:cNvPr>
          <p:cNvGrpSpPr>
            <a:grpSpLocks/>
          </p:cNvGrpSpPr>
          <p:nvPr/>
        </p:nvGrpSpPr>
        <p:grpSpPr>
          <a:xfrm>
            <a:off x="8455153" y="3102828"/>
            <a:ext cx="118468" cy="118468"/>
            <a:chOff x="10126688" y="1289273"/>
            <a:chExt cx="153888" cy="153888"/>
          </a:xfrm>
        </p:grpSpPr>
        <p:sp>
          <p:nvSpPr>
            <p:cNvPr id="912" name="Oval 911">
              <a:extLst>
                <a:ext uri="{FF2B5EF4-FFF2-40B4-BE49-F238E27FC236}">
                  <a16:creationId xmlns:a16="http://schemas.microsoft.com/office/drawing/2014/main" id="{C73842D9-BD72-4559-85AC-BE4328A40C90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913" name="Graphic 912">
              <a:extLst>
                <a:ext uri="{FF2B5EF4-FFF2-40B4-BE49-F238E27FC236}">
                  <a16:creationId xmlns:a16="http://schemas.microsoft.com/office/drawing/2014/main" id="{C41F1443-ABF7-40E1-AE75-0F8C0354C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sp>
        <p:nvSpPr>
          <p:cNvPr id="614" name="TextBox 613">
            <a:extLst>
              <a:ext uri="{FF2B5EF4-FFF2-40B4-BE49-F238E27FC236}">
                <a16:creationId xmlns:a16="http://schemas.microsoft.com/office/drawing/2014/main" id="{38012D6A-23E2-4480-BE75-4CEB657B92EF}"/>
              </a:ext>
            </a:extLst>
          </p:cNvPr>
          <p:cNvSpPr txBox="1"/>
          <p:nvPr/>
        </p:nvSpPr>
        <p:spPr>
          <a:xfrm>
            <a:off x="1954733" y="3685328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Клиентская поддержка (разработка и актуализация скриптов и базы данных для </a:t>
            </a:r>
            <a:r>
              <a:rPr lang="ru-RU" sz="700" dirty="0" err="1"/>
              <a:t>ЕДЦ</a:t>
            </a:r>
            <a:r>
              <a:rPr lang="ru-RU" sz="700" dirty="0"/>
              <a:t>)</a:t>
            </a:r>
          </a:p>
        </p:txBody>
      </p:sp>
      <p:grpSp>
        <p:nvGrpSpPr>
          <p:cNvPr id="917" name="Group 916">
            <a:extLst>
              <a:ext uri="{FF2B5EF4-FFF2-40B4-BE49-F238E27FC236}">
                <a16:creationId xmlns:a16="http://schemas.microsoft.com/office/drawing/2014/main" id="{BFB637C4-E2DA-4F6C-8CD3-E90511036888}"/>
              </a:ext>
            </a:extLst>
          </p:cNvPr>
          <p:cNvGrpSpPr>
            <a:grpSpLocks/>
          </p:cNvGrpSpPr>
          <p:nvPr/>
        </p:nvGrpSpPr>
        <p:grpSpPr>
          <a:xfrm>
            <a:off x="8455153" y="3733816"/>
            <a:ext cx="118468" cy="118468"/>
            <a:chOff x="10126688" y="1289273"/>
            <a:chExt cx="153888" cy="153888"/>
          </a:xfrm>
        </p:grpSpPr>
        <p:sp>
          <p:nvSpPr>
            <p:cNvPr id="918" name="Oval 917">
              <a:extLst>
                <a:ext uri="{FF2B5EF4-FFF2-40B4-BE49-F238E27FC236}">
                  <a16:creationId xmlns:a16="http://schemas.microsoft.com/office/drawing/2014/main" id="{BAABC984-0D96-46DD-A4AD-AD41D860C284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919" name="Graphic 918">
              <a:extLst>
                <a:ext uri="{FF2B5EF4-FFF2-40B4-BE49-F238E27FC236}">
                  <a16:creationId xmlns:a16="http://schemas.microsoft.com/office/drawing/2014/main" id="{68BE8039-52B4-4429-A0B1-5D0B4159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cxnSp>
        <p:nvCxnSpPr>
          <p:cNvPr id="894" name="HorizontalLine2 1119232">
            <a:extLst>
              <a:ext uri="{FF2B5EF4-FFF2-40B4-BE49-F238E27FC236}">
                <a16:creationId xmlns:a16="http://schemas.microsoft.com/office/drawing/2014/main" id="{46878DD2-EF03-4C12-BC03-71C751DF15F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09598" y="3283443"/>
            <a:ext cx="7439524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0" name="HorizontalLine2 1119232">
            <a:extLst>
              <a:ext uri="{FF2B5EF4-FFF2-40B4-BE49-F238E27FC236}">
                <a16:creationId xmlns:a16="http://schemas.microsoft.com/office/drawing/2014/main" id="{B71A2C45-B97D-465F-9952-F3D49EDC39AD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979652" y="3283443"/>
            <a:ext cx="2602746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" name="HorizontalLine2 1119232">
            <a:extLst>
              <a:ext uri="{FF2B5EF4-FFF2-40B4-BE49-F238E27FC236}">
                <a16:creationId xmlns:a16="http://schemas.microsoft.com/office/drawing/2014/main" id="{A5E19380-CDC0-4B0B-B11B-CA02BA568AFF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8167551" y="3283443"/>
            <a:ext cx="693672" cy="0"/>
          </a:xfrm>
          <a:prstGeom prst="line">
            <a:avLst/>
          </a:prstGeom>
          <a:ln w="1270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HorizontalLine2 1119232">
            <a:extLst>
              <a:ext uri="{FF2B5EF4-FFF2-40B4-BE49-F238E27FC236}">
                <a16:creationId xmlns:a16="http://schemas.microsoft.com/office/drawing/2014/main" id="{4830CE75-94F1-49C4-97B2-1C194DB5B42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1954733" y="3623181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HorizontalLine2 1119232">
            <a:extLst>
              <a:ext uri="{FF2B5EF4-FFF2-40B4-BE49-F238E27FC236}">
                <a16:creationId xmlns:a16="http://schemas.microsoft.com/office/drawing/2014/main" id="{7B2047DD-1590-4149-8278-69E9BE6F99D9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8979652" y="3623181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3" name="HorizontalLine2 1119232">
            <a:extLst>
              <a:ext uri="{FF2B5EF4-FFF2-40B4-BE49-F238E27FC236}">
                <a16:creationId xmlns:a16="http://schemas.microsoft.com/office/drawing/2014/main" id="{A7F093C2-9F0C-45F5-BAD8-EE922111A6DE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8167551" y="3623181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HorizontalLine2 1119232">
            <a:extLst>
              <a:ext uri="{FF2B5EF4-FFF2-40B4-BE49-F238E27FC236}">
                <a16:creationId xmlns:a16="http://schemas.microsoft.com/office/drawing/2014/main" id="{1E2E1502-CDC2-4714-9CDF-0E873C50CEEE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1954733" y="3040681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HorizontalLine2 1119232">
            <a:extLst>
              <a:ext uri="{FF2B5EF4-FFF2-40B4-BE49-F238E27FC236}">
                <a16:creationId xmlns:a16="http://schemas.microsoft.com/office/drawing/2014/main" id="{5BDE4B71-82AE-4A3E-8887-A0717757383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8979652" y="3040681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5" name="HorizontalLine2 1119232">
            <a:extLst>
              <a:ext uri="{FF2B5EF4-FFF2-40B4-BE49-F238E27FC236}">
                <a16:creationId xmlns:a16="http://schemas.microsoft.com/office/drawing/2014/main" id="{FB8D7DB6-3CC7-4013-B278-AFA91144EB7F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8167551" y="3040681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HorizontalLine2 1119232">
            <a:extLst>
              <a:ext uri="{FF2B5EF4-FFF2-40B4-BE49-F238E27FC236}">
                <a16:creationId xmlns:a16="http://schemas.microsoft.com/office/drawing/2014/main" id="{D3E34DD6-1B02-4E50-BAA7-0A3EAECBDFD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1954733" y="2458181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HorizontalLine2 1119232">
            <a:extLst>
              <a:ext uri="{FF2B5EF4-FFF2-40B4-BE49-F238E27FC236}">
                <a16:creationId xmlns:a16="http://schemas.microsoft.com/office/drawing/2014/main" id="{DFEF537B-A60C-4559-A12C-61D7F1AB8F2C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8979652" y="2458181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HorizontalLine2 1119232">
            <a:extLst>
              <a:ext uri="{FF2B5EF4-FFF2-40B4-BE49-F238E27FC236}">
                <a16:creationId xmlns:a16="http://schemas.microsoft.com/office/drawing/2014/main" id="{FB3C3322-2857-40BA-B3CE-C3305BE816DD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8167551" y="2458181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HorizontalLine2 1119232">
            <a:extLst>
              <a:ext uri="{FF2B5EF4-FFF2-40B4-BE49-F238E27FC236}">
                <a16:creationId xmlns:a16="http://schemas.microsoft.com/office/drawing/2014/main" id="{5D1925BF-E681-4D02-ABE7-86B737BFC23F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1954733" y="2215419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HorizontalLine2 1119232">
            <a:extLst>
              <a:ext uri="{FF2B5EF4-FFF2-40B4-BE49-F238E27FC236}">
                <a16:creationId xmlns:a16="http://schemas.microsoft.com/office/drawing/2014/main" id="{A4F09E10-2980-434E-9F48-E89F786FF3D7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>
          <a:xfrm>
            <a:off x="8979652" y="2215419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" name="HorizontalLine2 1119232">
            <a:extLst>
              <a:ext uri="{FF2B5EF4-FFF2-40B4-BE49-F238E27FC236}">
                <a16:creationId xmlns:a16="http://schemas.microsoft.com/office/drawing/2014/main" id="{3FE18A1E-A792-4CAA-9C15-7EFF1E44CDEF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>
          <a:xfrm>
            <a:off x="8167551" y="2215419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0" name="TextBox 609">
            <a:extLst>
              <a:ext uri="{FF2B5EF4-FFF2-40B4-BE49-F238E27FC236}">
                <a16:creationId xmlns:a16="http://schemas.microsoft.com/office/drawing/2014/main" id="{41DA86A2-B7B1-40B9-A732-873DE61608E8}"/>
              </a:ext>
            </a:extLst>
          </p:cNvPr>
          <p:cNvSpPr txBox="1"/>
          <p:nvPr/>
        </p:nvSpPr>
        <p:spPr>
          <a:xfrm>
            <a:off x="1954733" y="3345590"/>
            <a:ext cx="2296886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700" dirty="0"/>
              <a:t>Сбор обратной связи по сервисам (проведение опросов, фокус-групп и т.д.)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E19C81F-9E1E-4564-AAC2-D7DD8B56BE7F}"/>
              </a:ext>
            </a:extLst>
          </p:cNvPr>
          <p:cNvGrpSpPr>
            <a:grpSpLocks/>
          </p:cNvGrpSpPr>
          <p:nvPr/>
        </p:nvGrpSpPr>
        <p:grpSpPr>
          <a:xfrm>
            <a:off x="8455153" y="3394078"/>
            <a:ext cx="118468" cy="118468"/>
            <a:chOff x="10126688" y="1289273"/>
            <a:chExt cx="153888" cy="153888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52A4506-3546-4C21-A7E7-5B349F764839}"/>
                </a:ext>
              </a:extLst>
            </p:cNvPr>
            <p:cNvSpPr/>
            <p:nvPr/>
          </p:nvSpPr>
          <p:spPr>
            <a:xfrm>
              <a:off x="10126688" y="1289273"/>
              <a:ext cx="153888" cy="153888"/>
            </a:xfrm>
            <a:prstGeom prst="ellipse">
              <a:avLst/>
            </a:prstGeom>
            <a:solidFill>
              <a:schemeClr val="accent3"/>
            </a:solidFill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900" dirty="0" err="1">
                <a:solidFill>
                  <a:schemeClr val="bg1"/>
                </a:solidFill>
              </a:endParaRPr>
            </a:p>
          </p:txBody>
        </p:sp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7F9697C2-71CD-449A-A0F8-6F085314A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0129645" y="1292230"/>
              <a:ext cx="147974" cy="147974"/>
            </a:xfrm>
            <a:prstGeom prst="rect">
              <a:avLst/>
            </a:prstGeom>
          </p:spPr>
        </p:pic>
      </p:grpSp>
      <p:cxnSp>
        <p:nvCxnSpPr>
          <p:cNvPr id="146" name="HorizontalLine2 1119232">
            <a:extLst>
              <a:ext uri="{FF2B5EF4-FFF2-40B4-BE49-F238E27FC236}">
                <a16:creationId xmlns:a16="http://schemas.microsoft.com/office/drawing/2014/main" id="{549CFE93-32F3-4134-A919-708A409D8BD4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>
          <a:xfrm>
            <a:off x="1954733" y="2797919"/>
            <a:ext cx="6094389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HorizontalLine2 1119232">
            <a:extLst>
              <a:ext uri="{FF2B5EF4-FFF2-40B4-BE49-F238E27FC236}">
                <a16:creationId xmlns:a16="http://schemas.microsoft.com/office/drawing/2014/main" id="{8F4EB7CF-D986-48C3-8199-CB64CF3711F7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8979652" y="2797919"/>
            <a:ext cx="2602746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HorizontalLine2 1119232">
            <a:extLst>
              <a:ext uri="{FF2B5EF4-FFF2-40B4-BE49-F238E27FC236}">
                <a16:creationId xmlns:a16="http://schemas.microsoft.com/office/drawing/2014/main" id="{4D50762A-1B3C-4EB8-8B59-B9FCA73B8327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8167551" y="2797919"/>
            <a:ext cx="693672" cy="0"/>
          </a:xfrm>
          <a:prstGeom prst="line">
            <a:avLst/>
          </a:prstGeom>
          <a:ln w="6350">
            <a:solidFill>
              <a:srgbClr val="B3B3B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E8BEF8-EDEE-429D-842A-4F2A6B25E05E}"/>
              </a:ext>
            </a:extLst>
          </p:cNvPr>
          <p:cNvSpPr txBox="1">
            <a:spLocks/>
          </p:cNvSpPr>
          <p:nvPr/>
        </p:nvSpPr>
        <p:spPr>
          <a:xfrm>
            <a:off x="8167551" y="1729026"/>
            <a:ext cx="693672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</a:pPr>
            <a:r>
              <a:rPr lang="ru-RU" sz="800" b="1" dirty="0">
                <a:solidFill>
                  <a:srgbClr val="000000"/>
                </a:solidFill>
                <a:cs typeface="+mn-cs"/>
              </a:rPr>
              <a:t>Агрегатор</a:t>
            </a:r>
            <a:endParaRPr lang="en-US" sz="800" b="1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569078-19AC-4C21-9B6F-BEC904C7DF3C}"/>
              </a:ext>
            </a:extLst>
          </p:cNvPr>
          <p:cNvSpPr txBox="1">
            <a:spLocks/>
          </p:cNvSpPr>
          <p:nvPr/>
        </p:nvSpPr>
        <p:spPr>
          <a:xfrm>
            <a:off x="6622368" y="1605916"/>
            <a:ext cx="738868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Собственни-ки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квартир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FDB015C-576B-4109-8A0B-59C78DE3E3A5}"/>
              </a:ext>
            </a:extLst>
          </p:cNvPr>
          <p:cNvSpPr txBox="1">
            <a:spLocks/>
          </p:cNvSpPr>
          <p:nvPr/>
        </p:nvSpPr>
        <p:spPr>
          <a:xfrm>
            <a:off x="4327696" y="1605916"/>
            <a:ext cx="697307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Руковод-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ство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 города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B1811E-AB50-474F-896C-2D79D3BF0794}"/>
              </a:ext>
            </a:extLst>
          </p:cNvPr>
          <p:cNvSpPr txBox="1">
            <a:spLocks/>
          </p:cNvSpPr>
          <p:nvPr/>
        </p:nvSpPr>
        <p:spPr>
          <a:xfrm>
            <a:off x="5686990" y="1605916"/>
            <a:ext cx="52257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Застрой-</a:t>
            </a:r>
            <a:br>
              <a:rPr lang="ru-RU" sz="800" b="1" dirty="0">
                <a:solidFill>
                  <a:srgbClr val="FFFFFF"/>
                </a:solidFill>
                <a:cs typeface="+mn-cs"/>
              </a:rPr>
            </a:br>
            <a:r>
              <a:rPr lang="ru-RU" sz="800" b="1" dirty="0" err="1">
                <a:solidFill>
                  <a:srgbClr val="FFFFFF"/>
                </a:solidFill>
                <a:cs typeface="+mn-cs"/>
              </a:rPr>
              <a:t>щик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472B7E-133C-484D-B377-3CEE8A1F7AC3}"/>
              </a:ext>
            </a:extLst>
          </p:cNvPr>
          <p:cNvSpPr txBox="1">
            <a:spLocks/>
          </p:cNvSpPr>
          <p:nvPr/>
        </p:nvSpPr>
        <p:spPr>
          <a:xfrm>
            <a:off x="5101080" y="1605916"/>
            <a:ext cx="509833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 err="1">
                <a:solidFill>
                  <a:srgbClr val="FFFFFF"/>
                </a:solidFill>
                <a:cs typeface="+mn-cs"/>
              </a:rPr>
              <a:t>Префек</a:t>
            </a:r>
            <a:r>
              <a:rPr lang="ru-RU" sz="800" b="1" dirty="0">
                <a:solidFill>
                  <a:srgbClr val="FFFFFF"/>
                </a:solidFill>
                <a:cs typeface="+mn-cs"/>
              </a:rPr>
              <a:t>-туры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BCC93EE-16AD-4167-BC02-22927B250EB9}"/>
              </a:ext>
            </a:extLst>
          </p:cNvPr>
          <p:cNvSpPr txBox="1">
            <a:spLocks/>
          </p:cNvSpPr>
          <p:nvPr/>
        </p:nvSpPr>
        <p:spPr>
          <a:xfrm>
            <a:off x="6285646" y="1729026"/>
            <a:ext cx="26064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УК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4E7E9E-615C-4B94-B99F-A973629472D9}"/>
              </a:ext>
            </a:extLst>
          </p:cNvPr>
          <p:cNvSpPr txBox="1">
            <a:spLocks/>
          </p:cNvSpPr>
          <p:nvPr/>
        </p:nvSpPr>
        <p:spPr>
          <a:xfrm>
            <a:off x="7437313" y="1605916"/>
            <a:ext cx="61180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Мусорный оператор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02097E-1F44-46D8-9141-AD376A4E1800}"/>
              </a:ext>
            </a:extLst>
          </p:cNvPr>
          <p:cNvSpPr txBox="1">
            <a:spLocks/>
          </p:cNvSpPr>
          <p:nvPr/>
        </p:nvSpPr>
        <p:spPr>
          <a:xfrm>
            <a:off x="9934187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ДИТ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33B805-A9B4-4F61-9398-E75A2444F316}"/>
              </a:ext>
            </a:extLst>
          </p:cNvPr>
          <p:cNvSpPr txBox="1">
            <a:spLocks/>
          </p:cNvSpPr>
          <p:nvPr/>
        </p:nvSpPr>
        <p:spPr>
          <a:xfrm>
            <a:off x="8979652" y="1729026"/>
            <a:ext cx="878458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  <a:buNone/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Коммерческие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DC00D1F-2B68-4BBE-A227-430592F17A87}"/>
              </a:ext>
            </a:extLst>
          </p:cNvPr>
          <p:cNvSpPr txBox="1">
            <a:spLocks/>
          </p:cNvSpPr>
          <p:nvPr/>
        </p:nvSpPr>
        <p:spPr>
          <a:xfrm>
            <a:off x="10498162" y="1729026"/>
            <a:ext cx="1084236" cy="13048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Электронный дом</a:t>
            </a:r>
            <a:endParaRPr lang="en-US" sz="800" b="1" dirty="0">
              <a:solidFill>
                <a:srgbClr val="FFFFFF"/>
              </a:solidFill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0E49EEB-DC70-4DB1-8E8E-3D8BB9741470}"/>
              </a:ext>
            </a:extLst>
          </p:cNvPr>
          <p:cNvSpPr txBox="1">
            <a:spLocks/>
          </p:cNvSpPr>
          <p:nvPr/>
        </p:nvSpPr>
        <p:spPr>
          <a:xfrm>
            <a:off x="7426134" y="1395978"/>
            <a:ext cx="2543735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Платформа сервисов умного дома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128FB8-2D7E-457E-B4BE-824CF5770E72}"/>
              </a:ext>
            </a:extLst>
          </p:cNvPr>
          <p:cNvSpPr txBox="1">
            <a:spLocks/>
          </p:cNvSpPr>
          <p:nvPr/>
        </p:nvSpPr>
        <p:spPr>
          <a:xfrm>
            <a:off x="4327696" y="1395978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Город</a:t>
            </a:r>
          </a:p>
        </p:txBody>
      </p:sp>
      <p:cxnSp>
        <p:nvCxnSpPr>
          <p:cNvPr id="91" name="HorizontalLine2 1119232">
            <a:extLst>
              <a:ext uri="{FF2B5EF4-FFF2-40B4-BE49-F238E27FC236}">
                <a16:creationId xmlns:a16="http://schemas.microsoft.com/office/drawing/2014/main" id="{DD6288DD-A79C-4025-A4E2-6C95C9384981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4327696" y="1560673"/>
            <a:ext cx="1283217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HorizontalLine2 1119232">
            <a:extLst>
              <a:ext uri="{FF2B5EF4-FFF2-40B4-BE49-F238E27FC236}">
                <a16:creationId xmlns:a16="http://schemas.microsoft.com/office/drawing/2014/main" id="{C09E72CD-F8CD-4AED-8FE4-DD7C0A41459F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7426134" y="1560673"/>
            <a:ext cx="4093076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825B541-0F10-44ED-9D04-445780A6C06C}"/>
              </a:ext>
            </a:extLst>
          </p:cNvPr>
          <p:cNvSpPr txBox="1">
            <a:spLocks/>
          </p:cNvSpPr>
          <p:nvPr/>
        </p:nvSpPr>
        <p:spPr>
          <a:xfrm>
            <a:off x="5692100" y="1407844"/>
            <a:ext cx="2174353" cy="13849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800" b="1" dirty="0">
                <a:solidFill>
                  <a:srgbClr val="FFFFFF"/>
                </a:solidFill>
                <a:cs typeface="+mn-cs"/>
              </a:rPr>
              <a:t>Дом</a:t>
            </a:r>
          </a:p>
        </p:txBody>
      </p:sp>
      <p:cxnSp>
        <p:nvCxnSpPr>
          <p:cNvPr id="94" name="HorizontalLine2 1119232">
            <a:extLst>
              <a:ext uri="{FF2B5EF4-FFF2-40B4-BE49-F238E27FC236}">
                <a16:creationId xmlns:a16="http://schemas.microsoft.com/office/drawing/2014/main" id="{D7567B81-6566-48C8-B789-1F866D942987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5692100" y="1572539"/>
            <a:ext cx="1532583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EE4313-3E77-41FD-85A2-7305718550D4}"/>
              </a:ext>
            </a:extLst>
          </p:cNvPr>
          <p:cNvGrpSpPr/>
          <p:nvPr/>
        </p:nvGrpSpPr>
        <p:grpSpPr>
          <a:xfrm>
            <a:off x="10453519" y="1027367"/>
            <a:ext cx="1183745" cy="153888"/>
            <a:chOff x="10312453" y="1027367"/>
            <a:chExt cx="1183745" cy="153888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58F4617-95CB-46BE-8AB8-B9B70F303CDD}"/>
                </a:ext>
              </a:extLst>
            </p:cNvPr>
            <p:cNvSpPr>
              <a:spLocks/>
            </p:cNvSpPr>
            <p:nvPr/>
          </p:nvSpPr>
          <p:spPr>
            <a:xfrm>
              <a:off x="10524778" y="1050450"/>
              <a:ext cx="971420" cy="107722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r>
                <a:rPr lang="ru-RU" sz="700" dirty="0"/>
                <a:t>Выполняет функцию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94D13DC-C164-4CEA-8BD1-DE5733FC88F3}"/>
                </a:ext>
              </a:extLst>
            </p:cNvPr>
            <p:cNvGrpSpPr/>
            <p:nvPr/>
          </p:nvGrpSpPr>
          <p:grpSpPr>
            <a:xfrm>
              <a:off x="10312453" y="1027367"/>
              <a:ext cx="153888" cy="153888"/>
              <a:chOff x="10126688" y="1289273"/>
              <a:chExt cx="153888" cy="153888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9E765D80-EC29-44AE-8A6A-A28213EF4E3B}"/>
                  </a:ext>
                </a:extLst>
              </p:cNvPr>
              <p:cNvSpPr/>
              <p:nvPr/>
            </p:nvSpPr>
            <p:spPr>
              <a:xfrm>
                <a:off x="10126688" y="1289273"/>
                <a:ext cx="153888" cy="153888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solidFill>
                  <a:schemeClr val="accent3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7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102" name="Graphic 101">
                <a:extLst>
                  <a:ext uri="{FF2B5EF4-FFF2-40B4-BE49-F238E27FC236}">
                    <a16:creationId xmlns:a16="http://schemas.microsoft.com/office/drawing/2014/main" id="{34249183-2FEF-4743-B530-5821032A77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10129645" y="1292230"/>
                <a:ext cx="147974" cy="14797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8686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8505AAE-794C-469B-A2A9-7ADEC473A8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629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8505AAE-794C-469B-A2A9-7ADEC473A8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6AECE3-E7A7-4D2E-B0E7-3687D2EA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altLang="en-US" dirty="0">
                <a:effectLst/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12" name="Text Placeholder 4">
            <a:hlinkClick r:id="rId9" action="ppaction://hlinksldjump"/>
            <a:extLst>
              <a:ext uri="{FF2B5EF4-FFF2-40B4-BE49-F238E27FC236}">
                <a16:creationId xmlns:a16="http://schemas.microsoft.com/office/drawing/2014/main" id="{DD15A0EE-5A98-43A4-88AE-EE9D259ABBE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3276600" y="2613025"/>
            <a:ext cx="56388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6985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1. </a:t>
            </a:r>
            <a:r>
              <a:rPr lang="ru-RU" altLang="en-US"/>
              <a:t>Организационная </a:t>
            </a:r>
            <a:r>
              <a:rPr lang="ru-RU" altLang="en-US" dirty="0"/>
              <a:t>м</a:t>
            </a:r>
            <a:r>
              <a:rPr lang="ru-RU" altLang="en-US" dirty="0">
                <a:effectLst/>
              </a:rPr>
              <a:t>одель масштабирования</a:t>
            </a:r>
            <a:endParaRPr lang="ru-RU" dirty="0"/>
          </a:p>
        </p:txBody>
      </p:sp>
      <p:sp>
        <p:nvSpPr>
          <p:cNvPr id="19" name="Text Placeholder 4">
            <a:hlinkClick r:id="rId10" action="ppaction://hlinksldjump"/>
            <a:extLst>
              <a:ext uri="{FF2B5EF4-FFF2-40B4-BE49-F238E27FC236}">
                <a16:creationId xmlns:a16="http://schemas.microsoft.com/office/drawing/2014/main" id="{7DF3BF4D-3655-4B42-A0A8-53DC7DB3863A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3276600" y="2967038"/>
            <a:ext cx="56388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>
                <a:effectLst/>
              </a:rPr>
              <a:t>2. Оценка </a:t>
            </a:r>
            <a:r>
              <a:rPr lang="ru-RU" altLang="en-US" dirty="0">
                <a:effectLst/>
              </a:rPr>
              <a:t>затрат </a:t>
            </a:r>
            <a:r>
              <a:rPr lang="ru-RU" altLang="en-US">
                <a:effectLst/>
              </a:rPr>
              <a:t>на масштабировани</a:t>
            </a:r>
            <a:r>
              <a:rPr lang="ru-RU" altLang="en-US"/>
              <a:t>е</a:t>
            </a:r>
            <a:endParaRPr lang="ru-RU" altLang="en-US" dirty="0">
              <a:solidFill>
                <a:schemeClr val="tx2"/>
              </a:solidFill>
              <a:effectLst/>
            </a:endParaRPr>
          </a:p>
        </p:txBody>
      </p:sp>
      <p:sp>
        <p:nvSpPr>
          <p:cNvPr id="18" name="Text Placeholder 4">
            <a:hlinkClick r:id="rId11" action="ppaction://hlinksldjump"/>
            <a:extLst>
              <a:ext uri="{FF2B5EF4-FFF2-40B4-BE49-F238E27FC236}">
                <a16:creationId xmlns:a16="http://schemas.microsoft.com/office/drawing/2014/main" id="{1A2B880E-85A3-448D-AFC7-A04691F51A63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3276600" y="3322638"/>
            <a:ext cx="5638800" cy="56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71438" tIns="71438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effectLst/>
              </a:rPr>
              <a:t>Приложение 1 </a:t>
            </a:r>
            <a:r>
              <a:rPr lang="ru-RU" altLang="en-US">
                <a:effectLst/>
              </a:rPr>
              <a:t>– Организационная </a:t>
            </a:r>
            <a:r>
              <a:rPr lang="ru-RU" altLang="en-US" dirty="0">
                <a:effectLst/>
              </a:rPr>
              <a:t>модель масштабирования</a:t>
            </a:r>
            <a:endParaRPr lang="ru-RU" alt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3883E5D-F2E7-4D0B-A711-20701DDEEAF4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3276600" y="3890963"/>
            <a:ext cx="5638800" cy="3540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71438" tIns="69850" rIns="0" bIns="71438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ru-RU" altLang="en-US" b="1" dirty="0">
                <a:solidFill>
                  <a:schemeClr val="tx2"/>
                </a:solidFill>
                <a:effectLst/>
              </a:rPr>
              <a:t>Приложение 2 – Оценка затрат на масштабирование</a:t>
            </a:r>
            <a:endParaRPr lang="ru-RU" alt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423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Object 42" hidden="1">
            <a:extLst>
              <a:ext uri="{FF2B5EF4-FFF2-40B4-BE49-F238E27FC236}">
                <a16:creationId xmlns:a16="http://schemas.microsoft.com/office/drawing/2014/main" id="{7D14B41E-AF4F-4071-B7FB-F8BE11E0BE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8430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395" imgH="396" progId="TCLayout.ActiveDocument.1">
                  <p:embed/>
                </p:oleObj>
              </mc:Choice>
              <mc:Fallback>
                <p:oleObj name="think-cell Slide" r:id="rId31" imgW="395" imgH="396" progId="TCLayout.ActiveDocument.1">
                  <p:embed/>
                  <p:pic>
                    <p:nvPicPr>
                      <p:cNvPr id="43" name="Object 42" hidden="1">
                        <a:extLst>
                          <a:ext uri="{FF2B5EF4-FFF2-40B4-BE49-F238E27FC236}">
                            <a16:creationId xmlns:a16="http://schemas.microsoft.com/office/drawing/2014/main" id="{7D14B41E-AF4F-4071-B7FB-F8BE11E0BE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354F18EA-0402-40BB-B464-A49F79FF981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391528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Затраты на масштабирование 8 сервисов определены на основе оценки затрат на пилотирование в типовом доме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ED87A7D-EFED-4697-8FF3-8F9A66F94F11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Оценка затрат на масштабирование сервисов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092E31A-02A2-4BDA-9A46-7A1C79D51668}"/>
              </a:ext>
            </a:extLst>
          </p:cNvPr>
          <p:cNvSpPr>
            <a:spLocks/>
          </p:cNvSpPr>
          <p:nvPr/>
        </p:nvSpPr>
        <p:spPr>
          <a:xfrm>
            <a:off x="2254147" y="1862138"/>
            <a:ext cx="1122951" cy="4068763"/>
          </a:xfrm>
          <a:custGeom>
            <a:avLst/>
            <a:gdLst>
              <a:gd name="connsiteX0" fmla="*/ 0 w 1045410"/>
              <a:gd name="connsiteY0" fmla="*/ 0 h 4670295"/>
              <a:gd name="connsiteX1" fmla="*/ 478971 w 1045410"/>
              <a:gd name="connsiteY1" fmla="*/ 0 h 4670295"/>
              <a:gd name="connsiteX2" fmla="*/ 613708 w 1045410"/>
              <a:gd name="connsiteY2" fmla="*/ 134738 h 4670295"/>
              <a:gd name="connsiteX3" fmla="*/ 613708 w 1045410"/>
              <a:gd name="connsiteY3" fmla="*/ 1549224 h 4670295"/>
              <a:gd name="connsiteX4" fmla="*/ 621473 w 1045410"/>
              <a:gd name="connsiteY4" fmla="*/ 1562345 h 4670295"/>
              <a:gd name="connsiteX5" fmla="*/ 1018334 w 1045410"/>
              <a:gd name="connsiteY5" fmla="*/ 2233020 h 4670295"/>
              <a:gd name="connsiteX6" fmla="*/ 1018334 w 1045410"/>
              <a:gd name="connsiteY6" fmla="*/ 2430868 h 4670295"/>
              <a:gd name="connsiteX7" fmla="*/ 621473 w 1045410"/>
              <a:gd name="connsiteY7" fmla="*/ 3101542 h 4670295"/>
              <a:gd name="connsiteX8" fmla="*/ 613708 w 1045410"/>
              <a:gd name="connsiteY8" fmla="*/ 3114662 h 4670295"/>
              <a:gd name="connsiteX9" fmla="*/ 613708 w 1045410"/>
              <a:gd name="connsiteY9" fmla="*/ 4535557 h 4670295"/>
              <a:gd name="connsiteX10" fmla="*/ 478971 w 1045410"/>
              <a:gd name="connsiteY10" fmla="*/ 4670295 h 4670295"/>
              <a:gd name="connsiteX11" fmla="*/ 0 w 1045410"/>
              <a:gd name="connsiteY11" fmla="*/ 4670295 h 4670295"/>
              <a:gd name="connsiteX12" fmla="*/ 134738 w 1045410"/>
              <a:gd name="connsiteY12" fmla="*/ 4535557 h 4670295"/>
              <a:gd name="connsiteX13" fmla="*/ 134738 w 1045410"/>
              <a:gd name="connsiteY13" fmla="*/ 3114662 h 4670295"/>
              <a:gd name="connsiteX14" fmla="*/ 142502 w 1045410"/>
              <a:gd name="connsiteY14" fmla="*/ 3101542 h 4670295"/>
              <a:gd name="connsiteX15" fmla="*/ 539363 w 1045410"/>
              <a:gd name="connsiteY15" fmla="*/ 2430868 h 4670295"/>
              <a:gd name="connsiteX16" fmla="*/ 539363 w 1045410"/>
              <a:gd name="connsiteY16" fmla="*/ 2233020 h 4670295"/>
              <a:gd name="connsiteX17" fmla="*/ 142502 w 1045410"/>
              <a:gd name="connsiteY17" fmla="*/ 1562345 h 4670295"/>
              <a:gd name="connsiteX18" fmla="*/ 134738 w 1045410"/>
              <a:gd name="connsiteY18" fmla="*/ 1549224 h 4670295"/>
              <a:gd name="connsiteX19" fmla="*/ 134738 w 1045410"/>
              <a:gd name="connsiteY19" fmla="*/ 134738 h 4670295"/>
              <a:gd name="connsiteX20" fmla="*/ 0 w 1045410"/>
              <a:gd name="connsiteY20" fmla="*/ 0 h 467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45410" h="4670295">
                <a:moveTo>
                  <a:pt x="0" y="0"/>
                </a:moveTo>
                <a:lnTo>
                  <a:pt x="478971" y="0"/>
                </a:lnTo>
                <a:cubicBezTo>
                  <a:pt x="553384" y="0"/>
                  <a:pt x="613708" y="60325"/>
                  <a:pt x="613708" y="134738"/>
                </a:cubicBezTo>
                <a:lnTo>
                  <a:pt x="613708" y="1549224"/>
                </a:lnTo>
                <a:lnTo>
                  <a:pt x="621473" y="1562345"/>
                </a:lnTo>
                <a:cubicBezTo>
                  <a:pt x="744589" y="1770404"/>
                  <a:pt x="926047" y="2077059"/>
                  <a:pt x="1018334" y="2233020"/>
                </a:cubicBezTo>
                <a:cubicBezTo>
                  <a:pt x="1054436" y="2294028"/>
                  <a:pt x="1054436" y="2369859"/>
                  <a:pt x="1018334" y="2430868"/>
                </a:cubicBezTo>
                <a:cubicBezTo>
                  <a:pt x="926047" y="2586828"/>
                  <a:pt x="744589" y="2893483"/>
                  <a:pt x="621473" y="3101542"/>
                </a:cubicBezTo>
                <a:lnTo>
                  <a:pt x="613708" y="3114662"/>
                </a:lnTo>
                <a:lnTo>
                  <a:pt x="613708" y="4535557"/>
                </a:lnTo>
                <a:cubicBezTo>
                  <a:pt x="613708" y="4609971"/>
                  <a:pt x="553384" y="4670295"/>
                  <a:pt x="478971" y="4670295"/>
                </a:cubicBezTo>
                <a:lnTo>
                  <a:pt x="0" y="4670295"/>
                </a:lnTo>
                <a:cubicBezTo>
                  <a:pt x="74413" y="4670295"/>
                  <a:pt x="134738" y="4609971"/>
                  <a:pt x="134738" y="4535557"/>
                </a:cubicBezTo>
                <a:lnTo>
                  <a:pt x="134738" y="3114662"/>
                </a:lnTo>
                <a:lnTo>
                  <a:pt x="142502" y="3101542"/>
                </a:lnTo>
                <a:cubicBezTo>
                  <a:pt x="265618" y="2893483"/>
                  <a:pt x="447076" y="2586828"/>
                  <a:pt x="539363" y="2430868"/>
                </a:cubicBezTo>
                <a:cubicBezTo>
                  <a:pt x="575465" y="2369859"/>
                  <a:pt x="575465" y="2294028"/>
                  <a:pt x="539363" y="2233020"/>
                </a:cubicBezTo>
                <a:cubicBezTo>
                  <a:pt x="447076" y="2077059"/>
                  <a:pt x="265618" y="1770404"/>
                  <a:pt x="142502" y="1562345"/>
                </a:cubicBezTo>
                <a:lnTo>
                  <a:pt x="134738" y="1549224"/>
                </a:lnTo>
                <a:lnTo>
                  <a:pt x="134738" y="134738"/>
                </a:lnTo>
                <a:cubicBezTo>
                  <a:pt x="134738" y="60325"/>
                  <a:pt x="74413" y="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6DFACF3-5320-4995-B7E4-83B8D26DEB5D}"/>
              </a:ext>
            </a:extLst>
          </p:cNvPr>
          <p:cNvSpPr>
            <a:spLocks/>
          </p:cNvSpPr>
          <p:nvPr/>
        </p:nvSpPr>
        <p:spPr>
          <a:xfrm>
            <a:off x="-9523" y="1851025"/>
            <a:ext cx="3012436" cy="4079875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  <a:effectLst>
            <a:outerShdw blurRad="279400" dist="381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F7EE45-69C0-4F6B-A818-CC3A64A08A46}"/>
              </a:ext>
            </a:extLst>
          </p:cNvPr>
          <p:cNvSpPr>
            <a:spLocks/>
          </p:cNvSpPr>
          <p:nvPr/>
        </p:nvSpPr>
        <p:spPr>
          <a:xfrm>
            <a:off x="287068" y="1925638"/>
            <a:ext cx="2474546" cy="3903663"/>
          </a:xfrm>
          <a:prstGeom prst="roundRect">
            <a:avLst>
              <a:gd name="adj" fmla="val 14008"/>
            </a:avLst>
          </a:prstGeom>
          <a:solidFill>
            <a:schemeClr val="bg1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814" dirty="0" err="1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A4E14-5350-4374-88EC-7D034B3DD06A}"/>
              </a:ext>
            </a:extLst>
          </p:cNvPr>
          <p:cNvSpPr txBox="1">
            <a:spLocks/>
          </p:cNvSpPr>
          <p:nvPr/>
        </p:nvSpPr>
        <p:spPr>
          <a:xfrm>
            <a:off x="2688194" y="2843213"/>
            <a:ext cx="4999144" cy="2762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C92723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A7805-CADE-46B7-B893-CD3E41DDDCFD}"/>
              </a:ext>
            </a:extLst>
          </p:cNvPr>
          <p:cNvSpPr txBox="1">
            <a:spLocks/>
          </p:cNvSpPr>
          <p:nvPr/>
        </p:nvSpPr>
        <p:spPr>
          <a:xfrm>
            <a:off x="287067" y="1420813"/>
            <a:ext cx="3125000" cy="2508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Методология расчета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6C70B7-13B8-4005-B114-32C71E42CD8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96842" y="2030631"/>
            <a:ext cx="2052899" cy="363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900"/>
              </a:spcBef>
              <a:spcAft>
                <a:spcPts val="300"/>
              </a:spcAft>
              <a:buClrTx/>
              <a:buSzPct val="100000"/>
              <a:buNone/>
              <a:tabLst/>
              <a:defRPr/>
            </a:pP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Расчет для типового дома</a:t>
            </a: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:</a:t>
            </a:r>
            <a:b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</a:b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- 15 этажей</a:t>
            </a:r>
            <a:b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</a:b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- 1 подъезд </a:t>
            </a:r>
            <a:b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</a:b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- 112 квартир</a:t>
            </a:r>
            <a:b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</a:b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- площадь дома 11 812 м</a:t>
            </a:r>
            <a:r>
              <a:rPr lang="ru-RU" sz="1200" baseline="300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2</a:t>
            </a:r>
            <a:br>
              <a:rPr lang="ru-RU" sz="1200" baseline="300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</a:b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- ср. площадь квартиры 52 м</a:t>
            </a:r>
            <a:r>
              <a:rPr lang="ru-RU" sz="1200" baseline="300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2</a:t>
            </a:r>
            <a:r>
              <a:rPr lang="ru-RU" sz="12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 </a:t>
            </a:r>
          </a:p>
          <a:p>
            <a:pPr>
              <a:spcBef>
                <a:spcPts val="900"/>
              </a:spcBef>
              <a:buSzPct val="100000"/>
              <a:buNone/>
              <a:defRPr/>
            </a:pP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Определены кап. и опер. затраты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пилота на основе экспертной оценки продутов и КП от поставщиков</a:t>
            </a:r>
            <a:endParaRPr kumimoji="0" lang="ru-RU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sym typeface="Verdana" panose="020B0604030504040204" pitchFamily="34" charset="0"/>
            </a:endParaRPr>
          </a:p>
          <a:p>
            <a:pPr>
              <a:spcBef>
                <a:spcPts val="900"/>
              </a:spcBef>
              <a:buSzPct val="100000"/>
              <a:buNone/>
              <a:defRPr/>
            </a:pP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Затрат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пилота пересчитаны </a:t>
            </a:r>
            <a:r>
              <a:rPr lang="ru-RU" sz="1200" b="1" dirty="0">
                <a:solidFill>
                  <a:schemeClr val="accent3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на удельные значения</a:t>
            </a:r>
            <a:r>
              <a:rPr lang="ru-RU" sz="1200" dirty="0">
                <a:latin typeface="Verdana" panose="020B0604030504040204" pitchFamily="34" charset="0"/>
                <a:sym typeface="Verdana" panose="020B0604030504040204" pitchFamily="34" charset="0"/>
              </a:rPr>
              <a:t> для типового дома</a:t>
            </a:r>
            <a:endParaRPr lang="ru-RU" sz="1200" dirty="0">
              <a:solidFill>
                <a:srgbClr val="000000"/>
              </a:solidFill>
              <a:latin typeface="Verdana" panose="020B0604030504040204" pitchFamily="34" charset="0"/>
              <a:sym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96F43A-8D9D-4476-BC4B-0385D4318F49}"/>
              </a:ext>
            </a:extLst>
          </p:cNvPr>
          <p:cNvSpPr txBox="1"/>
          <p:nvPr/>
        </p:nvSpPr>
        <p:spPr>
          <a:xfrm>
            <a:off x="3530336" y="2401888"/>
            <a:ext cx="1658938" cy="554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800" b="1" dirty="0">
                <a:solidFill>
                  <a:schemeClr val="tx2"/>
                </a:solidFill>
              </a:rPr>
              <a:t>2</a:t>
            </a:r>
            <a:r>
              <a:rPr lang="en-US" sz="1800" b="1" dirty="0">
                <a:solidFill>
                  <a:schemeClr val="tx2"/>
                </a:solidFill>
              </a:rPr>
              <a:t>,</a:t>
            </a:r>
            <a:r>
              <a:rPr lang="ru-RU" sz="1800" b="1" dirty="0">
                <a:solidFill>
                  <a:schemeClr val="tx2"/>
                </a:solidFill>
              </a:rPr>
              <a:t>8 млн </a:t>
            </a:r>
            <a:r>
              <a:rPr lang="ru-RU" sz="1800" dirty="0"/>
              <a:t>руб.</a:t>
            </a:r>
            <a:r>
              <a:rPr lang="en-US" sz="1800" dirty="0"/>
              <a:t>/</a:t>
            </a:r>
            <a:r>
              <a:rPr lang="ru-RU" sz="1800" dirty="0"/>
              <a:t>дом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0E3722-DD90-4CA0-9373-4AF7F190A148}"/>
              </a:ext>
            </a:extLst>
          </p:cNvPr>
          <p:cNvSpPr txBox="1"/>
          <p:nvPr/>
        </p:nvSpPr>
        <p:spPr>
          <a:xfrm>
            <a:off x="3530336" y="4711700"/>
            <a:ext cx="1663700" cy="554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tx2"/>
                </a:solidFill>
              </a:rPr>
              <a:t>1,</a:t>
            </a:r>
            <a:r>
              <a:rPr lang="ru-RU" sz="1800" b="1" dirty="0">
                <a:solidFill>
                  <a:schemeClr val="tx2"/>
                </a:solidFill>
              </a:rPr>
              <a:t>2 млн.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endParaRPr lang="ru-RU" sz="1800" b="1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руб.</a:t>
            </a:r>
            <a:r>
              <a:rPr lang="en-US" sz="1800" dirty="0"/>
              <a:t>/</a:t>
            </a:r>
            <a:r>
              <a:rPr lang="ru-RU" sz="1800" dirty="0"/>
              <a:t> год</a:t>
            </a:r>
            <a:r>
              <a:rPr lang="en-US" sz="1800" dirty="0"/>
              <a:t>/</a:t>
            </a:r>
            <a:r>
              <a:rPr lang="ru-RU" sz="1800" dirty="0"/>
              <a:t>дом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D68E39-D058-4482-B023-CF063BBE1DBF}"/>
              </a:ext>
            </a:extLst>
          </p:cNvPr>
          <p:cNvSpPr txBox="1">
            <a:spLocks/>
          </p:cNvSpPr>
          <p:nvPr/>
        </p:nvSpPr>
        <p:spPr>
          <a:xfrm>
            <a:off x="3530336" y="1844675"/>
            <a:ext cx="1381125" cy="17621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Кап</a:t>
            </a:r>
            <a:r>
              <a:rPr lang="ru-RU" sz="1200" b="1" dirty="0">
                <a:latin typeface="Verdana"/>
              </a:rPr>
              <a:t>з</a:t>
            </a:r>
            <a:r>
              <a:rPr kumimoji="0" lang="ru-RU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атраты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F3BFC7-8432-41AC-9544-E41C77399BBF}"/>
              </a:ext>
            </a:extLst>
          </p:cNvPr>
          <p:cNvSpPr txBox="1">
            <a:spLocks/>
          </p:cNvSpPr>
          <p:nvPr/>
        </p:nvSpPr>
        <p:spPr>
          <a:xfrm>
            <a:off x="3530336" y="3992563"/>
            <a:ext cx="1281113" cy="19208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Опер. затраты</a:t>
            </a:r>
            <a:endParaRPr kumimoji="0" lang="ru-RU" sz="1200" b="1" i="0" u="none" strike="noStrike" kern="1200" cap="none" spc="0" normalizeH="0" baseline="3000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11F197-394A-4C3A-AF10-67662B24FDF1}"/>
              </a:ext>
            </a:extLst>
          </p:cNvPr>
          <p:cNvCxnSpPr>
            <a:cxnSpLocks/>
          </p:cNvCxnSpPr>
          <p:nvPr/>
        </p:nvCxnSpPr>
        <p:spPr>
          <a:xfrm flipH="1">
            <a:off x="3435351" y="3822700"/>
            <a:ext cx="8469581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6FF5AA-D304-42F3-B45C-2C90BC7E37D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6788150" y="2598738"/>
            <a:ext cx="4111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562E0A-B372-4C18-B1F9-2A825BE1D48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8229600" y="2597150"/>
            <a:ext cx="4111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AF814A8-F406-45DE-919F-E1B40477C75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199313" y="2597150"/>
            <a:ext cx="1030288" cy="1588"/>
          </a:xfrm>
          <a:prstGeom prst="rect">
            <a:avLst/>
          </a:prstGeom>
          <a:solidFill>
            <a:schemeClr val="accent1"/>
          </a:solidFill>
          <a:ln w="9525" cap="sq" algn="ctr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1B6D633D-7E3B-4D30-85BA-8DAAB1094600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157539050"/>
              </p:ext>
            </p:extLst>
          </p:nvPr>
        </p:nvGraphicFramePr>
        <p:xfrm>
          <a:off x="5470525" y="2514600"/>
          <a:ext cx="4489450" cy="64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9494BE7-7507-43CD-B4FD-85EC64EC43FA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6272212" y="2317750"/>
            <a:ext cx="2882900" cy="1588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78FB8E-3D89-4F15-8F77-F8978FEF7D7E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 flipV="1">
            <a:off x="7713663" y="2598738"/>
            <a:ext cx="0" cy="254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626100" y="3155950"/>
            <a:ext cx="1293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C27C724-A764-4692-8C30-418787392CC7}" type="datetime'Стои''''м''о''ст''ь ''строительства д''ома п''''о ренов''ации'">
              <a:rPr lang="ru-RU" altLang="en-US" sz="1000" smtClean="0"/>
              <a:pPr/>
              <a:t>Стоимость строительства дома по реновации</a:t>
            </a:fld>
            <a:endParaRPr lang="ru-RU" sz="1000" dirty="0"/>
          </a:p>
        </p:txBody>
      </p:sp>
      <p:sp useBgFill="1">
        <p:nvSpPr>
          <p:cNvPr id="14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7432675" y="2624138"/>
            <a:ext cx="561975" cy="488950"/>
          </a:xfrm>
          <a:prstGeom prst="rect">
            <a:avLst/>
          </a:prstGeom>
          <a:ln>
            <a:noFill/>
          </a:ln>
          <a:effectLst/>
        </p:spPr>
        <p:txBody>
          <a:bodyPr vert="horz" wrap="none" lIns="28575" tIns="0" rIns="28575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05F373A-55B0-4110-B223-DE65C41D4F13}" type="datetime'''''''''''''''''''''''2''''''''''3''8'''''''''''''''''">
              <a:rPr lang="ru-RU" altLang="en-US" sz="1600" b="1" smtClean="0">
                <a:solidFill>
                  <a:schemeClr val="accent3"/>
                </a:solidFill>
                <a:effectLst/>
              </a:rPr>
              <a:pPr/>
              <a:t>238</a:t>
            </a:fld>
            <a:r>
              <a:rPr lang="ru-RU" altLang="en-US" sz="1600">
                <a:solidFill>
                  <a:schemeClr val="accent3"/>
                </a:solidFill>
                <a:effectLst/>
              </a:rPr>
              <a:t> </a:t>
            </a:r>
            <a:endParaRPr lang="ru-RU" altLang="en-US" sz="1600" dirty="0">
              <a:solidFill>
                <a:schemeClr val="accent3"/>
              </a:solidFill>
              <a:effectLst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lang="ru-RU" sz="1600" dirty="0">
              <a:solidFill>
                <a:schemeClr val="accent3"/>
              </a:solidFill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7040562" y="3155950"/>
            <a:ext cx="1347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1F5E1BD-9B6C-493F-9762-453E54823C12}" type="datetime'Затр''''аты на'' серви''сы'' &quot;у''''''мно''г''о'' до''м''а&quot;'''">
              <a:rPr lang="ru-RU" altLang="en-US" sz="1000" smtClean="0"/>
              <a:pPr/>
              <a:t>Затраты на сервисы "умного дома"</a:t>
            </a:fld>
            <a:endParaRPr lang="ru-RU" sz="1000" dirty="0"/>
          </a:p>
        </p:txBody>
      </p:sp>
      <p:sp>
        <p:nvSpPr>
          <p:cNvPr id="17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8494712" y="3155950"/>
            <a:ext cx="13223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017C532-6608-48BB-9BB4-CFA73829A3FA}" type="datetime'Итого''''вая ''''с''тоимо''ст''''ь с''тро''и''т''ельст''ва'''">
              <a:rPr lang="ru-RU" altLang="en-US" sz="10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Итоговая стоимость строительства</a:t>
            </a:fld>
            <a:endParaRPr lang="ru-RU" sz="1000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6008688" y="2420938"/>
            <a:ext cx="5286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04026DD-E0E0-4422-BE58-442246AE55D6}" type="datetime'''''''''''''85'''''''''' ''0''''''''0''''''0'''''''''">
              <a:rPr lang="ru-RU" altLang="en-US" sz="10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85 000</a:t>
            </a:fld>
            <a:r>
              <a:rPr lang="ru-RU" altLang="en-US" sz="1000" dirty="0">
                <a:effectLst/>
              </a:rPr>
              <a:t> 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8891588" y="2419350"/>
            <a:ext cx="5286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AF91A55-9F98-48E3-82A8-36E77E85EF59}" type="datetime'85'''''''''''''''''' ''''''2''''3''''''''8'''">
              <a:rPr lang="ru-RU" altLang="en-US" sz="1000" smtClean="0"/>
              <a:pPr/>
              <a:t>85 238</a:t>
            </a:fld>
            <a:r>
              <a:rPr lang="ru-RU" altLang="en-US" sz="1000">
                <a:effectLst/>
              </a:rPr>
              <a:t> </a:t>
            </a:r>
            <a:endParaRPr lang="ru-RU" altLang="en-US" sz="1000" dirty="0">
              <a:effectLst/>
            </a:endParaRP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7361238" y="2209800"/>
            <a:ext cx="706438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2219E95-5ED4-4D68-86EE-558F04D52939}" type="datetime'''''+0'''''''''''''''',3%'''''''''''''''''''''''''">
              <a:rPr lang="en-US" altLang="en-US" sz="1000" b="1" smtClean="0">
                <a:effectLst/>
              </a:rPr>
              <a:pPr/>
              <a:t>+0,3%</a:t>
            </a:fld>
            <a:endParaRPr lang="ru-RU" sz="10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35D106A-0C98-4911-A9B9-A556071AE8E7}"/>
              </a:ext>
            </a:extLst>
          </p:cNvPr>
          <p:cNvSpPr txBox="1">
            <a:spLocks/>
          </p:cNvSpPr>
          <p:nvPr/>
        </p:nvSpPr>
        <p:spPr>
          <a:xfrm>
            <a:off x="3332163" y="1224427"/>
            <a:ext cx="6712899" cy="43678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Затраты на внедрение сервисов «умного дома» для типового дома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CA24FF-EF82-43A2-AA39-B3EBB37F8639}"/>
              </a:ext>
            </a:extLst>
          </p:cNvPr>
          <p:cNvCxnSpPr>
            <a:cxnSpLocks/>
          </p:cNvCxnSpPr>
          <p:nvPr/>
        </p:nvCxnSpPr>
        <p:spPr>
          <a:xfrm flipH="1">
            <a:off x="287067" y="1704975"/>
            <a:ext cx="2474547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BEC6078-9236-409C-A74D-CF9064883CDA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967538" y="5260975"/>
            <a:ext cx="387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01F28DA-C4E3-4F06-80BB-D24B0AF1B28A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8326438" y="5238750"/>
            <a:ext cx="3873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33590F22-BB0D-488F-B6FB-8EB266DFBBF8}"/>
              </a:ext>
            </a:extLst>
          </p:cNvPr>
          <p:cNvGraphicFramePr/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442990844"/>
              </p:ext>
            </p:extLst>
          </p:nvPr>
        </p:nvGraphicFramePr>
        <p:xfrm>
          <a:off x="5721350" y="5156200"/>
          <a:ext cx="4238625" cy="352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AB5E221-D675-4E3E-8054-578B568FB046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V="1">
            <a:off x="6481763" y="4503738"/>
            <a:ext cx="2716213" cy="22225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BDC59FD-2EAC-4DDB-B784-F62676DD5AD3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>
            <a:off x="7840663" y="5213350"/>
            <a:ext cx="0" cy="365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 Placeholder 4">
            <a:extLst>
              <a:ext uri="{FF2B5EF4-FFF2-40B4-BE49-F238E27FC236}">
                <a16:creationId xmlns:a16="http://schemas.microsoft.com/office/drawing/2014/main" id="{D421B7EF-DB72-4D1E-AE1C-FAD4A63BA14A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5835651" y="5468938"/>
            <a:ext cx="12938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7D219CC-21E1-4986-87CA-A93A594EC2BE}" type="datetime'Сред''н''ий'''' п''''латеж в ''д''оме по'' ''''рен''оваци''и'">
              <a:rPr lang="ru-RU" altLang="en-US" sz="1000" smtClean="0"/>
              <a:pPr/>
              <a:t>Средний платеж в доме по реновации</a:t>
            </a:fld>
            <a:endParaRPr lang="ru-RU" sz="1000" baseline="30000" dirty="0"/>
          </a:p>
        </p:txBody>
      </p:sp>
      <p:sp>
        <p:nvSpPr>
          <p:cNvPr id="191" name="Text Placeholder 4">
            <a:extLst>
              <a:ext uri="{FF2B5EF4-FFF2-40B4-BE49-F238E27FC236}">
                <a16:creationId xmlns:a16="http://schemas.microsoft.com/office/drawing/2014/main" id="{8C6A3401-0A66-4FBF-917F-D277B175F152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7559675" y="4724400"/>
            <a:ext cx="5619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5728584-65DC-492E-8756-3AE4F9C16661}" type="datetime'''''7''''6''''''''9'''''''''''''''''">
              <a:rPr lang="ru-RU" altLang="en-US" sz="1600" b="1" smtClean="0">
                <a:solidFill>
                  <a:schemeClr val="accent3"/>
                </a:solidFill>
              </a:rPr>
              <a:pPr/>
              <a:t>769</a:t>
            </a:fld>
            <a:r>
              <a:rPr lang="ru-RU" altLang="en-US" sz="1600">
                <a:solidFill>
                  <a:schemeClr val="accent3"/>
                </a:solidFill>
                <a:effectLst/>
              </a:rPr>
              <a:t> </a:t>
            </a:r>
            <a:endParaRPr lang="ru-RU" altLang="en-US" sz="1600" dirty="0">
              <a:solidFill>
                <a:schemeClr val="accent3"/>
              </a:solidFill>
              <a:effectLst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ru-RU" sz="1600" baseline="30000" dirty="0">
              <a:solidFill>
                <a:schemeClr val="accent3"/>
              </a:solidFill>
            </a:endParaRPr>
          </a:p>
        </p:txBody>
      </p:sp>
      <p:sp>
        <p:nvSpPr>
          <p:cNvPr id="193" name="Text Placeholder 4">
            <a:extLst>
              <a:ext uri="{FF2B5EF4-FFF2-40B4-BE49-F238E27FC236}">
                <a16:creationId xmlns:a16="http://schemas.microsoft.com/office/drawing/2014/main" id="{5987B5E5-BB00-4A55-A560-7151E3BF6A41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7380288" y="5468938"/>
            <a:ext cx="92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3592C0D-C21A-4CC9-B7C4-5CB06E069024}" type="datetime'Ст''о''имо''с''т''ь экспл''''''уат''ации'' се''''''''''рвисов'">
              <a:rPr lang="ru-RU" altLang="en-US" sz="1000" smtClean="0"/>
              <a:pPr/>
              <a:t>Стоимость эксплуатации сервисов</a:t>
            </a:fld>
            <a:endParaRPr lang="ru-RU" sz="1000" dirty="0"/>
          </a:p>
        </p:txBody>
      </p:sp>
      <p:sp>
        <p:nvSpPr>
          <p:cNvPr id="254" name="Text Placeholder 4">
            <a:extLst>
              <a:ext uri="{FF2B5EF4-FFF2-40B4-BE49-F238E27FC236}">
                <a16:creationId xmlns:a16="http://schemas.microsoft.com/office/drawing/2014/main" id="{DD16B415-676F-4AAF-BF6B-040499B9CFA9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8524875" y="5468938"/>
            <a:ext cx="134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105731C-988F-4E0E-921E-8C3EEE079901}" type="datetime'По''тенци''''''альный ''объем плате''''''''''''ж''''а ЖК''У'''">
              <a:rPr lang="ru-RU" altLang="en-US" sz="1000" smtClean="0"/>
              <a:pPr/>
              <a:t>Потенциальный объем платежа ЖКУ</a:t>
            </a:fld>
            <a:endParaRPr lang="ru-RU" sz="1000" dirty="0"/>
          </a:p>
        </p:txBody>
      </p:sp>
      <p:sp>
        <p:nvSpPr>
          <p:cNvPr id="190" name="Text Placeholder 4">
            <a:extLst>
              <a:ext uri="{FF2B5EF4-FFF2-40B4-BE49-F238E27FC236}">
                <a16:creationId xmlns:a16="http://schemas.microsoft.com/office/drawing/2014/main" id="{420204BD-68B2-4D63-BE54-A373033380A6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gray">
          <a:xfrm>
            <a:off x="6257925" y="4930775"/>
            <a:ext cx="447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53FFF4F-CC54-4386-8902-70E5AFE1F040}" type="datetime'5'''''''''' ''''''''''''''''8''''''5''''''''''''''''0'''''">
              <a:rPr lang="ru-RU" altLang="en-US" sz="1000" smtClean="0"/>
              <a:pPr/>
              <a:t>5 850</a:t>
            </a:fld>
            <a:r>
              <a:rPr lang="ru-RU" altLang="en-US" sz="1000">
                <a:effectLst/>
              </a:rPr>
              <a:t> </a:t>
            </a:r>
            <a:endParaRPr lang="ru-RU" altLang="en-US" sz="1000" dirty="0">
              <a:effectLst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/>
              <a:t>.</a:t>
            </a:r>
            <a:endParaRPr lang="ru-RU" sz="1000" baseline="30000" dirty="0"/>
          </a:p>
        </p:txBody>
      </p:sp>
      <p:sp>
        <p:nvSpPr>
          <p:cNvPr id="189" name="Text Placeholder 4">
            <a:extLst>
              <a:ext uri="{FF2B5EF4-FFF2-40B4-BE49-F238E27FC236}">
                <a16:creationId xmlns:a16="http://schemas.microsoft.com/office/drawing/2014/main" id="{0AFCB0BA-4967-42AD-A02E-5C34D46DF812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gray">
          <a:xfrm>
            <a:off x="8974138" y="5060950"/>
            <a:ext cx="4476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251C7B5-99FD-47A2-8B22-649E8118907E}" type="datetime'''''''''6'''''''' ''''''6''''''''''''''''''1''''''''''9'">
              <a:rPr lang="ru-RU" altLang="en-US" sz="1000" smtClean="0"/>
              <a:pPr/>
              <a:t>6 619</a:t>
            </a:fld>
            <a:r>
              <a:rPr lang="ru-RU" altLang="en-US" sz="1000">
                <a:effectLst/>
              </a:rPr>
              <a:t> </a:t>
            </a:r>
            <a:endParaRPr lang="ru-RU" altLang="en-US" sz="1000" dirty="0">
              <a:effectLst/>
            </a:endParaRPr>
          </a:p>
        </p:txBody>
      </p:sp>
      <p:sp>
        <p:nvSpPr>
          <p:cNvPr id="195" name="Text Placeholder 4">
            <a:extLst>
              <a:ext uri="{FF2B5EF4-FFF2-40B4-BE49-F238E27FC236}">
                <a16:creationId xmlns:a16="http://schemas.microsoft.com/office/drawing/2014/main" id="{3B27D491-CCA7-479A-A9F2-B39F415C1F46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7423150" y="4406900"/>
            <a:ext cx="833438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7C00972-7CEF-4155-A5D7-9631150B06F3}" type="datetime'''+''1''''3'''''''''''''''''',''''''''''''1''''''''%'">
              <a:rPr lang="en-US" altLang="en-US" sz="1000" b="1" smtClean="0">
                <a:effectLst/>
              </a:rPr>
              <a:pPr/>
              <a:t>+13,1%</a:t>
            </a:fld>
            <a:endParaRPr lang="ru-RU" sz="10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A79869-E82C-43C8-9D54-40915C7CD48F}"/>
              </a:ext>
            </a:extLst>
          </p:cNvPr>
          <p:cNvSpPr txBox="1"/>
          <p:nvPr/>
        </p:nvSpPr>
        <p:spPr>
          <a:xfrm>
            <a:off x="5407025" y="1844675"/>
            <a:ext cx="800100" cy="16827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100" dirty="0"/>
              <a:t>руб.</a:t>
            </a:r>
            <a:r>
              <a:rPr lang="en-US" sz="1100" dirty="0"/>
              <a:t>/</a:t>
            </a:r>
            <a:r>
              <a:rPr lang="ru-RU" sz="1100" dirty="0"/>
              <a:t>м</a:t>
            </a:r>
            <a:r>
              <a:rPr lang="en-US" sz="1100" baseline="30000" dirty="0"/>
              <a:t>2</a:t>
            </a:r>
            <a:endParaRPr lang="ru-RU" sz="1100" baseline="30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249592-3F77-448F-8CDE-459DB691E4BD}"/>
              </a:ext>
            </a:extLst>
          </p:cNvPr>
          <p:cNvSpPr txBox="1"/>
          <p:nvPr/>
        </p:nvSpPr>
        <p:spPr>
          <a:xfrm>
            <a:off x="5407025" y="3992563"/>
            <a:ext cx="2016125" cy="16192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50" dirty="0"/>
              <a:t>руб.</a:t>
            </a:r>
            <a:r>
              <a:rPr lang="en-US" sz="1050" dirty="0"/>
              <a:t>/</a:t>
            </a:r>
            <a:r>
              <a:rPr lang="ru-RU" sz="1050" dirty="0"/>
              <a:t>мес</a:t>
            </a:r>
            <a:r>
              <a:rPr lang="en-US" sz="1050" dirty="0"/>
              <a:t>/</a:t>
            </a:r>
            <a:r>
              <a:rPr lang="ru-RU" sz="1050" dirty="0"/>
              <a:t>квартиру</a:t>
            </a:r>
            <a:endParaRPr lang="ru-RU" sz="1050" baseline="30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01EC69-84CF-4EA4-BE7B-3A5F7F65628D}"/>
              </a:ext>
            </a:extLst>
          </p:cNvPr>
          <p:cNvSpPr txBox="1">
            <a:spLocks/>
          </p:cNvSpPr>
          <p:nvPr/>
        </p:nvSpPr>
        <p:spPr>
          <a:xfrm>
            <a:off x="10184629" y="1844675"/>
            <a:ext cx="1733546" cy="16097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1200" dirty="0">
                <a:latin typeface="Verdana"/>
              </a:rPr>
              <a:t>1) застройщиком на этапе строительства (требует доп. проектных решений) </a:t>
            </a:r>
            <a:br>
              <a:rPr lang="ru-RU" sz="1200" dirty="0">
                <a:latin typeface="Verdana"/>
              </a:rPr>
            </a:br>
            <a:br>
              <a:rPr lang="ru-RU" sz="1200" dirty="0">
                <a:latin typeface="Verdana"/>
              </a:rPr>
            </a:br>
            <a:r>
              <a:rPr lang="ru-RU" sz="1200" dirty="0">
                <a:latin typeface="Verdana"/>
              </a:rPr>
              <a:t>2) за счет жителей при утверждении на ОСС</a:t>
            </a:r>
            <a:endParaRPr kumimoji="0" lang="ru-RU" sz="1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DE9252-1EB4-4CF6-85DB-57F189328359}"/>
              </a:ext>
            </a:extLst>
          </p:cNvPr>
          <p:cNvSpPr txBox="1">
            <a:spLocks/>
          </p:cNvSpPr>
          <p:nvPr/>
        </p:nvSpPr>
        <p:spPr>
          <a:xfrm>
            <a:off x="10184629" y="1281113"/>
            <a:ext cx="1711593" cy="3905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Возм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. </a:t>
            </a:r>
            <a:r>
              <a:rPr lang="ru-RU" sz="1200" b="1" dirty="0">
                <a:solidFill>
                  <a:schemeClr val="accent3"/>
                </a:solidFill>
                <a:latin typeface="Verdana"/>
              </a:rPr>
              <a:t>и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сточники финансирования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74FA656-F50F-490C-A930-BC020CD1C568}"/>
              </a:ext>
            </a:extLst>
          </p:cNvPr>
          <p:cNvSpPr txBox="1">
            <a:spLocks/>
          </p:cNvSpPr>
          <p:nvPr/>
        </p:nvSpPr>
        <p:spPr>
          <a:xfrm>
            <a:off x="10184629" y="3992563"/>
            <a:ext cx="1733547" cy="168592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1) за счет жителей (вкл. в городской тариф) </a:t>
            </a:r>
            <a:b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b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2) </a:t>
            </a:r>
            <a:r>
              <a:rPr lang="ru-RU" sz="1200" dirty="0">
                <a:latin typeface="Verdana"/>
              </a:rPr>
              <a:t>з</a:t>
            </a: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а счет текущего тарифа на </a:t>
            </a:r>
            <a:r>
              <a:rPr kumimoji="0" lang="ru-RU" sz="12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обсл</a:t>
            </a:r>
            <a:r>
              <a:rPr lang="ru-RU" sz="1200" dirty="0">
                <a:latin typeface="Verdana"/>
              </a:rPr>
              <a:t>уж. общедомового имущества</a:t>
            </a:r>
            <a:b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b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</a:br>
            <a:r>
              <a:rPr kumimoji="0" lang="ru-RU" sz="12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3) субсидирование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4FEE67D-C03D-457F-89F4-888532BE7CB7}"/>
              </a:ext>
            </a:extLst>
          </p:cNvPr>
          <p:cNvCxnSpPr>
            <a:cxnSpLocks/>
          </p:cNvCxnSpPr>
          <p:nvPr/>
        </p:nvCxnSpPr>
        <p:spPr>
          <a:xfrm flipH="1">
            <a:off x="3270966" y="1704975"/>
            <a:ext cx="6512797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E6E8B14-1595-4169-B063-B9B5C48CB38F}"/>
              </a:ext>
            </a:extLst>
          </p:cNvPr>
          <p:cNvCxnSpPr>
            <a:cxnSpLocks/>
          </p:cNvCxnSpPr>
          <p:nvPr/>
        </p:nvCxnSpPr>
        <p:spPr>
          <a:xfrm flipH="1">
            <a:off x="10184629" y="1704975"/>
            <a:ext cx="1711593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172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A870A0A5-5BE6-45E2-BE47-92F70B56AC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9084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6" progId="TCLayout.ActiveDocument.1">
                  <p:embed/>
                </p:oleObj>
              </mc:Choice>
              <mc:Fallback>
                <p:oleObj name="think-cell Slide" r:id="rId20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A870A0A5-5BE6-45E2-BE47-92F70B56A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3A64A4BA-4911-44E9-B5EE-BF2872AC810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Предварительная оценка стоимости эксплуатации сервисов «умного дома» на квартиру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34362898-5304-4B1A-8140-31BAD1FFAD48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Оценка затрат на масштабирование сервисов </a:t>
            </a:r>
          </a:p>
        </p:txBody>
      </p:sp>
      <p:graphicFrame>
        <p:nvGraphicFramePr>
          <p:cNvPr id="81" name="Chart 80">
            <a:extLst>
              <a:ext uri="{FF2B5EF4-FFF2-40B4-BE49-F238E27FC236}">
                <a16:creationId xmlns:a16="http://schemas.microsoft.com/office/drawing/2014/main" id="{D8A0A78A-8AA3-459F-AAD8-6DEB49FAEE4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08246483"/>
              </p:ext>
            </p:extLst>
          </p:nvPr>
        </p:nvGraphicFramePr>
        <p:xfrm>
          <a:off x="431800" y="2597150"/>
          <a:ext cx="2190750" cy="326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3D88839F-72F1-474C-A1E0-64885E2A1B6A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1060450" y="2625725"/>
            <a:ext cx="238125" cy="182563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A104E34-6C40-4693-866B-05CF4A268A02}" type="datetime'''''''''''''''''''''''''''''''''2''''''''0'''''''''''''''">
              <a:rPr lang="ru-RU" altLang="en-US" sz="1200" smtClean="0">
                <a:effectLst/>
              </a:rPr>
              <a:pPr/>
              <a:t>20</a:t>
            </a:fld>
            <a:endParaRPr lang="ru-RU" sz="1200" dirty="0"/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7EBF1B03-B026-4A02-B703-7FA83C2C1007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1770063" y="2720975"/>
            <a:ext cx="209550" cy="182563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200" dirty="0"/>
              <a:t>??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035E6EEA-A468-4093-9A74-E8C57249C7D1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1060450" y="2843213"/>
            <a:ext cx="238125" cy="182563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236D04C-E5BE-48DD-A5C6-088C47435DC1}" type="datetime'''''''''''3''''''4'''''''''''''''''''''''''''''">
              <a:rPr lang="ru-RU" altLang="en-US" sz="1200" smtClean="0">
                <a:effectLst/>
              </a:rPr>
              <a:pPr/>
              <a:t>34</a:t>
            </a:fld>
            <a:endParaRPr lang="ru-RU" sz="1200" dirty="0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1408113" y="3019425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effectLst/>
              </a:rPr>
              <a:t>45</a:t>
            </a:r>
            <a:endParaRPr lang="ru-RU" sz="1200" dirty="0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1408113" y="3290888"/>
            <a:ext cx="238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bg1"/>
                </a:solidFill>
                <a:effectLst/>
              </a:rPr>
              <a:t>69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4DB8B76-DD36-4399-97DD-96DF89308DA7}"/>
              </a:ext>
            </a:extLst>
          </p:cNvPr>
          <p:cNvCxnSpPr>
            <a:cxnSpLocks/>
          </p:cNvCxnSpPr>
          <p:nvPr/>
        </p:nvCxnSpPr>
        <p:spPr>
          <a:xfrm flipH="1">
            <a:off x="554734" y="2239963"/>
            <a:ext cx="111060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886F4EA-2D77-400D-BF49-13DDDD7DA871}"/>
              </a:ext>
            </a:extLst>
          </p:cNvPr>
          <p:cNvSpPr txBox="1">
            <a:spLocks/>
          </p:cNvSpPr>
          <p:nvPr/>
        </p:nvSpPr>
        <p:spPr>
          <a:xfrm>
            <a:off x="554734" y="1528762"/>
            <a:ext cx="2113660" cy="61595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rgbClr val="C92723"/>
                </a:solidFill>
              </a:rPr>
              <a:t>Стоимость эксплу</a:t>
            </a:r>
            <a:r>
              <a:rPr lang="en-US" b="1" dirty="0">
                <a:solidFill>
                  <a:srgbClr val="C92723"/>
                </a:solidFill>
              </a:rPr>
              <a:t>-</a:t>
            </a:r>
            <a:r>
              <a:rPr lang="ru-RU" b="1" dirty="0">
                <a:solidFill>
                  <a:srgbClr val="C92723"/>
                </a:solidFill>
              </a:rPr>
              <a:t>атации на квартиру, </a:t>
            </a:r>
            <a:br>
              <a:rPr lang="ru-RU" b="1" dirty="0">
                <a:solidFill>
                  <a:srgbClr val="C92723"/>
                </a:solidFill>
              </a:rPr>
            </a:br>
            <a:r>
              <a:rPr lang="ru-RU" sz="1200" dirty="0"/>
              <a:t>руб. в месяц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0EBAFD-8DB3-4E43-A962-C1BA0CAADCA4}"/>
              </a:ext>
            </a:extLst>
          </p:cNvPr>
          <p:cNvSpPr txBox="1">
            <a:spLocks/>
          </p:cNvSpPr>
          <p:nvPr/>
        </p:nvSpPr>
        <p:spPr>
          <a:xfrm>
            <a:off x="10244060" y="1712912"/>
            <a:ext cx="1393202" cy="4318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rgbClr val="C92723"/>
                </a:solidFill>
              </a:rPr>
              <a:t>Утверждение с продуктами ДИТ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+mn-l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B549321-421D-4075-9E9B-4CDF8EF36D61}"/>
              </a:ext>
            </a:extLst>
          </p:cNvPr>
          <p:cNvGrpSpPr/>
          <p:nvPr/>
        </p:nvGrpSpPr>
        <p:grpSpPr>
          <a:xfrm>
            <a:off x="2760618" y="2705100"/>
            <a:ext cx="8902744" cy="2662238"/>
            <a:chOff x="2734491" y="2542580"/>
            <a:chExt cx="9269348" cy="2663441"/>
          </a:xfrm>
        </p:grpSpPr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9B9A88DD-6DE3-4077-AF68-F894979C52BC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2985986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997D5E2-2160-4FB3-A582-5774AC02F68F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3429392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3B7BE11D-75D4-429B-A092-5AC80CA68302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3872798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3928B25-0685-4037-A61C-2D527E050F6B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4316204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1915ED4D-1844-41D3-A5A0-673B3A602AFA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4762615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B6FAE38-2BC6-4589-B1F7-5FB9EDBDFA20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5206021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CFAC586-276F-4DF4-BA44-5E5A9237B130}"/>
                </a:ext>
              </a:extLst>
            </p:cNvPr>
            <p:cNvCxnSpPr>
              <a:cxnSpLocks/>
            </p:cNvCxnSpPr>
            <p:nvPr/>
          </p:nvCxnSpPr>
          <p:spPr>
            <a:xfrm>
              <a:off x="2734491" y="2542580"/>
              <a:ext cx="9269348" cy="0"/>
            </a:xfrm>
            <a:prstGeom prst="line">
              <a:avLst/>
            </a:prstGeom>
            <a:noFill/>
            <a:ln w="6350" cap="flat" cmpd="sng" algn="ctr">
              <a:solidFill>
                <a:schemeClr val="accent6"/>
              </a:solidFill>
              <a:prstDash val="solid"/>
            </a:ln>
            <a:effectLst/>
          </p:spPr>
        </p:cxnSp>
      </p:grpSp>
      <p:pic>
        <p:nvPicPr>
          <p:cNvPr id="52" name="CustomIcon">
            <a:extLst>
              <a:ext uri="{FF2B5EF4-FFF2-40B4-BE49-F238E27FC236}">
                <a16:creationId xmlns:a16="http://schemas.microsoft.com/office/drawing/2014/main" id="{51E315F6-E455-4B7E-936B-B6DCC57B8C3B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3228076"/>
            <a:ext cx="300544" cy="300038"/>
          </a:xfrm>
          <a:prstGeom prst="rect">
            <a:avLst/>
          </a:prstGeom>
        </p:spPr>
      </p:pic>
      <p:pic>
        <p:nvPicPr>
          <p:cNvPr id="115" name="CustomIcon">
            <a:extLst>
              <a:ext uri="{FF2B5EF4-FFF2-40B4-BE49-F238E27FC236}">
                <a16:creationId xmlns:a16="http://schemas.microsoft.com/office/drawing/2014/main" id="{ED779FD6-9363-453B-BB02-2A95C020DA52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5447401"/>
            <a:ext cx="300544" cy="301625"/>
          </a:xfrm>
          <a:prstGeom prst="rect">
            <a:avLst/>
          </a:prstGeom>
        </p:spPr>
      </p:pic>
      <p:pic>
        <p:nvPicPr>
          <p:cNvPr id="116" name="CustomIcon">
            <a:extLst>
              <a:ext uri="{FF2B5EF4-FFF2-40B4-BE49-F238E27FC236}">
                <a16:creationId xmlns:a16="http://schemas.microsoft.com/office/drawing/2014/main" id="{CF11A2BA-C404-418A-AFBA-3D3135F9F43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4558401"/>
            <a:ext cx="300544" cy="303213"/>
          </a:xfrm>
          <a:prstGeom prst="rect">
            <a:avLst/>
          </a:prstGeom>
        </p:spPr>
      </p:pic>
      <p:pic>
        <p:nvPicPr>
          <p:cNvPr id="117" name="CustomIcon">
            <a:extLst>
              <a:ext uri="{FF2B5EF4-FFF2-40B4-BE49-F238E27FC236}">
                <a16:creationId xmlns:a16="http://schemas.microsoft.com/office/drawing/2014/main" id="{8DECD30D-AB73-4D33-86E0-D8FBE7177A7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3670989"/>
            <a:ext cx="300544" cy="301625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4A0E96FB-C1FD-470D-99DF-F56E9BD4F455}"/>
              </a:ext>
            </a:extLst>
          </p:cNvPr>
          <p:cNvSpPr txBox="1">
            <a:spLocks/>
          </p:cNvSpPr>
          <p:nvPr/>
        </p:nvSpPr>
        <p:spPr>
          <a:xfrm>
            <a:off x="2956017" y="1928813"/>
            <a:ext cx="3118787" cy="2159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rgbClr val="C92723"/>
                </a:solidFill>
              </a:rPr>
              <a:t>Сервис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+mn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FEEF877-1352-42AF-9488-10A539F3DF89}"/>
              </a:ext>
            </a:extLst>
          </p:cNvPr>
          <p:cNvSpPr txBox="1">
            <a:spLocks/>
          </p:cNvSpPr>
          <p:nvPr/>
        </p:nvSpPr>
        <p:spPr>
          <a:xfrm>
            <a:off x="2956017" y="3222625"/>
            <a:ext cx="3118787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Видеонаблюдение в подъезде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FC291-DA22-4B6F-91E2-BF0AD7E795EE}"/>
              </a:ext>
            </a:extLst>
          </p:cNvPr>
          <p:cNvSpPr txBox="1">
            <a:spLocks/>
          </p:cNvSpPr>
          <p:nvPr/>
        </p:nvSpPr>
        <p:spPr>
          <a:xfrm>
            <a:off x="2956017" y="2779713"/>
            <a:ext cx="3118787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Контроль вывоза и наполнения баков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7213D-E075-40C4-A4D0-6923BA069015}"/>
              </a:ext>
            </a:extLst>
          </p:cNvPr>
          <p:cNvSpPr txBox="1">
            <a:spLocks/>
          </p:cNvSpPr>
          <p:nvPr/>
        </p:nvSpPr>
        <p:spPr>
          <a:xfrm>
            <a:off x="2956017" y="2335213"/>
            <a:ext cx="3118787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«Умные» счетчики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F48D0D-9571-47E4-ACF3-518E8580D99D}"/>
              </a:ext>
            </a:extLst>
          </p:cNvPr>
          <p:cNvSpPr txBox="1">
            <a:spLocks/>
          </p:cNvSpPr>
          <p:nvPr/>
        </p:nvSpPr>
        <p:spPr>
          <a:xfrm>
            <a:off x="2956017" y="5002213"/>
            <a:ext cx="3118787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«Умное освещение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AC351-567A-4C09-B17C-FAE9C7C873CE}"/>
              </a:ext>
            </a:extLst>
          </p:cNvPr>
          <p:cNvSpPr txBox="1">
            <a:spLocks/>
          </p:cNvSpPr>
          <p:nvPr/>
        </p:nvSpPr>
        <p:spPr>
          <a:xfrm>
            <a:off x="2956017" y="5441950"/>
            <a:ext cx="3118787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Общегородской </a:t>
            </a:r>
            <a:r>
              <a:rPr lang="en-US" sz="1200" dirty="0"/>
              <a:t>Wi-Fi </a:t>
            </a:r>
            <a:r>
              <a:rPr lang="ru-RU" sz="1200" dirty="0"/>
              <a:t>во дворе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4829D-9195-4A72-90EE-97CF1B1D3D3E}"/>
              </a:ext>
            </a:extLst>
          </p:cNvPr>
          <p:cNvSpPr txBox="1">
            <a:spLocks/>
          </p:cNvSpPr>
          <p:nvPr/>
        </p:nvSpPr>
        <p:spPr>
          <a:xfrm>
            <a:off x="2956017" y="4554538"/>
            <a:ext cx="3118787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Мониторинг парковочных мест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918B3F-B223-45E5-8173-17C02BB50689}"/>
              </a:ext>
            </a:extLst>
          </p:cNvPr>
          <p:cNvSpPr txBox="1">
            <a:spLocks/>
          </p:cNvSpPr>
          <p:nvPr/>
        </p:nvSpPr>
        <p:spPr>
          <a:xfrm>
            <a:off x="2956017" y="3665538"/>
            <a:ext cx="3118787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Видеодомофон в телефоне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5F9F65-CCC7-4D21-A591-2AF3236D3A92}"/>
              </a:ext>
            </a:extLst>
          </p:cNvPr>
          <p:cNvSpPr txBox="1">
            <a:spLocks/>
          </p:cNvSpPr>
          <p:nvPr/>
        </p:nvSpPr>
        <p:spPr>
          <a:xfrm>
            <a:off x="2956017" y="4110038"/>
            <a:ext cx="3118787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«Умный» шлагбаум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4FA8826-2331-41CF-A7F0-687DF1309751}"/>
              </a:ext>
            </a:extLst>
          </p:cNvPr>
          <p:cNvSpPr txBox="1">
            <a:spLocks/>
          </p:cNvSpPr>
          <p:nvPr/>
        </p:nvSpPr>
        <p:spPr>
          <a:xfrm>
            <a:off x="8003781" y="1712912"/>
            <a:ext cx="1950885" cy="4318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rgbClr val="C92723"/>
                </a:solidFill>
              </a:rPr>
              <a:t>Источник оценки стоимости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+mn-lt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8DE707-00E0-41AA-BA28-2B4A54E23960}"/>
              </a:ext>
            </a:extLst>
          </p:cNvPr>
          <p:cNvSpPr txBox="1">
            <a:spLocks/>
          </p:cNvSpPr>
          <p:nvPr/>
        </p:nvSpPr>
        <p:spPr>
          <a:xfrm>
            <a:off x="8003782" y="3222625"/>
            <a:ext cx="1950885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Экспертная оценка ДИТ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667CF2-F8B9-49CD-9A20-5664C6D07004}"/>
              </a:ext>
            </a:extLst>
          </p:cNvPr>
          <p:cNvSpPr txBox="1">
            <a:spLocks/>
          </p:cNvSpPr>
          <p:nvPr/>
        </p:nvSpPr>
        <p:spPr>
          <a:xfrm>
            <a:off x="8003782" y="2779713"/>
            <a:ext cx="1950885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Экспертная оценка ДИТ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E6575C-CFD0-48B3-8E3C-19B7F719814E}"/>
              </a:ext>
            </a:extLst>
          </p:cNvPr>
          <p:cNvSpPr txBox="1">
            <a:spLocks/>
          </p:cNvSpPr>
          <p:nvPr/>
        </p:nvSpPr>
        <p:spPr>
          <a:xfrm>
            <a:off x="8003781" y="2335213"/>
            <a:ext cx="1950885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Экспертная оценка ДИТ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E529A-4BBE-4DE9-AA31-95B92AA39004}"/>
              </a:ext>
            </a:extLst>
          </p:cNvPr>
          <p:cNvSpPr txBox="1">
            <a:spLocks/>
          </p:cNvSpPr>
          <p:nvPr/>
        </p:nvSpPr>
        <p:spPr>
          <a:xfrm>
            <a:off x="8003781" y="5002213"/>
            <a:ext cx="1950885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1 КП от поставщика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AE759C-AF55-43A4-A560-BFD726FBE4FE}"/>
              </a:ext>
            </a:extLst>
          </p:cNvPr>
          <p:cNvSpPr txBox="1">
            <a:spLocks/>
          </p:cNvSpPr>
          <p:nvPr/>
        </p:nvSpPr>
        <p:spPr>
          <a:xfrm>
            <a:off x="8003781" y="5441950"/>
            <a:ext cx="1950885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Экспертная оценка ДИТ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636937-E3CB-4D7A-88D7-0956EEC2A3EE}"/>
              </a:ext>
            </a:extLst>
          </p:cNvPr>
          <p:cNvSpPr txBox="1">
            <a:spLocks/>
          </p:cNvSpPr>
          <p:nvPr/>
        </p:nvSpPr>
        <p:spPr>
          <a:xfrm>
            <a:off x="8003781" y="4554538"/>
            <a:ext cx="1950885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2 КП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843665-E343-4D38-911B-6CDF9317C679}"/>
              </a:ext>
            </a:extLst>
          </p:cNvPr>
          <p:cNvSpPr txBox="1">
            <a:spLocks/>
          </p:cNvSpPr>
          <p:nvPr/>
        </p:nvSpPr>
        <p:spPr>
          <a:xfrm>
            <a:off x="8003781" y="3665538"/>
            <a:ext cx="1950885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1 КП от поставщика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174C44-1D1D-42F2-8BBC-A606C4D939B1}"/>
              </a:ext>
            </a:extLst>
          </p:cNvPr>
          <p:cNvSpPr txBox="1">
            <a:spLocks/>
          </p:cNvSpPr>
          <p:nvPr/>
        </p:nvSpPr>
        <p:spPr>
          <a:xfrm>
            <a:off x="8003781" y="4110038"/>
            <a:ext cx="1950885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Экспертная оценка ДИТ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AEE646A-1B79-4BDA-A818-0E338C643398}"/>
              </a:ext>
            </a:extLst>
          </p:cNvPr>
          <p:cNvSpPr txBox="1">
            <a:spLocks/>
          </p:cNvSpPr>
          <p:nvPr/>
        </p:nvSpPr>
        <p:spPr>
          <a:xfrm>
            <a:off x="6364197" y="1498600"/>
            <a:ext cx="1350191" cy="64611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b="1" dirty="0">
                <a:solidFill>
                  <a:srgbClr val="C92723"/>
                </a:solidFill>
              </a:rPr>
              <a:t>Доля серви-са в общей стоимости</a:t>
            </a:r>
            <a:r>
              <a:rPr lang="ru-RU" dirty="0">
                <a:solidFill>
                  <a:srgbClr val="C92723"/>
                </a:solidFill>
              </a:rPr>
              <a:t>, </a:t>
            </a:r>
            <a:r>
              <a:rPr lang="ru-RU" sz="1200" dirty="0"/>
              <a:t>%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sym typeface="+mn-lt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143990-9941-4620-8CEA-D63057CAE948}"/>
              </a:ext>
            </a:extLst>
          </p:cNvPr>
          <p:cNvSpPr txBox="1">
            <a:spLocks/>
          </p:cNvSpPr>
          <p:nvPr/>
        </p:nvSpPr>
        <p:spPr>
          <a:xfrm>
            <a:off x="6746463" y="3222625"/>
            <a:ext cx="585659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3%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BBE5CD-5244-40B4-BF34-9DE4B9E75598}"/>
              </a:ext>
            </a:extLst>
          </p:cNvPr>
          <p:cNvSpPr txBox="1">
            <a:spLocks/>
          </p:cNvSpPr>
          <p:nvPr/>
        </p:nvSpPr>
        <p:spPr>
          <a:xfrm>
            <a:off x="6746463" y="2779713"/>
            <a:ext cx="585659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?</a:t>
            </a:r>
            <a:r>
              <a:rPr lang="ru-RU" b="1" baseline="30000" dirty="0"/>
              <a:t>1</a:t>
            </a:r>
            <a:r>
              <a:rPr lang="ru-RU" b="1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90F6E5-1F4D-4328-AB8C-7362955AACCE}"/>
              </a:ext>
            </a:extLst>
          </p:cNvPr>
          <p:cNvSpPr txBox="1">
            <a:spLocks/>
          </p:cNvSpPr>
          <p:nvPr/>
        </p:nvSpPr>
        <p:spPr>
          <a:xfrm>
            <a:off x="6746463" y="2335213"/>
            <a:ext cx="585659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2%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A78BF9-8B64-4DEF-83DA-B2CA75D0EE0C}"/>
              </a:ext>
            </a:extLst>
          </p:cNvPr>
          <p:cNvSpPr txBox="1">
            <a:spLocks/>
          </p:cNvSpPr>
          <p:nvPr/>
        </p:nvSpPr>
        <p:spPr>
          <a:xfrm>
            <a:off x="6746463" y="5002213"/>
            <a:ext cx="585659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15%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E4F2BC-D62A-4203-97D0-E059AF65F8F9}"/>
              </a:ext>
            </a:extLst>
          </p:cNvPr>
          <p:cNvSpPr txBox="1">
            <a:spLocks/>
          </p:cNvSpPr>
          <p:nvPr/>
        </p:nvSpPr>
        <p:spPr>
          <a:xfrm>
            <a:off x="6746463" y="5441950"/>
            <a:ext cx="585659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34%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A989AB-DEE0-4CB6-8091-040516DF795B}"/>
              </a:ext>
            </a:extLst>
          </p:cNvPr>
          <p:cNvSpPr txBox="1">
            <a:spLocks/>
          </p:cNvSpPr>
          <p:nvPr/>
        </p:nvSpPr>
        <p:spPr>
          <a:xfrm>
            <a:off x="6746463" y="4554538"/>
            <a:ext cx="585659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13%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48861E-53A8-4386-A24B-38C180BD5871}"/>
              </a:ext>
            </a:extLst>
          </p:cNvPr>
          <p:cNvSpPr txBox="1">
            <a:spLocks/>
          </p:cNvSpPr>
          <p:nvPr/>
        </p:nvSpPr>
        <p:spPr>
          <a:xfrm>
            <a:off x="6746463" y="3665538"/>
            <a:ext cx="585659" cy="29527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6%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7E4FD5-9CFC-48F6-BE65-279C11F14C33}"/>
              </a:ext>
            </a:extLst>
          </p:cNvPr>
          <p:cNvSpPr txBox="1">
            <a:spLocks/>
          </p:cNvSpPr>
          <p:nvPr/>
        </p:nvSpPr>
        <p:spPr>
          <a:xfrm>
            <a:off x="6746463" y="4110038"/>
            <a:ext cx="585659" cy="2936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b="1" dirty="0"/>
              <a:t>9%</a:t>
            </a:r>
          </a:p>
        </p:txBody>
      </p:sp>
      <p:pic>
        <p:nvPicPr>
          <p:cNvPr id="118" name="CustomIcon">
            <a:extLst>
              <a:ext uri="{FF2B5EF4-FFF2-40B4-BE49-F238E27FC236}">
                <a16:creationId xmlns:a16="http://schemas.microsoft.com/office/drawing/2014/main" id="{0145FC43-55C5-4AE1-A9EB-5A158475DC9E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4115489"/>
            <a:ext cx="300544" cy="300038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5974C69D-1146-4080-923B-5E02F796DE5A}"/>
              </a:ext>
            </a:extLst>
          </p:cNvPr>
          <p:cNvSpPr txBox="1"/>
          <p:nvPr/>
        </p:nvSpPr>
        <p:spPr>
          <a:xfrm>
            <a:off x="1414590" y="2319338"/>
            <a:ext cx="437620" cy="24606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600" b="1" dirty="0">
                <a:solidFill>
                  <a:schemeClr val="accent3"/>
                </a:solidFill>
              </a:rPr>
              <a:t>76</a:t>
            </a:r>
            <a:r>
              <a:rPr lang="en-US" sz="1600" b="1" dirty="0">
                <a:solidFill>
                  <a:schemeClr val="accent3"/>
                </a:solidFill>
              </a:rPr>
              <a:t>9</a:t>
            </a:r>
            <a:endParaRPr lang="ru-RU" sz="1600" b="1" dirty="0">
              <a:solidFill>
                <a:schemeClr val="accent3"/>
              </a:solidFill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B52401E-F481-4CC2-B651-997A1F3AA184}"/>
              </a:ext>
            </a:extLst>
          </p:cNvPr>
          <p:cNvCxnSpPr>
            <a:cxnSpLocks/>
          </p:cNvCxnSpPr>
          <p:nvPr/>
        </p:nvCxnSpPr>
        <p:spPr>
          <a:xfrm flipV="1">
            <a:off x="2211976" y="2705100"/>
            <a:ext cx="550273" cy="53975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2DC8631-A2F6-464A-A151-7C8A903B88B5}"/>
              </a:ext>
            </a:extLst>
          </p:cNvPr>
          <p:cNvCxnSpPr>
            <a:cxnSpLocks/>
          </p:cNvCxnSpPr>
          <p:nvPr/>
        </p:nvCxnSpPr>
        <p:spPr>
          <a:xfrm>
            <a:off x="2211976" y="2862263"/>
            <a:ext cx="550273" cy="284163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BEB2326-8031-4055-ABEB-16361899FB75}"/>
              </a:ext>
            </a:extLst>
          </p:cNvPr>
          <p:cNvCxnSpPr>
            <a:cxnSpLocks/>
          </p:cNvCxnSpPr>
          <p:nvPr/>
        </p:nvCxnSpPr>
        <p:spPr>
          <a:xfrm>
            <a:off x="2211976" y="2998788"/>
            <a:ext cx="550273" cy="592138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25FEB2F-C5D9-4E23-9BA8-722D64B48700}"/>
              </a:ext>
            </a:extLst>
          </p:cNvPr>
          <p:cNvCxnSpPr>
            <a:cxnSpLocks/>
          </p:cNvCxnSpPr>
          <p:nvPr/>
        </p:nvCxnSpPr>
        <p:spPr>
          <a:xfrm>
            <a:off x="2211976" y="3235325"/>
            <a:ext cx="550273" cy="803275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CA52ECB-CD93-4F25-AF74-323D93964BFF}"/>
              </a:ext>
            </a:extLst>
          </p:cNvPr>
          <p:cNvCxnSpPr>
            <a:cxnSpLocks/>
          </p:cNvCxnSpPr>
          <p:nvPr/>
        </p:nvCxnSpPr>
        <p:spPr>
          <a:xfrm>
            <a:off x="2211976" y="4010025"/>
            <a:ext cx="550273" cy="911225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5F67633-BB55-4327-A9CD-D64627C4FF56}"/>
              </a:ext>
            </a:extLst>
          </p:cNvPr>
          <p:cNvCxnSpPr>
            <a:cxnSpLocks/>
          </p:cNvCxnSpPr>
          <p:nvPr/>
        </p:nvCxnSpPr>
        <p:spPr>
          <a:xfrm>
            <a:off x="2211976" y="4543425"/>
            <a:ext cx="550273" cy="822325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6FD49B5-DF48-4917-8869-720D9EF6F21A}"/>
              </a:ext>
            </a:extLst>
          </p:cNvPr>
          <p:cNvCxnSpPr>
            <a:cxnSpLocks/>
          </p:cNvCxnSpPr>
          <p:nvPr/>
        </p:nvCxnSpPr>
        <p:spPr>
          <a:xfrm>
            <a:off x="2211976" y="3530600"/>
            <a:ext cx="550273" cy="94615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71AB25F-B7C5-4938-94FC-8FD43EEAB213}"/>
              </a:ext>
            </a:extLst>
          </p:cNvPr>
          <p:cNvSpPr>
            <a:spLocks/>
          </p:cNvSpPr>
          <p:nvPr/>
        </p:nvSpPr>
        <p:spPr>
          <a:xfrm>
            <a:off x="2808872" y="4995863"/>
            <a:ext cx="45719" cy="30003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FFD960A-4F93-4875-BF1F-910CAFABEDD7}"/>
              </a:ext>
            </a:extLst>
          </p:cNvPr>
          <p:cNvSpPr>
            <a:spLocks/>
          </p:cNvSpPr>
          <p:nvPr/>
        </p:nvSpPr>
        <p:spPr>
          <a:xfrm>
            <a:off x="2808872" y="5438775"/>
            <a:ext cx="45719" cy="301625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6D08BD0-110F-4B7C-8A5B-4B281A4A5B67}"/>
              </a:ext>
            </a:extLst>
          </p:cNvPr>
          <p:cNvSpPr>
            <a:spLocks/>
          </p:cNvSpPr>
          <p:nvPr/>
        </p:nvSpPr>
        <p:spPr>
          <a:xfrm>
            <a:off x="2808872" y="4551363"/>
            <a:ext cx="45719" cy="301625"/>
          </a:xfrm>
          <a:prstGeom prst="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39D66B3-0B17-4E99-B627-9C7250AB6CDA}"/>
              </a:ext>
            </a:extLst>
          </p:cNvPr>
          <p:cNvSpPr>
            <a:spLocks/>
          </p:cNvSpPr>
          <p:nvPr/>
        </p:nvSpPr>
        <p:spPr>
          <a:xfrm>
            <a:off x="2808872" y="4108450"/>
            <a:ext cx="45719" cy="300038"/>
          </a:xfrm>
          <a:prstGeom prst="rect">
            <a:avLst/>
          </a:prstGeom>
          <a:solidFill>
            <a:srgbClr val="4D4D4D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72C3BC4-37C5-4950-A52A-D35B47BE8FD5}"/>
              </a:ext>
            </a:extLst>
          </p:cNvPr>
          <p:cNvSpPr>
            <a:spLocks/>
          </p:cNvSpPr>
          <p:nvPr/>
        </p:nvSpPr>
        <p:spPr>
          <a:xfrm>
            <a:off x="2808872" y="3663950"/>
            <a:ext cx="45719" cy="300038"/>
          </a:xfrm>
          <a:prstGeom prst="rect">
            <a:avLst/>
          </a:prstGeom>
          <a:solidFill>
            <a:srgbClr val="7F7F7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BF4D114-D2E7-40AD-BBA5-0ECB8C4E0962}"/>
              </a:ext>
            </a:extLst>
          </p:cNvPr>
          <p:cNvSpPr>
            <a:spLocks/>
          </p:cNvSpPr>
          <p:nvPr/>
        </p:nvSpPr>
        <p:spPr>
          <a:xfrm>
            <a:off x="2808872" y="3219450"/>
            <a:ext cx="45719" cy="301625"/>
          </a:xfrm>
          <a:prstGeom prst="rect">
            <a:avLst/>
          </a:prstGeom>
          <a:solidFill>
            <a:srgbClr val="B3B3B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E210340-FEC9-4CEE-8ECE-9C7C560EA2E2}"/>
              </a:ext>
            </a:extLst>
          </p:cNvPr>
          <p:cNvSpPr>
            <a:spLocks/>
          </p:cNvSpPr>
          <p:nvPr/>
        </p:nvSpPr>
        <p:spPr>
          <a:xfrm>
            <a:off x="2808872" y="2776538"/>
            <a:ext cx="45719" cy="300038"/>
          </a:xfrm>
          <a:prstGeom prst="rect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32C4B69-C3B2-4A86-BE84-16D4E8769B94}"/>
              </a:ext>
            </a:extLst>
          </p:cNvPr>
          <p:cNvSpPr>
            <a:spLocks/>
          </p:cNvSpPr>
          <p:nvPr/>
        </p:nvSpPr>
        <p:spPr>
          <a:xfrm>
            <a:off x="2808872" y="2332038"/>
            <a:ext cx="45719" cy="301625"/>
          </a:xfrm>
          <a:prstGeom prst="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>
              <a:solidFill>
                <a:schemeClr val="bg1"/>
              </a:solidFill>
            </a:endParaRPr>
          </a:p>
        </p:txBody>
      </p:sp>
      <p:pic>
        <p:nvPicPr>
          <p:cNvPr id="78" name="CustomIcon">
            <a:extLst>
              <a:ext uri="{FF2B5EF4-FFF2-40B4-BE49-F238E27FC236}">
                <a16:creationId xmlns:a16="http://schemas.microsoft.com/office/drawing/2014/main" id="{E5F3A646-30AE-4391-AA98-51E600C44EE4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4999728"/>
            <a:ext cx="300544" cy="301625"/>
          </a:xfrm>
          <a:prstGeom prst="rect">
            <a:avLst/>
          </a:prstGeom>
        </p:spPr>
      </p:pic>
      <p:pic>
        <p:nvPicPr>
          <p:cNvPr id="79" name="CustomIcon">
            <a:extLst>
              <a:ext uri="{FF2B5EF4-FFF2-40B4-BE49-F238E27FC236}">
                <a16:creationId xmlns:a16="http://schemas.microsoft.com/office/drawing/2014/main" id="{1E222290-3C24-450C-9FA4-6C0047E6A234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2788338"/>
            <a:ext cx="300544" cy="301625"/>
          </a:xfrm>
          <a:prstGeom prst="rect">
            <a:avLst/>
          </a:prstGeom>
        </p:spPr>
      </p:pic>
      <p:pic>
        <p:nvPicPr>
          <p:cNvPr id="83" name="CustomIcon">
            <a:extLst>
              <a:ext uri="{FF2B5EF4-FFF2-40B4-BE49-F238E27FC236}">
                <a16:creationId xmlns:a16="http://schemas.microsoft.com/office/drawing/2014/main" id="{CB6A4F27-BCA4-41E8-840D-5CF4C4AD90E2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0389" y="2331433"/>
            <a:ext cx="300544" cy="301625"/>
          </a:xfrm>
          <a:prstGeom prst="rect">
            <a:avLst/>
          </a:prstGeom>
        </p:spPr>
      </p:pic>
      <p:sp>
        <p:nvSpPr>
          <p:cNvPr id="84" name="4. Footnote">
            <a:extLst>
              <a:ext uri="{FF2B5EF4-FFF2-40B4-BE49-F238E27FC236}">
                <a16:creationId xmlns:a16="http://schemas.microsoft.com/office/drawing/2014/main" id="{F3E5B20D-0011-4745-A4B9-745D06646E39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>
                <a:latin typeface="+mn-lt"/>
                <a:ea typeface="+mn-ea"/>
                <a:cs typeface="+mn-cs"/>
                <a:sym typeface="+mn-lt"/>
              </a:rPr>
              <a:t>1.	Сервис реализуется в рамках смежного пилота ДЖКХ, стоимость будет уточнена по его итогам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341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2A2E3F92-F57B-4550-850D-0D59904B04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34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395" imgH="396" progId="TCLayout.ActiveDocument.1">
                  <p:embed/>
                </p:oleObj>
              </mc:Choice>
              <mc:Fallback>
                <p:oleObj name="think-cell Slide" r:id="rId36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2A2E3F92-F57B-4550-850D-0D59904B04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AEFC17AA-B8B4-4A81-9A63-C759308EDDA1}"/>
              </a:ext>
            </a:extLst>
          </p:cNvPr>
          <p:cNvSpPr>
            <a:spLocks/>
          </p:cNvSpPr>
          <p:nvPr/>
        </p:nvSpPr>
        <p:spPr>
          <a:xfrm>
            <a:off x="4350382" y="1671638"/>
            <a:ext cx="3491232" cy="1752600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9525">
            <a:noFill/>
          </a:ln>
          <a:effectLst>
            <a:outerShdw blurRad="139700" sx="102000" sy="102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u-RU" sz="1200" dirty="0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1DCAACD-5250-4AD5-BC7E-E65EB5E7AEED}"/>
              </a:ext>
            </a:extLst>
          </p:cNvPr>
          <p:cNvSpPr>
            <a:spLocks/>
          </p:cNvSpPr>
          <p:nvPr/>
        </p:nvSpPr>
        <p:spPr>
          <a:xfrm>
            <a:off x="8146030" y="1671638"/>
            <a:ext cx="3491232" cy="1752600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9525">
            <a:noFill/>
          </a:ln>
          <a:effectLst>
            <a:outerShdw blurRad="139700" sx="102000" sy="102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u-RU" sz="12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2AF7E08F-E36F-42A2-A383-F67B663C2F35}"/>
              </a:ext>
            </a:extLst>
          </p:cNvPr>
          <p:cNvSpPr>
            <a:spLocks/>
          </p:cNvSpPr>
          <p:nvPr/>
        </p:nvSpPr>
        <p:spPr>
          <a:xfrm>
            <a:off x="554734" y="1671638"/>
            <a:ext cx="3491232" cy="1752600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9525">
            <a:noFill/>
          </a:ln>
          <a:effectLst>
            <a:outerShdw blurRad="139700" sx="102000" sy="102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ru-RU" sz="1200" dirty="0"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3A64A4BA-4911-44E9-B5EE-BF2872AC810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Потенциальный платеж собственника может быть снижен за счет трех рычагов</a:t>
            </a:r>
          </a:p>
        </p:txBody>
      </p:sp>
      <p:sp>
        <p:nvSpPr>
          <p:cNvPr id="344" name="1. On-page tracker">
            <a:extLst>
              <a:ext uri="{FF2B5EF4-FFF2-40B4-BE49-F238E27FC236}">
                <a16:creationId xmlns:a16="http://schemas.microsoft.com/office/drawing/2014/main" id="{06B9C6ED-DA39-4538-AC46-D4A6D96F74A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Оценка затрат на масштабирование сервисов 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9E2F50B-E9D2-456E-A560-F84AD891BFD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162175" y="4397375"/>
            <a:ext cx="527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6416783-ECAE-41B2-B6A7-3270228E793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008438" y="3792538"/>
            <a:ext cx="527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3A8650-0A91-4208-BE48-6A6AE26775F5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856288" y="3851275"/>
            <a:ext cx="527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3B6925-4350-4C8A-A1AD-A5A33AE37D7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704138" y="4143375"/>
            <a:ext cx="527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3913EF3-8ED3-4A25-BAA5-9C6B04071F5B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9550400" y="4222750"/>
            <a:ext cx="5270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B310DF6F-CBA7-4C71-983B-8F2928FC03CE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408995312"/>
              </p:ext>
            </p:extLst>
          </p:nvPr>
        </p:nvGraphicFramePr>
        <p:xfrm>
          <a:off x="495300" y="3709988"/>
          <a:ext cx="11249025" cy="126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 useBgFill="1">
        <p:nvSpPr>
          <p:cNvPr id="7" name="Freeform: Shape 6">
            <a:extLst>
              <a:ext uri="{FF2B5EF4-FFF2-40B4-BE49-F238E27FC236}">
                <a16:creationId xmlns:a16="http://schemas.microsoft.com/office/drawing/2014/main" id="{BF2044B9-4115-44D3-A917-FDBE10225356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790575" y="4424363"/>
            <a:ext cx="1422401" cy="439738"/>
          </a:xfrm>
          <a:custGeom>
            <a:avLst/>
            <a:gdLst/>
            <a:ahLst/>
            <a:cxnLst/>
            <a:rect l="0" t="0" r="0" b="0"/>
            <a:pathLst>
              <a:path w="1422401" h="439738">
                <a:moveTo>
                  <a:pt x="0" y="382587"/>
                </a:moveTo>
                <a:lnTo>
                  <a:pt x="1422400" y="0"/>
                </a:lnTo>
                <a:lnTo>
                  <a:pt x="1422400" y="57150"/>
                </a:lnTo>
                <a:lnTo>
                  <a:pt x="0" y="439737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11D6115-35C8-448E-A5F6-65472729B750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10026650" y="4424363"/>
            <a:ext cx="1422401" cy="439738"/>
          </a:xfrm>
          <a:custGeom>
            <a:avLst/>
            <a:gdLst/>
            <a:ahLst/>
            <a:cxnLst/>
            <a:rect l="0" t="0" r="0" b="0"/>
            <a:pathLst>
              <a:path w="1422401" h="439738">
                <a:moveTo>
                  <a:pt x="0" y="382587"/>
                </a:moveTo>
                <a:lnTo>
                  <a:pt x="1422400" y="0"/>
                </a:lnTo>
                <a:lnTo>
                  <a:pt x="1422400" y="57150"/>
                </a:lnTo>
                <a:lnTo>
                  <a:pt x="0" y="439737"/>
                </a:lnTo>
                <a:close/>
              </a:path>
            </a:pathLst>
          </a:custGeom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A87B304-3273-4CFE-8106-E271F873A547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0575" y="4424363"/>
            <a:ext cx="1422401" cy="382588"/>
          </a:xfrm>
          <a:custGeom>
            <a:avLst/>
            <a:gdLst/>
            <a:ahLst/>
            <a:cxnLst/>
            <a:rect l="0" t="0" r="0" b="0"/>
            <a:pathLst>
              <a:path w="1422401" h="382588">
                <a:moveTo>
                  <a:pt x="0" y="382587"/>
                </a:moveTo>
                <a:lnTo>
                  <a:pt x="142240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2906FF-AA26-404D-85BE-71467BD5CBE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0575" y="4481513"/>
            <a:ext cx="1422401" cy="382588"/>
          </a:xfrm>
          <a:custGeom>
            <a:avLst/>
            <a:gdLst/>
            <a:ahLst/>
            <a:cxnLst/>
            <a:rect l="0" t="0" r="0" b="0"/>
            <a:pathLst>
              <a:path w="1422401" h="382588">
                <a:moveTo>
                  <a:pt x="0" y="382587"/>
                </a:moveTo>
                <a:lnTo>
                  <a:pt x="142240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E22C72-894B-48E2-9F41-7CD80ED01661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0026650" y="4424363"/>
            <a:ext cx="1422401" cy="382588"/>
          </a:xfrm>
          <a:custGeom>
            <a:avLst/>
            <a:gdLst/>
            <a:ahLst/>
            <a:cxnLst/>
            <a:rect l="0" t="0" r="0" b="0"/>
            <a:pathLst>
              <a:path w="1422401" h="382588">
                <a:moveTo>
                  <a:pt x="0" y="382587"/>
                </a:moveTo>
                <a:lnTo>
                  <a:pt x="142240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EA50EE-78C3-4A50-A6B8-5163912F3E27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0026650" y="4481513"/>
            <a:ext cx="1422401" cy="382588"/>
          </a:xfrm>
          <a:custGeom>
            <a:avLst/>
            <a:gdLst/>
            <a:ahLst/>
            <a:cxnLst/>
            <a:rect l="0" t="0" r="0" b="0"/>
            <a:pathLst>
              <a:path w="1422401" h="382588">
                <a:moveTo>
                  <a:pt x="0" y="382587"/>
                </a:moveTo>
                <a:lnTo>
                  <a:pt x="1422400" y="0"/>
                </a:lnTo>
              </a:path>
            </a:pathLst>
          </a:custGeom>
          <a:ln w="9525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2903537" y="3911600"/>
            <a:ext cx="8905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1200" b="1" dirty="0">
                <a:effectLst/>
              </a:rPr>
              <a:t>76</a:t>
            </a:r>
            <a:r>
              <a:rPr lang="en-US" altLang="en-US" sz="1200" b="1" dirty="0">
                <a:effectLst/>
              </a:rPr>
              <a:t>9</a:t>
            </a:r>
            <a:endParaRPr lang="ru-RU" altLang="en-US" sz="1200" b="1" dirty="0">
              <a:effectLst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1200" b="1" dirty="0"/>
              <a:t>р</a:t>
            </a:r>
            <a:r>
              <a:rPr lang="ru-RU" altLang="en-US" sz="1200" b="1" dirty="0">
                <a:effectLst/>
              </a:rPr>
              <a:t>уб.</a:t>
            </a:r>
            <a:r>
              <a:rPr lang="en-US" altLang="en-US" sz="1200" b="1" dirty="0">
                <a:effectLst/>
              </a:rPr>
              <a:t>/</a:t>
            </a:r>
            <a:r>
              <a:rPr lang="ru-RU" altLang="en-US" sz="1200" b="1" dirty="0">
                <a:effectLst/>
              </a:rPr>
              <a:t>мес.</a:t>
            </a:r>
            <a:endParaRPr lang="ru-RU" sz="1200" b="1" dirty="0"/>
          </a:p>
        </p:txBody>
      </p:sp>
      <p:sp>
        <p:nvSpPr>
          <p:cNvPr id="11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1084264" y="4459288"/>
            <a:ext cx="835025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1200" b="1" dirty="0">
                <a:effectLst/>
              </a:rPr>
              <a:t>5 850</a:t>
            </a:r>
            <a:r>
              <a:rPr lang="ru-RU" altLang="en-US" sz="1200" b="1" dirty="0"/>
              <a:t> 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altLang="en-US" sz="1200" b="1" dirty="0"/>
              <a:t>руб.</a:t>
            </a:r>
            <a:r>
              <a:rPr lang="en-US" altLang="en-US" sz="1200" b="1" dirty="0"/>
              <a:t>/</a:t>
            </a:r>
            <a:r>
              <a:rPr lang="ru-RU" altLang="en-US" sz="1200" b="1" dirty="0" err="1"/>
              <a:t>мес</a:t>
            </a:r>
            <a:endParaRPr lang="ru-RU" sz="1200" b="1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625475" y="4938713"/>
            <a:ext cx="17541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ECA490C-B66D-4310-9BBD-FAFAED9052B2}" type="datetime'Ср''едний ''''''плате''ж ЖКУ на к''вар''ти''''ру в Мос''кв''е'">
              <a:rPr lang="ru-RU" altLang="en-US" sz="1200" smtClean="0"/>
              <a:pPr/>
              <a:t>Средний платеж ЖКУ на квартиру в Москве</a:t>
            </a:fld>
            <a:endParaRPr lang="ru-RU" sz="1200" dirty="0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731F6DD8-8EF5-427E-9137-431936F259D4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2781300" y="4938713"/>
            <a:ext cx="1135063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49FC680-A426-4113-92B9-D686B7573E45}" type="datetime'За''''траты'' на'' экс''п''л''у''''ат''а''''цию реш''ени''й'''">
              <a:rPr lang="ru-RU" altLang="en-US" sz="1200" smtClean="0"/>
              <a:pPr/>
              <a:t>Затраты на эксплуатацию решений</a:t>
            </a:fld>
            <a:endParaRPr lang="ru-RU" sz="1200" dirty="0"/>
          </a:p>
        </p:txBody>
      </p:sp>
      <p:sp>
        <p:nvSpPr>
          <p:cNvPr id="264" name="Text Placeholder 4">
            <a:extLst>
              <a:ext uri="{FF2B5EF4-FFF2-40B4-BE49-F238E27FC236}">
                <a16:creationId xmlns:a16="http://schemas.microsoft.com/office/drawing/2014/main" id="{DFAF4DDF-9B5A-4C8A-BC5B-E8D71D02633B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4365625" y="4938713"/>
            <a:ext cx="16621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7C7F22E-7CEC-4943-A4A6-0F57328E5E3A}" type="datetime'''Сн''''иж''е''н''''''''и''''е'''' с''то''''''и''мо''сти'">
              <a:rPr lang="ru-RU" altLang="en-US" sz="1200" smtClean="0"/>
              <a:pPr/>
              <a:t>Снижение стоимости</a:t>
            </a:fld>
            <a:endParaRPr lang="ru-RU" sz="1200" dirty="0"/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A57F8880-D432-4ECB-81EC-9D3C33E8B053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651625" y="4938713"/>
            <a:ext cx="7858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B7052CC-CB49-4A82-B17E-A8E8BA826665}" type="datetime'Э''''''''''''к''''''''он''''''''''''''о''''мия'''''''''">
              <a:rPr lang="ru-RU" altLang="en-US" sz="1200" smtClean="0"/>
              <a:pPr/>
              <a:t>Экономия</a:t>
            </a:fld>
            <a:endParaRPr lang="ru-RU" sz="1200" dirty="0"/>
          </a:p>
        </p:txBody>
      </p:sp>
      <p:sp>
        <p:nvSpPr>
          <p:cNvPr id="270" name="Text Placeholder 4">
            <a:extLst>
              <a:ext uri="{FF2B5EF4-FFF2-40B4-BE49-F238E27FC236}">
                <a16:creationId xmlns:a16="http://schemas.microsoft.com/office/drawing/2014/main" id="{75486AEE-62B8-4A03-AFA2-317A0E97F890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8226425" y="4938713"/>
            <a:ext cx="1327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D684E6A-208A-4465-88FC-7CB546219F72}" type="datetime'''''''С''''уб''''с''и''''д''и''''''''''ро''''в''ани''е'''''">
              <a:rPr lang="ru-RU" altLang="en-US" sz="1200" smtClean="0"/>
              <a:pPr/>
              <a:t>Субсидирование</a:t>
            </a:fld>
            <a:endParaRPr lang="ru-RU" sz="1200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9931400" y="4938713"/>
            <a:ext cx="16144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7FB9163-E5CF-48D9-B4C2-965BE4F064C9}" type="datetime'П''отенциал''''ьный об''''ъ''е''''''''м пла''теж''а ''''''ЖКУ'">
              <a:rPr lang="ru-RU" altLang="en-US" sz="1200" smtClean="0"/>
              <a:pPr/>
              <a:t>Потенциальный объем платежа ЖКУ</a:t>
            </a:fld>
            <a:endParaRPr lang="ru-RU" sz="120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F0BD970-B848-4B2D-A475-DD5935A6BDF1}"/>
              </a:ext>
            </a:extLst>
          </p:cNvPr>
          <p:cNvSpPr txBox="1">
            <a:spLocks/>
          </p:cNvSpPr>
          <p:nvPr/>
        </p:nvSpPr>
        <p:spPr>
          <a:xfrm>
            <a:off x="554734" y="5591175"/>
            <a:ext cx="11082528" cy="490538"/>
          </a:xfrm>
          <a:prstGeom prst="roundRect">
            <a:avLst>
              <a:gd name="adj" fmla="val 11599"/>
            </a:avLst>
          </a:prstGeom>
          <a:solidFill>
            <a:schemeClr val="accent2">
              <a:lumMod val="20000"/>
              <a:lumOff val="80000"/>
            </a:schemeClr>
          </a:solidFill>
          <a:effectLst>
            <a:outerShdw blurRad="1016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72000" tIns="72000" rIns="72000" bIns="7200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 dirty="0">
                <a:solidFill>
                  <a:schemeClr val="accent3"/>
                </a:solidFill>
                <a:latin typeface="+mn-lt"/>
                <a:cs typeface="+mn-cs"/>
              </a:rPr>
              <a:t>Оценка потенциального эффекта </a:t>
            </a:r>
            <a:r>
              <a:rPr lang="ru-RU" sz="1400" dirty="0">
                <a:latin typeface="+mn-lt"/>
                <a:cs typeface="+mn-cs"/>
              </a:rPr>
              <a:t>от каждого из рычагов </a:t>
            </a:r>
            <a:r>
              <a:rPr lang="ru-RU" sz="1400" b="1" dirty="0">
                <a:solidFill>
                  <a:schemeClr val="accent3"/>
                </a:solidFill>
                <a:latin typeface="+mn-lt"/>
                <a:cs typeface="+mn-cs"/>
              </a:rPr>
              <a:t>требует </a:t>
            </a:r>
            <a:r>
              <a:rPr lang="ru-RU" sz="1400" dirty="0">
                <a:latin typeface="+mn-lt"/>
                <a:cs typeface="+mn-cs"/>
              </a:rPr>
              <a:t>более детальной </a:t>
            </a:r>
            <a:r>
              <a:rPr lang="ru-RU" sz="1400" b="1" dirty="0">
                <a:solidFill>
                  <a:schemeClr val="accent3"/>
                </a:solidFill>
                <a:latin typeface="+mn-lt"/>
                <a:cs typeface="+mn-cs"/>
              </a:rPr>
              <a:t>проработки </a:t>
            </a:r>
            <a:r>
              <a:rPr lang="ru-RU" sz="1400" dirty="0">
                <a:latin typeface="+mn-lt"/>
                <a:cs typeface="+mn-cs"/>
              </a:rPr>
              <a:t>в рамках пилота</a:t>
            </a:r>
            <a:endParaRPr lang="ru-RU" sz="1400" b="1" dirty="0">
              <a:solidFill>
                <a:schemeClr val="accent3"/>
              </a:solidFill>
              <a:latin typeface="+mn-lt"/>
              <a:cs typeface="+mn-cs"/>
            </a:endParaRPr>
          </a:p>
        </p:txBody>
      </p:sp>
      <p:sp>
        <p:nvSpPr>
          <p:cNvPr id="148" name="Rectangle: Top Corners Rounded 147">
            <a:extLst>
              <a:ext uri="{FF2B5EF4-FFF2-40B4-BE49-F238E27FC236}">
                <a16:creationId xmlns:a16="http://schemas.microsoft.com/office/drawing/2014/main" id="{50412032-B2F5-4DFA-B7B2-F00D0BB28C5F}"/>
              </a:ext>
            </a:extLst>
          </p:cNvPr>
          <p:cNvSpPr>
            <a:spLocks/>
          </p:cNvSpPr>
          <p:nvPr/>
        </p:nvSpPr>
        <p:spPr>
          <a:xfrm>
            <a:off x="8146030" y="1325564"/>
            <a:ext cx="3491232" cy="549275"/>
          </a:xfrm>
          <a:prstGeom prst="round2SameRect">
            <a:avLst>
              <a:gd name="adj1" fmla="val 43746"/>
              <a:gd name="adj2" fmla="val 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</a:pPr>
            <a:endParaRPr lang="ru-RU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: Top Corners Rounded 148">
            <a:extLst>
              <a:ext uri="{FF2B5EF4-FFF2-40B4-BE49-F238E27FC236}">
                <a16:creationId xmlns:a16="http://schemas.microsoft.com/office/drawing/2014/main" id="{FAC7CE7E-76CC-4784-85F4-6225A334C40B}"/>
              </a:ext>
            </a:extLst>
          </p:cNvPr>
          <p:cNvSpPr>
            <a:spLocks/>
          </p:cNvSpPr>
          <p:nvPr/>
        </p:nvSpPr>
        <p:spPr>
          <a:xfrm>
            <a:off x="4350382" y="1325564"/>
            <a:ext cx="3491232" cy="549275"/>
          </a:xfrm>
          <a:prstGeom prst="round2SameRect">
            <a:avLst>
              <a:gd name="adj1" fmla="val 43746"/>
              <a:gd name="adj2" fmla="val 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</a:pPr>
            <a:endParaRPr lang="ru-RU" sz="1400" dirty="0" err="1">
              <a:solidFill>
                <a:schemeClr val="bg1"/>
              </a:solidFill>
            </a:endParaRPr>
          </a:p>
        </p:txBody>
      </p:sp>
      <p:sp>
        <p:nvSpPr>
          <p:cNvPr id="123" name="Rectangle: Top Corners Rounded 122">
            <a:extLst>
              <a:ext uri="{FF2B5EF4-FFF2-40B4-BE49-F238E27FC236}">
                <a16:creationId xmlns:a16="http://schemas.microsoft.com/office/drawing/2014/main" id="{96087606-CBF5-4668-BC7B-ACC0E1E38690}"/>
              </a:ext>
            </a:extLst>
          </p:cNvPr>
          <p:cNvSpPr>
            <a:spLocks/>
          </p:cNvSpPr>
          <p:nvPr/>
        </p:nvSpPr>
        <p:spPr>
          <a:xfrm>
            <a:off x="554734" y="1325564"/>
            <a:ext cx="3491232" cy="549275"/>
          </a:xfrm>
          <a:prstGeom prst="round2SameRect">
            <a:avLst>
              <a:gd name="adj1" fmla="val 43746"/>
              <a:gd name="adj2" fmla="val 0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lt1"/>
              </a:buClr>
            </a:pPr>
            <a:endParaRPr lang="ru-RU" sz="1400" dirty="0" err="1">
              <a:solidFill>
                <a:schemeClr val="bg1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7C4AC39-2E64-4A74-9D2B-AA265C2313C9}"/>
              </a:ext>
            </a:extLst>
          </p:cNvPr>
          <p:cNvSpPr txBox="1">
            <a:spLocks/>
          </p:cNvSpPr>
          <p:nvPr/>
        </p:nvSpPr>
        <p:spPr>
          <a:xfrm>
            <a:off x="1162246" y="1487488"/>
            <a:ext cx="2708710" cy="2270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Снижение стоимости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3970DEF-EB10-466E-8A09-880592D2E41F}"/>
              </a:ext>
            </a:extLst>
          </p:cNvPr>
          <p:cNvSpPr txBox="1">
            <a:spLocks/>
          </p:cNvSpPr>
          <p:nvPr/>
        </p:nvSpPr>
        <p:spPr>
          <a:xfrm>
            <a:off x="4957894" y="1487488"/>
            <a:ext cx="2838244" cy="2270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Экономия за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счет сервисов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5E9A548-6A9C-4BEE-BFA8-78B550DC105D}"/>
              </a:ext>
            </a:extLst>
          </p:cNvPr>
          <p:cNvSpPr txBox="1">
            <a:spLocks/>
          </p:cNvSpPr>
          <p:nvPr/>
        </p:nvSpPr>
        <p:spPr>
          <a:xfrm>
            <a:off x="8753542" y="1492250"/>
            <a:ext cx="2708710" cy="2159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Субсидирование</a:t>
            </a:r>
          </a:p>
        </p:txBody>
      </p:sp>
      <p:sp>
        <p:nvSpPr>
          <p:cNvPr id="135" name="TrackerNumWhite">
            <a:extLst>
              <a:ext uri="{FF2B5EF4-FFF2-40B4-BE49-F238E27FC236}">
                <a16:creationId xmlns:a16="http://schemas.microsoft.com/office/drawing/2014/main" id="{766F2AF7-71E2-4706-B771-6ED30A63E254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>
          <a:xfrm>
            <a:off x="729744" y="1460500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136" name="TrackerNumWhite">
            <a:extLst>
              <a:ext uri="{FF2B5EF4-FFF2-40B4-BE49-F238E27FC236}">
                <a16:creationId xmlns:a16="http://schemas.microsoft.com/office/drawing/2014/main" id="{50F896DD-89AC-49C7-8238-89212A2527FA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>
          <a:xfrm>
            <a:off x="4525392" y="1460500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sym typeface="+mn-lt"/>
              </a:rPr>
              <a:t>2</a:t>
            </a:r>
            <a:endParaRPr lang="ru-RU" sz="1400" b="1" dirty="0">
              <a:solidFill>
                <a:schemeClr val="accent3"/>
              </a:solidFill>
              <a:ea typeface="+mn-ea"/>
              <a:cs typeface="+mn-cs"/>
              <a:sym typeface="+mn-lt"/>
            </a:endParaRPr>
          </a:p>
        </p:txBody>
      </p:sp>
      <p:sp>
        <p:nvSpPr>
          <p:cNvPr id="137" name="TrackerNumWhite">
            <a:extLst>
              <a:ext uri="{FF2B5EF4-FFF2-40B4-BE49-F238E27FC236}">
                <a16:creationId xmlns:a16="http://schemas.microsoft.com/office/drawing/2014/main" id="{7FA64C37-FC41-496A-A5CA-447C6D8A136C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8321040" y="1460500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ea typeface="+mn-ea"/>
                <a:cs typeface="+mn-cs"/>
                <a:sym typeface="+mn-lt"/>
              </a:rPr>
              <a:t>3</a:t>
            </a:r>
            <a:endParaRPr lang="ru-RU" sz="1400" b="1" dirty="0">
              <a:solidFill>
                <a:schemeClr val="accent3"/>
              </a:solidFill>
              <a:ea typeface="+mn-ea"/>
              <a:cs typeface="+mn-cs"/>
              <a:sym typeface="+mn-lt"/>
            </a:endParaRPr>
          </a:p>
        </p:txBody>
      </p:sp>
      <p:sp>
        <p:nvSpPr>
          <p:cNvPr id="138" name="TrackerNumWhite">
            <a:extLst>
              <a:ext uri="{FF2B5EF4-FFF2-40B4-BE49-F238E27FC236}">
                <a16:creationId xmlns:a16="http://schemas.microsoft.com/office/drawing/2014/main" id="{2D5CE056-D2D8-49CA-A37F-E7D26A837FA7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032670" y="3965575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139" name="TrackerNumWhite">
            <a:extLst>
              <a:ext uri="{FF2B5EF4-FFF2-40B4-BE49-F238E27FC236}">
                <a16:creationId xmlns:a16="http://schemas.microsoft.com/office/drawing/2014/main" id="{69D3B8EF-9DA6-4284-9EE5-512769D6F24A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6879990" y="4160838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ea typeface="+mn-ea"/>
                <a:cs typeface="+mn-cs"/>
                <a:sym typeface="+mn-lt"/>
              </a:rPr>
              <a:t>2</a:t>
            </a:r>
          </a:p>
        </p:txBody>
      </p:sp>
      <p:sp>
        <p:nvSpPr>
          <p:cNvPr id="140" name="TrackerNumWhite">
            <a:extLst>
              <a:ext uri="{FF2B5EF4-FFF2-40B4-BE49-F238E27FC236}">
                <a16:creationId xmlns:a16="http://schemas.microsoft.com/office/drawing/2014/main" id="{DC775E77-CF8D-4722-9153-3986AB8FF94C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>
          <a:xfrm>
            <a:off x="8727310" y="4360863"/>
            <a:ext cx="279340" cy="27940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accent3"/>
                </a:solidFill>
                <a:sym typeface="+mn-lt"/>
              </a:rPr>
              <a:t>3</a:t>
            </a:r>
            <a:endParaRPr lang="ru-RU" sz="1400" b="1" dirty="0">
              <a:solidFill>
                <a:schemeClr val="accent3"/>
              </a:solidFill>
              <a:ea typeface="+mn-ea"/>
              <a:cs typeface="+mn-cs"/>
              <a:sym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87BAC56-B19E-4221-96E5-65BEAF5888A4}"/>
              </a:ext>
            </a:extLst>
          </p:cNvPr>
          <p:cNvSpPr txBox="1"/>
          <p:nvPr/>
        </p:nvSpPr>
        <p:spPr>
          <a:xfrm>
            <a:off x="729744" y="2019300"/>
            <a:ext cx="3141212" cy="12620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200" b="1" dirty="0"/>
              <a:t>Оптимизация</a:t>
            </a:r>
            <a:r>
              <a:rPr lang="ru-RU" sz="1200" dirty="0"/>
              <a:t> технических </a:t>
            </a:r>
            <a:r>
              <a:rPr lang="ru-RU" sz="1200" b="1" dirty="0"/>
              <a:t>спецификаций сервисов</a:t>
            </a:r>
            <a:endParaRPr lang="ru-RU" sz="1200" dirty="0"/>
          </a:p>
          <a:p>
            <a:pPr lvl="1"/>
            <a:r>
              <a:rPr lang="ru-RU" sz="1200" b="1" dirty="0"/>
              <a:t>Коммерческие</a:t>
            </a:r>
            <a:r>
              <a:rPr lang="ru-RU" sz="1200" dirty="0"/>
              <a:t> рычаги</a:t>
            </a:r>
          </a:p>
          <a:p>
            <a:pPr lvl="2"/>
            <a:r>
              <a:rPr lang="ru-RU" sz="1200" dirty="0"/>
              <a:t>Сбор КП и тендеры</a:t>
            </a:r>
          </a:p>
          <a:p>
            <a:pPr lvl="2"/>
            <a:r>
              <a:rPr lang="ru-RU" sz="1200" dirty="0"/>
              <a:t>Переговоры с поставщиками</a:t>
            </a:r>
          </a:p>
          <a:p>
            <a:pPr lvl="2"/>
            <a:r>
              <a:rPr lang="ru-RU" sz="1200" dirty="0"/>
              <a:t>Масштаб (</a:t>
            </a:r>
            <a:r>
              <a:rPr lang="ru-RU" sz="1200" dirty="0" err="1"/>
              <a:t>бандлинг</a:t>
            </a:r>
            <a:r>
              <a:rPr lang="ru-RU" sz="1200" dirty="0"/>
              <a:t>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8549A9-D152-4618-AD22-6CF9BC66E6EE}"/>
              </a:ext>
            </a:extLst>
          </p:cNvPr>
          <p:cNvSpPr txBox="1"/>
          <p:nvPr/>
        </p:nvSpPr>
        <p:spPr>
          <a:xfrm>
            <a:off x="4525392" y="2019301"/>
            <a:ext cx="3141212" cy="122237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Снижение операционных затрат </a:t>
            </a:r>
            <a:r>
              <a:rPr lang="ru-RU" sz="1200" dirty="0"/>
              <a:t>для</a:t>
            </a:r>
          </a:p>
          <a:p>
            <a:pPr lvl="1"/>
            <a:r>
              <a:rPr lang="ru-RU" sz="1200" dirty="0"/>
              <a:t>Управляющей компании</a:t>
            </a:r>
          </a:p>
          <a:p>
            <a:pPr lvl="1"/>
            <a:r>
              <a:rPr lang="ru-RU" sz="1200" dirty="0"/>
              <a:t>Собственников</a:t>
            </a:r>
          </a:p>
          <a:p>
            <a:pPr lvl="1"/>
            <a:r>
              <a:rPr lang="ru-RU" sz="1200" dirty="0"/>
              <a:t>Других продуктов </a:t>
            </a:r>
            <a:r>
              <a:rPr lang="ru-RU" sz="1200" dirty="0" err="1"/>
              <a:t>ДИТа</a:t>
            </a:r>
            <a:r>
              <a:rPr lang="ru-RU" sz="1200" dirty="0"/>
              <a:t> (напр.</a:t>
            </a:r>
            <a:r>
              <a:rPr lang="en-US" sz="1200" dirty="0"/>
              <a:t> </a:t>
            </a:r>
            <a:r>
              <a:rPr lang="ru-RU" sz="1200" dirty="0"/>
              <a:t>видеонаблюдение)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63A05B2-16D5-47D4-9742-B87313F8EFF7}"/>
              </a:ext>
            </a:extLst>
          </p:cNvPr>
          <p:cNvSpPr txBox="1"/>
          <p:nvPr/>
        </p:nvSpPr>
        <p:spPr>
          <a:xfrm>
            <a:off x="8321040" y="2019300"/>
            <a:ext cx="3141212" cy="554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Выделение </a:t>
            </a:r>
            <a:r>
              <a:rPr lang="ru-RU" sz="1200" b="1" dirty="0"/>
              <a:t>бюджетных средств </a:t>
            </a:r>
            <a:r>
              <a:rPr lang="ru-RU" sz="1200" dirty="0"/>
              <a:t>для</a:t>
            </a:r>
            <a:r>
              <a:rPr lang="en-US" sz="1200" dirty="0"/>
              <a:t> </a:t>
            </a:r>
            <a:r>
              <a:rPr lang="ru-RU" sz="1200" dirty="0"/>
              <a:t>субсидирования затрат на</a:t>
            </a:r>
            <a:r>
              <a:rPr lang="en-US" sz="1200" dirty="0"/>
              <a:t> </a:t>
            </a:r>
            <a:r>
              <a:rPr lang="ru-RU" sz="1200" dirty="0"/>
              <a:t>эксплуатацию сервисов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1FB8EA-E6C5-483C-86AF-4F6387EDDDE0}"/>
              </a:ext>
            </a:extLst>
          </p:cNvPr>
          <p:cNvSpPr/>
          <p:nvPr/>
        </p:nvSpPr>
        <p:spPr>
          <a:xfrm>
            <a:off x="6243181" y="3532188"/>
            <a:ext cx="1552957" cy="957263"/>
          </a:xfrm>
          <a:prstGeom prst="roundRect">
            <a:avLst/>
          </a:prstGeom>
          <a:noFill/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D3913-56CC-4C51-9E07-C67EED695EA8}"/>
              </a:ext>
            </a:extLst>
          </p:cNvPr>
          <p:cNvSpPr txBox="1"/>
          <p:nvPr/>
        </p:nvSpPr>
        <p:spPr>
          <a:xfrm>
            <a:off x="6248076" y="4532313"/>
            <a:ext cx="1552957" cy="153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i="1" dirty="0"/>
              <a:t>Детализировано далее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A36AF-337A-4AF2-9E18-5FEC041902D6}"/>
              </a:ext>
            </a:extLst>
          </p:cNvPr>
          <p:cNvSpPr/>
          <p:nvPr/>
        </p:nvSpPr>
        <p:spPr>
          <a:xfrm>
            <a:off x="10077450" y="4222750"/>
            <a:ext cx="1316691" cy="138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6CA60A1-F2F7-4CF3-8B88-557D76AACDD9}"/>
              </a:ext>
            </a:extLst>
          </p:cNvPr>
          <p:cNvSpPr txBox="1"/>
          <p:nvPr/>
        </p:nvSpPr>
        <p:spPr>
          <a:xfrm>
            <a:off x="10037100" y="3713163"/>
            <a:ext cx="1614488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Увеличение платежа ЖКУ</a:t>
            </a:r>
          </a:p>
        </p:txBody>
      </p:sp>
      <p:cxnSp>
        <p:nvCxnSpPr>
          <p:cNvPr id="43" name="LineBasicDefault 43">
            <a:extLst>
              <a:ext uri="{FF2B5EF4-FFF2-40B4-BE49-F238E27FC236}">
                <a16:creationId xmlns:a16="http://schemas.microsoft.com/office/drawing/2014/main" id="{A70E86C8-C826-407A-B2A8-83B4F653AA00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10582353" y="3998913"/>
            <a:ext cx="0" cy="207963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LineBasicDefault 50">
            <a:extLst>
              <a:ext uri="{FF2B5EF4-FFF2-40B4-BE49-F238E27FC236}">
                <a16:creationId xmlns:a16="http://schemas.microsoft.com/office/drawing/2014/main" id="{7763525D-586A-43A4-9452-F7C989EE2D60}"/>
              </a:ext>
            </a:extLst>
          </p:cNvPr>
          <p:cNvCxnSpPr>
            <a:cxnSpLocks/>
            <a:stCxn id="122" idx="2"/>
          </p:cNvCxnSpPr>
          <p:nvPr>
            <p:custDataLst>
              <p:tags r:id="rId31"/>
            </p:custDataLst>
          </p:nvPr>
        </p:nvCxnSpPr>
        <p:spPr>
          <a:xfrm rot="16200000" flipH="1">
            <a:off x="3659219" y="2065369"/>
            <a:ext cx="153988" cy="2871726"/>
          </a:xfrm>
          <a:prstGeom prst="bentConnector2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LineBasicDefault 43">
            <a:extLst>
              <a:ext uri="{FF2B5EF4-FFF2-40B4-BE49-F238E27FC236}">
                <a16:creationId xmlns:a16="http://schemas.microsoft.com/office/drawing/2014/main" id="{544C50F5-4C0A-4007-95F1-A9CCBB537938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 flipV="1">
            <a:off x="5184753" y="3578225"/>
            <a:ext cx="0" cy="214313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LineBasicDefault 43">
            <a:extLst>
              <a:ext uri="{FF2B5EF4-FFF2-40B4-BE49-F238E27FC236}">
                <a16:creationId xmlns:a16="http://schemas.microsoft.com/office/drawing/2014/main" id="{AD960BD1-2E82-475E-A869-66C72962D56D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 flipV="1">
            <a:off x="7019659" y="3419475"/>
            <a:ext cx="0" cy="431800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LineBasicDefault 43">
            <a:extLst>
              <a:ext uri="{FF2B5EF4-FFF2-40B4-BE49-F238E27FC236}">
                <a16:creationId xmlns:a16="http://schemas.microsoft.com/office/drawing/2014/main" id="{2378AF74-6B32-459A-8965-D069463F4B9A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 flipH="1" flipV="1">
            <a:off x="8753542" y="3424238"/>
            <a:ext cx="2774" cy="719138"/>
          </a:xfrm>
          <a:prstGeom prst="straightConnector1">
            <a:avLst/>
          </a:prstGeom>
          <a:ln w="6350" cap="sq">
            <a:solidFill>
              <a:schemeClr val="tx1"/>
            </a:solidFill>
            <a:miter lim="800000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0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7A4A1435-C50E-4ADC-9282-51120F2E21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06792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A4A1435-C50E-4ADC-9282-51120F2E21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28F79C63-6EB8-411D-82E4-164F6E2952D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/>
              <a:t>Распределение капитальных затрат на внедрение сервисов для одного типого дома</a:t>
            </a:r>
          </a:p>
        </p:txBody>
      </p:sp>
      <p:sp>
        <p:nvSpPr>
          <p:cNvPr id="198" name="Arrow: Pentagon 197">
            <a:extLst>
              <a:ext uri="{FF2B5EF4-FFF2-40B4-BE49-F238E27FC236}">
                <a16:creationId xmlns:a16="http://schemas.microsoft.com/office/drawing/2014/main" id="{8E3C6954-B67D-48D5-9289-F0566A6AFF88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768307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34A62B0-0CD6-4761-B340-9E5EA6B5427D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025CBC0A-A170-45A0-967E-894D03C77BA0}"/>
              </a:ext>
            </a:extLst>
          </p:cNvPr>
          <p:cNvSpPr>
            <a:spLocks/>
          </p:cNvSpPr>
          <p:nvPr/>
        </p:nvSpPr>
        <p:spPr>
          <a:xfrm>
            <a:off x="554734" y="1741433"/>
            <a:ext cx="11082528" cy="4697467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8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FBCD51F-1FEE-4809-B7A4-F5311D7FA693}"/>
              </a:ext>
            </a:extLst>
          </p:cNvPr>
          <p:cNvCxnSpPr>
            <a:cxnSpLocks/>
          </p:cNvCxnSpPr>
          <p:nvPr/>
        </p:nvCxnSpPr>
        <p:spPr>
          <a:xfrm>
            <a:off x="902138" y="2281790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30A70400-C4F0-4477-A0E4-4DACB2750450}"/>
              </a:ext>
            </a:extLst>
          </p:cNvPr>
          <p:cNvCxnSpPr>
            <a:cxnSpLocks/>
          </p:cNvCxnSpPr>
          <p:nvPr/>
        </p:nvCxnSpPr>
        <p:spPr>
          <a:xfrm>
            <a:off x="902138" y="2822147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5C88686-9AF6-4C70-8A69-DC8EED910075}"/>
              </a:ext>
            </a:extLst>
          </p:cNvPr>
          <p:cNvCxnSpPr>
            <a:cxnSpLocks/>
          </p:cNvCxnSpPr>
          <p:nvPr/>
        </p:nvCxnSpPr>
        <p:spPr>
          <a:xfrm>
            <a:off x="902138" y="3362504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BEFCF0C1-E23B-4525-A854-98FAFDB20C24}"/>
              </a:ext>
            </a:extLst>
          </p:cNvPr>
          <p:cNvCxnSpPr>
            <a:cxnSpLocks/>
          </p:cNvCxnSpPr>
          <p:nvPr/>
        </p:nvCxnSpPr>
        <p:spPr>
          <a:xfrm>
            <a:off x="902138" y="3902861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C81A529-EC46-4730-9C0D-9B2869641ADA}"/>
              </a:ext>
            </a:extLst>
          </p:cNvPr>
          <p:cNvCxnSpPr>
            <a:cxnSpLocks/>
          </p:cNvCxnSpPr>
          <p:nvPr/>
        </p:nvCxnSpPr>
        <p:spPr>
          <a:xfrm>
            <a:off x="902138" y="4443218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2E824CE-DB7E-4FC6-A207-C96D0F821DBE}"/>
              </a:ext>
            </a:extLst>
          </p:cNvPr>
          <p:cNvCxnSpPr>
            <a:cxnSpLocks/>
          </p:cNvCxnSpPr>
          <p:nvPr/>
        </p:nvCxnSpPr>
        <p:spPr>
          <a:xfrm>
            <a:off x="902138" y="4983575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2FD71108-87E7-445E-ABE9-5F48D5FB4827}"/>
              </a:ext>
            </a:extLst>
          </p:cNvPr>
          <p:cNvCxnSpPr>
            <a:cxnSpLocks/>
          </p:cNvCxnSpPr>
          <p:nvPr/>
        </p:nvCxnSpPr>
        <p:spPr>
          <a:xfrm>
            <a:off x="902138" y="5523932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77B43809-9867-48B2-9E10-6CE99612642C}"/>
              </a:ext>
            </a:extLst>
          </p:cNvPr>
          <p:cNvSpPr txBox="1">
            <a:spLocks/>
          </p:cNvSpPr>
          <p:nvPr/>
        </p:nvSpPr>
        <p:spPr>
          <a:xfrm>
            <a:off x="1561021" y="1888501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Контроль вывоза и наполнения мусорных баков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C2E2CC9-1AAB-4CAF-BA62-02B107447DA6}"/>
              </a:ext>
            </a:extLst>
          </p:cNvPr>
          <p:cNvSpPr txBox="1">
            <a:spLocks/>
          </p:cNvSpPr>
          <p:nvPr/>
        </p:nvSpPr>
        <p:spPr>
          <a:xfrm>
            <a:off x="7450126" y="1888501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-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2DCE7F2-BA42-4D90-B7C8-B6B1B34921F5}"/>
              </a:ext>
            </a:extLst>
          </p:cNvPr>
          <p:cNvSpPr txBox="1">
            <a:spLocks/>
          </p:cNvSpPr>
          <p:nvPr/>
        </p:nvSpPr>
        <p:spPr>
          <a:xfrm>
            <a:off x="10143858" y="1888501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-</a:t>
            </a:r>
          </a:p>
        </p:txBody>
      </p:sp>
      <p:sp>
        <p:nvSpPr>
          <p:cNvPr id="211" name="TrackerNumBlue">
            <a:extLst>
              <a:ext uri="{FF2B5EF4-FFF2-40B4-BE49-F238E27FC236}">
                <a16:creationId xmlns:a16="http://schemas.microsoft.com/office/drawing/2014/main" id="{9552C9AB-A7B9-46D0-A530-D6E80228BE3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902138" y="1855872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72DAEB7-1771-4C03-AD58-CE76ABF5BA98}"/>
              </a:ext>
            </a:extLst>
          </p:cNvPr>
          <p:cNvSpPr txBox="1">
            <a:spLocks/>
          </p:cNvSpPr>
          <p:nvPr/>
        </p:nvSpPr>
        <p:spPr>
          <a:xfrm>
            <a:off x="1561021" y="2428858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Умное освещение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24F93B1-7A32-406F-A43A-4F7CC5DEEEDD}"/>
              </a:ext>
            </a:extLst>
          </p:cNvPr>
          <p:cNvSpPr txBox="1">
            <a:spLocks/>
          </p:cNvSpPr>
          <p:nvPr/>
        </p:nvSpPr>
        <p:spPr>
          <a:xfrm>
            <a:off x="7450126" y="2428858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 1,60 </a:t>
            </a:r>
            <a:endParaRPr lang="ru-RU" sz="16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D0D5F4D-D9E8-49F4-A70B-678754C77685}"/>
              </a:ext>
            </a:extLst>
          </p:cNvPr>
          <p:cNvSpPr txBox="1">
            <a:spLocks/>
          </p:cNvSpPr>
          <p:nvPr/>
        </p:nvSpPr>
        <p:spPr>
          <a:xfrm>
            <a:off x="10143858" y="2428858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5</a:t>
            </a:r>
            <a:r>
              <a:rPr lang="en-US" sz="1600" dirty="0"/>
              <a:t>7</a:t>
            </a:r>
            <a:r>
              <a:rPr lang="ru-RU" sz="1600" dirty="0"/>
              <a:t>%</a:t>
            </a:r>
          </a:p>
        </p:txBody>
      </p:sp>
      <p:sp>
        <p:nvSpPr>
          <p:cNvPr id="215" name="TrackerNumBlue">
            <a:extLst>
              <a:ext uri="{FF2B5EF4-FFF2-40B4-BE49-F238E27FC236}">
                <a16:creationId xmlns:a16="http://schemas.microsoft.com/office/drawing/2014/main" id="{C719B118-61CD-442C-AF85-B0AF17289DD1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902138" y="2396229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2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0D01073-0FED-4867-A6D0-B235D6BD608E}"/>
              </a:ext>
            </a:extLst>
          </p:cNvPr>
          <p:cNvSpPr txBox="1">
            <a:spLocks/>
          </p:cNvSpPr>
          <p:nvPr/>
        </p:nvSpPr>
        <p:spPr>
          <a:xfrm>
            <a:off x="1561021" y="2969215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Видеодомофон в мобильном телефоне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7B44A52-7425-49BB-BFA5-2A8D1723FA1F}"/>
              </a:ext>
            </a:extLst>
          </p:cNvPr>
          <p:cNvSpPr txBox="1">
            <a:spLocks/>
          </p:cNvSpPr>
          <p:nvPr/>
        </p:nvSpPr>
        <p:spPr>
          <a:xfrm>
            <a:off x="7450126" y="2969215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 0,45 </a:t>
            </a:r>
            <a:endParaRPr lang="ru-RU" sz="1600" baseline="300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4486BC3-C94B-4F51-B65C-49A30F66EC9F}"/>
              </a:ext>
            </a:extLst>
          </p:cNvPr>
          <p:cNvSpPr txBox="1">
            <a:spLocks/>
          </p:cNvSpPr>
          <p:nvPr/>
        </p:nvSpPr>
        <p:spPr>
          <a:xfrm>
            <a:off x="10143858" y="2969215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16%</a:t>
            </a:r>
            <a:endParaRPr lang="ru-RU" sz="1600" dirty="0"/>
          </a:p>
        </p:txBody>
      </p:sp>
      <p:sp>
        <p:nvSpPr>
          <p:cNvPr id="219" name="TrackerNumBlue">
            <a:extLst>
              <a:ext uri="{FF2B5EF4-FFF2-40B4-BE49-F238E27FC236}">
                <a16:creationId xmlns:a16="http://schemas.microsoft.com/office/drawing/2014/main" id="{E43BF557-A4CB-4A16-9D88-88196DF480C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02138" y="2936586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3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884B259-F78B-40E4-B041-6D01EE918C94}"/>
              </a:ext>
            </a:extLst>
          </p:cNvPr>
          <p:cNvSpPr txBox="1">
            <a:spLocks/>
          </p:cNvSpPr>
          <p:nvPr/>
        </p:nvSpPr>
        <p:spPr>
          <a:xfrm>
            <a:off x="1561021" y="3509572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Мониторинг парковочных мест 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D9E2DEE-9FD5-4944-B4DF-55BEB908159F}"/>
              </a:ext>
            </a:extLst>
          </p:cNvPr>
          <p:cNvSpPr txBox="1">
            <a:spLocks/>
          </p:cNvSpPr>
          <p:nvPr/>
        </p:nvSpPr>
        <p:spPr>
          <a:xfrm>
            <a:off x="7450126" y="3509572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 -   </a:t>
            </a:r>
            <a:endParaRPr lang="ru-RU" sz="1600" baseline="30000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9BD1B6D-95B7-414B-8C22-132FDCFE9401}"/>
              </a:ext>
            </a:extLst>
          </p:cNvPr>
          <p:cNvSpPr txBox="1">
            <a:spLocks/>
          </p:cNvSpPr>
          <p:nvPr/>
        </p:nvSpPr>
        <p:spPr>
          <a:xfrm>
            <a:off x="10143858" y="3509572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/>
              <a:t>-</a:t>
            </a:r>
          </a:p>
        </p:txBody>
      </p:sp>
      <p:sp>
        <p:nvSpPr>
          <p:cNvPr id="223" name="TrackerNumBlue">
            <a:extLst>
              <a:ext uri="{FF2B5EF4-FFF2-40B4-BE49-F238E27FC236}">
                <a16:creationId xmlns:a16="http://schemas.microsoft.com/office/drawing/2014/main" id="{374C8344-9D56-4667-9318-5414DC0A3A0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02138" y="3476943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4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2D2F282-0569-4832-90F5-21503186ADFA}"/>
              </a:ext>
            </a:extLst>
          </p:cNvPr>
          <p:cNvSpPr txBox="1">
            <a:spLocks/>
          </p:cNvSpPr>
          <p:nvPr/>
        </p:nvSpPr>
        <p:spPr>
          <a:xfrm>
            <a:off x="1561021" y="4049929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Умный шлагбаум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E42499A-E1F8-430E-89D0-F35F0A6D8CA8}"/>
              </a:ext>
            </a:extLst>
          </p:cNvPr>
          <p:cNvSpPr txBox="1">
            <a:spLocks/>
          </p:cNvSpPr>
          <p:nvPr/>
        </p:nvSpPr>
        <p:spPr>
          <a:xfrm>
            <a:off x="7450126" y="4049929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 0,2 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C2E1079-20CF-4BC3-95FC-5A501BE96F74}"/>
              </a:ext>
            </a:extLst>
          </p:cNvPr>
          <p:cNvSpPr txBox="1">
            <a:spLocks/>
          </p:cNvSpPr>
          <p:nvPr/>
        </p:nvSpPr>
        <p:spPr>
          <a:xfrm>
            <a:off x="10143858" y="4049929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600" dirty="0"/>
              <a:t>7</a:t>
            </a:r>
            <a:r>
              <a:rPr lang="ru-RU" sz="1600" dirty="0"/>
              <a:t>%</a:t>
            </a:r>
          </a:p>
        </p:txBody>
      </p:sp>
      <p:sp>
        <p:nvSpPr>
          <p:cNvPr id="227" name="TrackerNumBlue">
            <a:extLst>
              <a:ext uri="{FF2B5EF4-FFF2-40B4-BE49-F238E27FC236}">
                <a16:creationId xmlns:a16="http://schemas.microsoft.com/office/drawing/2014/main" id="{8FDA36C4-45E1-46A9-A0B0-BFDBB7A6287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902138" y="4017300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5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E926EBA-B629-4834-A578-A88373AD1C71}"/>
              </a:ext>
            </a:extLst>
          </p:cNvPr>
          <p:cNvSpPr txBox="1">
            <a:spLocks/>
          </p:cNvSpPr>
          <p:nvPr/>
        </p:nvSpPr>
        <p:spPr>
          <a:xfrm>
            <a:off x="1561021" y="4590286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Общегородской </a:t>
            </a:r>
            <a:r>
              <a:rPr lang="en-US" sz="1600" dirty="0"/>
              <a:t>Wi-Fi </a:t>
            </a:r>
            <a:r>
              <a:rPr lang="ru-RU" sz="1600" dirty="0"/>
              <a:t>во дворе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3FD8F0F-19C7-4786-A34B-FB55175EA4D2}"/>
              </a:ext>
            </a:extLst>
          </p:cNvPr>
          <p:cNvSpPr txBox="1">
            <a:spLocks/>
          </p:cNvSpPr>
          <p:nvPr/>
        </p:nvSpPr>
        <p:spPr>
          <a:xfrm>
            <a:off x="7450126" y="4590286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 0,56 </a:t>
            </a:r>
            <a:endParaRPr lang="ru-RU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3025E465-795A-489F-9C59-64A02BDC51F4}"/>
              </a:ext>
            </a:extLst>
          </p:cNvPr>
          <p:cNvSpPr txBox="1">
            <a:spLocks/>
          </p:cNvSpPr>
          <p:nvPr/>
        </p:nvSpPr>
        <p:spPr>
          <a:xfrm>
            <a:off x="10143858" y="4590286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600" dirty="0"/>
              <a:t>20</a:t>
            </a:r>
            <a:r>
              <a:rPr lang="ru-RU" sz="1600" dirty="0"/>
              <a:t>%</a:t>
            </a:r>
          </a:p>
        </p:txBody>
      </p:sp>
      <p:sp>
        <p:nvSpPr>
          <p:cNvPr id="231" name="TrackerNumBlue">
            <a:extLst>
              <a:ext uri="{FF2B5EF4-FFF2-40B4-BE49-F238E27FC236}">
                <a16:creationId xmlns:a16="http://schemas.microsoft.com/office/drawing/2014/main" id="{D97721D8-0144-4A27-8CE7-D6764FA9B43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902138" y="4557657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6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AA5337B5-0941-4537-8472-803A1C991A65}"/>
              </a:ext>
            </a:extLst>
          </p:cNvPr>
          <p:cNvSpPr txBox="1">
            <a:spLocks/>
          </p:cNvSpPr>
          <p:nvPr/>
        </p:nvSpPr>
        <p:spPr>
          <a:xfrm>
            <a:off x="1561021" y="5099349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Умные счетчики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DF43295-2A59-46B4-B967-387F693EF754}"/>
              </a:ext>
            </a:extLst>
          </p:cNvPr>
          <p:cNvSpPr txBox="1">
            <a:spLocks/>
          </p:cNvSpPr>
          <p:nvPr/>
        </p:nvSpPr>
        <p:spPr>
          <a:xfrm>
            <a:off x="7450126" y="5130643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600" dirty="0"/>
              <a:t>-</a:t>
            </a:r>
            <a:endParaRPr lang="ru-RU" sz="1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2AAB549-8724-4E65-A8B7-558411296B15}"/>
              </a:ext>
            </a:extLst>
          </p:cNvPr>
          <p:cNvSpPr txBox="1">
            <a:spLocks/>
          </p:cNvSpPr>
          <p:nvPr/>
        </p:nvSpPr>
        <p:spPr>
          <a:xfrm>
            <a:off x="10143858" y="5130643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-</a:t>
            </a:r>
          </a:p>
        </p:txBody>
      </p:sp>
      <p:sp>
        <p:nvSpPr>
          <p:cNvPr id="235" name="TrackerNumBlue">
            <a:extLst>
              <a:ext uri="{FF2B5EF4-FFF2-40B4-BE49-F238E27FC236}">
                <a16:creationId xmlns:a16="http://schemas.microsoft.com/office/drawing/2014/main" id="{4D2F7BCD-7983-4E99-9AAE-240E3C9BAB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902138" y="5098014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7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9C360D1-BEA9-48FF-B03F-BCB38E990BDB}"/>
              </a:ext>
            </a:extLst>
          </p:cNvPr>
          <p:cNvSpPr txBox="1">
            <a:spLocks/>
          </p:cNvSpPr>
          <p:nvPr/>
        </p:nvSpPr>
        <p:spPr>
          <a:xfrm>
            <a:off x="1561021" y="6130163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tx2"/>
                </a:solidFill>
              </a:rPr>
              <a:t>ВСЕГО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5B74B30C-BA20-4C45-A69B-62E82C718D3D}"/>
              </a:ext>
            </a:extLst>
          </p:cNvPr>
          <p:cNvSpPr txBox="1">
            <a:spLocks/>
          </p:cNvSpPr>
          <p:nvPr/>
        </p:nvSpPr>
        <p:spPr>
          <a:xfrm>
            <a:off x="7450126" y="6130163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tx2"/>
                </a:solidFill>
              </a:rPr>
              <a:t>2,81</a:t>
            </a:r>
            <a:endParaRPr lang="ru-RU" sz="1600" b="1" baseline="30000" dirty="0">
              <a:solidFill>
                <a:schemeClr val="tx2"/>
              </a:solidFill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7F0424A-4518-41E1-B384-055EF52D61E0}"/>
              </a:ext>
            </a:extLst>
          </p:cNvPr>
          <p:cNvSpPr txBox="1">
            <a:spLocks/>
          </p:cNvSpPr>
          <p:nvPr/>
        </p:nvSpPr>
        <p:spPr>
          <a:xfrm>
            <a:off x="1561021" y="1431606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Параметр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60391A6-12B5-435E-8850-03A6711B36AA}"/>
              </a:ext>
            </a:extLst>
          </p:cNvPr>
          <p:cNvSpPr txBox="1">
            <a:spLocks/>
          </p:cNvSpPr>
          <p:nvPr/>
        </p:nvSpPr>
        <p:spPr>
          <a:xfrm>
            <a:off x="6898452" y="1394982"/>
            <a:ext cx="1968136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млн. руб. на дом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21728ABF-DD51-4296-AE88-C9394FBECF24}"/>
              </a:ext>
            </a:extLst>
          </p:cNvPr>
          <p:cNvSpPr txBox="1">
            <a:spLocks/>
          </p:cNvSpPr>
          <p:nvPr/>
        </p:nvSpPr>
        <p:spPr>
          <a:xfrm>
            <a:off x="9866065" y="1409348"/>
            <a:ext cx="1580459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Доля затрат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E62D3C7-2EF1-48E7-8596-FE0C320AB623}"/>
              </a:ext>
            </a:extLst>
          </p:cNvPr>
          <p:cNvSpPr txBox="1">
            <a:spLocks/>
          </p:cNvSpPr>
          <p:nvPr/>
        </p:nvSpPr>
        <p:spPr>
          <a:xfrm>
            <a:off x="902138" y="1409348"/>
            <a:ext cx="177934" cy="246221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#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3B512D-7657-490F-BA51-C5719CFB6EF3}"/>
              </a:ext>
            </a:extLst>
          </p:cNvPr>
          <p:cNvCxnSpPr>
            <a:cxnSpLocks/>
          </p:cNvCxnSpPr>
          <p:nvPr/>
        </p:nvCxnSpPr>
        <p:spPr>
          <a:xfrm>
            <a:off x="902138" y="6068994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D94DC5B-B2DF-4444-9E7C-46602BE8BE69}"/>
              </a:ext>
            </a:extLst>
          </p:cNvPr>
          <p:cNvSpPr txBox="1">
            <a:spLocks/>
          </p:cNvSpPr>
          <p:nvPr/>
        </p:nvSpPr>
        <p:spPr>
          <a:xfrm>
            <a:off x="1561021" y="5679943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Видеонаблюдение в подъезде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0A0AD7-C07C-4709-8ED7-53F046695D5A}"/>
              </a:ext>
            </a:extLst>
          </p:cNvPr>
          <p:cNvSpPr txBox="1">
            <a:spLocks/>
          </p:cNvSpPr>
          <p:nvPr/>
        </p:nvSpPr>
        <p:spPr>
          <a:xfrm>
            <a:off x="7450126" y="5711237"/>
            <a:ext cx="90066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 -   </a:t>
            </a:r>
            <a:endParaRPr lang="ru-RU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F94F44-40ED-41D2-9F18-C3EF25D4EFE4}"/>
              </a:ext>
            </a:extLst>
          </p:cNvPr>
          <p:cNvSpPr txBox="1">
            <a:spLocks/>
          </p:cNvSpPr>
          <p:nvPr/>
        </p:nvSpPr>
        <p:spPr>
          <a:xfrm>
            <a:off x="10143858" y="5711237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-</a:t>
            </a:r>
          </a:p>
        </p:txBody>
      </p:sp>
      <p:sp>
        <p:nvSpPr>
          <p:cNvPr id="54" name="TrackerNumBlue">
            <a:extLst>
              <a:ext uri="{FF2B5EF4-FFF2-40B4-BE49-F238E27FC236}">
                <a16:creationId xmlns:a16="http://schemas.microsoft.com/office/drawing/2014/main" id="{45A34A2D-4711-40FE-8BF5-F5E57DDF53A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902138" y="5678608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  <a:sym typeface="+mn-lt"/>
              </a:rPr>
              <a:t>8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5071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09DE91E-9105-4D7C-BB41-A367CC68D0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4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95" imgH="396" progId="TCLayout.ActiveDocument.1">
                  <p:embed/>
                </p:oleObj>
              </mc:Choice>
              <mc:Fallback>
                <p:oleObj name="think-cell Slide" r:id="rId13" imgW="395" imgH="39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09DE91E-9105-4D7C-BB41-A367CC68D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Arrow: Pentagon 103">
            <a:extLst>
              <a:ext uri="{FF2B5EF4-FFF2-40B4-BE49-F238E27FC236}">
                <a16:creationId xmlns:a16="http://schemas.microsoft.com/office/drawing/2014/main" id="{54B05430-CD11-4BCA-BAEA-60500FC0A5A9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768307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4C70318-2096-4922-960F-FDAD6875C1D0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9FB0837-B26D-4126-92E1-EB49064AAB23}"/>
              </a:ext>
            </a:extLst>
          </p:cNvPr>
          <p:cNvSpPr>
            <a:spLocks/>
          </p:cNvSpPr>
          <p:nvPr/>
        </p:nvSpPr>
        <p:spPr>
          <a:xfrm>
            <a:off x="554734" y="1741433"/>
            <a:ext cx="11082528" cy="4322859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8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354F18EA-0402-40BB-B464-A49F79FF981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Характеристики типового дома для удельных расчетов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DEBD343E-28B7-4B5A-A599-540C5449691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pPr>
              <a:buNone/>
            </a:pPr>
            <a:r>
              <a:rPr lang="ru-RU" dirty="0"/>
              <a:t>Расчет средних показателей 25 домов по реновации, построенных в соответствии со Смарт-стандартом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4D91E0-BA59-4D44-B8F6-CE22343B06CA}"/>
              </a:ext>
            </a:extLst>
          </p:cNvPr>
          <p:cNvCxnSpPr>
            <a:cxnSpLocks/>
          </p:cNvCxnSpPr>
          <p:nvPr/>
        </p:nvCxnSpPr>
        <p:spPr>
          <a:xfrm>
            <a:off x="902138" y="2546273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D0251F-560F-4EB9-ABCE-7C57940C05E9}"/>
              </a:ext>
            </a:extLst>
          </p:cNvPr>
          <p:cNvCxnSpPr>
            <a:cxnSpLocks/>
          </p:cNvCxnSpPr>
          <p:nvPr/>
        </p:nvCxnSpPr>
        <p:spPr>
          <a:xfrm>
            <a:off x="902138" y="3086630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8E91584-4B0F-442F-8B17-93F2F20E3D94}"/>
              </a:ext>
            </a:extLst>
          </p:cNvPr>
          <p:cNvCxnSpPr>
            <a:cxnSpLocks/>
          </p:cNvCxnSpPr>
          <p:nvPr/>
        </p:nvCxnSpPr>
        <p:spPr>
          <a:xfrm>
            <a:off x="902138" y="3626987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3DF428-AC29-4FDA-BD4B-3A60D904DDC4}"/>
              </a:ext>
            </a:extLst>
          </p:cNvPr>
          <p:cNvCxnSpPr>
            <a:cxnSpLocks/>
          </p:cNvCxnSpPr>
          <p:nvPr/>
        </p:nvCxnSpPr>
        <p:spPr>
          <a:xfrm>
            <a:off x="902138" y="4167344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FA591E6-53BB-4743-BAF8-EBC7746E8FDE}"/>
              </a:ext>
            </a:extLst>
          </p:cNvPr>
          <p:cNvCxnSpPr>
            <a:cxnSpLocks/>
          </p:cNvCxnSpPr>
          <p:nvPr/>
        </p:nvCxnSpPr>
        <p:spPr>
          <a:xfrm>
            <a:off x="902138" y="4707701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4C935FE-4469-4CE7-9FA4-10872BCCF1D3}"/>
              </a:ext>
            </a:extLst>
          </p:cNvPr>
          <p:cNvCxnSpPr>
            <a:cxnSpLocks/>
          </p:cNvCxnSpPr>
          <p:nvPr/>
        </p:nvCxnSpPr>
        <p:spPr>
          <a:xfrm>
            <a:off x="902138" y="5288964"/>
            <a:ext cx="10387720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172D2E6-5F6E-43A7-8416-4A1D965E07BD}"/>
              </a:ext>
            </a:extLst>
          </p:cNvPr>
          <p:cNvSpPr txBox="1">
            <a:spLocks/>
          </p:cNvSpPr>
          <p:nvPr/>
        </p:nvSpPr>
        <p:spPr>
          <a:xfrm>
            <a:off x="1561021" y="2152984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Этажность</a:t>
            </a:r>
            <a:endParaRPr lang="ru-RU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215CA7-5929-4FC5-A6D6-4EDABE98550D}"/>
              </a:ext>
            </a:extLst>
          </p:cNvPr>
          <p:cNvSpPr txBox="1">
            <a:spLocks/>
          </p:cNvSpPr>
          <p:nvPr/>
        </p:nvSpPr>
        <p:spPr>
          <a:xfrm>
            <a:off x="7439109" y="2152984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шт.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C26C7F-6315-4830-B0E5-2258ADA66200}"/>
              </a:ext>
            </a:extLst>
          </p:cNvPr>
          <p:cNvSpPr txBox="1">
            <a:spLocks/>
          </p:cNvSpPr>
          <p:nvPr/>
        </p:nvSpPr>
        <p:spPr>
          <a:xfrm>
            <a:off x="10143858" y="2152984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15</a:t>
            </a:r>
          </a:p>
        </p:txBody>
      </p:sp>
      <p:sp>
        <p:nvSpPr>
          <p:cNvPr id="52" name="TrackerNumBlue">
            <a:extLst>
              <a:ext uri="{FF2B5EF4-FFF2-40B4-BE49-F238E27FC236}">
                <a16:creationId xmlns:a16="http://schemas.microsoft.com/office/drawing/2014/main" id="{C3573B6E-A4F3-4075-B2AB-D63911D99791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902138" y="2120355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1895C8-2443-4906-AD02-1ED5F3D1E694}"/>
              </a:ext>
            </a:extLst>
          </p:cNvPr>
          <p:cNvSpPr txBox="1">
            <a:spLocks/>
          </p:cNvSpPr>
          <p:nvPr/>
        </p:nvSpPr>
        <p:spPr>
          <a:xfrm>
            <a:off x="1561021" y="2693341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Количество лифтов</a:t>
            </a:r>
            <a:endParaRPr lang="ru-RU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BB28B6-AFD8-4BEF-A3A2-6CB506C549E9}"/>
              </a:ext>
            </a:extLst>
          </p:cNvPr>
          <p:cNvSpPr txBox="1">
            <a:spLocks/>
          </p:cNvSpPr>
          <p:nvPr/>
        </p:nvSpPr>
        <p:spPr>
          <a:xfrm>
            <a:off x="7439109" y="2693341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шт.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A59CC77-EAD0-4A7F-A6BA-0527C5075B44}"/>
              </a:ext>
            </a:extLst>
          </p:cNvPr>
          <p:cNvSpPr txBox="1">
            <a:spLocks/>
          </p:cNvSpPr>
          <p:nvPr/>
        </p:nvSpPr>
        <p:spPr>
          <a:xfrm>
            <a:off x="10143858" y="2693341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3</a:t>
            </a:r>
          </a:p>
        </p:txBody>
      </p:sp>
      <p:sp>
        <p:nvSpPr>
          <p:cNvPr id="61" name="TrackerNumBlue">
            <a:extLst>
              <a:ext uri="{FF2B5EF4-FFF2-40B4-BE49-F238E27FC236}">
                <a16:creationId xmlns:a16="http://schemas.microsoft.com/office/drawing/2014/main" id="{4E1A6915-7D08-454E-8A86-86D69B9EB80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02138" y="2660712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2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21BB9A-AE21-4611-962D-2FB591C66796}"/>
              </a:ext>
            </a:extLst>
          </p:cNvPr>
          <p:cNvSpPr txBox="1">
            <a:spLocks/>
          </p:cNvSpPr>
          <p:nvPr/>
        </p:nvSpPr>
        <p:spPr>
          <a:xfrm>
            <a:off x="1561021" y="3233698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Общая площадь</a:t>
            </a:r>
            <a:endParaRPr lang="ru-RU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9E8634-9AA7-40EA-997D-BB7470B00375}"/>
              </a:ext>
            </a:extLst>
          </p:cNvPr>
          <p:cNvSpPr txBox="1">
            <a:spLocks/>
          </p:cNvSpPr>
          <p:nvPr/>
        </p:nvSpPr>
        <p:spPr>
          <a:xfrm>
            <a:off x="7439109" y="3233698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м</a:t>
            </a:r>
            <a:r>
              <a:rPr lang="ru-RU" sz="1600" baseline="30000" dirty="0"/>
              <a:t>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0105F66-C55C-42B1-B484-D5A23EACEB75}"/>
              </a:ext>
            </a:extLst>
          </p:cNvPr>
          <p:cNvSpPr txBox="1">
            <a:spLocks/>
          </p:cNvSpPr>
          <p:nvPr/>
        </p:nvSpPr>
        <p:spPr>
          <a:xfrm>
            <a:off x="10143858" y="3233698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11 812</a:t>
            </a:r>
          </a:p>
        </p:txBody>
      </p:sp>
      <p:sp>
        <p:nvSpPr>
          <p:cNvPr id="66" name="TrackerNumBlue">
            <a:extLst>
              <a:ext uri="{FF2B5EF4-FFF2-40B4-BE49-F238E27FC236}">
                <a16:creationId xmlns:a16="http://schemas.microsoft.com/office/drawing/2014/main" id="{95D24F4C-C872-4667-B07D-3D206D86491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02138" y="3201069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3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48E3EF-B37B-439D-AD96-40EC7EA52722}"/>
              </a:ext>
            </a:extLst>
          </p:cNvPr>
          <p:cNvSpPr txBox="1">
            <a:spLocks/>
          </p:cNvSpPr>
          <p:nvPr/>
        </p:nvSpPr>
        <p:spPr>
          <a:xfrm>
            <a:off x="1561021" y="3774055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Площаль жилых помещений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17FC9A9-CB76-4AD3-B888-C9E1CF57303C}"/>
              </a:ext>
            </a:extLst>
          </p:cNvPr>
          <p:cNvSpPr txBox="1">
            <a:spLocks/>
          </p:cNvSpPr>
          <p:nvPr/>
        </p:nvSpPr>
        <p:spPr>
          <a:xfrm>
            <a:off x="7439109" y="3774055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м</a:t>
            </a:r>
            <a:r>
              <a:rPr lang="ru-RU" sz="1600" baseline="30000" dirty="0"/>
              <a:t>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B062FDD-6E6B-4B13-8149-23D85CC27C6A}"/>
              </a:ext>
            </a:extLst>
          </p:cNvPr>
          <p:cNvSpPr txBox="1">
            <a:spLocks/>
          </p:cNvSpPr>
          <p:nvPr/>
        </p:nvSpPr>
        <p:spPr>
          <a:xfrm>
            <a:off x="10143858" y="3774055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6 377</a:t>
            </a:r>
          </a:p>
        </p:txBody>
      </p:sp>
      <p:sp>
        <p:nvSpPr>
          <p:cNvPr id="71" name="TrackerNumBlue">
            <a:extLst>
              <a:ext uri="{FF2B5EF4-FFF2-40B4-BE49-F238E27FC236}">
                <a16:creationId xmlns:a16="http://schemas.microsoft.com/office/drawing/2014/main" id="{0D5A6053-D545-4336-8FED-D598C63F1E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902138" y="3741426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4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5A65BE-BEBF-45A1-852F-30FFE9250513}"/>
              </a:ext>
            </a:extLst>
          </p:cNvPr>
          <p:cNvSpPr txBox="1">
            <a:spLocks/>
          </p:cNvSpPr>
          <p:nvPr/>
        </p:nvSpPr>
        <p:spPr>
          <a:xfrm>
            <a:off x="1561021" y="4314412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Кол-во квартир</a:t>
            </a:r>
            <a:endParaRPr lang="ru-RU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D4854D-4968-4337-A464-882D7CC6D20C}"/>
              </a:ext>
            </a:extLst>
          </p:cNvPr>
          <p:cNvSpPr txBox="1">
            <a:spLocks/>
          </p:cNvSpPr>
          <p:nvPr/>
        </p:nvSpPr>
        <p:spPr>
          <a:xfrm>
            <a:off x="7439109" y="4314412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шт.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FD291FA-08BC-4667-9391-FA90FC76B15C}"/>
              </a:ext>
            </a:extLst>
          </p:cNvPr>
          <p:cNvSpPr txBox="1">
            <a:spLocks/>
          </p:cNvSpPr>
          <p:nvPr/>
        </p:nvSpPr>
        <p:spPr>
          <a:xfrm>
            <a:off x="10143858" y="4314412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112</a:t>
            </a:r>
          </a:p>
        </p:txBody>
      </p:sp>
      <p:sp>
        <p:nvSpPr>
          <p:cNvPr id="76" name="TrackerNumBlue">
            <a:extLst>
              <a:ext uri="{FF2B5EF4-FFF2-40B4-BE49-F238E27FC236}">
                <a16:creationId xmlns:a16="http://schemas.microsoft.com/office/drawing/2014/main" id="{F840B151-78A2-44B9-A771-0AFF4CCB38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902138" y="4281783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5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63F47C-F067-4134-99A4-9475B60FEA07}"/>
              </a:ext>
            </a:extLst>
          </p:cNvPr>
          <p:cNvSpPr txBox="1">
            <a:spLocks/>
          </p:cNvSpPr>
          <p:nvPr/>
        </p:nvSpPr>
        <p:spPr>
          <a:xfrm>
            <a:off x="1561021" y="4854769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/>
              <a:t>Кол-во подъездов</a:t>
            </a:r>
            <a:endParaRPr lang="ru-RU" sz="16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F29882-C078-4298-8181-2AA99079EA8F}"/>
              </a:ext>
            </a:extLst>
          </p:cNvPr>
          <p:cNvSpPr txBox="1">
            <a:spLocks/>
          </p:cNvSpPr>
          <p:nvPr/>
        </p:nvSpPr>
        <p:spPr>
          <a:xfrm>
            <a:off x="7439109" y="4854769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шт.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4C6DC55-822A-4101-81E9-24BED8281F31}"/>
              </a:ext>
            </a:extLst>
          </p:cNvPr>
          <p:cNvSpPr txBox="1">
            <a:spLocks/>
          </p:cNvSpPr>
          <p:nvPr/>
        </p:nvSpPr>
        <p:spPr>
          <a:xfrm>
            <a:off x="10143858" y="4854769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1</a:t>
            </a:r>
          </a:p>
        </p:txBody>
      </p:sp>
      <p:sp>
        <p:nvSpPr>
          <p:cNvPr id="81" name="TrackerNumBlue">
            <a:extLst>
              <a:ext uri="{FF2B5EF4-FFF2-40B4-BE49-F238E27FC236}">
                <a16:creationId xmlns:a16="http://schemas.microsoft.com/office/drawing/2014/main" id="{740C5DE7-9E26-4970-B681-21E9DBE0B98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902138" y="4822140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6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C0312DC-A8F9-48CB-B499-48151CD0E30A}"/>
              </a:ext>
            </a:extLst>
          </p:cNvPr>
          <p:cNvSpPr txBox="1">
            <a:spLocks/>
          </p:cNvSpPr>
          <p:nvPr/>
        </p:nvSpPr>
        <p:spPr>
          <a:xfrm>
            <a:off x="1561021" y="5436032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Средняя площадь квартиры</a:t>
            </a:r>
            <a:r>
              <a:rPr lang="ru-RU" sz="1600" baseline="30000" dirty="0"/>
              <a:t>1</a:t>
            </a:r>
            <a:r>
              <a:rPr lang="ru-RU" sz="1600" dirty="0"/>
              <a:t>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826EE2-E258-4DD0-9A6E-6C79B1EB3E05}"/>
              </a:ext>
            </a:extLst>
          </p:cNvPr>
          <p:cNvSpPr txBox="1">
            <a:spLocks/>
          </p:cNvSpPr>
          <p:nvPr/>
        </p:nvSpPr>
        <p:spPr>
          <a:xfrm>
            <a:off x="7439109" y="5436032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м</a:t>
            </a:r>
            <a:r>
              <a:rPr lang="ru-RU" sz="1600" baseline="300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A8C3681-365A-4A52-A6B6-AE3466433003}"/>
              </a:ext>
            </a:extLst>
          </p:cNvPr>
          <p:cNvSpPr txBox="1">
            <a:spLocks/>
          </p:cNvSpPr>
          <p:nvPr/>
        </p:nvSpPr>
        <p:spPr>
          <a:xfrm>
            <a:off x="10143858" y="5436032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600" dirty="0"/>
              <a:t>52 </a:t>
            </a:r>
          </a:p>
        </p:txBody>
      </p:sp>
      <p:sp>
        <p:nvSpPr>
          <p:cNvPr id="91" name="TrackerNumBlue">
            <a:extLst>
              <a:ext uri="{FF2B5EF4-FFF2-40B4-BE49-F238E27FC236}">
                <a16:creationId xmlns:a16="http://schemas.microsoft.com/office/drawing/2014/main" id="{D3DDDF74-0EB1-47AF-A0A3-DA2C358B42A3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902138" y="5403403"/>
            <a:ext cx="311479" cy="31147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ru-RU" sz="1600" b="1" dirty="0">
                <a:solidFill>
                  <a:schemeClr val="bg1"/>
                </a:solidFill>
                <a:sym typeface="+mn-lt"/>
              </a:rPr>
              <a:t>7</a:t>
            </a:r>
            <a:endParaRPr lang="ru-RU" sz="16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B39F9-C24B-4C43-9B86-9E2B54E5CE05}"/>
              </a:ext>
            </a:extLst>
          </p:cNvPr>
          <p:cNvSpPr txBox="1">
            <a:spLocks/>
          </p:cNvSpPr>
          <p:nvPr/>
        </p:nvSpPr>
        <p:spPr>
          <a:xfrm>
            <a:off x="1561021" y="1409348"/>
            <a:ext cx="5530684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Параметр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5529F6-4A98-4B06-AD48-8F551552F586}"/>
              </a:ext>
            </a:extLst>
          </p:cNvPr>
          <p:cNvSpPr txBox="1">
            <a:spLocks/>
          </p:cNvSpPr>
          <p:nvPr/>
        </p:nvSpPr>
        <p:spPr>
          <a:xfrm>
            <a:off x="7439109" y="1409348"/>
            <a:ext cx="2357345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Единица измерения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B82D3-D9BC-4D2B-91D3-E76CE9559FC5}"/>
              </a:ext>
            </a:extLst>
          </p:cNvPr>
          <p:cNvSpPr txBox="1">
            <a:spLocks/>
          </p:cNvSpPr>
          <p:nvPr/>
        </p:nvSpPr>
        <p:spPr>
          <a:xfrm>
            <a:off x="10143858" y="1409348"/>
            <a:ext cx="1146000" cy="24622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Значение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C82A32-2586-4473-A20D-4329E914FCC2}"/>
              </a:ext>
            </a:extLst>
          </p:cNvPr>
          <p:cNvSpPr txBox="1">
            <a:spLocks/>
          </p:cNvSpPr>
          <p:nvPr/>
        </p:nvSpPr>
        <p:spPr>
          <a:xfrm>
            <a:off x="902138" y="1409348"/>
            <a:ext cx="177934" cy="246221"/>
          </a:xfrm>
          <a:prstGeom prst="rect">
            <a:avLst/>
          </a:prstGeom>
        </p:spPr>
        <p:txBody>
          <a:bodyPr vert="horz" wrap="non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b="1" dirty="0">
                <a:solidFill>
                  <a:schemeClr val="bg1"/>
                </a:solidFill>
              </a:rPr>
              <a:t>#</a:t>
            </a:r>
          </a:p>
        </p:txBody>
      </p:sp>
      <p:sp>
        <p:nvSpPr>
          <p:cNvPr id="54" name="4. Footnote">
            <a:extLst>
              <a:ext uri="{FF2B5EF4-FFF2-40B4-BE49-F238E27FC236}">
                <a16:creationId xmlns:a16="http://schemas.microsoft.com/office/drawing/2014/main" id="{FD63E9C8-35B6-4027-8DF3-707EC35877C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>
                <a:latin typeface="+mn-lt"/>
                <a:ea typeface="+mn-ea"/>
                <a:cs typeface="+mn-cs"/>
                <a:sym typeface="+mn-lt"/>
              </a:rPr>
              <a:t>1.	Экспертная оценка Фонда по реновации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5758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8740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умные счетчики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Решение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22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3744192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108946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367720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00105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2149963"/>
            <a:ext cx="4322661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Несутся застройщиком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3744192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-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3744192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Экспертная оценка продукта КГХ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61537" y="4096614"/>
            <a:ext cx="4481367" cy="990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-</a:t>
            </a:r>
            <a:br>
              <a:rPr lang="ru-RU" sz="1000" dirty="0"/>
            </a:br>
            <a:endParaRPr lang="ru-RU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6" y="2180979"/>
            <a:ext cx="4224723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/>
              <a:t>Стоимость обслуживания «умных» ИПУ</a:t>
            </a:r>
            <a:r>
              <a:rPr lang="ru-RU" sz="1000" dirty="0"/>
              <a:t>:</a:t>
            </a:r>
            <a:br>
              <a:rPr lang="ru-RU" sz="1000" dirty="0"/>
            </a:br>
            <a:r>
              <a:rPr lang="ru-RU" sz="1000" dirty="0"/>
              <a:t>- 35 руб за каждый счетчик в месяц</a:t>
            </a:r>
          </a:p>
          <a:p>
            <a:pPr>
              <a:buNone/>
            </a:pPr>
            <a:endParaRPr lang="ru-RU" sz="1000" dirty="0"/>
          </a:p>
          <a:p>
            <a:pPr>
              <a:buNone/>
            </a:pPr>
            <a:r>
              <a:rPr lang="ru-RU" sz="1000" b="1" dirty="0"/>
              <a:t>Стоимость обслуживания стандартных ИПУ:</a:t>
            </a:r>
          </a:p>
          <a:p>
            <a:pPr>
              <a:buNone/>
            </a:pPr>
            <a:r>
              <a:rPr lang="ru-RU" sz="1000" dirty="0"/>
              <a:t>- 25 </a:t>
            </a:r>
            <a:r>
              <a:rPr lang="ru-RU" sz="1000" dirty="0" err="1"/>
              <a:t>руб</a:t>
            </a:r>
            <a:r>
              <a:rPr lang="ru-RU" sz="1000" dirty="0"/>
              <a:t> за каждый счетчик в месяц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113941"/>
            <a:ext cx="4244671" cy="3217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Расчет основывается на допущении, что на каждую квартиру приходятся 2 ИПУ на воду</a:t>
            </a:r>
            <a:br>
              <a:rPr lang="ru-RU" sz="1000" dirty="0"/>
            </a:br>
            <a:endParaRPr lang="ru-RU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руб. на м</a:t>
            </a:r>
            <a:r>
              <a:rPr lang="ru-RU" sz="1000" baseline="300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2</a:t>
            </a:r>
            <a:r>
              <a:rPr lang="en-US" sz="1000" b="1" dirty="0">
                <a:solidFill>
                  <a:schemeClr val="accent3"/>
                </a:solidFill>
              </a:rPr>
              <a:t>7</a:t>
            </a:r>
            <a:r>
              <a:rPr lang="en-US" sz="1000" dirty="0"/>
              <a:t> </a:t>
            </a:r>
            <a:r>
              <a:rPr lang="ru-RU" sz="1000" dirty="0"/>
              <a:t>тыс. руб. в год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b="1" dirty="0">
                <a:solidFill>
                  <a:schemeClr val="accent3"/>
                </a:solidFill>
              </a:rPr>
              <a:t>20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</a:t>
            </a:r>
            <a:endParaRPr lang="ru-RU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134394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2670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умное освещение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Решение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3744192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108946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367720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00105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2612952"/>
            <a:ext cx="448139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Стоимость монтажа оборудования составляет 1 600 000 руб. на один типовой дом.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3744192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КП от подрядчика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3744192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КП от подрядчика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61537" y="4096614"/>
            <a:ext cx="4481367" cy="990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Суммарные капитальные затраты включают: монтаж светильников, монтаж контроллеров, установка компьютера и сервера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2597668"/>
            <a:ext cx="421519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Стоимость обслуживания умного освещения в месяц составляет 16 470, 26 руб.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079216"/>
            <a:ext cx="4244671" cy="8879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Суммарные операционные затраты включают: обслуживающий персонал, оборудование (ноутбук, сотовая связь, ЗИП и материалы), замена одного модуля в месяц.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Предполагается, что будет один отказ в месяц , и услуга считается, только на устранение отказов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1,6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1000" b="1" dirty="0">
                <a:solidFill>
                  <a:srgbClr val="C92723"/>
                </a:solidFill>
                <a:latin typeface="Verdana"/>
              </a:rPr>
              <a:t>135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руб. на м</a:t>
            </a:r>
            <a:r>
              <a:rPr kumimoji="0" lang="ru-RU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198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тыс. руб. в год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147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руб. в месяц на квартиру</a:t>
            </a:r>
            <a:endParaRPr kumimoji="0" lang="ru-RU" sz="1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686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0610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854636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общегородской </a:t>
            </a:r>
            <a:r>
              <a:rPr lang="en-US" dirty="0"/>
              <a:t>Wi-Fi </a:t>
            </a:r>
            <a:r>
              <a:rPr lang="ru-RU" dirty="0"/>
              <a:t>во дворе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Решение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00349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514249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3744192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108946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367720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001055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1908419"/>
            <a:ext cx="4481396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Стоимость этапов реализации для одного адреса: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проектно-изыскательские работы – 56 700 руб.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строительно-м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онтажные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работы – 70 600 руб.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</a:t>
            </a:r>
            <a:r>
              <a:rPr kumimoji="0" lang="ru-RU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пуско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-наладочные работы - 22 900 руб.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организация последней мили – 46 900 руб.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оборудование (промышленные точки доступа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Wi-Fi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, коммутационное оборудование, системы бесперебойного электропитания, коммутационные шкафы, кабели, системы организации, расходные материалы и др.)  - 358 500 руб.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3744192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Экспертная оценка продукта «Общегородской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Wi-Fi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»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3744192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Экспертная оценка продукта «Общегородской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Wi-Fi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»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61537" y="4096614"/>
            <a:ext cx="4481367" cy="990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Суммарные затраты = стоимость оборудования + ПИР + СМР + ПНР + последняя миля.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Допущения по количеству точек доступа: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Среднее количество точек доступа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Wi-Fi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на один адрес (прилегающая территория многоквартирного дома) – 5 ед.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2180979"/>
            <a:ext cx="421519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Обслуживание одной точки достпуа – 7400 руб. в месяц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Количество точек доступа на дом - 5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036307"/>
            <a:ext cx="4244671" cy="11156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Ежегодная стоимость обслуживания включает в себя: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работу круглосуточной службы технической поддержки и аварийно-восстановительных бригад.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- обеспечение программно-аппаратных средств мониторинга, статистики, контент-фильтрации, глубокого анализа трафика, авторизации пользователей.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0,56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1000" b="1" dirty="0">
                <a:solidFill>
                  <a:srgbClr val="C92723"/>
                </a:solidFill>
                <a:latin typeface="Verdana"/>
              </a:rPr>
              <a:t>47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руб. на м</a:t>
            </a:r>
            <a:r>
              <a:rPr kumimoji="0" lang="ru-RU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C92723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444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тыс. руб. в год</a:t>
            </a:r>
            <a:r>
              <a:rPr kumimoji="0" lang="ru-RU" sz="1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1</a:t>
            </a:r>
            <a:r>
              <a:rPr kumimoji="0" lang="ru-RU" sz="1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lang="ru-RU" sz="1000" b="1" dirty="0">
                <a:solidFill>
                  <a:srgbClr val="C92723"/>
                </a:solidFill>
                <a:latin typeface="Verdana"/>
              </a:rPr>
              <a:t>330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  <a:sym typeface="+mn-lt"/>
              </a:rPr>
              <a:t>руб. в месяц на квартиру</a:t>
            </a:r>
            <a:endParaRPr kumimoji="0" lang="ru-RU" sz="10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  <a:sym typeface="+mn-lt"/>
            </a:endParaRPr>
          </a:p>
        </p:txBody>
      </p:sp>
      <p:sp>
        <p:nvSpPr>
          <p:cNvPr id="33" name="4. Footnote">
            <a:extLst>
              <a:ext uri="{FF2B5EF4-FFF2-40B4-BE49-F238E27FC236}">
                <a16:creationId xmlns:a16="http://schemas.microsoft.com/office/drawing/2014/main" id="{DFC96DD6-48D4-43CD-BCAF-2CDA7E0C6B1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267572"/>
            <a:ext cx="11082528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Стоимость может быть снижена на 33% при увеличении кол-ва адресов до 600, так же затраты могут быть снижены в два раза при условии, что оператор, обслуживающий инфраструктуру </a:t>
            </a:r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Wi-Fi</a:t>
            </a: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 имеет более 50% абонентов в доме</a:t>
            </a:r>
          </a:p>
        </p:txBody>
      </p:sp>
    </p:spTree>
    <p:extLst>
      <p:ext uri="{BB962C8B-B14F-4D97-AF65-F5344CB8AC3E}">
        <p14:creationId xmlns:p14="http://schemas.microsoft.com/office/powerpoint/2010/main" val="1258814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0036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видеодомофон в телефоне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Решение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2200" b="1" dirty="0">
                <a:solidFill>
                  <a:schemeClr val="bg1"/>
                </a:solidFill>
                <a:sym typeface="+mn-lt"/>
              </a:rPr>
              <a:t>4</a:t>
            </a:r>
            <a:endParaRPr lang="ru-RU" sz="22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417593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502477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4108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43279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2092813"/>
            <a:ext cx="4481396" cy="1923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Перечень элементов капзатрат: </a:t>
            </a:r>
            <a:br>
              <a:rPr lang="ru-RU" sz="1000" dirty="0"/>
            </a:br>
            <a:r>
              <a:rPr lang="ru-RU" sz="1000" dirty="0"/>
              <a:t>- </a:t>
            </a:r>
            <a:r>
              <a:rPr lang="ru-RU" sz="1000" u="none" strike="noStrike" dirty="0">
                <a:effectLst/>
              </a:rPr>
              <a:t>Вызывная панель BEWARD DKS850230  в комлпекте с блоком питания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- Переходная панель для домофонов Beward серии DKS (410х250мм)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- Блок коммутации домофона </a:t>
            </a:r>
            <a:r>
              <a:rPr lang="en-US" sz="1000" u="none" strike="noStrike" dirty="0">
                <a:effectLst/>
              </a:rPr>
              <a:t>KKM-100S2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- Блок питания для электромагнитного замка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Faraday</a:t>
            </a:r>
            <a:r>
              <a:rPr lang="ru-RU" sz="1000" u="none" strike="noStrike" baseline="0" dirty="0">
                <a:effectLst/>
              </a:rPr>
              <a:t> </a:t>
            </a:r>
            <a:r>
              <a:rPr lang="ru-RU" sz="1000" u="none" strike="noStrike" dirty="0">
                <a:effectLst/>
              </a:rPr>
              <a:t>24W/12-24V/DIN</a:t>
            </a:r>
            <a:b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  <a:t>-</a:t>
            </a:r>
            <a:r>
              <a:rPr lang="ru-RU" sz="1000" u="none" strike="noStrike" dirty="0">
                <a:effectLst/>
              </a:rPr>
              <a:t>Электромагнитный замок Олевс М2-400РТ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- Кнопка аварийного отключения замка КМ1-1 (Телеполис)</a:t>
            </a:r>
            <a:b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  <a:t>- </a:t>
            </a:r>
            <a:r>
              <a:rPr lang="ru-RU" sz="1000" u="none" strike="noStrike" dirty="0">
                <a:effectLst/>
              </a:rPr>
              <a:t>Сетевой контроллер СКУД TNB-DO2-2-12 (тип2)</a:t>
            </a:r>
          </a:p>
          <a:p>
            <a:pPr>
              <a:buNone/>
            </a:pPr>
            <a:r>
              <a:rPr lang="ru-RU" sz="1000" u="none" strike="noStrike" dirty="0">
                <a:effectLst/>
              </a:rPr>
              <a:t>- Считыватель </a:t>
            </a:r>
            <a:r>
              <a:rPr lang="en-US" sz="1000" u="none" strike="noStrike" dirty="0" err="1">
                <a:effectLst/>
              </a:rPr>
              <a:t>OEMReader</a:t>
            </a:r>
            <a:r>
              <a:rPr lang="ru-RU" sz="1000" u="none" strike="noStrike" dirty="0">
                <a:effectLst/>
              </a:rPr>
              <a:t> и </a:t>
            </a:r>
            <a:r>
              <a:rPr lang="ru-RU" sz="1000" dirty="0"/>
              <a:t>Реле Родос-8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4175933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КП от подрядчика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4175933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КП от подрядчика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32182" y="4502477"/>
            <a:ext cx="4481367" cy="6158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Расчет подрядчика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2092813"/>
            <a:ext cx="4215198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Перечень элементов опер. затрат:</a:t>
            </a:r>
            <a:br>
              <a:rPr lang="ru-RU" sz="1000" dirty="0"/>
            </a:br>
            <a:br>
              <a:rPr lang="ru-RU" sz="1000" dirty="0"/>
            </a:br>
            <a:r>
              <a:rPr lang="ru-RU" sz="1000" dirty="0"/>
              <a:t>- </a:t>
            </a:r>
            <a:r>
              <a:rPr lang="ru-RU" sz="1000" u="none" strike="noStrike" dirty="0">
                <a:effectLst/>
              </a:rPr>
              <a:t>Передача видеопотока в ГИС ЕЦХД  - 1 264 руб. в месяц</a:t>
            </a:r>
            <a:br>
              <a:rPr lang="ru-RU" sz="1000" u="none" strike="noStrike" dirty="0">
                <a:effectLst/>
              </a:rPr>
            </a:br>
            <a:r>
              <a:rPr lang="ru-RU" sz="1000" u="none" strike="noStrike" dirty="0">
                <a:effectLst/>
              </a:rPr>
              <a:t>- Техническое обслуживание домофонной сети – 64 руб. </a:t>
            </a:r>
            <a:r>
              <a:rPr lang="ru-RU" sz="1000" dirty="0"/>
              <a:t>в</a:t>
            </a:r>
            <a:r>
              <a:rPr lang="ru-RU" sz="1000" u="none" strike="noStrike" dirty="0">
                <a:effectLst/>
              </a:rPr>
              <a:t> месяц</a:t>
            </a:r>
            <a:r>
              <a:rPr lang="ru-RU" sz="1000" dirty="0"/>
              <a:t> </a:t>
            </a:r>
          </a:p>
          <a:p>
            <a:pPr>
              <a:buNone/>
            </a:pPr>
            <a:endParaRPr lang="ru-RU" sz="1000" dirty="0"/>
          </a:p>
          <a:p>
            <a:pPr>
              <a:buNone/>
            </a:pPr>
            <a:r>
              <a:rPr lang="ru-RU" sz="1000" dirty="0"/>
              <a:t>Текущая стоимость обслуживания домофона: </a:t>
            </a:r>
          </a:p>
          <a:p>
            <a:pPr marL="171450" indent="-171450">
              <a:buFontTx/>
              <a:buChar char="-"/>
            </a:pPr>
            <a:r>
              <a:rPr lang="ru-RU" sz="1000" dirty="0"/>
              <a:t>40 руб в месяц на квартиру</a:t>
            </a:r>
          </a:p>
          <a:p>
            <a:pPr>
              <a:buNone/>
            </a:pPr>
            <a:r>
              <a:rPr lang="ru-RU" sz="1000" dirty="0"/>
              <a:t>Стоимость эксплуатации камеры – 1 270 руб. в месяц по информации от продукта Видеонаблюдение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502477"/>
            <a:ext cx="4244671" cy="5984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Стоимость передачи видеопотока умножается на 3 (3 подъезда), итоговая стоимость обслуживания составляет 90 руб. в месяц на квартиру, из нее вычитается текущая стоимость обслуживания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0,45</a:t>
            </a:r>
            <a:r>
              <a:rPr lang="en-US" sz="1000" dirty="0"/>
              <a:t> </a:t>
            </a:r>
            <a:r>
              <a:rPr lang="ru-RU" sz="1000" dirty="0"/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38</a:t>
            </a:r>
            <a:r>
              <a:rPr lang="en-US" sz="1000" dirty="0"/>
              <a:t> </a:t>
            </a:r>
            <a:r>
              <a:rPr lang="ru-RU" sz="1000" dirty="0"/>
              <a:t>руб. на м</a:t>
            </a:r>
            <a:r>
              <a:rPr lang="ru-RU" sz="1000" baseline="300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61</a:t>
            </a:r>
            <a:r>
              <a:rPr lang="en-US" sz="1000" dirty="0"/>
              <a:t> </a:t>
            </a:r>
            <a:r>
              <a:rPr lang="ru-RU" sz="1000" dirty="0"/>
              <a:t>тыс. руб. в год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45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</a:t>
            </a:r>
            <a:r>
              <a:rPr lang="en-US" sz="1000" dirty="0"/>
              <a:t> </a:t>
            </a:r>
            <a:r>
              <a:rPr lang="ru-RU" sz="1000" dirty="0"/>
              <a:t>(увеличение стоимости по сравнению с текущим платежом)</a:t>
            </a:r>
            <a:endParaRPr lang="ru-RU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966336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63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контроль мусорных баков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Решение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22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417593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502477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10A248-1EB4-46B4-A9C5-716E9256BD4A}"/>
              </a:ext>
            </a:extLst>
          </p:cNvPr>
          <p:cNvSpPr txBox="1"/>
          <p:nvPr/>
        </p:nvSpPr>
        <p:spPr>
          <a:xfrm>
            <a:off x="5424536" y="3640703"/>
            <a:ext cx="3185725" cy="861774"/>
          </a:xfrm>
          <a:prstGeom prst="rect">
            <a:avLst/>
          </a:prstGeom>
          <a:ln w="19050">
            <a:solidFill>
              <a:schemeClr val="accent3"/>
            </a:solidFill>
            <a:prstDash val="dash"/>
          </a:ln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i="1" dirty="0">
                <a:solidFill>
                  <a:schemeClr val="tx2"/>
                </a:solidFill>
              </a:rPr>
              <a:t>Сервис реализуется в рамках смежного пилота ДЖКХ, стоимость будет уточнена по его итогам</a:t>
            </a:r>
          </a:p>
        </p:txBody>
      </p:sp>
    </p:spTree>
    <p:extLst>
      <p:ext uri="{BB962C8B-B14F-4D97-AF65-F5344CB8AC3E}">
        <p14:creationId xmlns:p14="http://schemas.microsoft.com/office/powerpoint/2010/main" val="3455196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902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223001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умный шлагбаум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Решение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2200" b="1" dirty="0">
                <a:solidFill>
                  <a:schemeClr val="bg1"/>
                </a:solidFill>
                <a:sym typeface="+mn-lt"/>
              </a:rPr>
              <a:t>6</a:t>
            </a:r>
            <a:endParaRPr lang="ru-RU" sz="22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4497386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806678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4430399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754249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32182" y="2149963"/>
            <a:ext cx="448139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Стоимость оборудования и установки – 50 000 руб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4447253"/>
            <a:ext cx="4510730" cy="2919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КП от поставщика (имеется альтернативное предложение со стоимостью ниже)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32182" y="4823931"/>
            <a:ext cx="4481367" cy="5039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Расчет поставщика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1973156"/>
            <a:ext cx="4215198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Элементы операционных затрат: </a:t>
            </a:r>
            <a:br>
              <a:rPr lang="ru-RU" sz="1000" dirty="0"/>
            </a:br>
            <a:r>
              <a:rPr lang="ru-RU" sz="1000" dirty="0"/>
              <a:t>- Работу систем распознавания ГРЗ и двухфакторной идентификации</a:t>
            </a:r>
            <a:br>
              <a:rPr lang="ru-RU" sz="1000" dirty="0"/>
            </a:br>
            <a:r>
              <a:rPr lang="ru-RU" sz="1000" dirty="0"/>
              <a:t>- Работу облачной системы заказа гостевых пропусков</a:t>
            </a:r>
            <a:br>
              <a:rPr lang="ru-RU" sz="1000" dirty="0"/>
            </a:br>
            <a:r>
              <a:rPr lang="ru-RU" sz="1000" dirty="0"/>
              <a:t>- Обеспечение бесперебойной работы контроллеров управления умным шлагбаумом</a:t>
            </a:r>
            <a:br>
              <a:rPr lang="ru-RU" sz="1000" dirty="0"/>
            </a:br>
            <a:r>
              <a:rPr lang="ru-RU" sz="1000" dirty="0"/>
              <a:t>- Работу бесконтактной локальной и облачной  систем контроля и управления доступом на придомовое/внутридомовой парковочное пространство -</a:t>
            </a:r>
            <a:br>
              <a:rPr lang="ru-RU" sz="1000" dirty="0"/>
            </a:br>
            <a:r>
              <a:rPr lang="ru-RU" sz="1000" dirty="0"/>
              <a:t>- Поддержка программной интеграции с приложениями умного ЖКХ (например ЭД)</a:t>
            </a:r>
            <a:br>
              <a:rPr lang="ru-RU" sz="1000" dirty="0"/>
            </a:br>
            <a:endParaRPr lang="ru-RU" sz="1000" dirty="0"/>
          </a:p>
          <a:p>
            <a:pPr>
              <a:buNone/>
            </a:pPr>
            <a:r>
              <a:rPr lang="ru-RU" sz="1000" dirty="0"/>
              <a:t>Стоимость эксплуатации камеры – 1 270 руб. в месяц по информации от продукта Видеонаблюдение</a:t>
            </a:r>
          </a:p>
          <a:p>
            <a:pPr>
              <a:buNone/>
            </a:pPr>
            <a:endParaRPr lang="ru-RU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823930"/>
            <a:ext cx="4244671" cy="5039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Взять среднее значение по двум коммерческим предложениям, добавлена стоимость обслуживания камеры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0,</a:t>
            </a:r>
            <a:r>
              <a:rPr lang="en-US" sz="1000" b="1" dirty="0">
                <a:solidFill>
                  <a:schemeClr val="accent3"/>
                </a:solidFill>
              </a:rPr>
              <a:t>2</a:t>
            </a:r>
            <a:r>
              <a:rPr lang="en-US" sz="1000" dirty="0"/>
              <a:t> </a:t>
            </a:r>
            <a:r>
              <a:rPr lang="ru-RU" sz="1000" dirty="0"/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b="1" dirty="0">
                <a:solidFill>
                  <a:schemeClr val="accent3"/>
                </a:solidFill>
              </a:rPr>
              <a:t>18</a:t>
            </a:r>
            <a:r>
              <a:rPr lang="en-US" sz="1000" dirty="0"/>
              <a:t> </a:t>
            </a:r>
            <a:r>
              <a:rPr lang="ru-RU" sz="1000" dirty="0"/>
              <a:t>руб. на м</a:t>
            </a:r>
            <a:r>
              <a:rPr lang="ru-RU" sz="1000" baseline="300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b="1" dirty="0">
                <a:solidFill>
                  <a:schemeClr val="accent3"/>
                </a:solidFill>
              </a:rPr>
              <a:t>93</a:t>
            </a:r>
            <a:r>
              <a:rPr lang="en-US" sz="1000" dirty="0"/>
              <a:t> </a:t>
            </a:r>
            <a:r>
              <a:rPr lang="ru-RU" sz="1000" dirty="0"/>
              <a:t>тыс. руб. в год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5871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000" b="1" dirty="0">
                <a:solidFill>
                  <a:schemeClr val="accent3"/>
                </a:solidFill>
              </a:rPr>
              <a:t>69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 (Сценарий 1 - все квартиры)</a:t>
            </a:r>
            <a:endParaRPr lang="ru-RU" sz="1000" baseline="30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1D4567-F055-4119-B3C5-294268274849}"/>
              </a:ext>
            </a:extLst>
          </p:cNvPr>
          <p:cNvSpPr txBox="1">
            <a:spLocks/>
          </p:cNvSpPr>
          <p:nvPr/>
        </p:nvSpPr>
        <p:spPr>
          <a:xfrm>
            <a:off x="7164547" y="4444499"/>
            <a:ext cx="4510730" cy="2919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КП от поставщиков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408F68-A449-4C2D-B198-2EB9A7EF8309}"/>
              </a:ext>
            </a:extLst>
          </p:cNvPr>
          <p:cNvSpPr txBox="1">
            <a:spLocks/>
          </p:cNvSpPr>
          <p:nvPr/>
        </p:nvSpPr>
        <p:spPr>
          <a:xfrm>
            <a:off x="7148537" y="5800892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1</a:t>
            </a:r>
            <a:r>
              <a:rPr lang="en-US" sz="1000" b="1" dirty="0">
                <a:solidFill>
                  <a:schemeClr val="accent3"/>
                </a:solidFill>
              </a:rPr>
              <a:t>04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</a:t>
            </a:r>
            <a:r>
              <a:rPr lang="en-US" sz="1000" dirty="0"/>
              <a:t> (</a:t>
            </a:r>
            <a:r>
              <a:rPr lang="ru-RU" sz="1000" dirty="0"/>
              <a:t>Сценарий 2 – инициативная группа)</a:t>
            </a:r>
            <a:r>
              <a:rPr lang="ru-RU" sz="1000" baseline="30000" dirty="0"/>
              <a:t>1</a:t>
            </a:r>
            <a:r>
              <a:rPr lang="ru-RU" sz="1000" dirty="0"/>
              <a:t> </a:t>
            </a:r>
          </a:p>
        </p:txBody>
      </p:sp>
      <p:sp>
        <p:nvSpPr>
          <p:cNvPr id="34" name="4. Footnote">
            <a:extLst>
              <a:ext uri="{FF2B5EF4-FFF2-40B4-BE49-F238E27FC236}">
                <a16:creationId xmlns:a16="http://schemas.microsoft.com/office/drawing/2014/main" id="{4C61797A-7A18-4D8F-A37F-770D94F98B8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>
                <a:latin typeface="+mn-lt"/>
                <a:ea typeface="+mn-ea"/>
                <a:cs typeface="+mn-cs"/>
                <a:sym typeface="+mn-lt"/>
              </a:rPr>
              <a:t>1.	Допускается, что 67% семейств, проживающих в доме, владеют или пользуются автомобилем (основано на данных ВЦИОМ за 2019 год)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4742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8215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мониторинг парковочных мест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Решение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en-US" sz="2200" b="1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7</a:t>
            </a:r>
            <a:endParaRPr lang="ru-RU" sz="22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417593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502477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4108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43279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2149963"/>
            <a:ext cx="448139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Дополнительные капзатраты отсутсвуют – реализуется в рамках бюджета продукта Видеонаблюдение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4175933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Экспертная оценка продукта</a:t>
            </a:r>
            <a:r>
              <a:rPr lang="en-US" sz="1000" dirty="0"/>
              <a:t> </a:t>
            </a:r>
            <a:r>
              <a:rPr lang="ru-RU" sz="1000" dirty="0"/>
              <a:t>Видеонаблюдение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4175933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Экспертная оценка продукта Видеонаблюдение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32182" y="4502477"/>
            <a:ext cx="4481367" cy="6158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2180979"/>
            <a:ext cx="4215198" cy="148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Сервис анализа парковочных мест</a:t>
            </a:r>
            <a:r>
              <a:rPr lang="en-US" sz="1000" dirty="0"/>
              <a:t> </a:t>
            </a:r>
            <a:r>
              <a:rPr lang="ru-RU" sz="1000" dirty="0"/>
              <a:t>на поток (оборудование, поддержка и обновления ПО, канал связи, тех.портал, API для внешних систем)</a:t>
            </a:r>
            <a:r>
              <a:rPr lang="en-US" sz="1000" dirty="0"/>
              <a:t> – 1 965 </a:t>
            </a:r>
            <a:r>
              <a:rPr lang="ru-RU" sz="1000" dirty="0"/>
              <a:t>руб. в мес.</a:t>
            </a:r>
            <a:r>
              <a:rPr lang="ru-RU" sz="1000" baseline="30000" dirty="0"/>
              <a:t>1</a:t>
            </a:r>
          </a:p>
          <a:p>
            <a:pPr>
              <a:buNone/>
            </a:pPr>
            <a:endParaRPr lang="ru-RU" sz="1000" baseline="30000" dirty="0"/>
          </a:p>
          <a:p>
            <a:pPr>
              <a:buNone/>
            </a:pPr>
            <a:r>
              <a:rPr lang="ru-RU" sz="1000" dirty="0"/>
              <a:t>По оценке продукта, дополнительная стоимость услуг видеонаблюдения </a:t>
            </a:r>
            <a:r>
              <a:rPr lang="en-US" sz="1000" dirty="0"/>
              <a:t>DVN_b </a:t>
            </a:r>
            <a:r>
              <a:rPr lang="ru-RU" sz="1000" dirty="0"/>
              <a:t>составляет 12 800 руб. в месяц на каждую камеру. Делается допущения, что эта стоимость покрывается за счет бюджета продукта и не учитывается при расчете операционных затрат.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502477"/>
            <a:ext cx="4244671" cy="5984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В среднем 7 камер на двор (оценка продукта), соответственно стоимость составляет 1965 х 7 = 13 755 руб. в мес.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руб. на м</a:t>
            </a:r>
            <a:r>
              <a:rPr lang="ru-RU" sz="1000" baseline="300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165</a:t>
            </a:r>
            <a:r>
              <a:rPr lang="en-US" sz="1000" dirty="0"/>
              <a:t> </a:t>
            </a:r>
            <a:r>
              <a:rPr lang="ru-RU" sz="1000" dirty="0"/>
              <a:t>тыс. руб. в год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1</a:t>
            </a:r>
            <a:r>
              <a:rPr lang="en-US" sz="1000" b="1" dirty="0">
                <a:solidFill>
                  <a:schemeClr val="accent3"/>
                </a:solidFill>
              </a:rPr>
              <a:t>23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</a:t>
            </a:r>
            <a:endParaRPr lang="ru-RU" sz="1000" baseline="30000" dirty="0"/>
          </a:p>
        </p:txBody>
      </p:sp>
      <p:sp>
        <p:nvSpPr>
          <p:cNvPr id="41" name="4. Footnote">
            <a:extLst>
              <a:ext uri="{FF2B5EF4-FFF2-40B4-BE49-F238E27FC236}">
                <a16:creationId xmlns:a16="http://schemas.microsoft.com/office/drawing/2014/main" id="{8C9B601C-4D13-468E-ACBA-AF3A8F979B6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36235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cs typeface="+mn-cs"/>
                <a:sym typeface="+mn-lt"/>
              </a:rPr>
              <a:t>1. При масштабировании более 145 домов стоимость составит  1 100 руб. в мес.</a:t>
            </a:r>
          </a:p>
        </p:txBody>
      </p:sp>
    </p:spTree>
    <p:extLst>
      <p:ext uri="{BB962C8B-B14F-4D97-AF65-F5344CB8AC3E}">
        <p14:creationId xmlns:p14="http://schemas.microsoft.com/office/powerpoint/2010/main" val="3865813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Object 6" hidden="1">
            <a:extLst>
              <a:ext uri="{FF2B5EF4-FFF2-40B4-BE49-F238E27FC236}">
                <a16:creationId xmlns:a16="http://schemas.microsoft.com/office/drawing/2014/main" id="{3EC8098E-843E-4A8D-93BD-8EE1D1E36C9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088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239" name="Object 6" hidden="1">
                        <a:extLst>
                          <a:ext uri="{FF2B5EF4-FFF2-40B4-BE49-F238E27FC236}">
                            <a16:creationId xmlns:a16="http://schemas.microsoft.com/office/drawing/2014/main" id="{3EC8098E-843E-4A8D-93BD-8EE1D1E36C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Arrow: Pentagon 444">
            <a:extLst>
              <a:ext uri="{FF2B5EF4-FFF2-40B4-BE49-F238E27FC236}">
                <a16:creationId xmlns:a16="http://schemas.microsoft.com/office/drawing/2014/main" id="{A98B1E07-ADE5-4577-A461-C6960E06F331}"/>
              </a:ext>
            </a:extLst>
          </p:cNvPr>
          <p:cNvSpPr>
            <a:spLocks/>
          </p:cNvSpPr>
          <p:nvPr/>
        </p:nvSpPr>
        <p:spPr>
          <a:xfrm>
            <a:off x="1823887" y="1266184"/>
            <a:ext cx="10368113" cy="1121106"/>
          </a:xfrm>
          <a:prstGeom prst="homePlate">
            <a:avLst>
              <a:gd name="adj" fmla="val 0"/>
            </a:avLst>
          </a:prstGeom>
          <a:solidFill>
            <a:schemeClr val="accent3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711417-8F92-4B7A-8C50-A11B86DC1BDA}"/>
              </a:ext>
            </a:extLst>
          </p:cNvPr>
          <p:cNvSpPr>
            <a:spLocks/>
          </p:cNvSpPr>
          <p:nvPr/>
        </p:nvSpPr>
        <p:spPr>
          <a:xfrm>
            <a:off x="-1" y="1266184"/>
            <a:ext cx="1968135" cy="4912366"/>
          </a:xfrm>
          <a:prstGeom prst="rect">
            <a:avLst/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447" name="Rectangle: Rounded Corners 446">
            <a:extLst>
              <a:ext uri="{FF2B5EF4-FFF2-40B4-BE49-F238E27FC236}">
                <a16:creationId xmlns:a16="http://schemas.microsoft.com/office/drawing/2014/main" id="{2C57555E-EEC5-48E4-9B3F-7EBD72E1CFEB}"/>
              </a:ext>
            </a:extLst>
          </p:cNvPr>
          <p:cNvSpPr>
            <a:spLocks/>
          </p:cNvSpPr>
          <p:nvPr/>
        </p:nvSpPr>
        <p:spPr>
          <a:xfrm>
            <a:off x="554734" y="1955549"/>
            <a:ext cx="11082528" cy="4108743"/>
          </a:xfrm>
          <a:prstGeom prst="roundRect">
            <a:avLst>
              <a:gd name="adj" fmla="val 2158"/>
            </a:avLst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vert="horz" wrap="square" lIns="97935" tIns="97935" rIns="97935" bIns="97935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SzPct val="100000"/>
              <a:buFont typeface="Segoe UI" panose="020B0502040204020203" pitchFamily="34" charset="0"/>
              <a:buChar char="​"/>
            </a:pPr>
            <a:endParaRPr lang="ru-RU" sz="1000" dirty="0">
              <a:solidFill>
                <a:schemeClr val="tx1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A51867D2-D270-4160-906A-14E3C59A2AA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>
            <a:noAutofit/>
          </a:bodyPr>
          <a:lstStyle/>
          <a:p>
            <a:r>
              <a:rPr lang="ru-RU" dirty="0"/>
              <a:t>     Детализация расчета – видеонаблюдение в подъезде</a:t>
            </a:r>
          </a:p>
        </p:txBody>
      </p:sp>
      <p:graphicFrame>
        <p:nvGraphicFramePr>
          <p:cNvPr id="7" name="Table 6" hidden="1">
            <a:extLst>
              <a:ext uri="{FF2B5EF4-FFF2-40B4-BE49-F238E27FC236}">
                <a16:creationId xmlns:a16="http://schemas.microsoft.com/office/drawing/2014/main" id="{ECBCC645-313B-4471-B89F-93817AF159DE}"/>
              </a:ext>
            </a:extLst>
          </p:cNvPr>
          <p:cNvGraphicFramePr>
            <a:graphicFrameLocks noGrp="1"/>
          </p:cNvGraphicFramePr>
          <p:nvPr/>
        </p:nvGraphicFramePr>
        <p:xfrm>
          <a:off x="1255485" y="2167005"/>
          <a:ext cx="1454605" cy="1676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02">
                  <a:extLst>
                    <a:ext uri="{9D8B030D-6E8A-4147-A177-3AD203B41FA5}">
                      <a16:colId xmlns:a16="http://schemas.microsoft.com/office/drawing/2014/main" val="884488985"/>
                    </a:ext>
                  </a:extLst>
                </a:gridCol>
                <a:gridCol w="404447">
                  <a:extLst>
                    <a:ext uri="{9D8B030D-6E8A-4147-A177-3AD203B41FA5}">
                      <a16:colId xmlns:a16="http://schemas.microsoft.com/office/drawing/2014/main" val="4219178638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4191086348"/>
                    </a:ext>
                  </a:extLst>
                </a:gridCol>
                <a:gridCol w="71052">
                  <a:extLst>
                    <a:ext uri="{9D8B030D-6E8A-4147-A177-3AD203B41FA5}">
                      <a16:colId xmlns:a16="http://schemas.microsoft.com/office/drawing/2014/main" val="3266144574"/>
                    </a:ext>
                  </a:extLst>
                </a:gridCol>
                <a:gridCol w="113214">
                  <a:extLst>
                    <a:ext uri="{9D8B030D-6E8A-4147-A177-3AD203B41FA5}">
                      <a16:colId xmlns:a16="http://schemas.microsoft.com/office/drawing/2014/main" val="2434364619"/>
                    </a:ext>
                  </a:extLst>
                </a:gridCol>
                <a:gridCol w="146007">
                  <a:extLst>
                    <a:ext uri="{9D8B030D-6E8A-4147-A177-3AD203B41FA5}">
                      <a16:colId xmlns:a16="http://schemas.microsoft.com/office/drawing/2014/main" val="3044273634"/>
                    </a:ext>
                  </a:extLst>
                </a:gridCol>
                <a:gridCol w="112433">
                  <a:extLst>
                    <a:ext uri="{9D8B030D-6E8A-4147-A177-3AD203B41FA5}">
                      <a16:colId xmlns:a16="http://schemas.microsoft.com/office/drawing/2014/main" val="1904244875"/>
                    </a:ext>
                  </a:extLst>
                </a:gridCol>
                <a:gridCol w="260783">
                  <a:extLst>
                    <a:ext uri="{9D8B030D-6E8A-4147-A177-3AD203B41FA5}">
                      <a16:colId xmlns:a16="http://schemas.microsoft.com/office/drawing/2014/main" val="4130361823"/>
                    </a:ext>
                  </a:extLst>
                </a:gridCol>
                <a:gridCol w="109310">
                  <a:extLst>
                    <a:ext uri="{9D8B030D-6E8A-4147-A177-3AD203B41FA5}">
                      <a16:colId xmlns:a16="http://schemas.microsoft.com/office/drawing/2014/main" val="4011321487"/>
                    </a:ext>
                  </a:extLst>
                </a:gridCol>
                <a:gridCol w="81202">
                  <a:extLst>
                    <a:ext uri="{9D8B030D-6E8A-4147-A177-3AD203B41FA5}">
                      <a16:colId xmlns:a16="http://schemas.microsoft.com/office/drawing/2014/main" val="2549363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#</a:t>
                      </a:r>
                      <a:endParaRPr lang="ru-RU" sz="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Решение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Капитальные затраты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00" u="none" strike="noStrike">
                          <a:effectLst/>
                        </a:rPr>
                        <a:t>Операционные расходы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Статьи затрат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Комментарии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Детализация 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Источник</a:t>
                      </a:r>
                      <a:endParaRPr lang="ru-RU" sz="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86202998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кв.м., руб.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пилот, руб. в год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 квартиру, руб. в месяц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363392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Умные счетчики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2,576,000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352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175,600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Без учета прокладки кабелей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343875960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Умное освещение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1,600,000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219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1590267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Инфопанели с навигацией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1,311,000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179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Не включает стоимость интеграции и программирования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74274451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Общегородской </a:t>
                      </a:r>
                      <a:r>
                        <a:rPr lang="en-AU" sz="100" u="none" strike="noStrike">
                          <a:effectLst/>
                        </a:rPr>
                        <a:t>Wi-Fi </a:t>
                      </a:r>
                      <a:r>
                        <a:rPr lang="ru-RU" sz="100" u="none" strike="noStrike">
                          <a:effectLst/>
                        </a:rPr>
                        <a:t>во дворе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650,000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89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444,000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285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Размещение оборудования, прокладка информационных кабелей и кабелей питания, пуско-наладочные работы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Возможна экономия по результатам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161891407"/>
                  </a:ext>
                </a:extLst>
              </a:tr>
              <a:tr h="163403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Видеодомофон в мобильном телефоне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448,463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61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45,504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93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панелей, блоков питания и комматации, сетевого контроллера, передача видеопотока в ГИС ЕЦХД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79515859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Контроль мусорных баков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207,500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28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41,500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27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Установка датчиков, настройка связи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Экспертная оценка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73148561"/>
                  </a:ext>
                </a:extLst>
              </a:tr>
              <a:tr h="416521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Умный шлагбаум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50,000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7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180,000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115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системы распознавания ГРЗ и двухфакторной идентификации, облачная системы заказа гостевых пропусков, система контроля и управления доступом на придомовое/внутридомовой парковочное пространство, поддержка программной интеграции с приложениями умного ЖКХ (например ЭД)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Смета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17898958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парковочных мест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165,060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106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67051359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Выявление нарушений по видеонаблюдению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9633972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Наблюдение за соблюдением чистоты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9823060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Пункты выдачи заказов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446498316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12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Мониторинг возгораний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712154113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13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Безбарьерная среда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193892502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14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Вендинговые автоматы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Коммерческий сервис - все затраты несет оператор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941136066"/>
                  </a:ext>
                </a:extLst>
              </a:tr>
              <a:tr h="9108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15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Городское видеонаблюдение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Инфраструктура входит в стоимость  строительства новых домов, камеры устанавливаются в рамках бюджета продукта Видеонаблюдение. Сервис оказывается по сервисному контракту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957788548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16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Единое мобильное приложение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00" u="none" strike="noStrike">
                          <a:effectLst/>
                        </a:rPr>
                        <a:t>TBD</a:t>
                      </a:r>
                      <a:endParaRPr lang="en-A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217376095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17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центр информирования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Концепция согласовывается, возможно будет исключено из пилота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556432817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18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Единый электронный платежный документ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Бюджет продукта ЕПД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1161573114"/>
                  </a:ext>
                </a:extLst>
              </a:tr>
              <a:tr h="5492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19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Идентификация лиц, предоставляющих услуги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Затраты входят в решение "Видеодомофон в мобильном телефоне"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2584246034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20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Интернет от любого провайдера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878228279"/>
                  </a:ext>
                </a:extLst>
              </a:tr>
              <a:tr h="36844">
                <a:tc>
                  <a:txBody>
                    <a:bodyPr/>
                    <a:lstStyle/>
                    <a:p>
                      <a:pPr algn="r" fontAlgn="b"/>
                      <a:r>
                        <a:rPr lang="ru-RU" sz="100" u="none" strike="noStrike">
                          <a:effectLst/>
                        </a:rPr>
                        <a:t>21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Связь с диспетчером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                                                  -  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Отсутвуют 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Реализован при строительстве (Смарт-стандарт)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>
                          <a:effectLst/>
                        </a:rPr>
                        <a:t>-</a:t>
                      </a:r>
                      <a:endParaRPr lang="ru-RU" sz="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" u="none" strike="noStrike" dirty="0">
                          <a:effectLst/>
                        </a:rPr>
                        <a:t>-</a:t>
                      </a:r>
                      <a:endParaRPr lang="ru-RU" sz="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" marR="685" marT="685" marB="0" anchor="b"/>
                </a:tc>
                <a:extLst>
                  <a:ext uri="{0D108BD9-81ED-4DB2-BD59-A6C34878D82A}">
                    <a16:rowId xmlns:a16="http://schemas.microsoft.com/office/drawing/2014/main" val="3649788336"/>
                  </a:ext>
                </a:extLst>
              </a:tr>
            </a:tbl>
          </a:graphicData>
        </a:graphic>
      </p:graphicFrame>
      <p:sp>
        <p:nvSpPr>
          <p:cNvPr id="248" name="TextBox 247">
            <a:extLst>
              <a:ext uri="{FF2B5EF4-FFF2-40B4-BE49-F238E27FC236}">
                <a16:creationId xmlns:a16="http://schemas.microsoft.com/office/drawing/2014/main" id="{34348C8F-4E3B-423D-8D29-D802FA7CDEE5}"/>
              </a:ext>
            </a:extLst>
          </p:cNvPr>
          <p:cNvSpPr txBox="1">
            <a:spLocks/>
          </p:cNvSpPr>
          <p:nvPr/>
        </p:nvSpPr>
        <p:spPr>
          <a:xfrm>
            <a:off x="3795665" y="1592628"/>
            <a:ext cx="1628871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800" b="1" dirty="0">
                <a:solidFill>
                  <a:schemeClr val="bg1"/>
                </a:solidFill>
              </a:rPr>
              <a:t>Капзатраты</a:t>
            </a:r>
          </a:p>
        </p:txBody>
      </p:sp>
      <p:sp>
        <p:nvSpPr>
          <p:cNvPr id="46" name="TrackerNumBlue">
            <a:extLst>
              <a:ext uri="{FF2B5EF4-FFF2-40B4-BE49-F238E27FC236}">
                <a16:creationId xmlns:a16="http://schemas.microsoft.com/office/drawing/2014/main" id="{C9354DA0-3877-4B8F-B445-135917889B4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4735" y="534877"/>
            <a:ext cx="419099" cy="419099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 rtl="0">
              <a:spcBef>
                <a:spcPts val="300"/>
              </a:spcBef>
              <a:spcAft>
                <a:spcPts val="300"/>
              </a:spcAft>
            </a:pPr>
            <a:r>
              <a:rPr lang="ru-RU" sz="2200" b="1" dirty="0">
                <a:solidFill>
                  <a:schemeClr val="bg1"/>
                </a:solidFill>
                <a:sym typeface="+mn-lt"/>
              </a:rPr>
              <a:t>8</a:t>
            </a:r>
            <a:endParaRPr lang="ru-RU" sz="2200" b="1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70AE28-0D6E-4F3E-9D38-3A94A3015B42}"/>
              </a:ext>
            </a:extLst>
          </p:cNvPr>
          <p:cNvSpPr txBox="1">
            <a:spLocks/>
          </p:cNvSpPr>
          <p:nvPr/>
        </p:nvSpPr>
        <p:spPr>
          <a:xfrm>
            <a:off x="8121330" y="1606528"/>
            <a:ext cx="2246783" cy="27699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>
                <a:solidFill>
                  <a:schemeClr val="bg1"/>
                </a:solidFill>
              </a:rPr>
              <a:t>Опер.затраты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A2A47A-3C35-4CDC-AC72-1D68D0E9E4D5}"/>
              </a:ext>
            </a:extLst>
          </p:cNvPr>
          <p:cNvSpPr txBox="1">
            <a:spLocks/>
          </p:cNvSpPr>
          <p:nvPr/>
        </p:nvSpPr>
        <p:spPr>
          <a:xfrm>
            <a:off x="764284" y="214996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Вводные данные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16C00-183C-436B-9871-65CC461CEE82}"/>
              </a:ext>
            </a:extLst>
          </p:cNvPr>
          <p:cNvSpPr txBox="1">
            <a:spLocks/>
          </p:cNvSpPr>
          <p:nvPr/>
        </p:nvSpPr>
        <p:spPr>
          <a:xfrm>
            <a:off x="764284" y="4175933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Источник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1A437D-FE21-4378-945A-2BB6678DCFD4}"/>
              </a:ext>
            </a:extLst>
          </p:cNvPr>
          <p:cNvSpPr txBox="1">
            <a:spLocks/>
          </p:cNvSpPr>
          <p:nvPr/>
        </p:nvSpPr>
        <p:spPr>
          <a:xfrm>
            <a:off x="764284" y="4502477"/>
            <a:ext cx="1548318" cy="30777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Методология расчета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5053A6-C4AA-41E7-94A0-39F8DD78198A}"/>
              </a:ext>
            </a:extLst>
          </p:cNvPr>
          <p:cNvSpPr txBox="1">
            <a:spLocks/>
          </p:cNvSpPr>
          <p:nvPr/>
        </p:nvSpPr>
        <p:spPr>
          <a:xfrm>
            <a:off x="764284" y="5230947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Значения на дом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8D7EB6-7CCF-414E-9843-CF8286A1D487}"/>
              </a:ext>
            </a:extLst>
          </p:cNvPr>
          <p:cNvSpPr txBox="1">
            <a:spLocks/>
          </p:cNvSpPr>
          <p:nvPr/>
        </p:nvSpPr>
        <p:spPr>
          <a:xfrm>
            <a:off x="764284" y="5622594"/>
            <a:ext cx="1548318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b="1" dirty="0">
                <a:solidFill>
                  <a:schemeClr val="accent3"/>
                </a:solidFill>
              </a:rPr>
              <a:t>Удельные значения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E58E5B-499B-4EB4-8FB7-4B90C99086C5}"/>
              </a:ext>
            </a:extLst>
          </p:cNvPr>
          <p:cNvCxnSpPr/>
          <p:nvPr/>
        </p:nvCxnSpPr>
        <p:spPr>
          <a:xfrm>
            <a:off x="638175" y="4108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548A73-8D47-4131-9BFB-B3759D4C6088}"/>
              </a:ext>
            </a:extLst>
          </p:cNvPr>
          <p:cNvCxnSpPr/>
          <p:nvPr/>
        </p:nvCxnSpPr>
        <p:spPr>
          <a:xfrm>
            <a:off x="638175" y="443279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CE2FCE-6145-4605-885B-1F5C0FEC9A32}"/>
              </a:ext>
            </a:extLst>
          </p:cNvPr>
          <p:cNvCxnSpPr/>
          <p:nvPr/>
        </p:nvCxnSpPr>
        <p:spPr>
          <a:xfrm>
            <a:off x="695323" y="5178521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7DED76-72A2-4E39-8A71-AED04BBB412D}"/>
              </a:ext>
            </a:extLst>
          </p:cNvPr>
          <p:cNvCxnSpPr/>
          <p:nvPr/>
        </p:nvCxnSpPr>
        <p:spPr>
          <a:xfrm>
            <a:off x="695323" y="5530946"/>
            <a:ext cx="10801350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42F0EC4-8763-4418-B13C-CA387B661C26}"/>
              </a:ext>
            </a:extLst>
          </p:cNvPr>
          <p:cNvCxnSpPr>
            <a:cxnSpLocks/>
          </p:cNvCxnSpPr>
          <p:nvPr/>
        </p:nvCxnSpPr>
        <p:spPr>
          <a:xfrm flipH="1">
            <a:off x="7018941" y="1955549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811088E-6E24-481E-9E7F-DD083A7CE562}"/>
              </a:ext>
            </a:extLst>
          </p:cNvPr>
          <p:cNvCxnSpPr>
            <a:cxnSpLocks/>
          </p:cNvCxnSpPr>
          <p:nvPr/>
        </p:nvCxnSpPr>
        <p:spPr>
          <a:xfrm flipH="1">
            <a:off x="2312600" y="1946683"/>
            <a:ext cx="2" cy="4108743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5077FF-2822-41F7-A884-B73CE6E5F038}"/>
              </a:ext>
            </a:extLst>
          </p:cNvPr>
          <p:cNvSpPr txBox="1"/>
          <p:nvPr/>
        </p:nvSpPr>
        <p:spPr>
          <a:xfrm>
            <a:off x="2490893" y="2149963"/>
            <a:ext cx="448139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В процессе уточнения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2FEE3D-0BD4-4335-B26F-1BF2379C3136}"/>
              </a:ext>
            </a:extLst>
          </p:cNvPr>
          <p:cNvSpPr txBox="1">
            <a:spLocks/>
          </p:cNvSpPr>
          <p:nvPr/>
        </p:nvSpPr>
        <p:spPr>
          <a:xfrm>
            <a:off x="2432182" y="4175933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-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89143E-BFF9-42FC-8FC0-A10E7997C798}"/>
              </a:ext>
            </a:extLst>
          </p:cNvPr>
          <p:cNvSpPr txBox="1"/>
          <p:nvPr/>
        </p:nvSpPr>
        <p:spPr>
          <a:xfrm>
            <a:off x="7197234" y="4175933"/>
            <a:ext cx="40640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Экспертная оценка продукта Видеонаблюдение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52F1B4-8188-4928-A15E-9E831ADFBC28}"/>
              </a:ext>
            </a:extLst>
          </p:cNvPr>
          <p:cNvSpPr txBox="1">
            <a:spLocks/>
          </p:cNvSpPr>
          <p:nvPr/>
        </p:nvSpPr>
        <p:spPr>
          <a:xfrm>
            <a:off x="2432182" y="4502477"/>
            <a:ext cx="4481367" cy="6158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004D35-2ADC-4874-9A3E-7351A196E450}"/>
              </a:ext>
            </a:extLst>
          </p:cNvPr>
          <p:cNvSpPr txBox="1"/>
          <p:nvPr/>
        </p:nvSpPr>
        <p:spPr>
          <a:xfrm>
            <a:off x="7224327" y="2180979"/>
            <a:ext cx="421519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Ежемесячная стоимость обслуживания камеры ПВН составляет 1 270 рублей</a:t>
            </a:r>
          </a:p>
          <a:p>
            <a:pPr>
              <a:buNone/>
            </a:pPr>
            <a:endParaRPr lang="ru-RU" sz="1000" dirty="0"/>
          </a:p>
          <a:p>
            <a:pPr>
              <a:buNone/>
            </a:pPr>
            <a:r>
              <a:rPr lang="ru-RU" sz="1000" dirty="0"/>
              <a:t>Количество камер на подъезд - 2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B44527-5F41-4C9D-BB5B-36E60B7673E2}"/>
              </a:ext>
            </a:extLst>
          </p:cNvPr>
          <p:cNvSpPr txBox="1">
            <a:spLocks/>
          </p:cNvSpPr>
          <p:nvPr/>
        </p:nvSpPr>
        <p:spPr>
          <a:xfrm>
            <a:off x="7183041" y="4502477"/>
            <a:ext cx="4244671" cy="5984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Суммарные операционные расходы = Стоимость обслуживания камеры </a:t>
            </a:r>
            <a:r>
              <a:rPr lang="en-US" sz="1000" dirty="0"/>
              <a:t>x </a:t>
            </a:r>
            <a:r>
              <a:rPr lang="ru-RU" sz="1000" dirty="0"/>
              <a:t>кол-во камер в подъезде </a:t>
            </a:r>
            <a:r>
              <a:rPr lang="en-US" sz="1000" dirty="0"/>
              <a:t>x </a:t>
            </a:r>
            <a:r>
              <a:rPr lang="ru-RU" sz="1000" dirty="0"/>
              <a:t>кол-во подъездов на дом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B3245F-5795-4D98-94FF-FA11ADAAF499}"/>
              </a:ext>
            </a:extLst>
          </p:cNvPr>
          <p:cNvSpPr txBox="1">
            <a:spLocks/>
          </p:cNvSpPr>
          <p:nvPr/>
        </p:nvSpPr>
        <p:spPr>
          <a:xfrm>
            <a:off x="2464202" y="526324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млн руб.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F878D75-D648-46F0-A092-9014918BFA84}"/>
              </a:ext>
            </a:extLst>
          </p:cNvPr>
          <p:cNvSpPr txBox="1">
            <a:spLocks/>
          </p:cNvSpPr>
          <p:nvPr/>
        </p:nvSpPr>
        <p:spPr>
          <a:xfrm>
            <a:off x="2446855" y="5625259"/>
            <a:ext cx="4510730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0</a:t>
            </a:r>
            <a:r>
              <a:rPr lang="en-US" sz="1000" dirty="0"/>
              <a:t> </a:t>
            </a:r>
            <a:r>
              <a:rPr lang="ru-RU" sz="1000" dirty="0"/>
              <a:t>руб. на м</a:t>
            </a:r>
            <a:r>
              <a:rPr lang="ru-RU" sz="1000" baseline="300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B3F4E-5BA3-4F58-8994-8EADEC1B6A66}"/>
              </a:ext>
            </a:extLst>
          </p:cNvPr>
          <p:cNvSpPr txBox="1">
            <a:spLocks/>
          </p:cNvSpPr>
          <p:nvPr/>
        </p:nvSpPr>
        <p:spPr>
          <a:xfrm>
            <a:off x="7148537" y="5289495"/>
            <a:ext cx="4330785" cy="1276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45</a:t>
            </a:r>
            <a:r>
              <a:rPr lang="en-US" sz="1000" dirty="0"/>
              <a:t> </a:t>
            </a:r>
            <a:r>
              <a:rPr lang="ru-RU" sz="1000" dirty="0"/>
              <a:t>тыс. руб. в год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8E86C08-480A-407F-8B0F-020F940854B5}"/>
              </a:ext>
            </a:extLst>
          </p:cNvPr>
          <p:cNvSpPr txBox="1">
            <a:spLocks/>
          </p:cNvSpPr>
          <p:nvPr/>
        </p:nvSpPr>
        <p:spPr>
          <a:xfrm>
            <a:off x="7148537" y="5625259"/>
            <a:ext cx="4348128" cy="14430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b="1" dirty="0">
                <a:solidFill>
                  <a:schemeClr val="accent3"/>
                </a:solidFill>
              </a:rPr>
              <a:t>34</a:t>
            </a:r>
            <a:r>
              <a:rPr lang="en-US" sz="1000" dirty="0"/>
              <a:t> </a:t>
            </a:r>
            <a:r>
              <a:rPr lang="ru-RU" sz="1000" dirty="0"/>
              <a:t>руб. в месяц на квартиру</a:t>
            </a:r>
            <a:endParaRPr lang="ru-RU" sz="1000" baseline="30000" dirty="0"/>
          </a:p>
        </p:txBody>
      </p:sp>
      <p:sp>
        <p:nvSpPr>
          <p:cNvPr id="41" name="4. Footnote">
            <a:extLst>
              <a:ext uri="{FF2B5EF4-FFF2-40B4-BE49-F238E27FC236}">
                <a16:creationId xmlns:a16="http://schemas.microsoft.com/office/drawing/2014/main" id="{8C9B601C-4D13-468E-ACBA-AF3A8F979B6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36235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cs typeface="+mn-cs"/>
                <a:sym typeface="+mn-lt"/>
              </a:rPr>
              <a:t>1. При масштабировании более 145 домов стоимость составит  1 100 руб. в мес.</a:t>
            </a:r>
          </a:p>
        </p:txBody>
      </p:sp>
    </p:spTree>
    <p:extLst>
      <p:ext uri="{BB962C8B-B14F-4D97-AF65-F5344CB8AC3E}">
        <p14:creationId xmlns:p14="http://schemas.microsoft.com/office/powerpoint/2010/main" val="3710422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4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EMPLATELASTEDITED" val="2021-02-20 12:57 "/>
  <p:tag name="ICONFILLBACKGROUND" val="Color [A=255, R=201, G=39, B=35]"/>
  <p:tag name="ICONFILLBACKGROUNDTHEME" val="Text 2"/>
  <p:tag name="ICONENCLOSURE" val="False"/>
  <p:tag name="ICONLINEFILL" val="Color [A=255, R=201, G=39, B=35]"/>
  <p:tag name="ICONLINEFILLTHEME" val="Text 2"/>
  <p:tag name="MTBTACCENT" val="Accent3ColorBoldText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XzTcYT5FVJKd0YzRJ6t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XzTcYT5FVJKd0YzRJ6tA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U8YIYqzY_sVtpN_fU.5w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Valuw1l0Weya9uJLEFWw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EL79CQqzTrsd8m9wXxrw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QQpC7cpYQkRuCMMuk3vQ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U8YIYqzY_sVtpN_fU.5w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IzgT0Zkdpor7PX6ENtFQ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EL79CQqzTrsd8m9wXxrw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n3UDMnyHlhIsUz9S9ruw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CEPVo1v.tJ3BfIBhpSRQ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HYIuQwnKtaoqVGDcON4A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EL79CQqzTrsd8m9wXxrw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H_SnQ3RLMeuv4bPuUfEg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43.53873"/>
  <p:tag name="HEIGHT" val="0"/>
  <p:tag name="WIDTH" val="58.9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00.5"/>
  <p:tag name="TOP" val="-43.53873"/>
  <p:tag name="HEIGHT" val="0"/>
  <p:tag name="WIDTH" val="58.9"/>
  <p:tag name="1LEVEL" val="0"/>
  <p:tag name="2LEVEL" val="0"/>
  <p:tag name="3LEVEL" val="0"/>
  <p:tag name="4LEVEL" val="0"/>
  <p:tag name="5LEVEL" val="0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43.53873"/>
  <p:tag name="HEIGHT" val="0"/>
  <p:tag name="WIDTH" val="58.9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122.4356"/>
  <p:tag name="HEIGHT" val="0"/>
  <p:tag name="WIDTH" val="58.9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122.4356"/>
  <p:tag name="HEIGHT" val="0"/>
  <p:tag name="WIDTH" val="58.9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97.78032"/>
  <p:tag name="HEIGHT" val="0"/>
  <p:tag name="WIDTH" val="58.9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87.91821"/>
  <p:tag name="HEIGHT" val="0"/>
  <p:tag name="WIDTH" val="58.9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87.91821"/>
  <p:tag name="HEIGHT" val="0"/>
  <p:tag name="WIDTH" val="58.9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78.05611"/>
  <p:tag name="HEIGHT" val="0"/>
  <p:tag name="WIDTH" val="58.9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78.05611"/>
  <p:tag name="HEIGHT" val="0"/>
  <p:tag name="WIDTH" val="58.9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38.60767"/>
  <p:tag name="HEIGHT" val="0"/>
  <p:tag name="WIDTH" val="58.9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38.60767"/>
  <p:tag name="HEIGHT" val="0"/>
  <p:tag name="WIDTH" val="58.9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18.88345"/>
  <p:tag name="HEIGHT" val="0"/>
  <p:tag name="WIDTH" val="58.9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18.88345"/>
  <p:tag name="HEIGHT" val="0"/>
  <p:tag name="WIDTH" val="58.9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63.26294"/>
  <p:tag name="HEIGHT" val="0"/>
  <p:tag name="WIDTH" val="58.9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122.4356"/>
  <p:tag name="HEIGHT" val="0"/>
  <p:tag name="WIDTH" val="58.9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122.4356"/>
  <p:tag name="HEIGHT" val="0"/>
  <p:tag name="WIDTH" val="58.9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658.3"/>
  <p:tag name="TOP" val="-122.4356"/>
  <p:tag name="HEIGHT" val="0"/>
  <p:tag name="WIDTH" val="58.9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107.6424"/>
  <p:tag name="HEIGHT" val="0"/>
  <p:tag name="WIDTH" val="58.9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107.6424"/>
  <p:tag name="HEIGHT" val="0"/>
  <p:tag name="WIDTH" val="58.9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421.6"/>
  <p:tag name="TOP" val="-68.194"/>
  <p:tag name="HEIGHT" val="0"/>
  <p:tag name="WIDTH" val="58.9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532037741752359"/>
  <p:tag name="LEFT" val="579.4"/>
  <p:tag name="TOP" val="-68.194"/>
  <p:tag name="HEIGHT" val="0"/>
  <p:tag name="WIDTH" val="58.9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TABLE" val="Cell"/>
  <p:tag name="MTNUMBER" val="0,00518288789558359"/>
  <p:tag name="LEFT" val="728.26"/>
  <p:tag name="WIDTH" val="312.25"/>
  <p:tag name="TOP" val="107.8665"/>
  <p:tag name="HEIGHT" val="42.49189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orizontalLine2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CEPVo1v.tJ3BfIBhpSRQ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HYIuQwnKtaoqVGDcON4A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EL79CQqzTrsd8m9wXxrw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62g0o9chYo6o3w3cQLrVA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lFfo_pSLh5CzhmFzNUMg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r5nhWI8VW7hFyDRNL.WA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8Nqm2hImiaqzH2FsBJew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uNIofRYn5jcTW8xYLuaw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3txvEy7WqSFbo48.zpMg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KVVxyHoYLxdOkFxueXV1A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4uLoFHZlPya8QjbP863Q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Rskjjp_m9oVFN7wAVXsA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v4s4_7QfOBH2Ygmt8gL_Q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Z.YeivDaANn71OD9lrag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Thp6fwhzm4jvHq7JsqVA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REXnUGaB1ioUR7cRZwAw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PGCove9ZKR35YAllkuLg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wAGZqR20Om6fuUtbdrTg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77PfGAYdSAfvj.OfDTWQ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N.PpnW2AXzSzsq88F1tg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dBGabfZVOX_.wGhaG3AHQ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5eraTGmaVNuIA6VLpefw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Uzkw1fRa88iBMZ3ZJcPw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vKtIJEOIzuNbYhF2HP4Q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UueDBa1XOA7UDjCnLYPeA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bHEmkXovHJISl5JRY4Zw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dxilU1JdtqUhQCJo5GqA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ROgqQrNwT4Bb7Q0IW3.A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qPaGahZVeFxqboLpkqNQ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sXbM5mp4cmtHF3g.h5SA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uNIonPerz2DiLQc0Hn9g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q2aWWaOETfFlmHTjyZ_A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frRrOJI2i.OS2qja9kyw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F47zOoYgNfCf8w8A9Jgw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Wl10rpoP1n8bL7G8sUVw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vkV4F..f92nqi0imh1nBw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mU4uODCymnPwUziz.85Q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OPcVZWrATjjdOwLP62VQ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p29B5M0Pdh1wcvsLaD5Q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HWZUOSGQpUgITYxqjkRg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rLN1HjOqpiCeXeYUFE5w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tLxq2yLeDCvC8dE_hLXA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ySiUpcRrlKnx.ggZFBMA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4ZokTrGaWa9wGD1UXhQ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4JRxCdtO74Sau.4ZsDgtQ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bnaOLrqHUyJeZ6pjOanA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oiQ4.9donDQh5Jrao40w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qM2lKsuQnUHGJuDN7SiQ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vWqk_4koqUv.owqocAbA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cpMFS7Z.M2Xfm_X_9owg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wikDOkimZuo3xtXQhs.g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.NnXVnFT_1EB6gqwbJL5A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e9swEwcKavHba3cCpqSQ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Muk8kuursp_g0AwTd3ig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Pz7Vr.r7Y4xfQ5bzlY5_A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heme/theme1.xml><?xml version="1.0" encoding="utf-8"?>
<a:theme xmlns:a="http://schemas.openxmlformats.org/drawingml/2006/main" name="Mos.ru_Мос.ру_NVI_16x9_(2021)">
  <a:themeElements>
    <a:clrScheme name="Custom">
      <a:dk1>
        <a:srgbClr val="000000"/>
      </a:dk1>
      <a:lt1>
        <a:srgbClr val="FFFFFF"/>
      </a:lt1>
      <a:dk2>
        <a:srgbClr val="C92723"/>
      </a:dk2>
      <a:lt2>
        <a:srgbClr val="FFFFFF"/>
      </a:lt2>
      <a:accent1>
        <a:srgbClr val="EBEFF3"/>
      </a:accent1>
      <a:accent2>
        <a:srgbClr val="B2B2B2"/>
      </a:accent2>
      <a:accent3>
        <a:srgbClr val="C92723"/>
      </a:accent3>
      <a:accent4>
        <a:srgbClr val="5E5E5E"/>
      </a:accent4>
      <a:accent5>
        <a:srgbClr val="191919"/>
      </a:accent5>
      <a:accent6>
        <a:srgbClr val="808080"/>
      </a:accent6>
      <a:hlink>
        <a:srgbClr val="4B8FD2"/>
      </a:hlink>
      <a:folHlink>
        <a:srgbClr val="B6869E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Шаблон_Mos.ru_16x9_(2021).potx" id="{3AB5C5D3-8122-4508-9236-E0068C230508}" vid="{483768F2-768B-41A4-907E-96208CF3BE95}"/>
    </a:ext>
  </a:extLst>
</a:theme>
</file>

<file path=ppt/theme/theme2.xml><?xml version="1.0" encoding="utf-8"?>
<a:theme xmlns:a="http://schemas.openxmlformats.org/drawingml/2006/main" name="1_Mos.ru_Мос.ру_NVI_16x9_(2021)">
  <a:themeElements>
    <a:clrScheme name="Custom 4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374C2"/>
      </a:accent1>
      <a:accent2>
        <a:srgbClr val="EBEFF3"/>
      </a:accent2>
      <a:accent3>
        <a:srgbClr val="002777"/>
      </a:accent3>
      <a:accent4>
        <a:srgbClr val="C92723"/>
      </a:accent4>
      <a:accent5>
        <a:srgbClr val="F9ACAA"/>
      </a:accent5>
      <a:accent6>
        <a:srgbClr val="9EA4AC"/>
      </a:accent6>
      <a:hlink>
        <a:srgbClr val="4374C2"/>
      </a:hlink>
      <a:folHlink>
        <a:srgbClr val="B2B2B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210210_Темплейт. Цифровые продукты.pptx.potx" id="{2C6FDF97-678F-4CA8-B297-3D9325F2A165}" vid="{4C63F2AC-DD40-49A0-83DC-C5B26AAE25E4}"/>
    </a:ext>
  </a:extLst>
</a:theme>
</file>

<file path=ppt/theme/theme3.xml><?xml version="1.0" encoding="utf-8"?>
<a:theme xmlns:a="http://schemas.openxmlformats.org/drawingml/2006/main" name="2_Mos.ru_Мос.ру_NVI_16x9_(2021)">
  <a:themeElements>
    <a:clrScheme name="Custom 4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374C2"/>
      </a:accent1>
      <a:accent2>
        <a:srgbClr val="EBEFF3"/>
      </a:accent2>
      <a:accent3>
        <a:srgbClr val="002777"/>
      </a:accent3>
      <a:accent4>
        <a:srgbClr val="C92723"/>
      </a:accent4>
      <a:accent5>
        <a:srgbClr val="F9ACAA"/>
      </a:accent5>
      <a:accent6>
        <a:srgbClr val="9EA4AC"/>
      </a:accent6>
      <a:hlink>
        <a:srgbClr val="4374C2"/>
      </a:hlink>
      <a:folHlink>
        <a:srgbClr val="B2B2B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210210_Темплейт. Цифровые продукты.pptx.potx" id="{2C6FDF97-678F-4CA8-B297-3D9325F2A165}" vid="{4C63F2AC-DD40-49A0-83DC-C5B26AAE25E4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Задачи Умный Дом</Template>
  <TotalTime>6093</TotalTime>
  <Words>9206</Words>
  <Application>Microsoft Office PowerPoint</Application>
  <PresentationFormat>Widescreen</PresentationFormat>
  <Paragraphs>2750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Segoe UI</vt:lpstr>
      <vt:lpstr>Verdana</vt:lpstr>
      <vt:lpstr>Wingdings</vt:lpstr>
      <vt:lpstr>Mos.ru_Мос.ру_NVI_16x9_(2021)</vt:lpstr>
      <vt:lpstr>1_Mos.ru_Мос.ру_NVI_16x9_(2021)</vt:lpstr>
      <vt:lpstr>2_Mos.ru_Мос.ру_NVI_16x9_(2021)</vt:lpstr>
      <vt:lpstr>think-cell Slide</vt:lpstr>
      <vt:lpstr>«Умный дом» Москвы</vt:lpstr>
      <vt:lpstr>История презентации</vt:lpstr>
      <vt:lpstr>Содержание</vt:lpstr>
      <vt:lpstr>В лучших мировых практиках масштабное внедрение «умных» сервисов требует централизации управления</vt:lpstr>
      <vt:lpstr>Централизованным управленческим механизмом проекта станет агрегатор сервисов «умного дома»</vt:lpstr>
      <vt:lpstr>Агрегатор будет играть ключевую роль на всех этапах внедрения сервисов «умного дома»</vt:lpstr>
      <vt:lpstr>КП МПТЦ координирует деятельность всех вовлеченных сторон для создания инфраструктуры связи </vt:lpstr>
      <vt:lpstr>Агрегатор должен выполнять управленческие функции, разрабатывать стандарты и работать с поставщиками</vt:lpstr>
      <vt:lpstr>Часть функционала агрегатора будет различаться в зависимости от типа сервисов «умного дома»</vt:lpstr>
      <vt:lpstr>Дальнейшие шаги</vt:lpstr>
      <vt:lpstr>Содержание</vt:lpstr>
      <vt:lpstr>Из 20 сервисов, масштабируемых в рамках программы «Умный дом», 12 не требуют дополнительных затрат</vt:lpstr>
      <vt:lpstr>На основе пилота проведена предварительная оценка расходов на масштабирование остальных сервисов</vt:lpstr>
      <vt:lpstr>Содержание</vt:lpstr>
      <vt:lpstr>Определение модели масштабирования сервисов «умного дома» требует ответов на восемь ключевых вопросов</vt:lpstr>
      <vt:lpstr>Стратегические цели масштабирования определяются миссией города</vt:lpstr>
      <vt:lpstr>Выполнение функционала агрегатора требует наличия разноплановых компетенций</vt:lpstr>
      <vt:lpstr>PowerPoint Presentation</vt:lpstr>
      <vt:lpstr>Оргмодель агрегатора зависит от целевой организационно-правовой формы (ОПФ) и схемы подчинения</vt:lpstr>
      <vt:lpstr>Стоимость работы агрегатора (без затрат на сервисы)  в первый год после запуска составит 56,6 млн рублей</vt:lpstr>
      <vt:lpstr>Для агрегатора должны быть сформулированы ключевые показатели эффективности (КПЭ)</vt:lpstr>
      <vt:lpstr>Распределение функционала по вовлеченным сторонам  (1/3)</vt:lpstr>
      <vt:lpstr>Распределение функционала по вовлеченным сторонам  (2/3)</vt:lpstr>
      <vt:lpstr>Распределение функционала по вовлеченным сторонам  (3/3)</vt:lpstr>
      <vt:lpstr>Содержание</vt:lpstr>
      <vt:lpstr>Затраты на масштабирование 8 сервисов определены на основе оценки затрат на пилотирование в типовом доме</vt:lpstr>
      <vt:lpstr>Предварительная оценка стоимости эксплуатации сервисов «умного дома» на квартиру</vt:lpstr>
      <vt:lpstr>Потенциальный платеж собственника может быть снижен за счет трех рычагов</vt:lpstr>
      <vt:lpstr>Распределение капитальных затрат на внедрение сервисов для одного типого дома</vt:lpstr>
      <vt:lpstr>Характеристики типового дома для удельных расчетов</vt:lpstr>
      <vt:lpstr>     Детализация расчета – умные счетчики</vt:lpstr>
      <vt:lpstr>     Детализация расчета – умное освещение</vt:lpstr>
      <vt:lpstr>     Детализация расчета – общегородской Wi-Fi во дворе</vt:lpstr>
      <vt:lpstr>     Детализация расчета – видеодомофон в телефоне</vt:lpstr>
      <vt:lpstr>     Детализация расчета – контроль мусорных баков</vt:lpstr>
      <vt:lpstr>     Детализация расчета – умный шлагбаум</vt:lpstr>
      <vt:lpstr>     Детализация расчета – мониторинг парковочных мест</vt:lpstr>
      <vt:lpstr>     Детализация расчета – видеонаблюдение в подъезде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документа  (Verdana 38 pt)</dc:title>
  <dc:subject/>
  <dc:creator>Sergey Puchkov</dc:creator>
  <cp:keywords/>
  <dc:description/>
  <cp:lastModifiedBy>Sergey Puchkov</cp:lastModifiedBy>
  <cp:revision>2691</cp:revision>
  <cp:lastPrinted>2021-08-20T11:03:15Z</cp:lastPrinted>
  <dcterms:created xsi:type="dcterms:W3CDTF">2021-08-17T10:38:35Z</dcterms:created>
  <dcterms:modified xsi:type="dcterms:W3CDTF">2021-10-12T13:02:01Z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2021-02-20 12:57 </vt:lpwstr>
  </property>
  <property fmtid="{D5CDD505-2E9C-101B-9397-08002B2CF9AE}" pid="8" name="TemplateCreated">
    <vt:lpwstr>2019-02-27 01:18 PM</vt:lpwstr>
  </property>
</Properties>
</file>