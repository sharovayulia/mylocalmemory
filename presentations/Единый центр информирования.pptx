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notesSlides/notesSlide1.xml" ContentType="application/vnd.openxmlformats-officedocument.presentationml.notesSlide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notesSlides/notesSlide2.xml" ContentType="application/vnd.openxmlformats-officedocument.presentationml.notesSlide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charts/chart1.xml" ContentType="application/vnd.openxmlformats-officedocument.drawingml.chart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91" r:id="rId2"/>
    <p:sldMasterId id="2147483906" r:id="rId3"/>
  </p:sldMasterIdLst>
  <p:notesMasterIdLst>
    <p:notesMasterId r:id="rId23"/>
  </p:notesMasterIdLst>
  <p:handoutMasterIdLst>
    <p:handoutMasterId r:id="rId24"/>
  </p:handoutMasterIdLst>
  <p:sldIdLst>
    <p:sldId id="2145706560" r:id="rId4"/>
    <p:sldId id="2145706594" r:id="rId5"/>
    <p:sldId id="2145706600" r:id="rId6"/>
    <p:sldId id="2145706669" r:id="rId7"/>
    <p:sldId id="2145706666" r:id="rId8"/>
    <p:sldId id="2145706671" r:id="rId9"/>
    <p:sldId id="2145706670" r:id="rId10"/>
    <p:sldId id="2145706668" r:id="rId11"/>
    <p:sldId id="2145706672" r:id="rId12"/>
    <p:sldId id="2145706559" r:id="rId13"/>
    <p:sldId id="2145706673" r:id="rId14"/>
    <p:sldId id="2145706674" r:id="rId15"/>
    <p:sldId id="2145706677" r:id="rId16"/>
    <p:sldId id="2145706655" r:id="rId17"/>
    <p:sldId id="2145706654" r:id="rId18"/>
    <p:sldId id="2145706656" r:id="rId19"/>
    <p:sldId id="2145706596" r:id="rId20"/>
    <p:sldId id="2145706602" r:id="rId21"/>
    <p:sldId id="2145706567" r:id="rId22"/>
  </p:sldIdLst>
  <p:sldSz cx="12192000" cy="6858000"/>
  <p:notesSz cx="6858000" cy="92964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FF3"/>
    <a:srgbClr val="E6E6E6"/>
    <a:srgbClr val="BA2420"/>
    <a:srgbClr val="CCD6E1"/>
    <a:srgbClr val="C82723"/>
    <a:srgbClr val="A21F1C"/>
    <a:srgbClr val="B0221E"/>
    <a:srgbClr val="F2F2F2"/>
    <a:srgbClr val="FFFFFF"/>
    <a:srgbClr val="19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2173" autoAdjust="0"/>
  </p:normalViewPr>
  <p:slideViewPr>
    <p:cSldViewPr snapToGrid="0" snapToObjects="1">
      <p:cViewPr>
        <p:scale>
          <a:sx n="61" d="100"/>
          <a:sy n="61" d="100"/>
        </p:scale>
        <p:origin x="988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76"/>
    </p:cViewPr>
  </p:sorterViewPr>
  <p:notesViewPr>
    <p:cSldViewPr snapToGrid="0" snapToObjects="1">
      <p:cViewPr>
        <p:scale>
          <a:sx n="75" d="100"/>
          <a:sy n="75" d="100"/>
        </p:scale>
        <p:origin x="2112" y="-7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384137736381598E-3"/>
          <c:y val="4.9760765550239235E-2"/>
          <c:w val="0.98532317245272372"/>
          <c:h val="0.9004784688995215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99C-40EB-98EF-832AFAD03F18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0.89477020602218715</c:v>
                </c:pt>
                <c:pt idx="1">
                  <c:v>0.79477020602218751</c:v>
                </c:pt>
                <c:pt idx="2">
                  <c:v>0.79477020602218751</c:v>
                </c:pt>
                <c:pt idx="3">
                  <c:v>0.59477020602218822</c:v>
                </c:pt>
                <c:pt idx="4">
                  <c:v>0.49477020602218769</c:v>
                </c:pt>
                <c:pt idx="5">
                  <c:v>0.29477020602218751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9C-40EB-98EF-832AFAD03F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438158688"/>
        <c:axId val="1"/>
      </c:barChart>
      <c:catAx>
        <c:axId val="43815868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6350" algn="ctr">
            <a:solidFill>
              <a:schemeClr val="bg2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0.8947702060221871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3815868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193768672641914E-2"/>
          <c:y val="2.7659574468085105E-2"/>
          <c:w val="0.95561246265471622"/>
          <c:h val="0.94468085106382982"/>
        </c:manualLayout>
      </c:layout>
      <c:lineChart>
        <c:grouping val="standard"/>
        <c:varyColors val="0"/>
        <c:ser>
          <c:idx val="0"/>
          <c:order val="0"/>
          <c:spPr>
            <a:ln w="19050" algn="ctr">
              <a:solidFill>
                <a:srgbClr val="7F7F7F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BFF4-4AA1-AFC1-7B3BF1513244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BFF4-4AA1-AFC1-7B3BF1513244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BFF4-4AA1-AFC1-7B3BF1513244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BFF4-4AA1-AFC1-7B3BF1513244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BFF4-4AA1-AFC1-7B3BF1513244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BFF4-4AA1-AFC1-7B3BF1513244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BFF4-4AA1-AFC1-7B3BF1513244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BFF4-4AA1-AFC1-7B3BF1513244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BFF4-4AA1-AFC1-7B3BF1513244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BFF4-4AA1-AFC1-7B3BF1513244}"/>
              </c:ext>
            </c:extLst>
          </c:dPt>
          <c:val>
            <c:numRef>
              <c:f>Sheet1!$A$1:$J$1</c:f>
              <c:numCache>
                <c:formatCode>General</c:formatCode>
                <c:ptCount val="10"/>
                <c:pt idx="0">
                  <c:v>46.565525383707204</c:v>
                </c:pt>
                <c:pt idx="1">
                  <c:v>46.565525383707204</c:v>
                </c:pt>
                <c:pt idx="2">
                  <c:v>42.565525383707204</c:v>
                </c:pt>
                <c:pt idx="3">
                  <c:v>37.565525383707204</c:v>
                </c:pt>
                <c:pt idx="4">
                  <c:v>36.565525383707204</c:v>
                </c:pt>
                <c:pt idx="5">
                  <c:v>35.565525383707204</c:v>
                </c:pt>
                <c:pt idx="6">
                  <c:v>43.565525383707204</c:v>
                </c:pt>
                <c:pt idx="7">
                  <c:v>43.565525383707204</c:v>
                </c:pt>
                <c:pt idx="8">
                  <c:v>51.565525383707204</c:v>
                </c:pt>
                <c:pt idx="9">
                  <c:v>48.565525383707204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BFF4-4AA1-AFC1-7B3BF1513244}"/>
            </c:ext>
          </c:extLst>
        </c:ser>
        <c:ser>
          <c:idx val="1"/>
          <c:order val="1"/>
          <c:spPr>
            <a:ln w="19050" algn="ctr">
              <a:solidFill>
                <a:srgbClr val="FFCB25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BFF4-4AA1-AFC1-7B3BF1513244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BFF4-4AA1-AFC1-7B3BF1513244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BFF4-4AA1-AFC1-7B3BF1513244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BFF4-4AA1-AFC1-7B3BF1513244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BFF4-4AA1-AFC1-7B3BF1513244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BFF4-4AA1-AFC1-7B3BF1513244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BFF4-4AA1-AFC1-7B3BF1513244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BFF4-4AA1-AFC1-7B3BF1513244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BFF4-4AA1-AFC1-7B3BF1513244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BFF4-4AA1-AFC1-7B3BF1513244}"/>
              </c:ext>
            </c:extLst>
          </c:dPt>
          <c:val>
            <c:numRef>
              <c:f>Sheet1!$A$2:$J$2</c:f>
              <c:numCache>
                <c:formatCode>General</c:formatCode>
                <c:ptCount val="10"/>
                <c:pt idx="0">
                  <c:v>43.565525383707204</c:v>
                </c:pt>
                <c:pt idx="1">
                  <c:v>42.565525383707204</c:v>
                </c:pt>
                <c:pt idx="2">
                  <c:v>38.565525383707204</c:v>
                </c:pt>
                <c:pt idx="3">
                  <c:v>33.565525383707204</c:v>
                </c:pt>
                <c:pt idx="4">
                  <c:v>39.565525383707204</c:v>
                </c:pt>
                <c:pt idx="5">
                  <c:v>37.565525383707204</c:v>
                </c:pt>
                <c:pt idx="6">
                  <c:v>46.565525383707204</c:v>
                </c:pt>
                <c:pt idx="7">
                  <c:v>50.565525383707204</c:v>
                </c:pt>
                <c:pt idx="8">
                  <c:v>46.565525383707204</c:v>
                </c:pt>
                <c:pt idx="9">
                  <c:v>46.565525383707204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5-BFF4-4AA1-AFC1-7B3BF1513244}"/>
            </c:ext>
          </c:extLst>
        </c:ser>
        <c:ser>
          <c:idx val="2"/>
          <c:order val="2"/>
          <c:spPr>
            <a:ln w="19050" algn="ctr">
              <a:solidFill>
                <a:srgbClr val="FFEAA7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BFF4-4AA1-AFC1-7B3BF1513244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BFF4-4AA1-AFC1-7B3BF1513244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BFF4-4AA1-AFC1-7B3BF1513244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9-BFF4-4AA1-AFC1-7B3BF1513244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A-BFF4-4AA1-AFC1-7B3BF1513244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B-BFF4-4AA1-AFC1-7B3BF1513244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C-BFF4-4AA1-AFC1-7B3BF1513244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D-BFF4-4AA1-AFC1-7B3BF1513244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E-BFF4-4AA1-AFC1-7B3BF1513244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F-BFF4-4AA1-AFC1-7B3BF1513244}"/>
              </c:ext>
            </c:extLst>
          </c:dPt>
          <c:val>
            <c:numRef>
              <c:f>Sheet1!$A$3:$J$3</c:f>
              <c:numCache>
                <c:formatCode>General</c:formatCode>
                <c:ptCount val="10"/>
                <c:pt idx="0">
                  <c:v>25.565525383707204</c:v>
                </c:pt>
                <c:pt idx="1">
                  <c:v>27.565525383707204</c:v>
                </c:pt>
                <c:pt idx="2">
                  <c:v>29.565525383707204</c:v>
                </c:pt>
                <c:pt idx="3">
                  <c:v>35.565525383707204</c:v>
                </c:pt>
                <c:pt idx="4">
                  <c:v>23.565525383707204</c:v>
                </c:pt>
                <c:pt idx="5">
                  <c:v>25.565525383707204</c:v>
                </c:pt>
                <c:pt idx="6">
                  <c:v>28.565525383707204</c:v>
                </c:pt>
                <c:pt idx="7">
                  <c:v>35.565525383707204</c:v>
                </c:pt>
                <c:pt idx="8">
                  <c:v>34.565525383707204</c:v>
                </c:pt>
                <c:pt idx="9">
                  <c:v>40.565525383707204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0-BFF4-4AA1-AFC1-7B3BF1513244}"/>
            </c:ext>
          </c:extLst>
        </c:ser>
        <c:ser>
          <c:idx val="3"/>
          <c:order val="3"/>
          <c:spPr>
            <a:ln w="19050" algn="ctr">
              <a:solidFill>
                <a:srgbClr val="E77673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1-BFF4-4AA1-AFC1-7B3BF1513244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2-BFF4-4AA1-AFC1-7B3BF1513244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3-BFF4-4AA1-AFC1-7B3BF1513244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4-BFF4-4AA1-AFC1-7B3BF1513244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5-BFF4-4AA1-AFC1-7B3BF1513244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6-BFF4-4AA1-AFC1-7B3BF1513244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7-BFF4-4AA1-AFC1-7B3BF1513244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8-BFF4-4AA1-AFC1-7B3BF1513244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9-BFF4-4AA1-AFC1-7B3BF1513244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A-BFF4-4AA1-AFC1-7B3BF1513244}"/>
              </c:ext>
            </c:extLst>
          </c:dPt>
          <c:val>
            <c:numRef>
              <c:f>Sheet1!$A$4:$J$4</c:f>
              <c:numCache>
                <c:formatCode>General</c:formatCode>
                <c:ptCount val="10"/>
                <c:pt idx="0">
                  <c:v>46.565525383707204</c:v>
                </c:pt>
                <c:pt idx="1">
                  <c:v>47.565525383707204</c:v>
                </c:pt>
                <c:pt idx="2">
                  <c:v>41.565525383707204</c:v>
                </c:pt>
                <c:pt idx="3">
                  <c:v>46.565525383707204</c:v>
                </c:pt>
                <c:pt idx="4">
                  <c:v>50.565525383707204</c:v>
                </c:pt>
                <c:pt idx="5">
                  <c:v>33.565525383707204</c:v>
                </c:pt>
                <c:pt idx="6">
                  <c:v>42.565525383707204</c:v>
                </c:pt>
                <c:pt idx="7">
                  <c:v>41.565525383707204</c:v>
                </c:pt>
                <c:pt idx="8">
                  <c:v>41.565525383707204</c:v>
                </c:pt>
                <c:pt idx="9">
                  <c:v>38.565525383707204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B-BFF4-4AA1-AFC1-7B3BF1513244}"/>
            </c:ext>
          </c:extLst>
        </c:ser>
        <c:ser>
          <c:idx val="4"/>
          <c:order val="4"/>
          <c:spPr>
            <a:ln w="19050" algn="ctr">
              <a:solidFill>
                <a:srgbClr val="F7D1D0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C-BFF4-4AA1-AFC1-7B3BF1513244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D-BFF4-4AA1-AFC1-7B3BF1513244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E-BFF4-4AA1-AFC1-7B3BF1513244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F-BFF4-4AA1-AFC1-7B3BF1513244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0-BFF4-4AA1-AFC1-7B3BF1513244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1-BFF4-4AA1-AFC1-7B3BF1513244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2-BFF4-4AA1-AFC1-7B3BF1513244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3-BFF4-4AA1-AFC1-7B3BF1513244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4-BFF4-4AA1-AFC1-7B3BF1513244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5-BFF4-4AA1-AFC1-7B3BF1513244}"/>
              </c:ext>
            </c:extLst>
          </c:dPt>
          <c:val>
            <c:numRef>
              <c:f>Sheet1!$A$5:$J$5</c:f>
              <c:numCache>
                <c:formatCode>General</c:formatCode>
                <c:ptCount val="10"/>
                <c:pt idx="0">
                  <c:v>41.565525383707204</c:v>
                </c:pt>
                <c:pt idx="1">
                  <c:v>40.565525383707204</c:v>
                </c:pt>
                <c:pt idx="2">
                  <c:v>34.565525383707204</c:v>
                </c:pt>
                <c:pt idx="3">
                  <c:v>42.565525383707204</c:v>
                </c:pt>
                <c:pt idx="4">
                  <c:v>31.565525383707204</c:v>
                </c:pt>
                <c:pt idx="5">
                  <c:v>25.565525383707204</c:v>
                </c:pt>
                <c:pt idx="6">
                  <c:v>40.565525383707204</c:v>
                </c:pt>
                <c:pt idx="7">
                  <c:v>37.565525383707204</c:v>
                </c:pt>
                <c:pt idx="8">
                  <c:v>39.565525383707204</c:v>
                </c:pt>
                <c:pt idx="9">
                  <c:v>35.565525383707204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6-BFF4-4AA1-AFC1-7B3BF1513244}"/>
            </c:ext>
          </c:extLst>
        </c:ser>
        <c:ser>
          <c:idx val="5"/>
          <c:order val="5"/>
          <c:spPr>
            <a:ln w="19050" algn="ctr">
              <a:solidFill>
                <a:srgbClr val="E6E6E6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7-BFF4-4AA1-AFC1-7B3BF1513244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8-BFF4-4AA1-AFC1-7B3BF1513244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9-BFF4-4AA1-AFC1-7B3BF1513244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A-BFF4-4AA1-AFC1-7B3BF1513244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B-BFF4-4AA1-AFC1-7B3BF1513244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C-BFF4-4AA1-AFC1-7B3BF1513244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D-BFF4-4AA1-AFC1-7B3BF1513244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E-BFF4-4AA1-AFC1-7B3BF1513244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F-BFF4-4AA1-AFC1-7B3BF1513244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0-BFF4-4AA1-AFC1-7B3BF1513244}"/>
              </c:ext>
            </c:extLst>
          </c:dPt>
          <c:val>
            <c:numRef>
              <c:f>Sheet1!$A$6:$J$6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30.565525383707204</c:v>
                </c:pt>
                <c:pt idx="7">
                  <c:v>32.565525383707204</c:v>
                </c:pt>
                <c:pt idx="8">
                  <c:v>30.565525383707204</c:v>
                </c:pt>
                <c:pt idx="9">
                  <c:v>31.565525383707204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1-BFF4-4AA1-AFC1-7B3BF1513244}"/>
            </c:ext>
          </c:extLst>
        </c:ser>
        <c:ser>
          <c:idx val="6"/>
          <c:order val="6"/>
          <c:spPr>
            <a:ln w="19050" algn="ctr">
              <a:solidFill>
                <a:srgbClr val="80B5B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2-BFF4-4AA1-AFC1-7B3BF1513244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3-BFF4-4AA1-AFC1-7B3BF1513244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4-BFF4-4AA1-AFC1-7B3BF1513244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5-BFF4-4AA1-AFC1-7B3BF1513244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6-BFF4-4AA1-AFC1-7B3BF1513244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7-BFF4-4AA1-AFC1-7B3BF1513244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8-BFF4-4AA1-AFC1-7B3BF1513244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9-BFF4-4AA1-AFC1-7B3BF1513244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A-BFF4-4AA1-AFC1-7B3BF1513244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B-BFF4-4AA1-AFC1-7B3BF1513244}"/>
              </c:ext>
            </c:extLst>
          </c:dPt>
          <c:val>
            <c:numRef>
              <c:f>Sheet1!$A$7:$J$7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6.5655253837072038</c:v>
                </c:pt>
                <c:pt idx="9">
                  <c:v>29.565525383707204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C-BFF4-4AA1-AFC1-7B3BF1513244}"/>
            </c:ext>
          </c:extLst>
        </c:ser>
        <c:ser>
          <c:idx val="7"/>
          <c:order val="7"/>
          <c:spPr>
            <a:ln w="38100" algn="ctr">
              <a:solidFill>
                <a:schemeClr val="accent3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D-BFF4-4AA1-AFC1-7B3BF1513244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E-BFF4-4AA1-AFC1-7B3BF1513244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F-BFF4-4AA1-AFC1-7B3BF1513244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0-BFF4-4AA1-AFC1-7B3BF1513244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1-BFF4-4AA1-AFC1-7B3BF1513244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2-BFF4-4AA1-AFC1-7B3BF1513244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3-BFF4-4AA1-AFC1-7B3BF1513244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4-BFF4-4AA1-AFC1-7B3BF1513244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5-BFF4-4AA1-AFC1-7B3BF1513244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6-BFF4-4AA1-AFC1-7B3BF1513244}"/>
              </c:ext>
            </c:extLst>
          </c:dPt>
          <c:val>
            <c:numRef>
              <c:f>Sheet1!$A$8:$J$8</c:f>
              <c:numCache>
                <c:formatCode>General</c:formatCode>
                <c:ptCount val="10"/>
                <c:pt idx="0">
                  <c:v>20.565525383707204</c:v>
                </c:pt>
                <c:pt idx="1">
                  <c:v>25.565525383707204</c:v>
                </c:pt>
                <c:pt idx="2">
                  <c:v>8.5655253837072038</c:v>
                </c:pt>
                <c:pt idx="3">
                  <c:v>23.565525383707204</c:v>
                </c:pt>
                <c:pt idx="4">
                  <c:v>17.565525383707204</c:v>
                </c:pt>
                <c:pt idx="5">
                  <c:v>21.565525383707204</c:v>
                </c:pt>
                <c:pt idx="6">
                  <c:v>21.565525383707204</c:v>
                </c:pt>
                <c:pt idx="7">
                  <c:v>24.565525383707204</c:v>
                </c:pt>
                <c:pt idx="8">
                  <c:v>24.565525383707204</c:v>
                </c:pt>
                <c:pt idx="9">
                  <c:v>20.565525383707204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7-BFF4-4AA1-AFC1-7B3BF1513244}"/>
            </c:ext>
          </c:extLst>
        </c:ser>
        <c:ser>
          <c:idx val="8"/>
          <c:order val="8"/>
          <c:spPr>
            <a:ln w="19050" algn="ctr">
              <a:solidFill>
                <a:schemeClr val="accent2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8-BFF4-4AA1-AFC1-7B3BF1513244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9-BFF4-4AA1-AFC1-7B3BF1513244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A-BFF4-4AA1-AFC1-7B3BF1513244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B-BFF4-4AA1-AFC1-7B3BF1513244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C-BFF4-4AA1-AFC1-7B3BF1513244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D-BFF4-4AA1-AFC1-7B3BF1513244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E-BFF4-4AA1-AFC1-7B3BF1513244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F-BFF4-4AA1-AFC1-7B3BF1513244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0-BFF4-4AA1-AFC1-7B3BF1513244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1-BFF4-4AA1-AFC1-7B3BF1513244}"/>
              </c:ext>
            </c:extLst>
          </c:dPt>
          <c:val>
            <c:numRef>
              <c:f>Sheet1!$A$9:$J$9</c:f>
              <c:numCache>
                <c:formatCode>General</c:formatCode>
                <c:ptCount val="10"/>
                <c:pt idx="0">
                  <c:v>34.565525383707204</c:v>
                </c:pt>
                <c:pt idx="1">
                  <c:v>40.565525383707204</c:v>
                </c:pt>
                <c:pt idx="2">
                  <c:v>29.565525383707204</c:v>
                </c:pt>
                <c:pt idx="3">
                  <c:v>29.565525383707204</c:v>
                </c:pt>
                <c:pt idx="4">
                  <c:v>32.565525383707204</c:v>
                </c:pt>
                <c:pt idx="5">
                  <c:v>20.565525383707204</c:v>
                </c:pt>
                <c:pt idx="6">
                  <c:v>24.565525383707204</c:v>
                </c:pt>
                <c:pt idx="7">
                  <c:v>15.565525383707204</c:v>
                </c:pt>
                <c:pt idx="8">
                  <c:v>10.565525383707204</c:v>
                </c:pt>
                <c:pt idx="9">
                  <c:v>14.565525383707204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2-BFF4-4AA1-AFC1-7B3BF1513244}"/>
            </c:ext>
          </c:extLst>
        </c:ser>
        <c:ser>
          <c:idx val="9"/>
          <c:order val="9"/>
          <c:spPr>
            <a:ln w="19050" algn="ctr">
              <a:solidFill>
                <a:srgbClr val="5A7895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3-BFF4-4AA1-AFC1-7B3BF1513244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4-BFF4-4AA1-AFC1-7B3BF1513244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5-BFF4-4AA1-AFC1-7B3BF1513244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6-BFF4-4AA1-AFC1-7B3BF1513244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7-BFF4-4AA1-AFC1-7B3BF1513244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8-BFF4-4AA1-AFC1-7B3BF1513244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9-BFF4-4AA1-AFC1-7B3BF1513244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A-BFF4-4AA1-AFC1-7B3BF1513244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B-BFF4-4AA1-AFC1-7B3BF1513244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C-BFF4-4AA1-AFC1-7B3BF1513244}"/>
              </c:ext>
            </c:extLst>
          </c:dPt>
          <c:val>
            <c:numRef>
              <c:f>Sheet1!$A$10:$J$10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2.5655253837072038</c:v>
                </c:pt>
                <c:pt idx="9">
                  <c:v>9.5655253837072038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D-BFF4-4AA1-AFC1-7B3BF15132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3808000"/>
        <c:axId val="1"/>
      </c:lineChart>
      <c:catAx>
        <c:axId val="72380800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in"/>
        <c:minorTickMark val="none"/>
        <c:tickLblPos val="none"/>
        <c:spPr>
          <a:ln w="6350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latin typeface="+mn-lt"/>
                <a:ea typeface="+mn-ea"/>
                <a:cs typeface="+mn-cs"/>
              </a:defRPr>
            </a:pPr>
            <a:endParaRPr lang="en-US"/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5.565525383707204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723808000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193768672641914E-2"/>
          <c:y val="2.7659574468085105E-2"/>
          <c:w val="0.95561246265471622"/>
          <c:h val="0.94468085106382982"/>
        </c:manualLayout>
      </c:layout>
      <c:lineChart>
        <c:grouping val="standard"/>
        <c:varyColors val="0"/>
        <c:ser>
          <c:idx val="0"/>
          <c:order val="0"/>
          <c:spPr>
            <a:ln w="19050" algn="ctr">
              <a:solidFill>
                <a:srgbClr val="7F7F7F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9702-48F9-9D68-98B2F25CCB29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9702-48F9-9D68-98B2F25CCB29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9702-48F9-9D68-98B2F25CCB29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9702-48F9-9D68-98B2F25CCB29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9702-48F9-9D68-98B2F25CCB29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9702-48F9-9D68-98B2F25CCB29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9702-48F9-9D68-98B2F25CCB29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9702-48F9-9D68-98B2F25CCB29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9702-48F9-9D68-98B2F25CCB29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7F7F7F"/>
                </a:solidFill>
                <a:ln w="9525" algn="ctr">
                  <a:solidFill>
                    <a:srgbClr val="7F7F7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9702-48F9-9D68-98B2F25CCB29}"/>
              </c:ext>
            </c:extLst>
          </c:dPt>
          <c:val>
            <c:numRef>
              <c:f>Sheet1!$A$1:$J$1</c:f>
              <c:numCache>
                <c:formatCode>General</c:formatCode>
                <c:ptCount val="10"/>
                <c:pt idx="0">
                  <c:v>1.8968122786304606</c:v>
                </c:pt>
                <c:pt idx="1">
                  <c:v>1.796812278630461</c:v>
                </c:pt>
                <c:pt idx="2">
                  <c:v>1.8968122786304606</c:v>
                </c:pt>
                <c:pt idx="3">
                  <c:v>1.5968122786304599</c:v>
                </c:pt>
                <c:pt idx="4">
                  <c:v>1.6968122786304614</c:v>
                </c:pt>
                <c:pt idx="5">
                  <c:v>1.796812278630461</c:v>
                </c:pt>
                <c:pt idx="6">
                  <c:v>1.8968122786304606</c:v>
                </c:pt>
                <c:pt idx="7">
                  <c:v>1.796812278630461</c:v>
                </c:pt>
                <c:pt idx="8">
                  <c:v>1.8968122786304606</c:v>
                </c:pt>
                <c:pt idx="9">
                  <c:v>1.9968122786304603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9702-48F9-9D68-98B2F25CCB29}"/>
            </c:ext>
          </c:extLst>
        </c:ser>
        <c:ser>
          <c:idx val="1"/>
          <c:order val="1"/>
          <c:spPr>
            <a:ln w="19050" algn="ctr">
              <a:solidFill>
                <a:srgbClr val="FFCB25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9702-48F9-9D68-98B2F25CCB29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9702-48F9-9D68-98B2F25CCB29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9702-48F9-9D68-98B2F25CCB29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9702-48F9-9D68-98B2F25CCB29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9702-48F9-9D68-98B2F25CCB29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9702-48F9-9D68-98B2F25CCB29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9702-48F9-9D68-98B2F25CCB29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9702-48F9-9D68-98B2F25CCB29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9702-48F9-9D68-98B2F25CCB29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FFCB25"/>
                </a:solidFill>
                <a:ln w="9525" algn="ctr">
                  <a:solidFill>
                    <a:srgbClr val="FFCB2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9702-48F9-9D68-98B2F25CCB29}"/>
              </c:ext>
            </c:extLst>
          </c:dPt>
          <c:val>
            <c:numRef>
              <c:f>Sheet1!$A$2:$J$2</c:f>
              <c:numCache>
                <c:formatCode>General</c:formatCode>
                <c:ptCount val="10"/>
                <c:pt idx="0">
                  <c:v>0.49681227863046029</c:v>
                </c:pt>
                <c:pt idx="1">
                  <c:v>0.39681227863046065</c:v>
                </c:pt>
                <c:pt idx="2">
                  <c:v>0.39681227863046065</c:v>
                </c:pt>
                <c:pt idx="3">
                  <c:v>0.39681227863046065</c:v>
                </c:pt>
                <c:pt idx="4">
                  <c:v>0.59681227863046082</c:v>
                </c:pt>
                <c:pt idx="5">
                  <c:v>0.59681227863046082</c:v>
                </c:pt>
                <c:pt idx="6">
                  <c:v>0.69681227863046047</c:v>
                </c:pt>
                <c:pt idx="7">
                  <c:v>0.89681227863046065</c:v>
                </c:pt>
                <c:pt idx="8">
                  <c:v>0.49681227863046029</c:v>
                </c:pt>
                <c:pt idx="9">
                  <c:v>0.39681227863046065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5-9702-48F9-9D68-98B2F25CCB29}"/>
            </c:ext>
          </c:extLst>
        </c:ser>
        <c:ser>
          <c:idx val="2"/>
          <c:order val="2"/>
          <c:spPr>
            <a:ln w="19050" algn="ctr">
              <a:solidFill>
                <a:srgbClr val="F7881A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9702-48F9-9D68-98B2F25CCB29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9702-48F9-9D68-98B2F25CCB29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9702-48F9-9D68-98B2F25CCB29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9-9702-48F9-9D68-98B2F25CCB29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A-9702-48F9-9D68-98B2F25CCB29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B-9702-48F9-9D68-98B2F25CCB29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C-9702-48F9-9D68-98B2F25CCB29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D-9702-48F9-9D68-98B2F25CCB29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E-9702-48F9-9D68-98B2F25CCB29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F7881A"/>
                </a:solidFill>
                <a:ln w="9525" algn="ctr">
                  <a:solidFill>
                    <a:srgbClr val="F7881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F-9702-48F9-9D68-98B2F25CCB29}"/>
              </c:ext>
            </c:extLst>
          </c:dPt>
          <c:val>
            <c:numRef>
              <c:f>Sheet1!$A$3:$J$3</c:f>
              <c:numCache>
                <c:formatCode>General</c:formatCode>
                <c:ptCount val="10"/>
                <c:pt idx="0">
                  <c:v>1.0968122786304599</c:v>
                </c:pt>
                <c:pt idx="1">
                  <c:v>1.1968122786304614</c:v>
                </c:pt>
                <c:pt idx="2">
                  <c:v>1.1968122786304614</c:v>
                </c:pt>
                <c:pt idx="3">
                  <c:v>1.296812278630461</c:v>
                </c:pt>
                <c:pt idx="4">
                  <c:v>1.0968122786304599</c:v>
                </c:pt>
                <c:pt idx="5">
                  <c:v>1.1968122786304614</c:v>
                </c:pt>
                <c:pt idx="6">
                  <c:v>1.3968122786304606</c:v>
                </c:pt>
                <c:pt idx="7">
                  <c:v>0.796812278630461</c:v>
                </c:pt>
                <c:pt idx="8">
                  <c:v>0.99681227863046029</c:v>
                </c:pt>
                <c:pt idx="9">
                  <c:v>0.99681227863046029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0-9702-48F9-9D68-98B2F25CCB29}"/>
            </c:ext>
          </c:extLst>
        </c:ser>
        <c:ser>
          <c:idx val="3"/>
          <c:order val="3"/>
          <c:spPr>
            <a:ln w="19050" algn="ctr">
              <a:solidFill>
                <a:srgbClr val="E77673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1-9702-48F9-9D68-98B2F25CCB29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2-9702-48F9-9D68-98B2F25CCB29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3-9702-48F9-9D68-98B2F25CCB29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4-9702-48F9-9D68-98B2F25CCB29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5-9702-48F9-9D68-98B2F25CCB29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6-9702-48F9-9D68-98B2F25CCB29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7-9702-48F9-9D68-98B2F25CCB29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8-9702-48F9-9D68-98B2F25CCB29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9-9702-48F9-9D68-98B2F25CCB29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E77673"/>
                </a:solidFill>
                <a:ln w="9525" algn="ctr">
                  <a:solidFill>
                    <a:srgbClr val="E7767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A-9702-48F9-9D68-98B2F25CCB29}"/>
              </c:ext>
            </c:extLst>
          </c:dPt>
          <c:val>
            <c:numRef>
              <c:f>Sheet1!$A$4:$J$4</c:f>
              <c:numCache>
                <c:formatCode>General</c:formatCode>
                <c:ptCount val="10"/>
                <c:pt idx="0">
                  <c:v>1.3968122786304606</c:v>
                </c:pt>
                <c:pt idx="1">
                  <c:v>1.5968122786304599</c:v>
                </c:pt>
                <c:pt idx="2">
                  <c:v>1.3968122786304606</c:v>
                </c:pt>
                <c:pt idx="3">
                  <c:v>1.9968122786304603</c:v>
                </c:pt>
                <c:pt idx="4">
                  <c:v>1.4968122786304603</c:v>
                </c:pt>
                <c:pt idx="5">
                  <c:v>1.0968122786304599</c:v>
                </c:pt>
                <c:pt idx="6">
                  <c:v>1.1968122786304614</c:v>
                </c:pt>
                <c:pt idx="7">
                  <c:v>1.0968122786304599</c:v>
                </c:pt>
                <c:pt idx="8">
                  <c:v>1.0968122786304599</c:v>
                </c:pt>
                <c:pt idx="9">
                  <c:v>1.296812278630461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B-9702-48F9-9D68-98B2F25CCB29}"/>
            </c:ext>
          </c:extLst>
        </c:ser>
        <c:ser>
          <c:idx val="4"/>
          <c:order val="4"/>
          <c:spPr>
            <a:ln w="19050" algn="ctr">
              <a:solidFill>
                <a:srgbClr val="F7D1D0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C-9702-48F9-9D68-98B2F25CCB29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D-9702-48F9-9D68-98B2F25CCB29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E-9702-48F9-9D68-98B2F25CCB29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F-9702-48F9-9D68-98B2F25CCB29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0-9702-48F9-9D68-98B2F25CCB29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1-9702-48F9-9D68-98B2F25CCB29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2-9702-48F9-9D68-98B2F25CCB29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3-9702-48F9-9D68-98B2F25CCB29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4-9702-48F9-9D68-98B2F25CCB29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F7D1D0"/>
                </a:solidFill>
                <a:ln w="9525" algn="ctr">
                  <a:solidFill>
                    <a:srgbClr val="F7D1D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5-9702-48F9-9D68-98B2F25CCB29}"/>
              </c:ext>
            </c:extLst>
          </c:dPt>
          <c:val>
            <c:numRef>
              <c:f>Sheet1!$A$5:$J$5</c:f>
              <c:numCache>
                <c:formatCode>General</c:formatCode>
                <c:ptCount val="10"/>
                <c:pt idx="0">
                  <c:v>1.4968122786304603</c:v>
                </c:pt>
                <c:pt idx="1">
                  <c:v>1.3968122786304606</c:v>
                </c:pt>
                <c:pt idx="2">
                  <c:v>1.296812278630461</c:v>
                </c:pt>
                <c:pt idx="3">
                  <c:v>1.296812278630461</c:v>
                </c:pt>
                <c:pt idx="4">
                  <c:v>1.0968122786304599</c:v>
                </c:pt>
                <c:pt idx="5">
                  <c:v>1.0968122786304599</c:v>
                </c:pt>
                <c:pt idx="6">
                  <c:v>1.1968122786304614</c:v>
                </c:pt>
                <c:pt idx="7">
                  <c:v>1.0968122786304599</c:v>
                </c:pt>
                <c:pt idx="8">
                  <c:v>1.1968122786304614</c:v>
                </c:pt>
                <c:pt idx="9">
                  <c:v>1.1968122786304614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6-9702-48F9-9D68-98B2F25CCB29}"/>
            </c:ext>
          </c:extLst>
        </c:ser>
        <c:ser>
          <c:idx val="5"/>
          <c:order val="5"/>
          <c:spPr>
            <a:ln w="19050" algn="ctr">
              <a:solidFill>
                <a:srgbClr val="E6E6E6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7-9702-48F9-9D68-98B2F25CCB29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8-9702-48F9-9D68-98B2F25CCB29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9-9702-48F9-9D68-98B2F25CCB29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A-9702-48F9-9D68-98B2F25CCB29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B-9702-48F9-9D68-98B2F25CCB29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C-9702-48F9-9D68-98B2F25CCB29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D-9702-48F9-9D68-98B2F25CCB29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E-9702-48F9-9D68-98B2F25CCB29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F-9702-48F9-9D68-98B2F25CCB29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E6E6E6"/>
                </a:solidFill>
                <a:ln w="9525" algn="ctr">
                  <a:solidFill>
                    <a:srgbClr val="E6E6E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0-9702-48F9-9D68-98B2F25CCB29}"/>
              </c:ext>
            </c:extLst>
          </c:dPt>
          <c:val>
            <c:numRef>
              <c:f>Sheet1!$A$6:$J$6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0.99681227863046029</c:v>
                </c:pt>
                <c:pt idx="7">
                  <c:v>1.0968122786304599</c:v>
                </c:pt>
                <c:pt idx="8">
                  <c:v>0.89681227863046065</c:v>
                </c:pt>
                <c:pt idx="9">
                  <c:v>0.99681227863046029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1-9702-48F9-9D68-98B2F25CCB29}"/>
            </c:ext>
          </c:extLst>
        </c:ser>
        <c:ser>
          <c:idx val="6"/>
          <c:order val="6"/>
          <c:spPr>
            <a:ln w="19050" algn="ctr">
              <a:solidFill>
                <a:srgbClr val="80B5B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2-9702-48F9-9D68-98B2F25CCB29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3-9702-48F9-9D68-98B2F25CCB29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4-9702-48F9-9D68-98B2F25CCB29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5-9702-48F9-9D68-98B2F25CCB29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6-9702-48F9-9D68-98B2F25CCB29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7-9702-48F9-9D68-98B2F25CCB29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8-9702-48F9-9D68-98B2F25CCB29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9-9702-48F9-9D68-98B2F25CCB29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A-9702-48F9-9D68-98B2F25CCB29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80B5BE"/>
                </a:solidFill>
                <a:ln w="9525" algn="ctr">
                  <a:solidFill>
                    <a:srgbClr val="80B5B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B-9702-48F9-9D68-98B2F25CCB29}"/>
              </c:ext>
            </c:extLst>
          </c:dPt>
          <c:val>
            <c:numRef>
              <c:f>Sheet1!$A$7:$J$7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9.6812278630460824E-2</c:v>
                </c:pt>
                <c:pt idx="9">
                  <c:v>0.796812278630461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C-9702-48F9-9D68-98B2F25CCB29}"/>
            </c:ext>
          </c:extLst>
        </c:ser>
        <c:ser>
          <c:idx val="7"/>
          <c:order val="7"/>
          <c:spPr>
            <a:ln w="38100" algn="ctr">
              <a:solidFill>
                <a:schemeClr val="accent3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D-9702-48F9-9D68-98B2F25CCB29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E-9702-48F9-9D68-98B2F25CCB29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F-9702-48F9-9D68-98B2F25CCB29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0-9702-48F9-9D68-98B2F25CCB29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1-9702-48F9-9D68-98B2F25CCB29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2-9702-48F9-9D68-98B2F25CCB29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3-9702-48F9-9D68-98B2F25CCB29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4-9702-48F9-9D68-98B2F25CCB29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5-9702-48F9-9D68-98B2F25CCB29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chemeClr val="accent3"/>
                </a:solidFill>
                <a:ln w="9525" algn="ctr">
                  <a:solidFill>
                    <a:schemeClr val="accent3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6-9702-48F9-9D68-98B2F25CCB29}"/>
              </c:ext>
            </c:extLst>
          </c:dPt>
          <c:val>
            <c:numRef>
              <c:f>Sheet1!$A$8:$J$8</c:f>
              <c:numCache>
                <c:formatCode>General</c:formatCode>
                <c:ptCount val="10"/>
                <c:pt idx="0">
                  <c:v>1.1968122786304614</c:v>
                </c:pt>
                <c:pt idx="1">
                  <c:v>0.99681227863046029</c:v>
                </c:pt>
                <c:pt idx="2">
                  <c:v>0.296812278630461</c:v>
                </c:pt>
                <c:pt idx="3">
                  <c:v>0.89681227863046065</c:v>
                </c:pt>
                <c:pt idx="4">
                  <c:v>1.0968122786304599</c:v>
                </c:pt>
                <c:pt idx="5">
                  <c:v>0.99681227863046029</c:v>
                </c:pt>
                <c:pt idx="6">
                  <c:v>0.99681227863046029</c:v>
                </c:pt>
                <c:pt idx="7">
                  <c:v>0.796812278630461</c:v>
                </c:pt>
                <c:pt idx="8">
                  <c:v>0.69681227863046047</c:v>
                </c:pt>
                <c:pt idx="9">
                  <c:v>0.49681227863046029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7-9702-48F9-9D68-98B2F25CCB29}"/>
            </c:ext>
          </c:extLst>
        </c:ser>
        <c:ser>
          <c:idx val="8"/>
          <c:order val="8"/>
          <c:spPr>
            <a:ln w="19050" algn="ctr">
              <a:solidFill>
                <a:schemeClr val="accent2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8-9702-48F9-9D68-98B2F25CCB29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9-9702-48F9-9D68-98B2F25CCB29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A-9702-48F9-9D68-98B2F25CCB29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B-9702-48F9-9D68-98B2F25CCB29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C-9702-48F9-9D68-98B2F25CCB29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D-9702-48F9-9D68-98B2F25CCB29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E-9702-48F9-9D68-98B2F25CCB29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F-9702-48F9-9D68-98B2F25CCB29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0-9702-48F9-9D68-98B2F25CCB29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chemeClr val="accent2"/>
                </a:solidFill>
                <a:ln w="9525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1-9702-48F9-9D68-98B2F25CCB29}"/>
              </c:ext>
            </c:extLst>
          </c:dPt>
          <c:val>
            <c:numRef>
              <c:f>Sheet1!$A$9:$J$9</c:f>
              <c:numCache>
                <c:formatCode>General</c:formatCode>
                <c:ptCount val="10"/>
                <c:pt idx="0">
                  <c:v>1.3968122786304606</c:v>
                </c:pt>
                <c:pt idx="1">
                  <c:v>1.6968122786304614</c:v>
                </c:pt>
                <c:pt idx="2">
                  <c:v>0.89681227863046065</c:v>
                </c:pt>
                <c:pt idx="3">
                  <c:v>1.3968122786304606</c:v>
                </c:pt>
                <c:pt idx="4">
                  <c:v>1.4968122786304603</c:v>
                </c:pt>
                <c:pt idx="5">
                  <c:v>1.1968122786304614</c:v>
                </c:pt>
                <c:pt idx="6">
                  <c:v>1.3968122786304606</c:v>
                </c:pt>
                <c:pt idx="7">
                  <c:v>1.1968122786304614</c:v>
                </c:pt>
                <c:pt idx="8">
                  <c:v>1.0968122786304599</c:v>
                </c:pt>
                <c:pt idx="9">
                  <c:v>1.1968122786304614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2-9702-48F9-9D68-98B2F25CCB29}"/>
            </c:ext>
          </c:extLst>
        </c:ser>
        <c:ser>
          <c:idx val="9"/>
          <c:order val="9"/>
          <c:spPr>
            <a:ln w="19050" algn="ctr">
              <a:solidFill>
                <a:srgbClr val="5A7895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3-9702-48F9-9D68-98B2F25CCB29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4-9702-48F9-9D68-98B2F25CCB29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5-9702-48F9-9D68-98B2F25CCB29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6-9702-48F9-9D68-98B2F25CCB29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7-9702-48F9-9D68-98B2F25CCB29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8-9702-48F9-9D68-98B2F25CCB29}"/>
              </c:ext>
            </c:extLst>
          </c:dPt>
          <c:dPt>
            <c:idx val="6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9-9702-48F9-9D68-98B2F25CCB29}"/>
              </c:ext>
            </c:extLst>
          </c:dPt>
          <c:dPt>
            <c:idx val="7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A-9702-48F9-9D68-98B2F25CCB29}"/>
              </c:ext>
            </c:extLst>
          </c:dPt>
          <c:dPt>
            <c:idx val="8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B-9702-48F9-9D68-98B2F25CCB29}"/>
              </c:ext>
            </c:extLst>
          </c:dPt>
          <c:dPt>
            <c:idx val="9"/>
            <c:marker>
              <c:symbol val="circle"/>
              <c:size val="4"/>
              <c:spPr>
                <a:solidFill>
                  <a:srgbClr val="5A7895"/>
                </a:solidFill>
                <a:ln w="9525" algn="ctr">
                  <a:solidFill>
                    <a:srgbClr val="5A789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C-9702-48F9-9D68-98B2F25CCB29}"/>
              </c:ext>
            </c:extLst>
          </c:dPt>
          <c:val>
            <c:numRef>
              <c:f>Sheet1!$A$10:$J$10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0.69681227863046047</c:v>
                </c:pt>
                <c:pt idx="9">
                  <c:v>1.0968122786304599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D-9702-48F9-9D68-98B2F25CCB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7757952"/>
        <c:axId val="1"/>
      </c:lineChart>
      <c:catAx>
        <c:axId val="6177579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in"/>
        <c:minorTickMark val="none"/>
        <c:tickLblPos val="none"/>
        <c:spPr>
          <a:ln w="6350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latin typeface="+mn-lt"/>
                <a:ea typeface="+mn-ea"/>
                <a:cs typeface="+mn-cs"/>
              </a:defRPr>
            </a:pPr>
            <a:endParaRPr lang="en-US"/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.096812278630461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617757952"/>
        <c:crosses val="min"/>
        <c:crossBetween val="midCat"/>
        <c:majorUnit val="0.2"/>
      </c:valAx>
    </c:plotArea>
    <c:plotVisOnly val="0"/>
    <c:dispBlanksAs val="gap"/>
    <c:showDLblsOverMax val="1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2209" cy="465292"/>
          </a:xfrm>
          <a:prstGeom prst="rect">
            <a:avLst/>
          </a:prstGeom>
        </p:spPr>
        <p:txBody>
          <a:bodyPr vert="horz" lIns="90416" tIns="45208" rIns="90416" bIns="45208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259" y="0"/>
            <a:ext cx="2972209" cy="465292"/>
          </a:xfrm>
          <a:prstGeom prst="rect">
            <a:avLst/>
          </a:prstGeom>
        </p:spPr>
        <p:txBody>
          <a:bodyPr vert="horz" lIns="90416" tIns="45208" rIns="90416" bIns="45208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24 December 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8831108"/>
            <a:ext cx="2972209" cy="465292"/>
          </a:xfrm>
          <a:prstGeom prst="rect">
            <a:avLst/>
          </a:prstGeom>
        </p:spPr>
        <p:txBody>
          <a:bodyPr vert="horz" lIns="90416" tIns="45208" rIns="90416" bIns="45208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259" y="8831108"/>
            <a:ext cx="2972209" cy="465292"/>
          </a:xfrm>
          <a:prstGeom prst="rect">
            <a:avLst/>
          </a:prstGeom>
        </p:spPr>
        <p:txBody>
          <a:bodyPr vert="horz" lIns="90416" tIns="45208" rIns="90416" bIns="45208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04159" tIns="46586" rIns="93174" bIns="46586" rtlCol="0"/>
          <a:lstStyle>
            <a:lvl1pPr algn="l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3174" tIns="46586" rIns="904159" bIns="46586" rtlCol="0"/>
          <a:lstStyle>
            <a:lvl1pPr algn="r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1DF34805-1F01-4BDA-A8CA-FCEA2B4BC8D0}" type="datetime3">
              <a:rPr lang="ru-RU" smtClean="0"/>
              <a:pPr/>
              <a:t>24/12/21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1350" y="558800"/>
            <a:ext cx="5575300" cy="313690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3174" tIns="46586" rIns="93174" bIns="46586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2971800" cy="466433"/>
          </a:xfrm>
          <a:prstGeom prst="rect">
            <a:avLst/>
          </a:prstGeom>
        </p:spPr>
        <p:txBody>
          <a:bodyPr vert="horz" lIns="904159" tIns="46586" rIns="93174" bIns="46586" rtlCol="0" anchor="b"/>
          <a:lstStyle>
            <a:lvl1pPr algn="l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8"/>
            <a:ext cx="2971800" cy="466433"/>
          </a:xfrm>
          <a:prstGeom prst="rect">
            <a:avLst/>
          </a:prstGeom>
        </p:spPr>
        <p:txBody>
          <a:bodyPr vert="horz" lIns="93174" tIns="46586" rIns="904159" bIns="46586" rtlCol="0" anchor="b"/>
          <a:lstStyle>
            <a:lvl1pPr algn="r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CF5EBCF4-26FC-4F76-8DA1-52FDDC328D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713" y="4473716"/>
            <a:ext cx="5438575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ru-RU" smtClean="0"/>
              <a:pPr/>
              <a:t>24/12/21</a:t>
            </a:fld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7394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ru-RU" smtClean="0"/>
              <a:pPr/>
              <a:t>24/12/21</a:t>
            </a:fld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9597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6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0.xml"/><Relationship Id="rId1" Type="http://schemas.openxmlformats.org/officeDocument/2006/relationships/vmlDrawing" Target="../drawings/vmlDrawing2.vml"/><Relationship Id="rId6" Type="http://schemas.openxmlformats.org/officeDocument/2006/relationships/tags" Target="../tags/tag64.xml"/><Relationship Id="rId11" Type="http://schemas.openxmlformats.org/officeDocument/2006/relationships/image" Target="../media/image13.png"/><Relationship Id="rId5" Type="http://schemas.openxmlformats.org/officeDocument/2006/relationships/tags" Target="../tags/tag63.xml"/><Relationship Id="rId10" Type="http://schemas.openxmlformats.org/officeDocument/2006/relationships/image" Target="../media/image12.png"/><Relationship Id="rId4" Type="http://schemas.openxmlformats.org/officeDocument/2006/relationships/tags" Target="../tags/tag62.xml"/><Relationship Id="rId9" Type="http://schemas.openxmlformats.org/officeDocument/2006/relationships/image" Target="../media/image11.em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6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5.xml"/><Relationship Id="rId1" Type="http://schemas.openxmlformats.org/officeDocument/2006/relationships/vmlDrawing" Target="../drawings/vmlDrawing3.v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10" Type="http://schemas.openxmlformats.org/officeDocument/2006/relationships/image" Target="../media/image2.png"/><Relationship Id="rId4" Type="http://schemas.openxmlformats.org/officeDocument/2006/relationships/tags" Target="../tags/tag67.xml"/><Relationship Id="rId9" Type="http://schemas.openxmlformats.org/officeDocument/2006/relationships/image" Target="../media/image11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image" Target="../media/image14.png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11.emf"/><Relationship Id="rId2" Type="http://schemas.openxmlformats.org/officeDocument/2006/relationships/tags" Target="../tags/tag70.xml"/><Relationship Id="rId1" Type="http://schemas.openxmlformats.org/officeDocument/2006/relationships/vmlDrawing" Target="../drawings/vmlDrawing4.vml"/><Relationship Id="rId6" Type="http://schemas.openxmlformats.org/officeDocument/2006/relationships/tags" Target="../tags/tag74.xml"/><Relationship Id="rId11" Type="http://schemas.openxmlformats.org/officeDocument/2006/relationships/oleObject" Target="../embeddings/oleObject4.bin"/><Relationship Id="rId5" Type="http://schemas.openxmlformats.org/officeDocument/2006/relationships/tags" Target="../tags/tag73.xml"/><Relationship Id="rId15" Type="http://schemas.microsoft.com/office/2007/relationships/hdphoto" Target="../media/hdphoto1.wdp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image" Target="../media/image15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image" Target="../media/image15.png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image" Target="../media/image11.emf"/><Relationship Id="rId2" Type="http://schemas.openxmlformats.org/officeDocument/2006/relationships/tags" Target="../tags/tag78.xml"/><Relationship Id="rId1" Type="http://schemas.openxmlformats.org/officeDocument/2006/relationships/vmlDrawing" Target="../drawings/vmlDrawing5.vml"/><Relationship Id="rId6" Type="http://schemas.openxmlformats.org/officeDocument/2006/relationships/tags" Target="../tags/tag82.xml"/><Relationship Id="rId11" Type="http://schemas.openxmlformats.org/officeDocument/2006/relationships/oleObject" Target="../embeddings/oleObject5.bin"/><Relationship Id="rId5" Type="http://schemas.openxmlformats.org/officeDocument/2006/relationships/tags" Target="../tags/tag8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" Type="http://schemas.openxmlformats.org/officeDocument/2006/relationships/vmlDrawing" Target="../drawings/vmlDrawing6.vml"/><Relationship Id="rId6" Type="http://schemas.openxmlformats.org/officeDocument/2006/relationships/tags" Target="../tags/tag90.xml"/><Relationship Id="rId11" Type="http://schemas.openxmlformats.org/officeDocument/2006/relationships/image" Target="../media/image1.emf"/><Relationship Id="rId5" Type="http://schemas.openxmlformats.org/officeDocument/2006/relationships/tags" Target="../tags/tag89.xml"/><Relationship Id="rId10" Type="http://schemas.openxmlformats.org/officeDocument/2006/relationships/oleObject" Target="../embeddings/oleObject6.bin"/><Relationship Id="rId4" Type="http://schemas.openxmlformats.org/officeDocument/2006/relationships/tags" Target="../tags/tag88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2" Type="http://schemas.openxmlformats.org/officeDocument/2006/relationships/tags" Target="../tags/tag93.xml"/><Relationship Id="rId1" Type="http://schemas.openxmlformats.org/officeDocument/2006/relationships/vmlDrawing" Target="../drawings/vmlDrawing7.v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10" Type="http://schemas.openxmlformats.org/officeDocument/2006/relationships/image" Target="../media/image1.emf"/><Relationship Id="rId4" Type="http://schemas.openxmlformats.org/officeDocument/2006/relationships/tags" Target="../tags/tag95.xml"/><Relationship Id="rId9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image" Target="../media/image1.emf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12" Type="http://schemas.openxmlformats.org/officeDocument/2006/relationships/oleObject" Target="../embeddings/oleObject8.bin"/><Relationship Id="rId2" Type="http://schemas.openxmlformats.org/officeDocument/2006/relationships/tags" Target="../tags/tag99.xml"/><Relationship Id="rId1" Type="http://schemas.openxmlformats.org/officeDocument/2006/relationships/vmlDrawing" Target="../drawings/vmlDrawing8.vml"/><Relationship Id="rId6" Type="http://schemas.openxmlformats.org/officeDocument/2006/relationships/tags" Target="../tags/tag10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02.xml"/><Relationship Id="rId10" Type="http://schemas.openxmlformats.org/officeDocument/2006/relationships/tags" Target="../tags/tag107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13" Type="http://schemas.openxmlformats.org/officeDocument/2006/relationships/image" Target="../media/image1.emf"/><Relationship Id="rId3" Type="http://schemas.openxmlformats.org/officeDocument/2006/relationships/tags" Target="../tags/tag109.xml"/><Relationship Id="rId7" Type="http://schemas.openxmlformats.org/officeDocument/2006/relationships/tags" Target="../tags/tag113.xml"/><Relationship Id="rId12" Type="http://schemas.openxmlformats.org/officeDocument/2006/relationships/oleObject" Target="../embeddings/oleObject9.bin"/><Relationship Id="rId2" Type="http://schemas.openxmlformats.org/officeDocument/2006/relationships/tags" Target="../tags/tag108.xml"/><Relationship Id="rId1" Type="http://schemas.openxmlformats.org/officeDocument/2006/relationships/vmlDrawing" Target="../drawings/vmlDrawing9.vml"/><Relationship Id="rId6" Type="http://schemas.openxmlformats.org/officeDocument/2006/relationships/tags" Target="../tags/tag112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11.xml"/><Relationship Id="rId10" Type="http://schemas.openxmlformats.org/officeDocument/2006/relationships/tags" Target="../tags/tag116.xml"/><Relationship Id="rId4" Type="http://schemas.openxmlformats.org/officeDocument/2006/relationships/tags" Target="../tags/tag110.xml"/><Relationship Id="rId9" Type="http://schemas.openxmlformats.org/officeDocument/2006/relationships/tags" Target="../tags/tag115.xml"/><Relationship Id="rId1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image" Target="../media/image1.emf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oleObject" Target="../embeddings/oleObject10.bin"/><Relationship Id="rId2" Type="http://schemas.openxmlformats.org/officeDocument/2006/relationships/tags" Target="../tags/tag117.xml"/><Relationship Id="rId1" Type="http://schemas.openxmlformats.org/officeDocument/2006/relationships/vmlDrawing" Target="../drawings/vmlDrawing10.vml"/><Relationship Id="rId6" Type="http://schemas.openxmlformats.org/officeDocument/2006/relationships/tags" Target="../tags/tag121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20.xml"/><Relationship Id="rId10" Type="http://schemas.openxmlformats.org/officeDocument/2006/relationships/tags" Target="../tags/tag125.xml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13" Type="http://schemas.openxmlformats.org/officeDocument/2006/relationships/image" Target="../media/image16.emf"/><Relationship Id="rId3" Type="http://schemas.openxmlformats.org/officeDocument/2006/relationships/tags" Target="../tags/tag127.xml"/><Relationship Id="rId7" Type="http://schemas.openxmlformats.org/officeDocument/2006/relationships/tags" Target="../tags/tag131.xml"/><Relationship Id="rId12" Type="http://schemas.openxmlformats.org/officeDocument/2006/relationships/oleObject" Target="../embeddings/oleObject11.bin"/><Relationship Id="rId2" Type="http://schemas.openxmlformats.org/officeDocument/2006/relationships/tags" Target="../tags/tag126.xml"/><Relationship Id="rId1" Type="http://schemas.openxmlformats.org/officeDocument/2006/relationships/vmlDrawing" Target="../drawings/vmlDrawing11.vml"/><Relationship Id="rId6" Type="http://schemas.openxmlformats.org/officeDocument/2006/relationships/tags" Target="../tags/tag130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29.xml"/><Relationship Id="rId10" Type="http://schemas.openxmlformats.org/officeDocument/2006/relationships/tags" Target="../tags/tag134.xml"/><Relationship Id="rId4" Type="http://schemas.openxmlformats.org/officeDocument/2006/relationships/tags" Target="../tags/tag128.xml"/><Relationship Id="rId9" Type="http://schemas.openxmlformats.org/officeDocument/2006/relationships/tags" Target="../tags/tag133.xml"/><Relationship Id="rId1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image" Target="../media/image1.emf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oleObject" Target="../embeddings/oleObject12.bin"/><Relationship Id="rId2" Type="http://schemas.openxmlformats.org/officeDocument/2006/relationships/tags" Target="../tags/tag135.xml"/><Relationship Id="rId1" Type="http://schemas.openxmlformats.org/officeDocument/2006/relationships/vmlDrawing" Target="../drawings/vmlDrawing12.vml"/><Relationship Id="rId6" Type="http://schemas.openxmlformats.org/officeDocument/2006/relationships/tags" Target="../tags/tag139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38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tags" Target="../tags/tag1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44.xml"/><Relationship Id="rId1" Type="http://schemas.openxmlformats.org/officeDocument/2006/relationships/vmlDrawing" Target="../drawings/vmlDrawing13.v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10" Type="http://schemas.openxmlformats.org/officeDocument/2006/relationships/image" Target="../media/image2.png"/><Relationship Id="rId4" Type="http://schemas.openxmlformats.org/officeDocument/2006/relationships/tags" Target="../tags/tag146.xml"/><Relationship Id="rId9" Type="http://schemas.openxmlformats.org/officeDocument/2006/relationships/image" Target="../media/image11.emf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49.xml"/><Relationship Id="rId1" Type="http://schemas.openxmlformats.org/officeDocument/2006/relationships/vmlDrawing" Target="../drawings/vmlDrawing14.v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2.png"/><Relationship Id="rId4" Type="http://schemas.openxmlformats.org/officeDocument/2006/relationships/tags" Target="../tags/tag151.xml"/><Relationship Id="rId9" Type="http://schemas.openxmlformats.org/officeDocument/2006/relationships/image" Target="../media/image11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15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4.xml"/><Relationship Id="rId1" Type="http://schemas.openxmlformats.org/officeDocument/2006/relationships/vmlDrawing" Target="../drawings/vmlDrawing15.v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10" Type="http://schemas.openxmlformats.org/officeDocument/2006/relationships/image" Target="../media/image2.png"/><Relationship Id="rId4" Type="http://schemas.openxmlformats.org/officeDocument/2006/relationships/tags" Target="../tags/tag156.xml"/><Relationship Id="rId9" Type="http://schemas.openxmlformats.org/officeDocument/2006/relationships/image" Target="../media/image11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tags" Target="../tags/tag21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17.xml"/><Relationship Id="rId1" Type="http://schemas.openxmlformats.org/officeDocument/2006/relationships/vmlDrawing" Target="../drawings/vmlDrawing17.vml"/><Relationship Id="rId6" Type="http://schemas.openxmlformats.org/officeDocument/2006/relationships/tags" Target="../tags/tag221.xml"/><Relationship Id="rId11" Type="http://schemas.openxmlformats.org/officeDocument/2006/relationships/image" Target="../media/image13.png"/><Relationship Id="rId5" Type="http://schemas.openxmlformats.org/officeDocument/2006/relationships/tags" Target="../tags/tag220.xml"/><Relationship Id="rId10" Type="http://schemas.openxmlformats.org/officeDocument/2006/relationships/image" Target="../media/image12.png"/><Relationship Id="rId4" Type="http://schemas.openxmlformats.org/officeDocument/2006/relationships/tags" Target="../tags/tag219.xml"/><Relationship Id="rId9" Type="http://schemas.openxmlformats.org/officeDocument/2006/relationships/image" Target="../media/image11.emf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tags" Target="../tags/tag22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22.xml"/><Relationship Id="rId1" Type="http://schemas.openxmlformats.org/officeDocument/2006/relationships/vmlDrawing" Target="../drawings/vmlDrawing18.v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10" Type="http://schemas.openxmlformats.org/officeDocument/2006/relationships/image" Target="../media/image2.png"/><Relationship Id="rId4" Type="http://schemas.openxmlformats.org/officeDocument/2006/relationships/tags" Target="../tags/tag224.xml"/><Relationship Id="rId9" Type="http://schemas.openxmlformats.org/officeDocument/2006/relationships/image" Target="../media/image11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33.xml"/><Relationship Id="rId13" Type="http://schemas.openxmlformats.org/officeDocument/2006/relationships/image" Target="../media/image14.png"/><Relationship Id="rId3" Type="http://schemas.openxmlformats.org/officeDocument/2006/relationships/tags" Target="../tags/tag228.xml"/><Relationship Id="rId7" Type="http://schemas.openxmlformats.org/officeDocument/2006/relationships/tags" Target="../tags/tag232.xml"/><Relationship Id="rId12" Type="http://schemas.openxmlformats.org/officeDocument/2006/relationships/image" Target="../media/image11.emf"/><Relationship Id="rId2" Type="http://schemas.openxmlformats.org/officeDocument/2006/relationships/tags" Target="../tags/tag227.xml"/><Relationship Id="rId1" Type="http://schemas.openxmlformats.org/officeDocument/2006/relationships/vmlDrawing" Target="../drawings/vmlDrawing19.vml"/><Relationship Id="rId6" Type="http://schemas.openxmlformats.org/officeDocument/2006/relationships/tags" Target="../tags/tag231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230.xml"/><Relationship Id="rId15" Type="http://schemas.microsoft.com/office/2007/relationships/hdphoto" Target="../media/hdphoto1.wdp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29.xml"/><Relationship Id="rId9" Type="http://schemas.openxmlformats.org/officeDocument/2006/relationships/tags" Target="../tags/tag234.xml"/><Relationship Id="rId1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41.xml"/><Relationship Id="rId13" Type="http://schemas.openxmlformats.org/officeDocument/2006/relationships/image" Target="../media/image15.png"/><Relationship Id="rId3" Type="http://schemas.openxmlformats.org/officeDocument/2006/relationships/tags" Target="../tags/tag236.xml"/><Relationship Id="rId7" Type="http://schemas.openxmlformats.org/officeDocument/2006/relationships/tags" Target="../tags/tag240.xml"/><Relationship Id="rId12" Type="http://schemas.openxmlformats.org/officeDocument/2006/relationships/image" Target="../media/image11.emf"/><Relationship Id="rId2" Type="http://schemas.openxmlformats.org/officeDocument/2006/relationships/tags" Target="../tags/tag235.xml"/><Relationship Id="rId1" Type="http://schemas.openxmlformats.org/officeDocument/2006/relationships/vmlDrawing" Target="../drawings/vmlDrawing20.vml"/><Relationship Id="rId6" Type="http://schemas.openxmlformats.org/officeDocument/2006/relationships/tags" Target="../tags/tag239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23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7.xml"/><Relationship Id="rId9" Type="http://schemas.openxmlformats.org/officeDocument/2006/relationships/tags" Target="../tags/tag242.xml"/><Relationship Id="rId14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3" Type="http://schemas.openxmlformats.org/officeDocument/2006/relationships/tags" Target="../tags/tag244.xml"/><Relationship Id="rId7" Type="http://schemas.openxmlformats.org/officeDocument/2006/relationships/tags" Target="../tags/tag248.xml"/><Relationship Id="rId2" Type="http://schemas.openxmlformats.org/officeDocument/2006/relationships/tags" Target="../tags/tag243.xml"/><Relationship Id="rId1" Type="http://schemas.openxmlformats.org/officeDocument/2006/relationships/vmlDrawing" Target="../drawings/vmlDrawing21.vml"/><Relationship Id="rId6" Type="http://schemas.openxmlformats.org/officeDocument/2006/relationships/tags" Target="../tags/tag247.xml"/><Relationship Id="rId11" Type="http://schemas.openxmlformats.org/officeDocument/2006/relationships/image" Target="../media/image1.emf"/><Relationship Id="rId5" Type="http://schemas.openxmlformats.org/officeDocument/2006/relationships/tags" Target="../tags/tag246.xml"/><Relationship Id="rId10" Type="http://schemas.openxmlformats.org/officeDocument/2006/relationships/oleObject" Target="../embeddings/oleObject21.bin"/><Relationship Id="rId4" Type="http://schemas.openxmlformats.org/officeDocument/2006/relationships/tags" Target="../tags/tag245.xml"/><Relationship Id="rId9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51.xml"/><Relationship Id="rId7" Type="http://schemas.openxmlformats.org/officeDocument/2006/relationships/tags" Target="../tags/tag255.xml"/><Relationship Id="rId2" Type="http://schemas.openxmlformats.org/officeDocument/2006/relationships/tags" Target="../tags/tag250.xml"/><Relationship Id="rId1" Type="http://schemas.openxmlformats.org/officeDocument/2006/relationships/vmlDrawing" Target="../drawings/vmlDrawing22.v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10" Type="http://schemas.openxmlformats.org/officeDocument/2006/relationships/image" Target="../media/image1.emf"/><Relationship Id="rId4" Type="http://schemas.openxmlformats.org/officeDocument/2006/relationships/tags" Target="../tags/tag252.xml"/><Relationship Id="rId9" Type="http://schemas.openxmlformats.org/officeDocument/2006/relationships/oleObject" Target="../embeddings/oleObject22.bin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62.xml"/><Relationship Id="rId13" Type="http://schemas.openxmlformats.org/officeDocument/2006/relationships/image" Target="../media/image1.emf"/><Relationship Id="rId3" Type="http://schemas.openxmlformats.org/officeDocument/2006/relationships/tags" Target="../tags/tag257.xml"/><Relationship Id="rId7" Type="http://schemas.openxmlformats.org/officeDocument/2006/relationships/tags" Target="../tags/tag261.xml"/><Relationship Id="rId12" Type="http://schemas.openxmlformats.org/officeDocument/2006/relationships/oleObject" Target="../embeddings/oleObject23.bin"/><Relationship Id="rId2" Type="http://schemas.openxmlformats.org/officeDocument/2006/relationships/tags" Target="../tags/tag256.xml"/><Relationship Id="rId1" Type="http://schemas.openxmlformats.org/officeDocument/2006/relationships/vmlDrawing" Target="../drawings/vmlDrawing23.vml"/><Relationship Id="rId6" Type="http://schemas.openxmlformats.org/officeDocument/2006/relationships/tags" Target="../tags/tag260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59.xml"/><Relationship Id="rId10" Type="http://schemas.openxmlformats.org/officeDocument/2006/relationships/tags" Target="../tags/tag264.xml"/><Relationship Id="rId4" Type="http://schemas.openxmlformats.org/officeDocument/2006/relationships/tags" Target="../tags/tag258.xml"/><Relationship Id="rId9" Type="http://schemas.openxmlformats.org/officeDocument/2006/relationships/tags" Target="../tags/tag263.xml"/><Relationship Id="rId1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71.xml"/><Relationship Id="rId13" Type="http://schemas.openxmlformats.org/officeDocument/2006/relationships/image" Target="../media/image1.emf"/><Relationship Id="rId3" Type="http://schemas.openxmlformats.org/officeDocument/2006/relationships/tags" Target="../tags/tag266.xml"/><Relationship Id="rId7" Type="http://schemas.openxmlformats.org/officeDocument/2006/relationships/tags" Target="../tags/tag270.xml"/><Relationship Id="rId12" Type="http://schemas.openxmlformats.org/officeDocument/2006/relationships/oleObject" Target="../embeddings/oleObject24.bin"/><Relationship Id="rId2" Type="http://schemas.openxmlformats.org/officeDocument/2006/relationships/tags" Target="../tags/tag265.xml"/><Relationship Id="rId1" Type="http://schemas.openxmlformats.org/officeDocument/2006/relationships/vmlDrawing" Target="../drawings/vmlDrawing24.vml"/><Relationship Id="rId6" Type="http://schemas.openxmlformats.org/officeDocument/2006/relationships/tags" Target="../tags/tag26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68.xml"/><Relationship Id="rId10" Type="http://schemas.openxmlformats.org/officeDocument/2006/relationships/tags" Target="../tags/tag273.xml"/><Relationship Id="rId4" Type="http://schemas.openxmlformats.org/officeDocument/2006/relationships/tags" Target="../tags/tag267.xml"/><Relationship Id="rId9" Type="http://schemas.openxmlformats.org/officeDocument/2006/relationships/tags" Target="../tags/tag272.xml"/><Relationship Id="rId1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80.xml"/><Relationship Id="rId13" Type="http://schemas.openxmlformats.org/officeDocument/2006/relationships/image" Target="../media/image1.emf"/><Relationship Id="rId3" Type="http://schemas.openxmlformats.org/officeDocument/2006/relationships/tags" Target="../tags/tag275.xml"/><Relationship Id="rId7" Type="http://schemas.openxmlformats.org/officeDocument/2006/relationships/tags" Target="../tags/tag279.xml"/><Relationship Id="rId12" Type="http://schemas.openxmlformats.org/officeDocument/2006/relationships/oleObject" Target="../embeddings/oleObject25.bin"/><Relationship Id="rId2" Type="http://schemas.openxmlformats.org/officeDocument/2006/relationships/tags" Target="../tags/tag274.xml"/><Relationship Id="rId1" Type="http://schemas.openxmlformats.org/officeDocument/2006/relationships/vmlDrawing" Target="../drawings/vmlDrawing25.vml"/><Relationship Id="rId6" Type="http://schemas.openxmlformats.org/officeDocument/2006/relationships/tags" Target="../tags/tag278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77.xml"/><Relationship Id="rId10" Type="http://schemas.openxmlformats.org/officeDocument/2006/relationships/tags" Target="../tags/tag282.xml"/><Relationship Id="rId4" Type="http://schemas.openxmlformats.org/officeDocument/2006/relationships/tags" Target="../tags/tag276.xml"/><Relationship Id="rId9" Type="http://schemas.openxmlformats.org/officeDocument/2006/relationships/tags" Target="../tags/tag281.xml"/><Relationship Id="rId1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89.xml"/><Relationship Id="rId13" Type="http://schemas.openxmlformats.org/officeDocument/2006/relationships/image" Target="../media/image16.emf"/><Relationship Id="rId3" Type="http://schemas.openxmlformats.org/officeDocument/2006/relationships/tags" Target="../tags/tag284.xml"/><Relationship Id="rId7" Type="http://schemas.openxmlformats.org/officeDocument/2006/relationships/tags" Target="../tags/tag288.xml"/><Relationship Id="rId12" Type="http://schemas.openxmlformats.org/officeDocument/2006/relationships/oleObject" Target="../embeddings/oleObject26.bin"/><Relationship Id="rId2" Type="http://schemas.openxmlformats.org/officeDocument/2006/relationships/tags" Target="../tags/tag283.xml"/><Relationship Id="rId1" Type="http://schemas.openxmlformats.org/officeDocument/2006/relationships/vmlDrawing" Target="../drawings/vmlDrawing26.vml"/><Relationship Id="rId6" Type="http://schemas.openxmlformats.org/officeDocument/2006/relationships/tags" Target="../tags/tag28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86.xml"/><Relationship Id="rId10" Type="http://schemas.openxmlformats.org/officeDocument/2006/relationships/tags" Target="../tags/tag291.xml"/><Relationship Id="rId4" Type="http://schemas.openxmlformats.org/officeDocument/2006/relationships/tags" Target="../tags/tag285.xml"/><Relationship Id="rId9" Type="http://schemas.openxmlformats.org/officeDocument/2006/relationships/tags" Target="../tags/tag290.xml"/><Relationship Id="rId1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98.xml"/><Relationship Id="rId13" Type="http://schemas.openxmlformats.org/officeDocument/2006/relationships/image" Target="../media/image1.emf"/><Relationship Id="rId3" Type="http://schemas.openxmlformats.org/officeDocument/2006/relationships/tags" Target="../tags/tag293.xml"/><Relationship Id="rId7" Type="http://schemas.openxmlformats.org/officeDocument/2006/relationships/tags" Target="../tags/tag297.xml"/><Relationship Id="rId12" Type="http://schemas.openxmlformats.org/officeDocument/2006/relationships/oleObject" Target="../embeddings/oleObject27.bin"/><Relationship Id="rId2" Type="http://schemas.openxmlformats.org/officeDocument/2006/relationships/tags" Target="../tags/tag292.xml"/><Relationship Id="rId1" Type="http://schemas.openxmlformats.org/officeDocument/2006/relationships/vmlDrawing" Target="../drawings/vmlDrawing27.vml"/><Relationship Id="rId6" Type="http://schemas.openxmlformats.org/officeDocument/2006/relationships/tags" Target="../tags/tag296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95.xml"/><Relationship Id="rId10" Type="http://schemas.openxmlformats.org/officeDocument/2006/relationships/tags" Target="../tags/tag300.xml"/><Relationship Id="rId4" Type="http://schemas.openxmlformats.org/officeDocument/2006/relationships/tags" Target="../tags/tag294.xml"/><Relationship Id="rId9" Type="http://schemas.openxmlformats.org/officeDocument/2006/relationships/tags" Target="../tags/tag299.xml"/><Relationship Id="rId1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tags" Target="../tags/tag30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01.xml"/><Relationship Id="rId1" Type="http://schemas.openxmlformats.org/officeDocument/2006/relationships/vmlDrawing" Target="../drawings/vmlDrawing28.vml"/><Relationship Id="rId6" Type="http://schemas.openxmlformats.org/officeDocument/2006/relationships/tags" Target="../tags/tag305.xml"/><Relationship Id="rId5" Type="http://schemas.openxmlformats.org/officeDocument/2006/relationships/tags" Target="../tags/tag304.xml"/><Relationship Id="rId10" Type="http://schemas.openxmlformats.org/officeDocument/2006/relationships/image" Target="../media/image2.png"/><Relationship Id="rId4" Type="http://schemas.openxmlformats.org/officeDocument/2006/relationships/tags" Target="../tags/tag303.xml"/><Relationship Id="rId9" Type="http://schemas.openxmlformats.org/officeDocument/2006/relationships/image" Target="../media/image11.emf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tags" Target="../tags/tag307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06.xml"/><Relationship Id="rId1" Type="http://schemas.openxmlformats.org/officeDocument/2006/relationships/vmlDrawing" Target="../drawings/vmlDrawing29.vml"/><Relationship Id="rId6" Type="http://schemas.openxmlformats.org/officeDocument/2006/relationships/tags" Target="../tags/tag310.xml"/><Relationship Id="rId5" Type="http://schemas.openxmlformats.org/officeDocument/2006/relationships/tags" Target="../tags/tag309.xml"/><Relationship Id="rId10" Type="http://schemas.openxmlformats.org/officeDocument/2006/relationships/image" Target="../media/image2.png"/><Relationship Id="rId4" Type="http://schemas.openxmlformats.org/officeDocument/2006/relationships/tags" Target="../tags/tag308.xml"/><Relationship Id="rId9" Type="http://schemas.openxmlformats.org/officeDocument/2006/relationships/image" Target="../media/image11.emf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tags" Target="../tags/tag31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11.xml"/><Relationship Id="rId1" Type="http://schemas.openxmlformats.org/officeDocument/2006/relationships/vmlDrawing" Target="../drawings/vmlDrawing30.vml"/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10" Type="http://schemas.openxmlformats.org/officeDocument/2006/relationships/image" Target="../media/image2.png"/><Relationship Id="rId4" Type="http://schemas.openxmlformats.org/officeDocument/2006/relationships/tags" Target="../tags/tag313.xml"/><Relationship Id="rId9" Type="http://schemas.openxmlformats.org/officeDocument/2006/relationships/image" Target="../media/image11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tags" Target="../tags/tag375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374.xml"/><Relationship Id="rId1" Type="http://schemas.openxmlformats.org/officeDocument/2006/relationships/vmlDrawing" Target="../drawings/vmlDrawing32.vml"/><Relationship Id="rId6" Type="http://schemas.openxmlformats.org/officeDocument/2006/relationships/tags" Target="../tags/tag378.xml"/><Relationship Id="rId11" Type="http://schemas.openxmlformats.org/officeDocument/2006/relationships/image" Target="../media/image13.png"/><Relationship Id="rId5" Type="http://schemas.openxmlformats.org/officeDocument/2006/relationships/tags" Target="../tags/tag377.xml"/><Relationship Id="rId10" Type="http://schemas.openxmlformats.org/officeDocument/2006/relationships/image" Target="../media/image12.png"/><Relationship Id="rId4" Type="http://schemas.openxmlformats.org/officeDocument/2006/relationships/tags" Target="../tags/tag376.xml"/><Relationship Id="rId9" Type="http://schemas.openxmlformats.org/officeDocument/2006/relationships/image" Target="../media/image11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tags" Target="../tags/tag380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379.xml"/><Relationship Id="rId1" Type="http://schemas.openxmlformats.org/officeDocument/2006/relationships/vmlDrawing" Target="../drawings/vmlDrawing33.vml"/><Relationship Id="rId6" Type="http://schemas.openxmlformats.org/officeDocument/2006/relationships/tags" Target="../tags/tag383.xml"/><Relationship Id="rId5" Type="http://schemas.openxmlformats.org/officeDocument/2006/relationships/tags" Target="../tags/tag382.xml"/><Relationship Id="rId10" Type="http://schemas.openxmlformats.org/officeDocument/2006/relationships/image" Target="../media/image2.png"/><Relationship Id="rId4" Type="http://schemas.openxmlformats.org/officeDocument/2006/relationships/tags" Target="../tags/tag381.xml"/><Relationship Id="rId9" Type="http://schemas.openxmlformats.org/officeDocument/2006/relationships/image" Target="../media/image11.emf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390.xml"/><Relationship Id="rId13" Type="http://schemas.openxmlformats.org/officeDocument/2006/relationships/image" Target="../media/image14.png"/><Relationship Id="rId3" Type="http://schemas.openxmlformats.org/officeDocument/2006/relationships/tags" Target="../tags/tag385.xml"/><Relationship Id="rId7" Type="http://schemas.openxmlformats.org/officeDocument/2006/relationships/tags" Target="../tags/tag389.xml"/><Relationship Id="rId12" Type="http://schemas.openxmlformats.org/officeDocument/2006/relationships/image" Target="../media/image11.emf"/><Relationship Id="rId2" Type="http://schemas.openxmlformats.org/officeDocument/2006/relationships/tags" Target="../tags/tag384.xml"/><Relationship Id="rId1" Type="http://schemas.openxmlformats.org/officeDocument/2006/relationships/vmlDrawing" Target="../drawings/vmlDrawing34.vml"/><Relationship Id="rId6" Type="http://schemas.openxmlformats.org/officeDocument/2006/relationships/tags" Target="../tags/tag388.xml"/><Relationship Id="rId11" Type="http://schemas.openxmlformats.org/officeDocument/2006/relationships/oleObject" Target="../embeddings/oleObject34.bin"/><Relationship Id="rId5" Type="http://schemas.openxmlformats.org/officeDocument/2006/relationships/tags" Target="../tags/tag387.xml"/><Relationship Id="rId15" Type="http://schemas.microsoft.com/office/2007/relationships/hdphoto" Target="../media/hdphoto1.wdp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386.xml"/><Relationship Id="rId9" Type="http://schemas.openxmlformats.org/officeDocument/2006/relationships/tags" Target="../tags/tag391.xml"/><Relationship Id="rId14" Type="http://schemas.openxmlformats.org/officeDocument/2006/relationships/image" Target="../media/image15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398.xml"/><Relationship Id="rId13" Type="http://schemas.openxmlformats.org/officeDocument/2006/relationships/image" Target="../media/image15.png"/><Relationship Id="rId3" Type="http://schemas.openxmlformats.org/officeDocument/2006/relationships/tags" Target="../tags/tag393.xml"/><Relationship Id="rId7" Type="http://schemas.openxmlformats.org/officeDocument/2006/relationships/tags" Target="../tags/tag397.xml"/><Relationship Id="rId12" Type="http://schemas.openxmlformats.org/officeDocument/2006/relationships/image" Target="../media/image11.emf"/><Relationship Id="rId2" Type="http://schemas.openxmlformats.org/officeDocument/2006/relationships/tags" Target="../tags/tag392.xml"/><Relationship Id="rId1" Type="http://schemas.openxmlformats.org/officeDocument/2006/relationships/vmlDrawing" Target="../drawings/vmlDrawing35.vml"/><Relationship Id="rId6" Type="http://schemas.openxmlformats.org/officeDocument/2006/relationships/tags" Target="../tags/tag396.xml"/><Relationship Id="rId11" Type="http://schemas.openxmlformats.org/officeDocument/2006/relationships/oleObject" Target="../embeddings/oleObject35.bin"/><Relationship Id="rId5" Type="http://schemas.openxmlformats.org/officeDocument/2006/relationships/tags" Target="../tags/tag395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394.xml"/><Relationship Id="rId9" Type="http://schemas.openxmlformats.org/officeDocument/2006/relationships/tags" Target="../tags/tag399.xml"/><Relationship Id="rId14" Type="http://schemas.microsoft.com/office/2007/relationships/hdphoto" Target="../media/hdphoto1.wdp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406.xml"/><Relationship Id="rId3" Type="http://schemas.openxmlformats.org/officeDocument/2006/relationships/tags" Target="../tags/tag401.xml"/><Relationship Id="rId7" Type="http://schemas.openxmlformats.org/officeDocument/2006/relationships/tags" Target="../tags/tag405.xml"/><Relationship Id="rId2" Type="http://schemas.openxmlformats.org/officeDocument/2006/relationships/tags" Target="../tags/tag400.xml"/><Relationship Id="rId1" Type="http://schemas.openxmlformats.org/officeDocument/2006/relationships/vmlDrawing" Target="../drawings/vmlDrawing36.vml"/><Relationship Id="rId6" Type="http://schemas.openxmlformats.org/officeDocument/2006/relationships/tags" Target="../tags/tag404.xml"/><Relationship Id="rId11" Type="http://schemas.openxmlformats.org/officeDocument/2006/relationships/image" Target="../media/image1.emf"/><Relationship Id="rId5" Type="http://schemas.openxmlformats.org/officeDocument/2006/relationships/tags" Target="../tags/tag403.xml"/><Relationship Id="rId10" Type="http://schemas.openxmlformats.org/officeDocument/2006/relationships/oleObject" Target="../embeddings/oleObject36.bin"/><Relationship Id="rId4" Type="http://schemas.openxmlformats.org/officeDocument/2006/relationships/tags" Target="../tags/tag402.xml"/><Relationship Id="rId9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408.xml"/><Relationship Id="rId7" Type="http://schemas.openxmlformats.org/officeDocument/2006/relationships/tags" Target="../tags/tag412.xml"/><Relationship Id="rId2" Type="http://schemas.openxmlformats.org/officeDocument/2006/relationships/tags" Target="../tags/tag407.xml"/><Relationship Id="rId1" Type="http://schemas.openxmlformats.org/officeDocument/2006/relationships/vmlDrawing" Target="../drawings/vmlDrawing37.vml"/><Relationship Id="rId6" Type="http://schemas.openxmlformats.org/officeDocument/2006/relationships/tags" Target="../tags/tag411.xml"/><Relationship Id="rId5" Type="http://schemas.openxmlformats.org/officeDocument/2006/relationships/tags" Target="../tags/tag410.xml"/><Relationship Id="rId10" Type="http://schemas.openxmlformats.org/officeDocument/2006/relationships/image" Target="../media/image1.emf"/><Relationship Id="rId4" Type="http://schemas.openxmlformats.org/officeDocument/2006/relationships/tags" Target="../tags/tag409.xml"/><Relationship Id="rId9" Type="http://schemas.openxmlformats.org/officeDocument/2006/relationships/oleObject" Target="../embeddings/oleObject37.bin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419.xml"/><Relationship Id="rId13" Type="http://schemas.openxmlformats.org/officeDocument/2006/relationships/image" Target="../media/image1.emf"/><Relationship Id="rId3" Type="http://schemas.openxmlformats.org/officeDocument/2006/relationships/tags" Target="../tags/tag414.xml"/><Relationship Id="rId7" Type="http://schemas.openxmlformats.org/officeDocument/2006/relationships/tags" Target="../tags/tag418.xml"/><Relationship Id="rId12" Type="http://schemas.openxmlformats.org/officeDocument/2006/relationships/oleObject" Target="../embeddings/oleObject38.bin"/><Relationship Id="rId2" Type="http://schemas.openxmlformats.org/officeDocument/2006/relationships/tags" Target="../tags/tag413.xml"/><Relationship Id="rId1" Type="http://schemas.openxmlformats.org/officeDocument/2006/relationships/vmlDrawing" Target="../drawings/vmlDrawing38.vml"/><Relationship Id="rId6" Type="http://schemas.openxmlformats.org/officeDocument/2006/relationships/tags" Target="../tags/tag417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416.xml"/><Relationship Id="rId10" Type="http://schemas.openxmlformats.org/officeDocument/2006/relationships/tags" Target="../tags/tag421.xml"/><Relationship Id="rId4" Type="http://schemas.openxmlformats.org/officeDocument/2006/relationships/tags" Target="../tags/tag415.xml"/><Relationship Id="rId9" Type="http://schemas.openxmlformats.org/officeDocument/2006/relationships/tags" Target="../tags/tag420.xml"/><Relationship Id="rId14" Type="http://schemas.openxmlformats.org/officeDocument/2006/relationships/image" Target="../media/image2.pn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428.xml"/><Relationship Id="rId13" Type="http://schemas.openxmlformats.org/officeDocument/2006/relationships/image" Target="../media/image1.emf"/><Relationship Id="rId3" Type="http://schemas.openxmlformats.org/officeDocument/2006/relationships/tags" Target="../tags/tag423.xml"/><Relationship Id="rId7" Type="http://schemas.openxmlformats.org/officeDocument/2006/relationships/tags" Target="../tags/tag427.xml"/><Relationship Id="rId12" Type="http://schemas.openxmlformats.org/officeDocument/2006/relationships/oleObject" Target="../embeddings/oleObject39.bin"/><Relationship Id="rId2" Type="http://schemas.openxmlformats.org/officeDocument/2006/relationships/tags" Target="../tags/tag422.xml"/><Relationship Id="rId1" Type="http://schemas.openxmlformats.org/officeDocument/2006/relationships/vmlDrawing" Target="../drawings/vmlDrawing39.vml"/><Relationship Id="rId6" Type="http://schemas.openxmlformats.org/officeDocument/2006/relationships/tags" Target="../tags/tag426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425.xml"/><Relationship Id="rId10" Type="http://schemas.openxmlformats.org/officeDocument/2006/relationships/tags" Target="../tags/tag430.xml"/><Relationship Id="rId4" Type="http://schemas.openxmlformats.org/officeDocument/2006/relationships/tags" Target="../tags/tag424.xml"/><Relationship Id="rId9" Type="http://schemas.openxmlformats.org/officeDocument/2006/relationships/tags" Target="../tags/tag429.xml"/><Relationship Id="rId14" Type="http://schemas.openxmlformats.org/officeDocument/2006/relationships/image" Target="../media/image2.pn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437.xml"/><Relationship Id="rId13" Type="http://schemas.openxmlformats.org/officeDocument/2006/relationships/image" Target="../media/image1.emf"/><Relationship Id="rId3" Type="http://schemas.openxmlformats.org/officeDocument/2006/relationships/tags" Target="../tags/tag432.xml"/><Relationship Id="rId7" Type="http://schemas.openxmlformats.org/officeDocument/2006/relationships/tags" Target="../tags/tag436.xml"/><Relationship Id="rId12" Type="http://schemas.openxmlformats.org/officeDocument/2006/relationships/oleObject" Target="../embeddings/oleObject40.bin"/><Relationship Id="rId2" Type="http://schemas.openxmlformats.org/officeDocument/2006/relationships/tags" Target="../tags/tag431.xml"/><Relationship Id="rId1" Type="http://schemas.openxmlformats.org/officeDocument/2006/relationships/vmlDrawing" Target="../drawings/vmlDrawing40.vml"/><Relationship Id="rId6" Type="http://schemas.openxmlformats.org/officeDocument/2006/relationships/tags" Target="../tags/tag435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434.xml"/><Relationship Id="rId10" Type="http://schemas.openxmlformats.org/officeDocument/2006/relationships/tags" Target="../tags/tag439.xml"/><Relationship Id="rId4" Type="http://schemas.openxmlformats.org/officeDocument/2006/relationships/tags" Target="../tags/tag433.xml"/><Relationship Id="rId9" Type="http://schemas.openxmlformats.org/officeDocument/2006/relationships/tags" Target="../tags/tag438.xml"/><Relationship Id="rId14" Type="http://schemas.openxmlformats.org/officeDocument/2006/relationships/image" Target="../media/image2.pn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446.xml"/><Relationship Id="rId13" Type="http://schemas.openxmlformats.org/officeDocument/2006/relationships/image" Target="../media/image16.emf"/><Relationship Id="rId3" Type="http://schemas.openxmlformats.org/officeDocument/2006/relationships/tags" Target="../tags/tag441.xml"/><Relationship Id="rId7" Type="http://schemas.openxmlformats.org/officeDocument/2006/relationships/tags" Target="../tags/tag445.xml"/><Relationship Id="rId12" Type="http://schemas.openxmlformats.org/officeDocument/2006/relationships/oleObject" Target="../embeddings/oleObject41.bin"/><Relationship Id="rId2" Type="http://schemas.openxmlformats.org/officeDocument/2006/relationships/tags" Target="../tags/tag440.xml"/><Relationship Id="rId1" Type="http://schemas.openxmlformats.org/officeDocument/2006/relationships/vmlDrawing" Target="../drawings/vmlDrawing41.vml"/><Relationship Id="rId6" Type="http://schemas.openxmlformats.org/officeDocument/2006/relationships/tags" Target="../tags/tag444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443.xml"/><Relationship Id="rId10" Type="http://schemas.openxmlformats.org/officeDocument/2006/relationships/tags" Target="../tags/tag448.xml"/><Relationship Id="rId4" Type="http://schemas.openxmlformats.org/officeDocument/2006/relationships/tags" Target="../tags/tag442.xml"/><Relationship Id="rId9" Type="http://schemas.openxmlformats.org/officeDocument/2006/relationships/tags" Target="../tags/tag447.xml"/><Relationship Id="rId14" Type="http://schemas.openxmlformats.org/officeDocument/2006/relationships/image" Target="../media/image2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455.xml"/><Relationship Id="rId13" Type="http://schemas.openxmlformats.org/officeDocument/2006/relationships/image" Target="../media/image1.emf"/><Relationship Id="rId3" Type="http://schemas.openxmlformats.org/officeDocument/2006/relationships/tags" Target="../tags/tag450.xml"/><Relationship Id="rId7" Type="http://schemas.openxmlformats.org/officeDocument/2006/relationships/tags" Target="../tags/tag454.xml"/><Relationship Id="rId12" Type="http://schemas.openxmlformats.org/officeDocument/2006/relationships/oleObject" Target="../embeddings/oleObject42.bin"/><Relationship Id="rId2" Type="http://schemas.openxmlformats.org/officeDocument/2006/relationships/tags" Target="../tags/tag449.xml"/><Relationship Id="rId1" Type="http://schemas.openxmlformats.org/officeDocument/2006/relationships/vmlDrawing" Target="../drawings/vmlDrawing42.vml"/><Relationship Id="rId6" Type="http://schemas.openxmlformats.org/officeDocument/2006/relationships/tags" Target="../tags/tag453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452.xml"/><Relationship Id="rId10" Type="http://schemas.openxmlformats.org/officeDocument/2006/relationships/tags" Target="../tags/tag457.xml"/><Relationship Id="rId4" Type="http://schemas.openxmlformats.org/officeDocument/2006/relationships/tags" Target="../tags/tag451.xml"/><Relationship Id="rId9" Type="http://schemas.openxmlformats.org/officeDocument/2006/relationships/tags" Target="../tags/tag456.xml"/><Relationship Id="rId14" Type="http://schemas.openxmlformats.org/officeDocument/2006/relationships/image" Target="../media/image2.pn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tags" Target="../tags/tag459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458.xml"/><Relationship Id="rId1" Type="http://schemas.openxmlformats.org/officeDocument/2006/relationships/vmlDrawing" Target="../drawings/vmlDrawing43.vml"/><Relationship Id="rId6" Type="http://schemas.openxmlformats.org/officeDocument/2006/relationships/tags" Target="../tags/tag462.xml"/><Relationship Id="rId5" Type="http://schemas.openxmlformats.org/officeDocument/2006/relationships/tags" Target="../tags/tag461.xml"/><Relationship Id="rId10" Type="http://schemas.openxmlformats.org/officeDocument/2006/relationships/image" Target="../media/image2.png"/><Relationship Id="rId4" Type="http://schemas.openxmlformats.org/officeDocument/2006/relationships/tags" Target="../tags/tag460.xml"/><Relationship Id="rId9" Type="http://schemas.openxmlformats.org/officeDocument/2006/relationships/image" Target="../media/image11.emf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tags" Target="../tags/tag464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463.xml"/><Relationship Id="rId1" Type="http://schemas.openxmlformats.org/officeDocument/2006/relationships/vmlDrawing" Target="../drawings/vmlDrawing44.vml"/><Relationship Id="rId6" Type="http://schemas.openxmlformats.org/officeDocument/2006/relationships/tags" Target="../tags/tag467.xml"/><Relationship Id="rId5" Type="http://schemas.openxmlformats.org/officeDocument/2006/relationships/tags" Target="../tags/tag466.xml"/><Relationship Id="rId10" Type="http://schemas.openxmlformats.org/officeDocument/2006/relationships/image" Target="../media/image2.png"/><Relationship Id="rId4" Type="http://schemas.openxmlformats.org/officeDocument/2006/relationships/tags" Target="../tags/tag465.xml"/><Relationship Id="rId9" Type="http://schemas.openxmlformats.org/officeDocument/2006/relationships/image" Target="../media/image11.emf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tags" Target="../tags/tag469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468.xml"/><Relationship Id="rId1" Type="http://schemas.openxmlformats.org/officeDocument/2006/relationships/vmlDrawing" Target="../drawings/vmlDrawing45.vml"/><Relationship Id="rId6" Type="http://schemas.openxmlformats.org/officeDocument/2006/relationships/tags" Target="../tags/tag472.xml"/><Relationship Id="rId5" Type="http://schemas.openxmlformats.org/officeDocument/2006/relationships/tags" Target="../tags/tag471.xml"/><Relationship Id="rId10" Type="http://schemas.openxmlformats.org/officeDocument/2006/relationships/image" Target="../media/image2.png"/><Relationship Id="rId4" Type="http://schemas.openxmlformats.org/officeDocument/2006/relationships/tags" Target="../tags/tag470.xml"/><Relationship Id="rId9" Type="http://schemas.openxmlformats.org/officeDocument/2006/relationships/image" Target="../media/image1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69405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1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F1699F4-B25C-450B-8AD5-1CBEF8150CC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ru-RU" sz="38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3" name="Background">
            <a:extLst>
              <a:ext uri="{FF2B5EF4-FFF2-40B4-BE49-F238E27FC236}">
                <a16:creationId xmlns:a16="http://schemas.microsoft.com/office/drawing/2014/main" id="{B5C0A637-E2ED-45BD-B5B9-77EE682028BB}"/>
              </a:ext>
            </a:extLst>
          </p:cNvPr>
          <p:cNvSpPr/>
          <p:nvPr userDrawn="1"/>
        </p:nvSpPr>
        <p:spPr>
          <a:xfrm>
            <a:off x="0" y="0"/>
            <a:ext cx="12192352" cy="6859589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24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47687" y="6220656"/>
            <a:ext cx="6493321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48827" y="4267773"/>
            <a:ext cx="6493321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48828" y="2762451"/>
            <a:ext cx="6493321" cy="116955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38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  <p:pic>
        <p:nvPicPr>
          <p:cNvPr id="9" name="Google Shape;9;p2" descr="Google Shape;9;p2">
            <a:extLst>
              <a:ext uri="{FF2B5EF4-FFF2-40B4-BE49-F238E27FC236}">
                <a16:creationId xmlns:a16="http://schemas.microsoft.com/office/drawing/2014/main" id="{F4033988-325A-4376-BB5A-899A0C2799FF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48828" y="583509"/>
            <a:ext cx="1277181" cy="5147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Google Shape;12;p2" descr="Google Shape;12;p2">
            <a:extLst>
              <a:ext uri="{FF2B5EF4-FFF2-40B4-BE49-F238E27FC236}">
                <a16:creationId xmlns:a16="http://schemas.microsoft.com/office/drawing/2014/main" id="{9DC0288E-4DF2-4EA0-BD72-5518681CBC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 t="1955" r="38972" b="14660"/>
          <a:stretch/>
        </p:blipFill>
        <p:spPr>
          <a:xfrm>
            <a:off x="7937944" y="3175"/>
            <a:ext cx="4254056" cy="68516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89772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E5EE325-B3E9-4A3D-99D2-EE419306B51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ru-RU" sz="38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85" name="Graphic 68">
            <a:extLst>
              <a:ext uri="{FF2B5EF4-FFF2-40B4-BE49-F238E27FC236}">
                <a16:creationId xmlns:a16="http://schemas.microsoft.com/office/drawing/2014/main" id="{51D9C18D-AA49-424F-8C92-0D75E181DD9A}"/>
              </a:ext>
            </a:extLst>
          </p:cNvPr>
          <p:cNvSpPr/>
          <p:nvPr/>
        </p:nvSpPr>
        <p:spPr>
          <a:xfrm>
            <a:off x="444870" y="764072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tx2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1EF6C93-696C-409F-95CC-EB83962751C7}"/>
              </a:ext>
            </a:extLst>
          </p:cNvPr>
          <p:cNvSpPr/>
          <p:nvPr userDrawn="1"/>
        </p:nvSpPr>
        <p:spPr>
          <a:xfrm>
            <a:off x="1798320" y="1438840"/>
            <a:ext cx="9948810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33" name="Google Shape;14;p2" descr="Google Shape;14;p2">
            <a:extLst>
              <a:ext uri="{FF2B5EF4-FFF2-40B4-BE49-F238E27FC236}">
                <a16:creationId xmlns:a16="http://schemas.microsoft.com/office/drawing/2014/main" id="{692AF996-34DD-4A67-B87D-39364242B611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2491741" y="6062708"/>
            <a:ext cx="9145524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algn="r">
              <a:defRPr lang="ru-RU" sz="14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91740" y="4003399"/>
            <a:ext cx="9145524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lang="ru-RU" sz="2000" b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491740" y="2498077"/>
            <a:ext cx="9145524" cy="116955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38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9876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089135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9" name="think-cell Slide" r:id="rId11" imgW="592" imgH="591" progId="TCLayout.ActiveDocument.1">
                  <p:embed/>
                </p:oleObj>
              </mc:Choice>
              <mc:Fallback>
                <p:oleObj name="think-cell Slide" r:id="rId11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22C9D1E-85AA-4997-BE0B-113A1D7263E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24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3" name="Google Shape;72;p10" descr="Google Shape;72;p10">
            <a:extLst>
              <a:ext uri="{FF2B5EF4-FFF2-40B4-BE49-F238E27FC236}">
                <a16:creationId xmlns:a16="http://schemas.microsoft.com/office/drawing/2014/main" id="{3816D516-0B86-47A9-8FF6-3366EBD4B4C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44870" y="764072"/>
            <a:ext cx="4288207" cy="555015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5" y="2763906"/>
            <a:ext cx="4068479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ctr" anchorCtr="0">
            <a:sp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6" y="6514142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2735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96262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3" name="think-cell Slide" r:id="rId11" imgW="592" imgH="591" progId="TCLayout.ActiveDocument.1">
                  <p:embed/>
                </p:oleObj>
              </mc:Choice>
              <mc:Fallback>
                <p:oleObj name="think-cell Slide" r:id="rId11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C87C18F-1301-4995-BA8B-B9B59180E82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24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b" anchorCtr="0">
            <a:no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6" y="6514142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97753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511156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7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7FD260-CF5E-4997-9F58-B2F7F8DCE1C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4814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1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58598C2-B7D4-49CD-A9F8-DBC1F25971F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4" y="226623"/>
            <a:ext cx="11082528" cy="978193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4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72814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5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BA1DAF-5209-452D-A7A3-48513BED89D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DB3340A-E9DE-4442-81BB-7802725122A3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4373879" y="-960120"/>
            <a:ext cx="6858000" cy="8778241"/>
          </a:xfrm>
          <a:custGeom>
            <a:avLst/>
            <a:gdLst>
              <a:gd name="connsiteX0" fmla="*/ 6858000 w 6858000"/>
              <a:gd name="connsiteY0" fmla="*/ 457224 h 8778241"/>
              <a:gd name="connsiteX1" fmla="*/ 6858000 w 6858000"/>
              <a:gd name="connsiteY1" fmla="*/ 8778241 h 8778241"/>
              <a:gd name="connsiteX2" fmla="*/ 6857999 w 6858000"/>
              <a:gd name="connsiteY2" fmla="*/ 8778241 h 8778241"/>
              <a:gd name="connsiteX3" fmla="*/ 2525791 w 6858000"/>
              <a:gd name="connsiteY3" fmla="*/ 8778241 h 8778241"/>
              <a:gd name="connsiteX4" fmla="*/ 0 w 6858000"/>
              <a:gd name="connsiteY4" fmla="*/ 8778241 h 8778241"/>
              <a:gd name="connsiteX5" fmla="*/ 0 w 6858000"/>
              <a:gd name="connsiteY5" fmla="*/ 457224 h 8778241"/>
              <a:gd name="connsiteX6" fmla="*/ 457223 w 6858000"/>
              <a:gd name="connsiteY6" fmla="*/ 1 h 8778241"/>
              <a:gd name="connsiteX7" fmla="*/ 2525791 w 6858000"/>
              <a:gd name="connsiteY7" fmla="*/ 1 h 8778241"/>
              <a:gd name="connsiteX8" fmla="*/ 2525791 w 6858000"/>
              <a:gd name="connsiteY8" fmla="*/ 0 h 8778241"/>
              <a:gd name="connsiteX9" fmla="*/ 6857999 w 6858000"/>
              <a:gd name="connsiteY9" fmla="*/ 1 h 8778241"/>
              <a:gd name="connsiteX10" fmla="*/ 6857999 w 6858000"/>
              <a:gd name="connsiteY10" fmla="*/ 457219 h 877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0" h="8778241">
                <a:moveTo>
                  <a:pt x="6858000" y="457224"/>
                </a:moveTo>
                <a:lnTo>
                  <a:pt x="6858000" y="8778241"/>
                </a:lnTo>
                <a:lnTo>
                  <a:pt x="6857999" y="8778241"/>
                </a:lnTo>
                <a:lnTo>
                  <a:pt x="2525791" y="8778241"/>
                </a:lnTo>
                <a:lnTo>
                  <a:pt x="0" y="8778241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19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i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i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564610"/>
            <a:ext cx="2514600" cy="4924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4. Footnote" hidden="1">
            <a:extLst>
              <a:ext uri="{FF2B5EF4-FFF2-40B4-BE49-F238E27FC236}">
                <a16:creationId xmlns:a16="http://schemas.microsoft.com/office/drawing/2014/main" id="{E91B258C-2CE3-47AD-91B7-5D22A691D52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5. Source" hidden="1">
            <a:extLst>
              <a:ext uri="{FF2B5EF4-FFF2-40B4-BE49-F238E27FC236}">
                <a16:creationId xmlns:a16="http://schemas.microsoft.com/office/drawing/2014/main" id="{9E0E9C24-A775-45BA-A2B2-E9A468FB0E1D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DD6127-86F4-409F-8D46-5CD3A086C45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3069336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14;p2" descr="Google Shape;14;p2">
            <a:extLst>
              <a:ext uri="{FF2B5EF4-FFF2-40B4-BE49-F238E27FC236}">
                <a16:creationId xmlns:a16="http://schemas.microsoft.com/office/drawing/2014/main" id="{A284D5BB-6F01-4D09-B6DA-F1D43E5B2C4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70369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616758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9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9B4C3FF-1D42-419B-97F1-C22D4E39CCF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DBEECC2-3A36-412F-A31C-DEE58CFE91FF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4849369" y="-484632"/>
            <a:ext cx="6858000" cy="7827264"/>
          </a:xfrm>
          <a:custGeom>
            <a:avLst/>
            <a:gdLst>
              <a:gd name="connsiteX0" fmla="*/ 6858000 w 6858000"/>
              <a:gd name="connsiteY0" fmla="*/ 457224 h 7827264"/>
              <a:gd name="connsiteX1" fmla="*/ 6858000 w 6858000"/>
              <a:gd name="connsiteY1" fmla="*/ 7827264 h 7827264"/>
              <a:gd name="connsiteX2" fmla="*/ 0 w 6858000"/>
              <a:gd name="connsiteY2" fmla="*/ 7827263 h 7827264"/>
              <a:gd name="connsiteX3" fmla="*/ 0 w 6858000"/>
              <a:gd name="connsiteY3" fmla="*/ 457224 h 7827264"/>
              <a:gd name="connsiteX4" fmla="*/ 457223 w 6858000"/>
              <a:gd name="connsiteY4" fmla="*/ 1 h 7827264"/>
              <a:gd name="connsiteX5" fmla="*/ 2525791 w 6858000"/>
              <a:gd name="connsiteY5" fmla="*/ 1 h 7827264"/>
              <a:gd name="connsiteX6" fmla="*/ 2525791 w 6858000"/>
              <a:gd name="connsiteY6" fmla="*/ 0 h 7827264"/>
              <a:gd name="connsiteX7" fmla="*/ 6857999 w 6858000"/>
              <a:gd name="connsiteY7" fmla="*/ 1 h 7827264"/>
              <a:gd name="connsiteX8" fmla="*/ 6857999 w 6858000"/>
              <a:gd name="connsiteY8" fmla="*/ 457220 h 7827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7827264">
                <a:moveTo>
                  <a:pt x="6858000" y="457224"/>
                </a:moveTo>
                <a:lnTo>
                  <a:pt x="6858000" y="7827264"/>
                </a:lnTo>
                <a:lnTo>
                  <a:pt x="0" y="7827263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836702"/>
            <a:ext cx="3465576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1FBE24E8-31AF-4C3E-A5B5-E9DFC553F274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7" y="6330793"/>
            <a:ext cx="346557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791DA78-DD6B-4CB7-9030-81E41768DCBD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2"/>
            <a:ext cx="3465575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BC230638-247A-49E2-AF0D-D1DBDBB1CEB8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F1B61C-CA3B-489B-AAE2-6EE6903D545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4020312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91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41532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3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5656633-FD36-48D8-BB61-9B05B4A6498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325A7F3-5F79-43D7-8D2A-FB345FCBC4A4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5713477" y="379477"/>
            <a:ext cx="6858000" cy="6099046"/>
          </a:xfrm>
          <a:custGeom>
            <a:avLst/>
            <a:gdLst>
              <a:gd name="connsiteX0" fmla="*/ 6858000 w 6858000"/>
              <a:gd name="connsiteY0" fmla="*/ 457224 h 6099046"/>
              <a:gd name="connsiteX1" fmla="*/ 6858000 w 6858000"/>
              <a:gd name="connsiteY1" fmla="*/ 6099046 h 6099046"/>
              <a:gd name="connsiteX2" fmla="*/ 0 w 6858000"/>
              <a:gd name="connsiteY2" fmla="*/ 6099046 h 6099046"/>
              <a:gd name="connsiteX3" fmla="*/ 0 w 6858000"/>
              <a:gd name="connsiteY3" fmla="*/ 457224 h 6099046"/>
              <a:gd name="connsiteX4" fmla="*/ 457223 w 6858000"/>
              <a:gd name="connsiteY4" fmla="*/ 0 h 6099046"/>
              <a:gd name="connsiteX5" fmla="*/ 2525791 w 6858000"/>
              <a:gd name="connsiteY5" fmla="*/ 0 h 6099046"/>
              <a:gd name="connsiteX6" fmla="*/ 2525791 w 6858000"/>
              <a:gd name="connsiteY6" fmla="*/ 0 h 6099046"/>
              <a:gd name="connsiteX7" fmla="*/ 6857999 w 6858000"/>
              <a:gd name="connsiteY7" fmla="*/ 0 h 6099046"/>
              <a:gd name="connsiteX8" fmla="*/ 6857999 w 6858000"/>
              <a:gd name="connsiteY8" fmla="*/ 457220 h 609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6099046">
                <a:moveTo>
                  <a:pt x="6858000" y="457224"/>
                </a:moveTo>
                <a:lnTo>
                  <a:pt x="6858000" y="6099046"/>
                </a:lnTo>
                <a:lnTo>
                  <a:pt x="0" y="6099046"/>
                </a:lnTo>
                <a:lnTo>
                  <a:pt x="0" y="457224"/>
                </a:lnTo>
                <a:cubicBezTo>
                  <a:pt x="0" y="204706"/>
                  <a:pt x="204706" y="0"/>
                  <a:pt x="457223" y="0"/>
                </a:cubicBezTo>
                <a:lnTo>
                  <a:pt x="2525791" y="0"/>
                </a:lnTo>
                <a:lnTo>
                  <a:pt x="2525791" y="0"/>
                </a:lnTo>
                <a:lnTo>
                  <a:pt x="6857999" y="0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4736" y="226624"/>
            <a:ext cx="5065776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8596"/>
            <a:ext cx="506577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597DC5CB-D54D-4340-AB36-B256B0AC917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330793"/>
            <a:ext cx="50657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A87378B9-4AD0-4D5D-A5DA-1170C3F12797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2"/>
            <a:ext cx="50657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CEB96B05-B0B3-4E5C-A33B-46EC65A33FB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E9AE5A-C18F-4B8F-8E1B-146F5D7D953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5620512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46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39527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7" name="think-cell Slide" r:id="rId12" imgW="572" imgH="588" progId="TCLayout.ActiveDocument.1">
                  <p:embed/>
                </p:oleObj>
              </mc:Choice>
              <mc:Fallback>
                <p:oleObj name="think-cell Slide" r:id="rId12" imgW="572" imgH="58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5D7A6F7-529E-4718-900A-B338444CFE8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0BD8343-FD25-47CD-B118-5FCF3BF5452E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6582157" y="1248157"/>
            <a:ext cx="6858000" cy="4361687"/>
          </a:xfrm>
          <a:custGeom>
            <a:avLst/>
            <a:gdLst>
              <a:gd name="connsiteX0" fmla="*/ 6858000 w 6858000"/>
              <a:gd name="connsiteY0" fmla="*/ 457224 h 4361687"/>
              <a:gd name="connsiteX1" fmla="*/ 6858000 w 6858000"/>
              <a:gd name="connsiteY1" fmla="*/ 4361687 h 4361687"/>
              <a:gd name="connsiteX2" fmla="*/ 0 w 6858000"/>
              <a:gd name="connsiteY2" fmla="*/ 4361687 h 4361687"/>
              <a:gd name="connsiteX3" fmla="*/ 0 w 6858000"/>
              <a:gd name="connsiteY3" fmla="*/ 457224 h 4361687"/>
              <a:gd name="connsiteX4" fmla="*/ 457223 w 6858000"/>
              <a:gd name="connsiteY4" fmla="*/ 0 h 4361687"/>
              <a:gd name="connsiteX5" fmla="*/ 2525791 w 6858000"/>
              <a:gd name="connsiteY5" fmla="*/ 0 h 4361687"/>
              <a:gd name="connsiteX6" fmla="*/ 6857999 w 6858000"/>
              <a:gd name="connsiteY6" fmla="*/ 0 h 4361687"/>
              <a:gd name="connsiteX7" fmla="*/ 6857999 w 6858000"/>
              <a:gd name="connsiteY7" fmla="*/ 457220 h 4361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361687">
                <a:moveTo>
                  <a:pt x="6858000" y="457224"/>
                </a:moveTo>
                <a:lnTo>
                  <a:pt x="6858000" y="4361687"/>
                </a:lnTo>
                <a:lnTo>
                  <a:pt x="0" y="4361687"/>
                </a:lnTo>
                <a:lnTo>
                  <a:pt x="0" y="457224"/>
                </a:lnTo>
                <a:cubicBezTo>
                  <a:pt x="0" y="204706"/>
                  <a:pt x="204706" y="0"/>
                  <a:pt x="457223" y="0"/>
                </a:cubicBezTo>
                <a:lnTo>
                  <a:pt x="2525791" y="0"/>
                </a:lnTo>
                <a:lnTo>
                  <a:pt x="6857999" y="0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8759C0DC-CA42-4D58-8D3F-AD4C6CAE3A1B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AC3100F-5CEB-4A91-9B1F-8F2834961E6C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EFB5F655-842B-49BF-A98E-1AC692591E8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E5C674-EA08-4D31-AE44-8241308C14A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7522464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39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1397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1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3B3DC578-06AC-48A7-BB88-52A02796DD1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60FE9B9-3A35-4798-957C-D78717BF0635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7057074" y="1724343"/>
            <a:ext cx="6858000" cy="3409317"/>
          </a:xfrm>
          <a:custGeom>
            <a:avLst/>
            <a:gdLst>
              <a:gd name="connsiteX0" fmla="*/ 6858000 w 6858000"/>
              <a:gd name="connsiteY0" fmla="*/ 457225 h 3409317"/>
              <a:gd name="connsiteX1" fmla="*/ 6858000 w 6858000"/>
              <a:gd name="connsiteY1" fmla="*/ 3409317 h 3409317"/>
              <a:gd name="connsiteX2" fmla="*/ 0 w 6858000"/>
              <a:gd name="connsiteY2" fmla="*/ 3409317 h 3409317"/>
              <a:gd name="connsiteX3" fmla="*/ 0 w 6858000"/>
              <a:gd name="connsiteY3" fmla="*/ 457225 h 3409317"/>
              <a:gd name="connsiteX4" fmla="*/ 457223 w 6858000"/>
              <a:gd name="connsiteY4" fmla="*/ 0 h 3409317"/>
              <a:gd name="connsiteX5" fmla="*/ 2525791 w 6858000"/>
              <a:gd name="connsiteY5" fmla="*/ 1 h 3409317"/>
              <a:gd name="connsiteX6" fmla="*/ 6857999 w 6858000"/>
              <a:gd name="connsiteY6" fmla="*/ 1 h 3409317"/>
              <a:gd name="connsiteX7" fmla="*/ 6857999 w 6858000"/>
              <a:gd name="connsiteY7" fmla="*/ 457221 h 3409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3409317">
                <a:moveTo>
                  <a:pt x="6858000" y="457225"/>
                </a:moveTo>
                <a:lnTo>
                  <a:pt x="6858000" y="3409317"/>
                </a:lnTo>
                <a:lnTo>
                  <a:pt x="0" y="3409317"/>
                </a:lnTo>
                <a:lnTo>
                  <a:pt x="0" y="457225"/>
                </a:lnTo>
                <a:cubicBezTo>
                  <a:pt x="0" y="204707"/>
                  <a:pt x="204706" y="0"/>
                  <a:pt x="457223" y="0"/>
                </a:cubicBezTo>
                <a:lnTo>
                  <a:pt x="2525791" y="1"/>
                </a:lnTo>
                <a:lnTo>
                  <a:pt x="6857999" y="1"/>
                </a:lnTo>
                <a:lnTo>
                  <a:pt x="6857999" y="457221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44C30949-359D-483D-8AB0-470F0738EC4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0C638687-9D2C-4819-8EA7-89C77797F3C6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8C6AFBE9-6E44-4376-8141-117DE0A0C50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22C837-C82C-4AE2-AC95-43C7091AC6A7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8473440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861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141925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Graphic 68">
            <a:extLst>
              <a:ext uri="{FF2B5EF4-FFF2-40B4-BE49-F238E27FC236}">
                <a16:creationId xmlns:a16="http://schemas.microsoft.com/office/drawing/2014/main" id="{21DD0495-7000-4A1C-9526-0DAF4743EBA1}"/>
              </a:ext>
            </a:extLst>
          </p:cNvPr>
          <p:cNvSpPr/>
          <p:nvPr userDrawn="1"/>
        </p:nvSpPr>
        <p:spPr>
          <a:xfrm>
            <a:off x="444870" y="764072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gradFill>
            <a:gsLst>
              <a:gs pos="85000">
                <a:schemeClr val="accent1">
                  <a:alpha val="34000"/>
                </a:schemeClr>
              </a:gs>
              <a:gs pos="0">
                <a:srgbClr val="DBE2E9">
                  <a:alpha val="71000"/>
                </a:srgbClr>
              </a:gs>
            </a:gsLst>
            <a:lin ang="5400000" scaled="1"/>
          </a:gra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432F8-1E7D-4AB7-83CA-AD5B72F70E3F}"/>
              </a:ext>
            </a:extLst>
          </p:cNvPr>
          <p:cNvSpPr/>
          <p:nvPr userDrawn="1"/>
        </p:nvSpPr>
        <p:spPr>
          <a:xfrm>
            <a:off x="1798320" y="1438840"/>
            <a:ext cx="9948810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24283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9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67186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062791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3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DE92282-D3D0-474A-96CB-09222543F69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ru-RU" sz="38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1" name="Graphic 68">
            <a:extLst>
              <a:ext uri="{FF2B5EF4-FFF2-40B4-BE49-F238E27FC236}">
                <a16:creationId xmlns:a16="http://schemas.microsoft.com/office/drawing/2014/main" id="{94FB4065-4CF1-4E4A-BE53-B2589C112BD6}"/>
              </a:ext>
            </a:extLst>
          </p:cNvPr>
          <p:cNvSpPr/>
          <p:nvPr userDrawn="1"/>
        </p:nvSpPr>
        <p:spPr>
          <a:xfrm>
            <a:off x="444870" y="764072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tx2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0726E7-5B8E-44B5-8EED-BF082B2F0C43}"/>
              </a:ext>
            </a:extLst>
          </p:cNvPr>
          <p:cNvSpPr/>
          <p:nvPr userDrawn="1"/>
        </p:nvSpPr>
        <p:spPr>
          <a:xfrm>
            <a:off x="1798320" y="1438840"/>
            <a:ext cx="9948810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4. Footnote" hidden="1">
            <a:extLst>
              <a:ext uri="{FF2B5EF4-FFF2-40B4-BE49-F238E27FC236}">
                <a16:creationId xmlns:a16="http://schemas.microsoft.com/office/drawing/2014/main" id="{59A60F0F-7511-49F0-BBCF-2DE6FB5D50AC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724864CF-8CD7-4C9B-9FD5-09CDA7EDF9DB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5" y="6514142"/>
            <a:ext cx="110825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424E4B2-5377-4CD0-911A-315C5F2339D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491740" y="2791344"/>
            <a:ext cx="6988621" cy="5847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38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/>
              <a:t>Спасибо за внимание!</a:t>
            </a:r>
          </a:p>
        </p:txBody>
      </p:sp>
      <p:pic>
        <p:nvPicPr>
          <p:cNvPr id="10" name="Google Shape;14;p2" descr="Google Shape;14;p2">
            <a:extLst>
              <a:ext uri="{FF2B5EF4-FFF2-40B4-BE49-F238E27FC236}">
                <a16:creationId xmlns:a16="http://schemas.microsoft.com/office/drawing/2014/main" id="{EFC24FBB-1B41-476E-AB05-B66EBB04F6D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59EE8-1740-4BF1-B242-3EA3660C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66222-349E-484A-B33B-3A4AF5756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3947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4682716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1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F1699F4-B25C-450B-8AD5-1CBEF8150CC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ru-RU" sz="2684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3" name="Background">
            <a:extLst>
              <a:ext uri="{FF2B5EF4-FFF2-40B4-BE49-F238E27FC236}">
                <a16:creationId xmlns:a16="http://schemas.microsoft.com/office/drawing/2014/main" id="{B5C0A637-E2ED-45BD-B5B9-77EE682028BB}"/>
              </a:ext>
            </a:extLst>
          </p:cNvPr>
          <p:cNvSpPr/>
          <p:nvPr userDrawn="1"/>
        </p:nvSpPr>
        <p:spPr>
          <a:xfrm>
            <a:off x="1" y="1"/>
            <a:ext cx="12192352" cy="6859589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65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47688" y="6220657"/>
            <a:ext cx="6493321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988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48828" y="4267774"/>
            <a:ext cx="6493321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412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48829" y="3105983"/>
            <a:ext cx="6493321" cy="8260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2684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  <p:pic>
        <p:nvPicPr>
          <p:cNvPr id="9" name="Google Shape;9;p2" descr="Google Shape;9;p2">
            <a:extLst>
              <a:ext uri="{FF2B5EF4-FFF2-40B4-BE49-F238E27FC236}">
                <a16:creationId xmlns:a16="http://schemas.microsoft.com/office/drawing/2014/main" id="{F4033988-325A-4376-BB5A-899A0C2799FF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48829" y="583510"/>
            <a:ext cx="1277181" cy="5147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Google Shape;12;p2" descr="Google Shape;12;p2">
            <a:extLst>
              <a:ext uri="{FF2B5EF4-FFF2-40B4-BE49-F238E27FC236}">
                <a16:creationId xmlns:a16="http://schemas.microsoft.com/office/drawing/2014/main" id="{9DC0288E-4DF2-4EA0-BD72-5518681CBC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 t="1955" r="38972" b="14660"/>
          <a:stretch/>
        </p:blipFill>
        <p:spPr>
          <a:xfrm>
            <a:off x="7937945" y="3176"/>
            <a:ext cx="4254056" cy="68516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4012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263595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E5EE325-B3E9-4A3D-99D2-EE419306B51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ru-RU" sz="2684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85" name="Graphic 68">
            <a:extLst>
              <a:ext uri="{FF2B5EF4-FFF2-40B4-BE49-F238E27FC236}">
                <a16:creationId xmlns:a16="http://schemas.microsoft.com/office/drawing/2014/main" id="{51D9C18D-AA49-424F-8C92-0D75E181DD9A}"/>
              </a:ext>
            </a:extLst>
          </p:cNvPr>
          <p:cNvSpPr/>
          <p:nvPr/>
        </p:nvSpPr>
        <p:spPr>
          <a:xfrm>
            <a:off x="444870" y="764073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accent4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271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1EF6C93-696C-409F-95CC-EB83962751C7}"/>
              </a:ext>
            </a:extLst>
          </p:cNvPr>
          <p:cNvSpPr/>
          <p:nvPr userDrawn="1"/>
        </p:nvSpPr>
        <p:spPr>
          <a:xfrm>
            <a:off x="1798320" y="1438840"/>
            <a:ext cx="9948809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12"/>
              </a:spcBef>
              <a:spcAft>
                <a:spcPts val="212"/>
              </a:spcAft>
            </a:pPr>
            <a:endParaRPr lang="ru-RU" sz="113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33" name="Google Shape;14;p2" descr="Google Shape;14;p2">
            <a:extLst>
              <a:ext uri="{FF2B5EF4-FFF2-40B4-BE49-F238E27FC236}">
                <a16:creationId xmlns:a16="http://schemas.microsoft.com/office/drawing/2014/main" id="{692AF996-34DD-4A67-B87D-39364242B611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2491742" y="6062709"/>
            <a:ext cx="9145524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algn="r">
              <a:defRPr lang="ru-RU" sz="988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91741" y="4003400"/>
            <a:ext cx="9145524" cy="2173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lang="ru-RU" sz="1412" b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491741" y="2841609"/>
            <a:ext cx="9145524" cy="8260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2684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851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9070679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9" name="think-cell Slide" r:id="rId11" imgW="592" imgH="591" progId="TCLayout.ActiveDocument.1">
                  <p:embed/>
                </p:oleObj>
              </mc:Choice>
              <mc:Fallback>
                <p:oleObj name="think-cell Slide" r:id="rId11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22C9D1E-85AA-4997-BE0B-113A1D7263E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65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3" name="Google Shape;72;p10" descr="Google Shape;72;p10">
            <a:extLst>
              <a:ext uri="{FF2B5EF4-FFF2-40B4-BE49-F238E27FC236}">
                <a16:creationId xmlns:a16="http://schemas.microsoft.com/office/drawing/2014/main" id="{3816D516-0B86-47A9-8FF6-3366EBD4B4C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44870" y="764072"/>
            <a:ext cx="4288208" cy="5550154"/>
          </a:xfrm>
          <a:prstGeom prst="rect">
            <a:avLst/>
          </a:prstGeom>
          <a:noFill/>
          <a:ln w="12700">
            <a:miter lim="400000"/>
          </a:ln>
        </p:spPr>
      </p:pic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982971"/>
            <a:ext cx="4068479" cy="23897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ctr" anchorCtr="0">
            <a:sp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7" y="6514142"/>
            <a:ext cx="7277861" cy="8694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008439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6167678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3" name="think-cell Slide" r:id="rId11" imgW="592" imgH="591" progId="TCLayout.ActiveDocument.1">
                  <p:embed/>
                </p:oleObj>
              </mc:Choice>
              <mc:Fallback>
                <p:oleObj name="think-cell Slide" r:id="rId11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C87C18F-1301-4995-BA8B-B9B59180E82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65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b" anchorCtr="0">
            <a:no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7" y="6514142"/>
            <a:ext cx="7277861" cy="8694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062311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2200269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7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7FD260-CF5E-4997-9F58-B2F7F8DCE1C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8" y="958598"/>
            <a:ext cx="11082528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31296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565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431296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565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424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0753927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1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58598C2-B7D4-49CD-A9F8-DBC1F25971F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4" y="226623"/>
            <a:ext cx="11082528" cy="978194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31296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565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431296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565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7466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30977106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5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BA1DAF-5209-452D-A7A3-48513BED89D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DB3340A-E9DE-4442-81BB-7802725122A3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4373879" y="-960118"/>
            <a:ext cx="6858000" cy="8778241"/>
          </a:xfrm>
          <a:custGeom>
            <a:avLst/>
            <a:gdLst>
              <a:gd name="connsiteX0" fmla="*/ 6858000 w 6858000"/>
              <a:gd name="connsiteY0" fmla="*/ 457224 h 8778241"/>
              <a:gd name="connsiteX1" fmla="*/ 6858000 w 6858000"/>
              <a:gd name="connsiteY1" fmla="*/ 8778241 h 8778241"/>
              <a:gd name="connsiteX2" fmla="*/ 6857999 w 6858000"/>
              <a:gd name="connsiteY2" fmla="*/ 8778241 h 8778241"/>
              <a:gd name="connsiteX3" fmla="*/ 2525791 w 6858000"/>
              <a:gd name="connsiteY3" fmla="*/ 8778241 h 8778241"/>
              <a:gd name="connsiteX4" fmla="*/ 0 w 6858000"/>
              <a:gd name="connsiteY4" fmla="*/ 8778241 h 8778241"/>
              <a:gd name="connsiteX5" fmla="*/ 0 w 6858000"/>
              <a:gd name="connsiteY5" fmla="*/ 457224 h 8778241"/>
              <a:gd name="connsiteX6" fmla="*/ 457223 w 6858000"/>
              <a:gd name="connsiteY6" fmla="*/ 1 h 8778241"/>
              <a:gd name="connsiteX7" fmla="*/ 2525791 w 6858000"/>
              <a:gd name="connsiteY7" fmla="*/ 1 h 8778241"/>
              <a:gd name="connsiteX8" fmla="*/ 2525791 w 6858000"/>
              <a:gd name="connsiteY8" fmla="*/ 0 h 8778241"/>
              <a:gd name="connsiteX9" fmla="*/ 6857999 w 6858000"/>
              <a:gd name="connsiteY9" fmla="*/ 1 h 8778241"/>
              <a:gd name="connsiteX10" fmla="*/ 6857999 w 6858000"/>
              <a:gd name="connsiteY10" fmla="*/ 457219 h 877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0" h="8778241">
                <a:moveTo>
                  <a:pt x="6858000" y="457224"/>
                </a:moveTo>
                <a:lnTo>
                  <a:pt x="6858000" y="8778241"/>
                </a:lnTo>
                <a:lnTo>
                  <a:pt x="6857999" y="8778241"/>
                </a:lnTo>
                <a:lnTo>
                  <a:pt x="2525791" y="8778241"/>
                </a:lnTo>
                <a:lnTo>
                  <a:pt x="0" y="8778241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19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i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i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1553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564610"/>
            <a:ext cx="2514600" cy="4924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6" y="41598"/>
            <a:ext cx="2514601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4. Footnote" hidden="1">
            <a:extLst>
              <a:ext uri="{FF2B5EF4-FFF2-40B4-BE49-F238E27FC236}">
                <a16:creationId xmlns:a16="http://schemas.microsoft.com/office/drawing/2014/main" id="{E91B258C-2CE3-47AD-91B7-5D22A691D52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5. Source" hidden="1">
            <a:extLst>
              <a:ext uri="{FF2B5EF4-FFF2-40B4-BE49-F238E27FC236}">
                <a16:creationId xmlns:a16="http://schemas.microsoft.com/office/drawing/2014/main" id="{9E0E9C24-A775-45BA-A2B2-E9A468FB0E1D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3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DD6127-86F4-409F-8D46-5CD3A086C45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3069337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14;p2" descr="Google Shape;14;p2">
            <a:extLst>
              <a:ext uri="{FF2B5EF4-FFF2-40B4-BE49-F238E27FC236}">
                <a16:creationId xmlns:a16="http://schemas.microsoft.com/office/drawing/2014/main" id="{A284D5BB-6F01-4D09-B6DA-F1D43E5B2C4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83942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995380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9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9B4C3FF-1D42-419B-97F1-C22D4E39CCF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DBEECC2-3A36-412F-A31C-DEE58CFE91FF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4849369" y="-484632"/>
            <a:ext cx="6858000" cy="7827264"/>
          </a:xfrm>
          <a:custGeom>
            <a:avLst/>
            <a:gdLst>
              <a:gd name="connsiteX0" fmla="*/ 6858000 w 6858000"/>
              <a:gd name="connsiteY0" fmla="*/ 457224 h 7827264"/>
              <a:gd name="connsiteX1" fmla="*/ 6858000 w 6858000"/>
              <a:gd name="connsiteY1" fmla="*/ 7827264 h 7827264"/>
              <a:gd name="connsiteX2" fmla="*/ 0 w 6858000"/>
              <a:gd name="connsiteY2" fmla="*/ 7827263 h 7827264"/>
              <a:gd name="connsiteX3" fmla="*/ 0 w 6858000"/>
              <a:gd name="connsiteY3" fmla="*/ 457224 h 7827264"/>
              <a:gd name="connsiteX4" fmla="*/ 457223 w 6858000"/>
              <a:gd name="connsiteY4" fmla="*/ 1 h 7827264"/>
              <a:gd name="connsiteX5" fmla="*/ 2525791 w 6858000"/>
              <a:gd name="connsiteY5" fmla="*/ 1 h 7827264"/>
              <a:gd name="connsiteX6" fmla="*/ 2525791 w 6858000"/>
              <a:gd name="connsiteY6" fmla="*/ 0 h 7827264"/>
              <a:gd name="connsiteX7" fmla="*/ 6857999 w 6858000"/>
              <a:gd name="connsiteY7" fmla="*/ 1 h 7827264"/>
              <a:gd name="connsiteX8" fmla="*/ 6857999 w 6858000"/>
              <a:gd name="connsiteY8" fmla="*/ 457220 h 7827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7827264">
                <a:moveTo>
                  <a:pt x="6858000" y="457224"/>
                </a:moveTo>
                <a:lnTo>
                  <a:pt x="6858000" y="7827264"/>
                </a:lnTo>
                <a:lnTo>
                  <a:pt x="0" y="7827263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5" y="3274834"/>
            <a:ext cx="3465577" cy="23897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564611"/>
            <a:ext cx="34655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6" y="41598"/>
            <a:ext cx="3465577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1FBE24E8-31AF-4C3E-A5B5-E9DFC553F274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8" y="6330793"/>
            <a:ext cx="346557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791DA78-DD6B-4CB7-9030-81E41768DCBD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7" y="6514143"/>
            <a:ext cx="346557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BC230638-247A-49E2-AF0D-D1DBDBB1CEB8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F1B61C-CA3B-489B-AAE2-6EE6903D545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4020312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687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5836664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3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5656633-FD36-48D8-BB61-9B05B4A6498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325A7F3-5F79-43D7-8D2A-FB345FCBC4A4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5713477" y="379477"/>
            <a:ext cx="6858000" cy="6099047"/>
          </a:xfrm>
          <a:custGeom>
            <a:avLst/>
            <a:gdLst>
              <a:gd name="connsiteX0" fmla="*/ 6858000 w 6858000"/>
              <a:gd name="connsiteY0" fmla="*/ 457224 h 6099046"/>
              <a:gd name="connsiteX1" fmla="*/ 6858000 w 6858000"/>
              <a:gd name="connsiteY1" fmla="*/ 6099046 h 6099046"/>
              <a:gd name="connsiteX2" fmla="*/ 0 w 6858000"/>
              <a:gd name="connsiteY2" fmla="*/ 6099046 h 6099046"/>
              <a:gd name="connsiteX3" fmla="*/ 0 w 6858000"/>
              <a:gd name="connsiteY3" fmla="*/ 457224 h 6099046"/>
              <a:gd name="connsiteX4" fmla="*/ 457223 w 6858000"/>
              <a:gd name="connsiteY4" fmla="*/ 0 h 6099046"/>
              <a:gd name="connsiteX5" fmla="*/ 2525791 w 6858000"/>
              <a:gd name="connsiteY5" fmla="*/ 0 h 6099046"/>
              <a:gd name="connsiteX6" fmla="*/ 2525791 w 6858000"/>
              <a:gd name="connsiteY6" fmla="*/ 0 h 6099046"/>
              <a:gd name="connsiteX7" fmla="*/ 6857999 w 6858000"/>
              <a:gd name="connsiteY7" fmla="*/ 0 h 6099046"/>
              <a:gd name="connsiteX8" fmla="*/ 6857999 w 6858000"/>
              <a:gd name="connsiteY8" fmla="*/ 457220 h 609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6099046">
                <a:moveTo>
                  <a:pt x="6858000" y="457224"/>
                </a:moveTo>
                <a:lnTo>
                  <a:pt x="6858000" y="6099046"/>
                </a:lnTo>
                <a:lnTo>
                  <a:pt x="0" y="6099046"/>
                </a:lnTo>
                <a:lnTo>
                  <a:pt x="0" y="457224"/>
                </a:lnTo>
                <a:cubicBezTo>
                  <a:pt x="0" y="204706"/>
                  <a:pt x="204706" y="0"/>
                  <a:pt x="457223" y="0"/>
                </a:cubicBezTo>
                <a:lnTo>
                  <a:pt x="2525791" y="0"/>
                </a:lnTo>
                <a:lnTo>
                  <a:pt x="2525791" y="0"/>
                </a:lnTo>
                <a:lnTo>
                  <a:pt x="6857999" y="0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4737" y="226624"/>
            <a:ext cx="5065775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7" y="958598"/>
            <a:ext cx="5065775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597DC5CB-D54D-4340-AB36-B256B0AC917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7" y="6330793"/>
            <a:ext cx="506577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A87378B9-4AD0-4D5D-A5DA-1170C3F12797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7" y="6514143"/>
            <a:ext cx="5065775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CEB96B05-B0B3-4E5C-A33B-46EC65A33FB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E9AE5A-C18F-4B8F-8E1B-146F5D7D953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5620512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6072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968939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27" name="think-cell Slide" r:id="rId12" imgW="572" imgH="588" progId="TCLayout.ActiveDocument.1">
                  <p:embed/>
                </p:oleObj>
              </mc:Choice>
              <mc:Fallback>
                <p:oleObj name="think-cell Slide" r:id="rId12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5D7A6F7-529E-4718-900A-B338444CFE8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84155C-4B2B-4514-8C24-2C0FD54F9DD0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6582157" y="1248156"/>
            <a:ext cx="6858000" cy="4361688"/>
          </a:xfrm>
          <a:custGeom>
            <a:avLst/>
            <a:gdLst>
              <a:gd name="connsiteX0" fmla="*/ 6858000 w 6858000"/>
              <a:gd name="connsiteY0" fmla="*/ 639028 h 4361688"/>
              <a:gd name="connsiteX1" fmla="*/ 6858000 w 6858000"/>
              <a:gd name="connsiteY1" fmla="*/ 4361688 h 4361688"/>
              <a:gd name="connsiteX2" fmla="*/ 0 w 6858000"/>
              <a:gd name="connsiteY2" fmla="*/ 4361688 h 4361688"/>
              <a:gd name="connsiteX3" fmla="*/ 0 w 6858000"/>
              <a:gd name="connsiteY3" fmla="*/ 639028 h 4361688"/>
              <a:gd name="connsiteX4" fmla="*/ 457223 w 6858000"/>
              <a:gd name="connsiteY4" fmla="*/ 0 h 4361688"/>
              <a:gd name="connsiteX5" fmla="*/ 2525791 w 6858000"/>
              <a:gd name="connsiteY5" fmla="*/ 0 h 4361688"/>
              <a:gd name="connsiteX6" fmla="*/ 6857999 w 6858000"/>
              <a:gd name="connsiteY6" fmla="*/ 0 h 4361688"/>
              <a:gd name="connsiteX7" fmla="*/ 6857999 w 6858000"/>
              <a:gd name="connsiteY7" fmla="*/ 639022 h 4361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361688">
                <a:moveTo>
                  <a:pt x="6858000" y="639028"/>
                </a:moveTo>
                <a:lnTo>
                  <a:pt x="6858000" y="4361688"/>
                </a:lnTo>
                <a:lnTo>
                  <a:pt x="0" y="4361688"/>
                </a:lnTo>
                <a:lnTo>
                  <a:pt x="0" y="639028"/>
                </a:lnTo>
                <a:cubicBezTo>
                  <a:pt x="0" y="286102"/>
                  <a:pt x="204706" y="0"/>
                  <a:pt x="457223" y="0"/>
                </a:cubicBezTo>
                <a:lnTo>
                  <a:pt x="2525791" y="0"/>
                </a:lnTo>
                <a:lnTo>
                  <a:pt x="6857999" y="0"/>
                </a:lnTo>
                <a:lnTo>
                  <a:pt x="6857999" y="639022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8598"/>
            <a:ext cx="6967728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8759C0DC-CA42-4D58-8D3F-AD4C6CAE3A1B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AC3100F-5CEB-4A91-9B1F-8F2834961E6C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3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EFB5F655-842B-49BF-A98E-1AC692591E8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E5C674-EA08-4D31-AE44-8241308C14A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7522464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4330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2545380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1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3B3DC578-06AC-48A7-BB88-52A02796DD1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60FE9B9-3A35-4798-957C-D78717BF0635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7057074" y="1724343"/>
            <a:ext cx="6858000" cy="3409317"/>
          </a:xfrm>
          <a:custGeom>
            <a:avLst/>
            <a:gdLst>
              <a:gd name="connsiteX0" fmla="*/ 6858000 w 6858000"/>
              <a:gd name="connsiteY0" fmla="*/ 457225 h 3409317"/>
              <a:gd name="connsiteX1" fmla="*/ 6858000 w 6858000"/>
              <a:gd name="connsiteY1" fmla="*/ 3409317 h 3409317"/>
              <a:gd name="connsiteX2" fmla="*/ 0 w 6858000"/>
              <a:gd name="connsiteY2" fmla="*/ 3409317 h 3409317"/>
              <a:gd name="connsiteX3" fmla="*/ 0 w 6858000"/>
              <a:gd name="connsiteY3" fmla="*/ 457225 h 3409317"/>
              <a:gd name="connsiteX4" fmla="*/ 457223 w 6858000"/>
              <a:gd name="connsiteY4" fmla="*/ 0 h 3409317"/>
              <a:gd name="connsiteX5" fmla="*/ 2525791 w 6858000"/>
              <a:gd name="connsiteY5" fmla="*/ 1 h 3409317"/>
              <a:gd name="connsiteX6" fmla="*/ 6857999 w 6858000"/>
              <a:gd name="connsiteY6" fmla="*/ 1 h 3409317"/>
              <a:gd name="connsiteX7" fmla="*/ 6857999 w 6858000"/>
              <a:gd name="connsiteY7" fmla="*/ 457221 h 3409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3409317">
                <a:moveTo>
                  <a:pt x="6858000" y="457225"/>
                </a:moveTo>
                <a:lnTo>
                  <a:pt x="6858000" y="3409317"/>
                </a:lnTo>
                <a:lnTo>
                  <a:pt x="0" y="3409317"/>
                </a:lnTo>
                <a:lnTo>
                  <a:pt x="0" y="457225"/>
                </a:lnTo>
                <a:cubicBezTo>
                  <a:pt x="0" y="204707"/>
                  <a:pt x="204706" y="0"/>
                  <a:pt x="457223" y="0"/>
                </a:cubicBezTo>
                <a:lnTo>
                  <a:pt x="2525791" y="1"/>
                </a:lnTo>
                <a:lnTo>
                  <a:pt x="6857999" y="1"/>
                </a:lnTo>
                <a:lnTo>
                  <a:pt x="6857999" y="457221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noProof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noProof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8598"/>
            <a:ext cx="7918704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44C30949-359D-483D-8AB0-470F0738EC4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0C638687-9D2C-4819-8EA7-89C77797F3C6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3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8C6AFBE9-6E44-4376-8141-117DE0A0C50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22C837-C82C-4AE2-AC95-43C7091AC6A7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8473441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5883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4429107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Graphic 68">
            <a:extLst>
              <a:ext uri="{FF2B5EF4-FFF2-40B4-BE49-F238E27FC236}">
                <a16:creationId xmlns:a16="http://schemas.microsoft.com/office/drawing/2014/main" id="{21DD0495-7000-4A1C-9526-0DAF4743EBA1}"/>
              </a:ext>
            </a:extLst>
          </p:cNvPr>
          <p:cNvSpPr/>
          <p:nvPr userDrawn="1"/>
        </p:nvSpPr>
        <p:spPr>
          <a:xfrm>
            <a:off x="444870" y="764073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accent4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271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432F8-1E7D-4AB7-83CA-AD5B72F70E3F}"/>
              </a:ext>
            </a:extLst>
          </p:cNvPr>
          <p:cNvSpPr/>
          <p:nvPr userDrawn="1"/>
        </p:nvSpPr>
        <p:spPr>
          <a:xfrm>
            <a:off x="1798320" y="1438840"/>
            <a:ext cx="9948809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12"/>
              </a:spcBef>
              <a:spcAft>
                <a:spcPts val="212"/>
              </a:spcAft>
            </a:pPr>
            <a:endParaRPr lang="ru-RU" sz="113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69395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183348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99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43775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2021241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3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DE92282-D3D0-474A-96CB-09222543F69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ru-RU" sz="2684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1" name="Graphic 68">
            <a:extLst>
              <a:ext uri="{FF2B5EF4-FFF2-40B4-BE49-F238E27FC236}">
                <a16:creationId xmlns:a16="http://schemas.microsoft.com/office/drawing/2014/main" id="{94FB4065-4CF1-4E4A-BE53-B2589C112BD6}"/>
              </a:ext>
            </a:extLst>
          </p:cNvPr>
          <p:cNvSpPr/>
          <p:nvPr userDrawn="1"/>
        </p:nvSpPr>
        <p:spPr>
          <a:xfrm>
            <a:off x="444870" y="764073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accent4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271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0726E7-5B8E-44B5-8EED-BF082B2F0C43}"/>
              </a:ext>
            </a:extLst>
          </p:cNvPr>
          <p:cNvSpPr/>
          <p:nvPr userDrawn="1"/>
        </p:nvSpPr>
        <p:spPr>
          <a:xfrm>
            <a:off x="1798320" y="1438840"/>
            <a:ext cx="9948809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12"/>
              </a:spcBef>
              <a:spcAft>
                <a:spcPts val="212"/>
              </a:spcAft>
            </a:pPr>
            <a:endParaRPr lang="ru-RU" sz="113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4. Footnote" hidden="1">
            <a:extLst>
              <a:ext uri="{FF2B5EF4-FFF2-40B4-BE49-F238E27FC236}">
                <a16:creationId xmlns:a16="http://schemas.microsoft.com/office/drawing/2014/main" id="{59A60F0F-7511-49F0-BBCF-2DE6FB5D50AC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8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724864CF-8CD7-4C9B-9FD5-09CDA7EDF9DB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5" y="6514143"/>
            <a:ext cx="110825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424E4B2-5377-4CD0-911A-315C5F2339D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491741" y="2963111"/>
            <a:ext cx="6988621" cy="41301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2684" dirty="0">
                <a:solidFill>
                  <a:schemeClr val="accent4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/>
              <a:t>Спасибо за внимание!</a:t>
            </a:r>
          </a:p>
        </p:txBody>
      </p:sp>
      <p:pic>
        <p:nvPicPr>
          <p:cNvPr id="10" name="Google Shape;14;p2" descr="Google Shape;14;p2">
            <a:extLst>
              <a:ext uri="{FF2B5EF4-FFF2-40B4-BE49-F238E27FC236}">
                <a16:creationId xmlns:a16="http://schemas.microsoft.com/office/drawing/2014/main" id="{EFC24FBB-1B41-476E-AB05-B66EBB04F6D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25888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8383265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1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F1699F4-B25C-450B-8AD5-1CBEF8150CC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ru-RU" sz="2684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3" name="Background">
            <a:extLst>
              <a:ext uri="{FF2B5EF4-FFF2-40B4-BE49-F238E27FC236}">
                <a16:creationId xmlns:a16="http://schemas.microsoft.com/office/drawing/2014/main" id="{B5C0A637-E2ED-45BD-B5B9-77EE682028BB}"/>
              </a:ext>
            </a:extLst>
          </p:cNvPr>
          <p:cNvSpPr/>
          <p:nvPr userDrawn="1"/>
        </p:nvSpPr>
        <p:spPr>
          <a:xfrm>
            <a:off x="1" y="1"/>
            <a:ext cx="12192352" cy="6859589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65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47688" y="6220657"/>
            <a:ext cx="6493321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988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48828" y="4267774"/>
            <a:ext cx="6493321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412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48829" y="3105983"/>
            <a:ext cx="6493321" cy="8260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2684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  <p:pic>
        <p:nvPicPr>
          <p:cNvPr id="9" name="Google Shape;9;p2" descr="Google Shape;9;p2">
            <a:extLst>
              <a:ext uri="{FF2B5EF4-FFF2-40B4-BE49-F238E27FC236}">
                <a16:creationId xmlns:a16="http://schemas.microsoft.com/office/drawing/2014/main" id="{F4033988-325A-4376-BB5A-899A0C2799FF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48829" y="583510"/>
            <a:ext cx="1277181" cy="5147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Google Shape;12;p2" descr="Google Shape;12;p2">
            <a:extLst>
              <a:ext uri="{FF2B5EF4-FFF2-40B4-BE49-F238E27FC236}">
                <a16:creationId xmlns:a16="http://schemas.microsoft.com/office/drawing/2014/main" id="{9DC0288E-4DF2-4EA0-BD72-5518681CBC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 t="1955" r="38972" b="14660"/>
          <a:stretch/>
        </p:blipFill>
        <p:spPr>
          <a:xfrm>
            <a:off x="7937945" y="3176"/>
            <a:ext cx="4254056" cy="68516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396416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054163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9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E5EE325-B3E9-4A3D-99D2-EE419306B51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ru-RU" sz="2684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85" name="Graphic 68">
            <a:extLst>
              <a:ext uri="{FF2B5EF4-FFF2-40B4-BE49-F238E27FC236}">
                <a16:creationId xmlns:a16="http://schemas.microsoft.com/office/drawing/2014/main" id="{51D9C18D-AA49-424F-8C92-0D75E181DD9A}"/>
              </a:ext>
            </a:extLst>
          </p:cNvPr>
          <p:cNvSpPr/>
          <p:nvPr/>
        </p:nvSpPr>
        <p:spPr>
          <a:xfrm>
            <a:off x="444870" y="764073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accent4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271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1EF6C93-696C-409F-95CC-EB83962751C7}"/>
              </a:ext>
            </a:extLst>
          </p:cNvPr>
          <p:cNvSpPr/>
          <p:nvPr userDrawn="1"/>
        </p:nvSpPr>
        <p:spPr>
          <a:xfrm>
            <a:off x="1798320" y="1438840"/>
            <a:ext cx="9948809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12"/>
              </a:spcBef>
              <a:spcAft>
                <a:spcPts val="212"/>
              </a:spcAft>
            </a:pPr>
            <a:endParaRPr lang="ru-RU" sz="113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33" name="Google Shape;14;p2" descr="Google Shape;14;p2">
            <a:extLst>
              <a:ext uri="{FF2B5EF4-FFF2-40B4-BE49-F238E27FC236}">
                <a16:creationId xmlns:a16="http://schemas.microsoft.com/office/drawing/2014/main" id="{692AF996-34DD-4A67-B87D-39364242B611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2491742" y="6062709"/>
            <a:ext cx="9145524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algn="r">
              <a:defRPr lang="ru-RU" sz="988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91741" y="4003400"/>
            <a:ext cx="9145524" cy="2173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lang="ru-RU" sz="1412" b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491741" y="2841609"/>
            <a:ext cx="9145524" cy="8260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2684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01954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2378826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19" name="think-cell Slide" r:id="rId11" imgW="592" imgH="591" progId="TCLayout.ActiveDocument.1">
                  <p:embed/>
                </p:oleObj>
              </mc:Choice>
              <mc:Fallback>
                <p:oleObj name="think-cell Slide" r:id="rId11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22C9D1E-85AA-4997-BE0B-113A1D7263E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65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3" name="Google Shape;72;p10" descr="Google Shape;72;p10">
            <a:extLst>
              <a:ext uri="{FF2B5EF4-FFF2-40B4-BE49-F238E27FC236}">
                <a16:creationId xmlns:a16="http://schemas.microsoft.com/office/drawing/2014/main" id="{3816D516-0B86-47A9-8FF6-3366EBD4B4C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44870" y="764072"/>
            <a:ext cx="4288208" cy="5550154"/>
          </a:xfrm>
          <a:prstGeom prst="rect">
            <a:avLst/>
          </a:prstGeom>
          <a:noFill/>
          <a:ln w="12700">
            <a:miter lim="400000"/>
          </a:ln>
        </p:spPr>
      </p:pic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982971"/>
            <a:ext cx="4068479" cy="23897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ctr" anchorCtr="0">
            <a:sp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7" y="6514142"/>
            <a:ext cx="7277861" cy="8694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135805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85269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3" name="think-cell Slide" r:id="rId11" imgW="592" imgH="591" progId="TCLayout.ActiveDocument.1">
                  <p:embed/>
                </p:oleObj>
              </mc:Choice>
              <mc:Fallback>
                <p:oleObj name="think-cell Slide" r:id="rId11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C87C18F-1301-4995-BA8B-B9B59180E82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65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b" anchorCtr="0">
            <a:no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7" y="6514142"/>
            <a:ext cx="7277861" cy="8694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081444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951153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7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7FD260-CF5E-4997-9F58-B2F7F8DCE1C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8" y="958598"/>
            <a:ext cx="11082528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31296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565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431296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565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25159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2006546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1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58598C2-B7D4-49CD-A9F8-DBC1F25971F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4" y="226623"/>
            <a:ext cx="11082528" cy="978194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31296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565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431296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565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73155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6536919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15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BA1DAF-5209-452D-A7A3-48513BED89D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DB3340A-E9DE-4442-81BB-7802725122A3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4373879" y="-960118"/>
            <a:ext cx="6858000" cy="8778241"/>
          </a:xfrm>
          <a:custGeom>
            <a:avLst/>
            <a:gdLst>
              <a:gd name="connsiteX0" fmla="*/ 6858000 w 6858000"/>
              <a:gd name="connsiteY0" fmla="*/ 457224 h 8778241"/>
              <a:gd name="connsiteX1" fmla="*/ 6858000 w 6858000"/>
              <a:gd name="connsiteY1" fmla="*/ 8778241 h 8778241"/>
              <a:gd name="connsiteX2" fmla="*/ 6857999 w 6858000"/>
              <a:gd name="connsiteY2" fmla="*/ 8778241 h 8778241"/>
              <a:gd name="connsiteX3" fmla="*/ 2525791 w 6858000"/>
              <a:gd name="connsiteY3" fmla="*/ 8778241 h 8778241"/>
              <a:gd name="connsiteX4" fmla="*/ 0 w 6858000"/>
              <a:gd name="connsiteY4" fmla="*/ 8778241 h 8778241"/>
              <a:gd name="connsiteX5" fmla="*/ 0 w 6858000"/>
              <a:gd name="connsiteY5" fmla="*/ 457224 h 8778241"/>
              <a:gd name="connsiteX6" fmla="*/ 457223 w 6858000"/>
              <a:gd name="connsiteY6" fmla="*/ 1 h 8778241"/>
              <a:gd name="connsiteX7" fmla="*/ 2525791 w 6858000"/>
              <a:gd name="connsiteY7" fmla="*/ 1 h 8778241"/>
              <a:gd name="connsiteX8" fmla="*/ 2525791 w 6858000"/>
              <a:gd name="connsiteY8" fmla="*/ 0 h 8778241"/>
              <a:gd name="connsiteX9" fmla="*/ 6857999 w 6858000"/>
              <a:gd name="connsiteY9" fmla="*/ 1 h 8778241"/>
              <a:gd name="connsiteX10" fmla="*/ 6857999 w 6858000"/>
              <a:gd name="connsiteY10" fmla="*/ 457219 h 877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0" h="8778241">
                <a:moveTo>
                  <a:pt x="6858000" y="457224"/>
                </a:moveTo>
                <a:lnTo>
                  <a:pt x="6858000" y="8778241"/>
                </a:lnTo>
                <a:lnTo>
                  <a:pt x="6857999" y="8778241"/>
                </a:lnTo>
                <a:lnTo>
                  <a:pt x="2525791" y="8778241"/>
                </a:lnTo>
                <a:lnTo>
                  <a:pt x="0" y="8778241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19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i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i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1553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564610"/>
            <a:ext cx="2514600" cy="4924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6" y="41598"/>
            <a:ext cx="2514601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4. Footnote" hidden="1">
            <a:extLst>
              <a:ext uri="{FF2B5EF4-FFF2-40B4-BE49-F238E27FC236}">
                <a16:creationId xmlns:a16="http://schemas.microsoft.com/office/drawing/2014/main" id="{E91B258C-2CE3-47AD-91B7-5D22A691D52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5. Source" hidden="1">
            <a:extLst>
              <a:ext uri="{FF2B5EF4-FFF2-40B4-BE49-F238E27FC236}">
                <a16:creationId xmlns:a16="http://schemas.microsoft.com/office/drawing/2014/main" id="{9E0E9C24-A775-45BA-A2B2-E9A468FB0E1D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3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DD6127-86F4-409F-8D46-5CD3A086C45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3069337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14;p2" descr="Google Shape;14;p2">
            <a:extLst>
              <a:ext uri="{FF2B5EF4-FFF2-40B4-BE49-F238E27FC236}">
                <a16:creationId xmlns:a16="http://schemas.microsoft.com/office/drawing/2014/main" id="{A284D5BB-6F01-4D09-B6DA-F1D43E5B2C4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8233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942338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9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9B4C3FF-1D42-419B-97F1-C22D4E39CCF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DBEECC2-3A36-412F-A31C-DEE58CFE91FF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4849369" y="-484632"/>
            <a:ext cx="6858000" cy="7827264"/>
          </a:xfrm>
          <a:custGeom>
            <a:avLst/>
            <a:gdLst>
              <a:gd name="connsiteX0" fmla="*/ 6858000 w 6858000"/>
              <a:gd name="connsiteY0" fmla="*/ 457224 h 7827264"/>
              <a:gd name="connsiteX1" fmla="*/ 6858000 w 6858000"/>
              <a:gd name="connsiteY1" fmla="*/ 7827264 h 7827264"/>
              <a:gd name="connsiteX2" fmla="*/ 0 w 6858000"/>
              <a:gd name="connsiteY2" fmla="*/ 7827263 h 7827264"/>
              <a:gd name="connsiteX3" fmla="*/ 0 w 6858000"/>
              <a:gd name="connsiteY3" fmla="*/ 457224 h 7827264"/>
              <a:gd name="connsiteX4" fmla="*/ 457223 w 6858000"/>
              <a:gd name="connsiteY4" fmla="*/ 1 h 7827264"/>
              <a:gd name="connsiteX5" fmla="*/ 2525791 w 6858000"/>
              <a:gd name="connsiteY5" fmla="*/ 1 h 7827264"/>
              <a:gd name="connsiteX6" fmla="*/ 2525791 w 6858000"/>
              <a:gd name="connsiteY6" fmla="*/ 0 h 7827264"/>
              <a:gd name="connsiteX7" fmla="*/ 6857999 w 6858000"/>
              <a:gd name="connsiteY7" fmla="*/ 1 h 7827264"/>
              <a:gd name="connsiteX8" fmla="*/ 6857999 w 6858000"/>
              <a:gd name="connsiteY8" fmla="*/ 457220 h 7827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7827264">
                <a:moveTo>
                  <a:pt x="6858000" y="457224"/>
                </a:moveTo>
                <a:lnTo>
                  <a:pt x="6858000" y="7827264"/>
                </a:lnTo>
                <a:lnTo>
                  <a:pt x="0" y="7827263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5" y="3274834"/>
            <a:ext cx="3465577" cy="23897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564611"/>
            <a:ext cx="34655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6" y="41598"/>
            <a:ext cx="3465577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1FBE24E8-31AF-4C3E-A5B5-E9DFC553F274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8" y="6330793"/>
            <a:ext cx="346557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791DA78-DD6B-4CB7-9030-81E41768DCBD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7" y="6514143"/>
            <a:ext cx="346557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BC230638-247A-49E2-AF0D-D1DBDBB1CEB8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F1B61C-CA3B-489B-AAE2-6EE6903D545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4020312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2902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2208364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3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5656633-FD36-48D8-BB61-9B05B4A6498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325A7F3-5F79-43D7-8D2A-FB345FCBC4A4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5713477" y="379477"/>
            <a:ext cx="6858000" cy="6099047"/>
          </a:xfrm>
          <a:custGeom>
            <a:avLst/>
            <a:gdLst>
              <a:gd name="connsiteX0" fmla="*/ 6858000 w 6858000"/>
              <a:gd name="connsiteY0" fmla="*/ 457224 h 6099046"/>
              <a:gd name="connsiteX1" fmla="*/ 6858000 w 6858000"/>
              <a:gd name="connsiteY1" fmla="*/ 6099046 h 6099046"/>
              <a:gd name="connsiteX2" fmla="*/ 0 w 6858000"/>
              <a:gd name="connsiteY2" fmla="*/ 6099046 h 6099046"/>
              <a:gd name="connsiteX3" fmla="*/ 0 w 6858000"/>
              <a:gd name="connsiteY3" fmla="*/ 457224 h 6099046"/>
              <a:gd name="connsiteX4" fmla="*/ 457223 w 6858000"/>
              <a:gd name="connsiteY4" fmla="*/ 0 h 6099046"/>
              <a:gd name="connsiteX5" fmla="*/ 2525791 w 6858000"/>
              <a:gd name="connsiteY5" fmla="*/ 0 h 6099046"/>
              <a:gd name="connsiteX6" fmla="*/ 2525791 w 6858000"/>
              <a:gd name="connsiteY6" fmla="*/ 0 h 6099046"/>
              <a:gd name="connsiteX7" fmla="*/ 6857999 w 6858000"/>
              <a:gd name="connsiteY7" fmla="*/ 0 h 6099046"/>
              <a:gd name="connsiteX8" fmla="*/ 6857999 w 6858000"/>
              <a:gd name="connsiteY8" fmla="*/ 457220 h 609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6099046">
                <a:moveTo>
                  <a:pt x="6858000" y="457224"/>
                </a:moveTo>
                <a:lnTo>
                  <a:pt x="6858000" y="6099046"/>
                </a:lnTo>
                <a:lnTo>
                  <a:pt x="0" y="6099046"/>
                </a:lnTo>
                <a:lnTo>
                  <a:pt x="0" y="457224"/>
                </a:lnTo>
                <a:cubicBezTo>
                  <a:pt x="0" y="204706"/>
                  <a:pt x="204706" y="0"/>
                  <a:pt x="457223" y="0"/>
                </a:cubicBezTo>
                <a:lnTo>
                  <a:pt x="2525791" y="0"/>
                </a:lnTo>
                <a:lnTo>
                  <a:pt x="2525791" y="0"/>
                </a:lnTo>
                <a:lnTo>
                  <a:pt x="6857999" y="0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4737" y="226624"/>
            <a:ext cx="5065775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7" y="958598"/>
            <a:ext cx="5065775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597DC5CB-D54D-4340-AB36-B256B0AC917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7" y="6330793"/>
            <a:ext cx="506577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A87378B9-4AD0-4D5D-A5DA-1170C3F12797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7" y="6514143"/>
            <a:ext cx="5065775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CEB96B05-B0B3-4E5C-A33B-46EC65A33FB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E9AE5A-C18F-4B8F-8E1B-146F5D7D953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5620512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781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2489363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7" name="think-cell Slide" r:id="rId12" imgW="572" imgH="588" progId="TCLayout.ActiveDocument.1">
                  <p:embed/>
                </p:oleObj>
              </mc:Choice>
              <mc:Fallback>
                <p:oleObj name="think-cell Slide" r:id="rId12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5D7A6F7-529E-4718-900A-B338444CFE8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84155C-4B2B-4514-8C24-2C0FD54F9DD0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6582157" y="1248156"/>
            <a:ext cx="6858000" cy="4361688"/>
          </a:xfrm>
          <a:custGeom>
            <a:avLst/>
            <a:gdLst>
              <a:gd name="connsiteX0" fmla="*/ 6858000 w 6858000"/>
              <a:gd name="connsiteY0" fmla="*/ 639028 h 4361688"/>
              <a:gd name="connsiteX1" fmla="*/ 6858000 w 6858000"/>
              <a:gd name="connsiteY1" fmla="*/ 4361688 h 4361688"/>
              <a:gd name="connsiteX2" fmla="*/ 0 w 6858000"/>
              <a:gd name="connsiteY2" fmla="*/ 4361688 h 4361688"/>
              <a:gd name="connsiteX3" fmla="*/ 0 w 6858000"/>
              <a:gd name="connsiteY3" fmla="*/ 639028 h 4361688"/>
              <a:gd name="connsiteX4" fmla="*/ 457223 w 6858000"/>
              <a:gd name="connsiteY4" fmla="*/ 0 h 4361688"/>
              <a:gd name="connsiteX5" fmla="*/ 2525791 w 6858000"/>
              <a:gd name="connsiteY5" fmla="*/ 0 h 4361688"/>
              <a:gd name="connsiteX6" fmla="*/ 6857999 w 6858000"/>
              <a:gd name="connsiteY6" fmla="*/ 0 h 4361688"/>
              <a:gd name="connsiteX7" fmla="*/ 6857999 w 6858000"/>
              <a:gd name="connsiteY7" fmla="*/ 639022 h 4361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361688">
                <a:moveTo>
                  <a:pt x="6858000" y="639028"/>
                </a:moveTo>
                <a:lnTo>
                  <a:pt x="6858000" y="4361688"/>
                </a:lnTo>
                <a:lnTo>
                  <a:pt x="0" y="4361688"/>
                </a:lnTo>
                <a:lnTo>
                  <a:pt x="0" y="639028"/>
                </a:lnTo>
                <a:cubicBezTo>
                  <a:pt x="0" y="286102"/>
                  <a:pt x="204706" y="0"/>
                  <a:pt x="457223" y="0"/>
                </a:cubicBezTo>
                <a:lnTo>
                  <a:pt x="2525791" y="0"/>
                </a:lnTo>
                <a:lnTo>
                  <a:pt x="6857999" y="0"/>
                </a:lnTo>
                <a:lnTo>
                  <a:pt x="6857999" y="639022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8598"/>
            <a:ext cx="6967728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8759C0DC-CA42-4D58-8D3F-AD4C6CAE3A1B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AC3100F-5CEB-4A91-9B1F-8F2834961E6C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3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EFB5F655-842B-49BF-A98E-1AC692591E8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E5C674-EA08-4D31-AE44-8241308C14A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7522464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1439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2179570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1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3B3DC578-06AC-48A7-BB88-52A02796DD1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60FE9B9-3A35-4798-957C-D78717BF0635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7057074" y="1724343"/>
            <a:ext cx="6858000" cy="3409317"/>
          </a:xfrm>
          <a:custGeom>
            <a:avLst/>
            <a:gdLst>
              <a:gd name="connsiteX0" fmla="*/ 6858000 w 6858000"/>
              <a:gd name="connsiteY0" fmla="*/ 457225 h 3409317"/>
              <a:gd name="connsiteX1" fmla="*/ 6858000 w 6858000"/>
              <a:gd name="connsiteY1" fmla="*/ 3409317 h 3409317"/>
              <a:gd name="connsiteX2" fmla="*/ 0 w 6858000"/>
              <a:gd name="connsiteY2" fmla="*/ 3409317 h 3409317"/>
              <a:gd name="connsiteX3" fmla="*/ 0 w 6858000"/>
              <a:gd name="connsiteY3" fmla="*/ 457225 h 3409317"/>
              <a:gd name="connsiteX4" fmla="*/ 457223 w 6858000"/>
              <a:gd name="connsiteY4" fmla="*/ 0 h 3409317"/>
              <a:gd name="connsiteX5" fmla="*/ 2525791 w 6858000"/>
              <a:gd name="connsiteY5" fmla="*/ 1 h 3409317"/>
              <a:gd name="connsiteX6" fmla="*/ 6857999 w 6858000"/>
              <a:gd name="connsiteY6" fmla="*/ 1 h 3409317"/>
              <a:gd name="connsiteX7" fmla="*/ 6857999 w 6858000"/>
              <a:gd name="connsiteY7" fmla="*/ 457221 h 3409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3409317">
                <a:moveTo>
                  <a:pt x="6858000" y="457225"/>
                </a:moveTo>
                <a:lnTo>
                  <a:pt x="6858000" y="3409317"/>
                </a:lnTo>
                <a:lnTo>
                  <a:pt x="0" y="3409317"/>
                </a:lnTo>
                <a:lnTo>
                  <a:pt x="0" y="457225"/>
                </a:lnTo>
                <a:cubicBezTo>
                  <a:pt x="0" y="204707"/>
                  <a:pt x="204706" y="0"/>
                  <a:pt x="457223" y="0"/>
                </a:cubicBezTo>
                <a:lnTo>
                  <a:pt x="2525791" y="1"/>
                </a:lnTo>
                <a:lnTo>
                  <a:pt x="6857999" y="1"/>
                </a:lnTo>
                <a:lnTo>
                  <a:pt x="6857999" y="457221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noProof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noProof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8598"/>
            <a:ext cx="7918704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44C30949-359D-483D-8AB0-470F0738EC4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0C638687-9D2C-4819-8EA7-89C77797F3C6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3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8C6AFBE9-6E44-4376-8141-117DE0A0C50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22C837-C82C-4AE2-AC95-43C7091AC6A7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8473441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7300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8475448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Graphic 68">
            <a:extLst>
              <a:ext uri="{FF2B5EF4-FFF2-40B4-BE49-F238E27FC236}">
                <a16:creationId xmlns:a16="http://schemas.microsoft.com/office/drawing/2014/main" id="{21DD0495-7000-4A1C-9526-0DAF4743EBA1}"/>
              </a:ext>
            </a:extLst>
          </p:cNvPr>
          <p:cNvSpPr/>
          <p:nvPr userDrawn="1"/>
        </p:nvSpPr>
        <p:spPr>
          <a:xfrm>
            <a:off x="444870" y="764073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accent4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271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432F8-1E7D-4AB7-83CA-AD5B72F70E3F}"/>
              </a:ext>
            </a:extLst>
          </p:cNvPr>
          <p:cNvSpPr/>
          <p:nvPr userDrawn="1"/>
        </p:nvSpPr>
        <p:spPr>
          <a:xfrm>
            <a:off x="1798320" y="1438840"/>
            <a:ext cx="9948809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12"/>
              </a:spcBef>
              <a:spcAft>
                <a:spcPts val="212"/>
              </a:spcAft>
            </a:pPr>
            <a:endParaRPr lang="ru-RU" sz="113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50292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3675473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59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721116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0983243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83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DE92282-D3D0-474A-96CB-09222543F69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ru-RU" sz="2684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1" name="Graphic 68">
            <a:extLst>
              <a:ext uri="{FF2B5EF4-FFF2-40B4-BE49-F238E27FC236}">
                <a16:creationId xmlns:a16="http://schemas.microsoft.com/office/drawing/2014/main" id="{94FB4065-4CF1-4E4A-BE53-B2589C112BD6}"/>
              </a:ext>
            </a:extLst>
          </p:cNvPr>
          <p:cNvSpPr/>
          <p:nvPr userDrawn="1"/>
        </p:nvSpPr>
        <p:spPr>
          <a:xfrm>
            <a:off x="444870" y="764073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accent4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271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0726E7-5B8E-44B5-8EED-BF082B2F0C43}"/>
              </a:ext>
            </a:extLst>
          </p:cNvPr>
          <p:cNvSpPr/>
          <p:nvPr userDrawn="1"/>
        </p:nvSpPr>
        <p:spPr>
          <a:xfrm>
            <a:off x="1798320" y="1438840"/>
            <a:ext cx="9948809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12"/>
              </a:spcBef>
              <a:spcAft>
                <a:spcPts val="212"/>
              </a:spcAft>
            </a:pPr>
            <a:endParaRPr lang="ru-RU" sz="113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4. Footnote" hidden="1">
            <a:extLst>
              <a:ext uri="{FF2B5EF4-FFF2-40B4-BE49-F238E27FC236}">
                <a16:creationId xmlns:a16="http://schemas.microsoft.com/office/drawing/2014/main" id="{59A60F0F-7511-49F0-BBCF-2DE6FB5D50AC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8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724864CF-8CD7-4C9B-9FD5-09CDA7EDF9DB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5" y="6514143"/>
            <a:ext cx="110825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424E4B2-5377-4CD0-911A-315C5F2339D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491741" y="2963111"/>
            <a:ext cx="6988621" cy="41301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2684" dirty="0">
                <a:solidFill>
                  <a:schemeClr val="accent4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/>
              <a:t>Спасибо за внимание!</a:t>
            </a:r>
          </a:p>
        </p:txBody>
      </p:sp>
      <p:pic>
        <p:nvPicPr>
          <p:cNvPr id="10" name="Google Shape;14;p2" descr="Google Shape;14;p2">
            <a:extLst>
              <a:ext uri="{FF2B5EF4-FFF2-40B4-BE49-F238E27FC236}">
                <a16:creationId xmlns:a16="http://schemas.microsoft.com/office/drawing/2014/main" id="{EFC24FBB-1B41-476E-AB05-B66EBB04F6D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57391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tags" Target="../tags/tag10.xml"/><Relationship Id="rId21" Type="http://schemas.openxmlformats.org/officeDocument/2006/relationships/tags" Target="../tags/tag5.xml"/><Relationship Id="rId42" Type="http://schemas.openxmlformats.org/officeDocument/2006/relationships/tags" Target="../tags/tag26.xml"/><Relationship Id="rId47" Type="http://schemas.openxmlformats.org/officeDocument/2006/relationships/tags" Target="../tags/tag31.xml"/><Relationship Id="rId63" Type="http://schemas.openxmlformats.org/officeDocument/2006/relationships/tags" Target="../tags/tag47.xml"/><Relationship Id="rId68" Type="http://schemas.openxmlformats.org/officeDocument/2006/relationships/tags" Target="../tags/tag52.xml"/><Relationship Id="rId84" Type="http://schemas.openxmlformats.org/officeDocument/2006/relationships/image" Target="../media/image8.svg"/><Relationship Id="rId16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16.xml"/><Relationship Id="rId37" Type="http://schemas.openxmlformats.org/officeDocument/2006/relationships/tags" Target="../tags/tag21.xml"/><Relationship Id="rId53" Type="http://schemas.openxmlformats.org/officeDocument/2006/relationships/tags" Target="../tags/tag37.xml"/><Relationship Id="rId58" Type="http://schemas.openxmlformats.org/officeDocument/2006/relationships/tags" Target="../tags/tag42.xml"/><Relationship Id="rId74" Type="http://schemas.openxmlformats.org/officeDocument/2006/relationships/tags" Target="../tags/tag58.xml"/><Relationship Id="rId79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9" Type="http://schemas.openxmlformats.org/officeDocument/2006/relationships/tags" Target="../tags/tag3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6.xml"/><Relationship Id="rId27" Type="http://schemas.openxmlformats.org/officeDocument/2006/relationships/tags" Target="../tags/tag11.xml"/><Relationship Id="rId30" Type="http://schemas.openxmlformats.org/officeDocument/2006/relationships/tags" Target="../tags/tag14.xml"/><Relationship Id="rId35" Type="http://schemas.openxmlformats.org/officeDocument/2006/relationships/tags" Target="../tags/tag19.xml"/><Relationship Id="rId43" Type="http://schemas.openxmlformats.org/officeDocument/2006/relationships/tags" Target="../tags/tag27.xml"/><Relationship Id="rId48" Type="http://schemas.openxmlformats.org/officeDocument/2006/relationships/tags" Target="../tags/tag32.xml"/><Relationship Id="rId56" Type="http://schemas.openxmlformats.org/officeDocument/2006/relationships/tags" Target="../tags/tag40.xml"/><Relationship Id="rId64" Type="http://schemas.openxmlformats.org/officeDocument/2006/relationships/tags" Target="../tags/tag48.xml"/><Relationship Id="rId69" Type="http://schemas.openxmlformats.org/officeDocument/2006/relationships/tags" Target="../tags/tag53.xml"/><Relationship Id="rId77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35.xml"/><Relationship Id="rId72" Type="http://schemas.openxmlformats.org/officeDocument/2006/relationships/tags" Target="../tags/tag56.xml"/><Relationship Id="rId80" Type="http://schemas.openxmlformats.org/officeDocument/2006/relationships/image" Target="../media/image4.svg"/><Relationship Id="rId85" Type="http://schemas.openxmlformats.org/officeDocument/2006/relationships/image" Target="../media/image9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vmlDrawing" Target="../drawings/vmlDrawing1.vml"/><Relationship Id="rId25" Type="http://schemas.openxmlformats.org/officeDocument/2006/relationships/tags" Target="../tags/tag9.xml"/><Relationship Id="rId33" Type="http://schemas.openxmlformats.org/officeDocument/2006/relationships/tags" Target="../tags/tag17.xml"/><Relationship Id="rId38" Type="http://schemas.openxmlformats.org/officeDocument/2006/relationships/tags" Target="../tags/tag22.xml"/><Relationship Id="rId46" Type="http://schemas.openxmlformats.org/officeDocument/2006/relationships/tags" Target="../tags/tag30.xml"/><Relationship Id="rId59" Type="http://schemas.openxmlformats.org/officeDocument/2006/relationships/tags" Target="../tags/tag43.xml"/><Relationship Id="rId67" Type="http://schemas.openxmlformats.org/officeDocument/2006/relationships/tags" Target="../tags/tag51.xml"/><Relationship Id="rId20" Type="http://schemas.openxmlformats.org/officeDocument/2006/relationships/tags" Target="../tags/tag4.xml"/><Relationship Id="rId41" Type="http://schemas.openxmlformats.org/officeDocument/2006/relationships/tags" Target="../tags/tag25.xml"/><Relationship Id="rId54" Type="http://schemas.openxmlformats.org/officeDocument/2006/relationships/tags" Target="../tags/tag38.xml"/><Relationship Id="rId62" Type="http://schemas.openxmlformats.org/officeDocument/2006/relationships/tags" Target="../tags/tag46.xml"/><Relationship Id="rId70" Type="http://schemas.openxmlformats.org/officeDocument/2006/relationships/tags" Target="../tags/tag54.xml"/><Relationship Id="rId75" Type="http://schemas.openxmlformats.org/officeDocument/2006/relationships/tags" Target="../tags/tag59.xml"/><Relationship Id="rId83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7.xml"/><Relationship Id="rId28" Type="http://schemas.openxmlformats.org/officeDocument/2006/relationships/tags" Target="../tags/tag12.xml"/><Relationship Id="rId36" Type="http://schemas.openxmlformats.org/officeDocument/2006/relationships/tags" Target="../tags/tag20.xml"/><Relationship Id="rId49" Type="http://schemas.openxmlformats.org/officeDocument/2006/relationships/tags" Target="../tags/tag33.xml"/><Relationship Id="rId57" Type="http://schemas.openxmlformats.org/officeDocument/2006/relationships/tags" Target="../tags/tag41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15.xml"/><Relationship Id="rId44" Type="http://schemas.openxmlformats.org/officeDocument/2006/relationships/tags" Target="../tags/tag28.xml"/><Relationship Id="rId52" Type="http://schemas.openxmlformats.org/officeDocument/2006/relationships/tags" Target="../tags/tag36.xml"/><Relationship Id="rId60" Type="http://schemas.openxmlformats.org/officeDocument/2006/relationships/tags" Target="../tags/tag44.xml"/><Relationship Id="rId65" Type="http://schemas.openxmlformats.org/officeDocument/2006/relationships/tags" Target="../tags/tag49.xml"/><Relationship Id="rId73" Type="http://schemas.openxmlformats.org/officeDocument/2006/relationships/tags" Target="../tags/tag57.xml"/><Relationship Id="rId78" Type="http://schemas.openxmlformats.org/officeDocument/2006/relationships/image" Target="../media/image2.png"/><Relationship Id="rId81" Type="http://schemas.openxmlformats.org/officeDocument/2006/relationships/image" Target="../media/image5.png"/><Relationship Id="rId86" Type="http://schemas.openxmlformats.org/officeDocument/2006/relationships/image" Target="../media/image10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39" Type="http://schemas.openxmlformats.org/officeDocument/2006/relationships/tags" Target="../tags/tag23.xml"/><Relationship Id="rId34" Type="http://schemas.openxmlformats.org/officeDocument/2006/relationships/tags" Target="../tags/tag18.xml"/><Relationship Id="rId50" Type="http://schemas.openxmlformats.org/officeDocument/2006/relationships/tags" Target="../tags/tag34.xml"/><Relationship Id="rId55" Type="http://schemas.openxmlformats.org/officeDocument/2006/relationships/tags" Target="../tags/tag39.xml"/><Relationship Id="rId76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55.xml"/><Relationship Id="rId2" Type="http://schemas.openxmlformats.org/officeDocument/2006/relationships/slideLayout" Target="../slideLayouts/slideLayout2.xml"/><Relationship Id="rId29" Type="http://schemas.openxmlformats.org/officeDocument/2006/relationships/tags" Target="../tags/tag13.xml"/><Relationship Id="rId24" Type="http://schemas.openxmlformats.org/officeDocument/2006/relationships/tags" Target="../tags/tag8.xml"/><Relationship Id="rId40" Type="http://schemas.openxmlformats.org/officeDocument/2006/relationships/tags" Target="../tags/tag24.xml"/><Relationship Id="rId45" Type="http://schemas.openxmlformats.org/officeDocument/2006/relationships/tags" Target="../tags/tag29.xml"/><Relationship Id="rId66" Type="http://schemas.openxmlformats.org/officeDocument/2006/relationships/tags" Target="../tags/tag50.xml"/><Relationship Id="rId61" Type="http://schemas.openxmlformats.org/officeDocument/2006/relationships/tags" Target="../tags/tag45.xml"/><Relationship Id="rId82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tags" Target="../tags/tag168.xml"/><Relationship Id="rId21" Type="http://schemas.openxmlformats.org/officeDocument/2006/relationships/tags" Target="../tags/tag163.xml"/><Relationship Id="rId42" Type="http://schemas.openxmlformats.org/officeDocument/2006/relationships/tags" Target="../tags/tag184.xml"/><Relationship Id="rId47" Type="http://schemas.openxmlformats.org/officeDocument/2006/relationships/tags" Target="../tags/tag189.xml"/><Relationship Id="rId63" Type="http://schemas.openxmlformats.org/officeDocument/2006/relationships/tags" Target="../tags/tag205.xml"/><Relationship Id="rId68" Type="http://schemas.openxmlformats.org/officeDocument/2006/relationships/tags" Target="../tags/tag210.xml"/><Relationship Id="rId84" Type="http://schemas.openxmlformats.org/officeDocument/2006/relationships/image" Target="../media/image18.png"/><Relationship Id="rId16" Type="http://schemas.openxmlformats.org/officeDocument/2006/relationships/vmlDrawing" Target="../drawings/vmlDrawing16.vml"/><Relationship Id="rId11" Type="http://schemas.openxmlformats.org/officeDocument/2006/relationships/slideLayout" Target="../slideLayouts/slideLayout26.xml"/><Relationship Id="rId32" Type="http://schemas.openxmlformats.org/officeDocument/2006/relationships/tags" Target="../tags/tag174.xml"/><Relationship Id="rId37" Type="http://schemas.openxmlformats.org/officeDocument/2006/relationships/tags" Target="../tags/tag179.xml"/><Relationship Id="rId53" Type="http://schemas.openxmlformats.org/officeDocument/2006/relationships/tags" Target="../tags/tag195.xml"/><Relationship Id="rId58" Type="http://schemas.openxmlformats.org/officeDocument/2006/relationships/tags" Target="../tags/tag200.xml"/><Relationship Id="rId74" Type="http://schemas.openxmlformats.org/officeDocument/2006/relationships/tags" Target="../tags/tag216.xml"/><Relationship Id="rId79" Type="http://schemas.openxmlformats.org/officeDocument/2006/relationships/image" Target="../media/image5.png"/><Relationship Id="rId5" Type="http://schemas.openxmlformats.org/officeDocument/2006/relationships/slideLayout" Target="../slideLayouts/slideLayout20.xml"/><Relationship Id="rId19" Type="http://schemas.openxmlformats.org/officeDocument/2006/relationships/tags" Target="../tags/tag161.xml"/><Relationship Id="rId14" Type="http://schemas.openxmlformats.org/officeDocument/2006/relationships/slideLayout" Target="../slideLayouts/slideLayout29.xml"/><Relationship Id="rId22" Type="http://schemas.openxmlformats.org/officeDocument/2006/relationships/tags" Target="../tags/tag164.xml"/><Relationship Id="rId27" Type="http://schemas.openxmlformats.org/officeDocument/2006/relationships/tags" Target="../tags/tag169.xml"/><Relationship Id="rId30" Type="http://schemas.openxmlformats.org/officeDocument/2006/relationships/tags" Target="../tags/tag172.xml"/><Relationship Id="rId35" Type="http://schemas.openxmlformats.org/officeDocument/2006/relationships/tags" Target="../tags/tag177.xml"/><Relationship Id="rId43" Type="http://schemas.openxmlformats.org/officeDocument/2006/relationships/tags" Target="../tags/tag185.xml"/><Relationship Id="rId48" Type="http://schemas.openxmlformats.org/officeDocument/2006/relationships/tags" Target="../tags/tag190.xml"/><Relationship Id="rId56" Type="http://schemas.openxmlformats.org/officeDocument/2006/relationships/tags" Target="../tags/tag198.xml"/><Relationship Id="rId64" Type="http://schemas.openxmlformats.org/officeDocument/2006/relationships/tags" Target="../tags/tag206.xml"/><Relationship Id="rId69" Type="http://schemas.openxmlformats.org/officeDocument/2006/relationships/tags" Target="../tags/tag211.xml"/><Relationship Id="rId77" Type="http://schemas.openxmlformats.org/officeDocument/2006/relationships/image" Target="../media/image3.png"/><Relationship Id="rId8" Type="http://schemas.openxmlformats.org/officeDocument/2006/relationships/slideLayout" Target="../slideLayouts/slideLayout23.xml"/><Relationship Id="rId51" Type="http://schemas.openxmlformats.org/officeDocument/2006/relationships/tags" Target="../tags/tag193.xml"/><Relationship Id="rId72" Type="http://schemas.openxmlformats.org/officeDocument/2006/relationships/tags" Target="../tags/tag214.xml"/><Relationship Id="rId80" Type="http://schemas.openxmlformats.org/officeDocument/2006/relationships/image" Target="../media/image6.svg"/><Relationship Id="rId85" Type="http://schemas.openxmlformats.org/officeDocument/2006/relationships/image" Target="../media/image10.svg"/><Relationship Id="rId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7.xml"/><Relationship Id="rId17" Type="http://schemas.openxmlformats.org/officeDocument/2006/relationships/tags" Target="../tags/tag159.xml"/><Relationship Id="rId25" Type="http://schemas.openxmlformats.org/officeDocument/2006/relationships/tags" Target="../tags/tag167.xml"/><Relationship Id="rId33" Type="http://schemas.openxmlformats.org/officeDocument/2006/relationships/tags" Target="../tags/tag175.xml"/><Relationship Id="rId38" Type="http://schemas.openxmlformats.org/officeDocument/2006/relationships/tags" Target="../tags/tag180.xml"/><Relationship Id="rId46" Type="http://schemas.openxmlformats.org/officeDocument/2006/relationships/tags" Target="../tags/tag188.xml"/><Relationship Id="rId59" Type="http://schemas.openxmlformats.org/officeDocument/2006/relationships/tags" Target="../tags/tag201.xml"/><Relationship Id="rId67" Type="http://schemas.openxmlformats.org/officeDocument/2006/relationships/tags" Target="../tags/tag209.xml"/><Relationship Id="rId20" Type="http://schemas.openxmlformats.org/officeDocument/2006/relationships/tags" Target="../tags/tag162.xml"/><Relationship Id="rId41" Type="http://schemas.openxmlformats.org/officeDocument/2006/relationships/tags" Target="../tags/tag183.xml"/><Relationship Id="rId54" Type="http://schemas.openxmlformats.org/officeDocument/2006/relationships/tags" Target="../tags/tag196.xml"/><Relationship Id="rId62" Type="http://schemas.openxmlformats.org/officeDocument/2006/relationships/tags" Target="../tags/tag204.xml"/><Relationship Id="rId70" Type="http://schemas.openxmlformats.org/officeDocument/2006/relationships/tags" Target="../tags/tag212.xml"/><Relationship Id="rId75" Type="http://schemas.openxmlformats.org/officeDocument/2006/relationships/oleObject" Target="../embeddings/oleObject16.bin"/><Relationship Id="rId83" Type="http://schemas.openxmlformats.org/officeDocument/2006/relationships/image" Target="../media/image17.png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5" Type="http://schemas.openxmlformats.org/officeDocument/2006/relationships/theme" Target="../theme/theme2.xml"/><Relationship Id="rId23" Type="http://schemas.openxmlformats.org/officeDocument/2006/relationships/tags" Target="../tags/tag165.xml"/><Relationship Id="rId28" Type="http://schemas.openxmlformats.org/officeDocument/2006/relationships/tags" Target="../tags/tag170.xml"/><Relationship Id="rId36" Type="http://schemas.openxmlformats.org/officeDocument/2006/relationships/tags" Target="../tags/tag178.xml"/><Relationship Id="rId49" Type="http://schemas.openxmlformats.org/officeDocument/2006/relationships/tags" Target="../tags/tag191.xml"/><Relationship Id="rId57" Type="http://schemas.openxmlformats.org/officeDocument/2006/relationships/tags" Target="../tags/tag199.xml"/><Relationship Id="rId10" Type="http://schemas.openxmlformats.org/officeDocument/2006/relationships/slideLayout" Target="../slideLayouts/slideLayout25.xml"/><Relationship Id="rId31" Type="http://schemas.openxmlformats.org/officeDocument/2006/relationships/tags" Target="../tags/tag173.xml"/><Relationship Id="rId44" Type="http://schemas.openxmlformats.org/officeDocument/2006/relationships/tags" Target="../tags/tag186.xml"/><Relationship Id="rId52" Type="http://schemas.openxmlformats.org/officeDocument/2006/relationships/tags" Target="../tags/tag194.xml"/><Relationship Id="rId60" Type="http://schemas.openxmlformats.org/officeDocument/2006/relationships/tags" Target="../tags/tag202.xml"/><Relationship Id="rId65" Type="http://schemas.openxmlformats.org/officeDocument/2006/relationships/tags" Target="../tags/tag207.xml"/><Relationship Id="rId73" Type="http://schemas.openxmlformats.org/officeDocument/2006/relationships/tags" Target="../tags/tag215.xml"/><Relationship Id="rId78" Type="http://schemas.openxmlformats.org/officeDocument/2006/relationships/image" Target="../media/image4.svg"/><Relationship Id="rId81" Type="http://schemas.openxmlformats.org/officeDocument/2006/relationships/image" Target="../media/image7.png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8.xml"/><Relationship Id="rId18" Type="http://schemas.openxmlformats.org/officeDocument/2006/relationships/tags" Target="../tags/tag160.xml"/><Relationship Id="rId39" Type="http://schemas.openxmlformats.org/officeDocument/2006/relationships/tags" Target="../tags/tag181.xml"/><Relationship Id="rId34" Type="http://schemas.openxmlformats.org/officeDocument/2006/relationships/tags" Target="../tags/tag176.xml"/><Relationship Id="rId50" Type="http://schemas.openxmlformats.org/officeDocument/2006/relationships/tags" Target="../tags/tag192.xml"/><Relationship Id="rId55" Type="http://schemas.openxmlformats.org/officeDocument/2006/relationships/tags" Target="../tags/tag197.xml"/><Relationship Id="rId76" Type="http://schemas.openxmlformats.org/officeDocument/2006/relationships/image" Target="../media/image1.emf"/><Relationship Id="rId7" Type="http://schemas.openxmlformats.org/officeDocument/2006/relationships/slideLayout" Target="../slideLayouts/slideLayout22.xml"/><Relationship Id="rId71" Type="http://schemas.openxmlformats.org/officeDocument/2006/relationships/tags" Target="../tags/tag213.xml"/><Relationship Id="rId2" Type="http://schemas.openxmlformats.org/officeDocument/2006/relationships/slideLayout" Target="../slideLayouts/slideLayout17.xml"/><Relationship Id="rId29" Type="http://schemas.openxmlformats.org/officeDocument/2006/relationships/tags" Target="../tags/tag171.xml"/><Relationship Id="rId24" Type="http://schemas.openxmlformats.org/officeDocument/2006/relationships/tags" Target="../tags/tag166.xml"/><Relationship Id="rId40" Type="http://schemas.openxmlformats.org/officeDocument/2006/relationships/tags" Target="../tags/tag182.xml"/><Relationship Id="rId45" Type="http://schemas.openxmlformats.org/officeDocument/2006/relationships/tags" Target="../tags/tag187.xml"/><Relationship Id="rId66" Type="http://schemas.openxmlformats.org/officeDocument/2006/relationships/tags" Target="../tags/tag208.xml"/><Relationship Id="rId61" Type="http://schemas.openxmlformats.org/officeDocument/2006/relationships/tags" Target="../tags/tag203.xml"/><Relationship Id="rId82" Type="http://schemas.openxmlformats.org/officeDocument/2006/relationships/image" Target="../media/image8.svg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tags" Target="../tags/tag325.xml"/><Relationship Id="rId21" Type="http://schemas.openxmlformats.org/officeDocument/2006/relationships/tags" Target="../tags/tag320.xml"/><Relationship Id="rId42" Type="http://schemas.openxmlformats.org/officeDocument/2006/relationships/tags" Target="../tags/tag341.xml"/><Relationship Id="rId47" Type="http://schemas.openxmlformats.org/officeDocument/2006/relationships/tags" Target="../tags/tag346.xml"/><Relationship Id="rId63" Type="http://schemas.openxmlformats.org/officeDocument/2006/relationships/tags" Target="../tags/tag362.xml"/><Relationship Id="rId68" Type="http://schemas.openxmlformats.org/officeDocument/2006/relationships/tags" Target="../tags/tag367.xml"/><Relationship Id="rId84" Type="http://schemas.openxmlformats.org/officeDocument/2006/relationships/image" Target="../media/image18.png"/><Relationship Id="rId16" Type="http://schemas.openxmlformats.org/officeDocument/2006/relationships/vmlDrawing" Target="../drawings/vmlDrawing31.vml"/><Relationship Id="rId11" Type="http://schemas.openxmlformats.org/officeDocument/2006/relationships/slideLayout" Target="../slideLayouts/slideLayout40.xml"/><Relationship Id="rId32" Type="http://schemas.openxmlformats.org/officeDocument/2006/relationships/tags" Target="../tags/tag331.xml"/><Relationship Id="rId37" Type="http://schemas.openxmlformats.org/officeDocument/2006/relationships/tags" Target="../tags/tag336.xml"/><Relationship Id="rId53" Type="http://schemas.openxmlformats.org/officeDocument/2006/relationships/tags" Target="../tags/tag352.xml"/><Relationship Id="rId58" Type="http://schemas.openxmlformats.org/officeDocument/2006/relationships/tags" Target="../tags/tag357.xml"/><Relationship Id="rId74" Type="http://schemas.openxmlformats.org/officeDocument/2006/relationships/tags" Target="../tags/tag373.xml"/><Relationship Id="rId79" Type="http://schemas.openxmlformats.org/officeDocument/2006/relationships/image" Target="../media/image5.png"/><Relationship Id="rId5" Type="http://schemas.openxmlformats.org/officeDocument/2006/relationships/slideLayout" Target="../slideLayouts/slideLayout34.xml"/><Relationship Id="rId19" Type="http://schemas.openxmlformats.org/officeDocument/2006/relationships/tags" Target="../tags/tag318.xml"/><Relationship Id="rId14" Type="http://schemas.openxmlformats.org/officeDocument/2006/relationships/slideLayout" Target="../slideLayouts/slideLayout43.xml"/><Relationship Id="rId22" Type="http://schemas.openxmlformats.org/officeDocument/2006/relationships/tags" Target="../tags/tag321.xml"/><Relationship Id="rId27" Type="http://schemas.openxmlformats.org/officeDocument/2006/relationships/tags" Target="../tags/tag326.xml"/><Relationship Id="rId30" Type="http://schemas.openxmlformats.org/officeDocument/2006/relationships/tags" Target="../tags/tag329.xml"/><Relationship Id="rId35" Type="http://schemas.openxmlformats.org/officeDocument/2006/relationships/tags" Target="../tags/tag334.xml"/><Relationship Id="rId43" Type="http://schemas.openxmlformats.org/officeDocument/2006/relationships/tags" Target="../tags/tag342.xml"/><Relationship Id="rId48" Type="http://schemas.openxmlformats.org/officeDocument/2006/relationships/tags" Target="../tags/tag347.xml"/><Relationship Id="rId56" Type="http://schemas.openxmlformats.org/officeDocument/2006/relationships/tags" Target="../tags/tag355.xml"/><Relationship Id="rId64" Type="http://schemas.openxmlformats.org/officeDocument/2006/relationships/tags" Target="../tags/tag363.xml"/><Relationship Id="rId69" Type="http://schemas.openxmlformats.org/officeDocument/2006/relationships/tags" Target="../tags/tag368.xml"/><Relationship Id="rId77" Type="http://schemas.openxmlformats.org/officeDocument/2006/relationships/image" Target="../media/image3.png"/><Relationship Id="rId8" Type="http://schemas.openxmlformats.org/officeDocument/2006/relationships/slideLayout" Target="../slideLayouts/slideLayout37.xml"/><Relationship Id="rId51" Type="http://schemas.openxmlformats.org/officeDocument/2006/relationships/tags" Target="../tags/tag350.xml"/><Relationship Id="rId72" Type="http://schemas.openxmlformats.org/officeDocument/2006/relationships/tags" Target="../tags/tag371.xml"/><Relationship Id="rId80" Type="http://schemas.openxmlformats.org/officeDocument/2006/relationships/image" Target="../media/image6.svg"/><Relationship Id="rId85" Type="http://schemas.openxmlformats.org/officeDocument/2006/relationships/image" Target="../media/image10.svg"/><Relationship Id="rId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41.xml"/><Relationship Id="rId17" Type="http://schemas.openxmlformats.org/officeDocument/2006/relationships/tags" Target="../tags/tag316.xml"/><Relationship Id="rId25" Type="http://schemas.openxmlformats.org/officeDocument/2006/relationships/tags" Target="../tags/tag324.xml"/><Relationship Id="rId33" Type="http://schemas.openxmlformats.org/officeDocument/2006/relationships/tags" Target="../tags/tag332.xml"/><Relationship Id="rId38" Type="http://schemas.openxmlformats.org/officeDocument/2006/relationships/tags" Target="../tags/tag337.xml"/><Relationship Id="rId46" Type="http://schemas.openxmlformats.org/officeDocument/2006/relationships/tags" Target="../tags/tag345.xml"/><Relationship Id="rId59" Type="http://schemas.openxmlformats.org/officeDocument/2006/relationships/tags" Target="../tags/tag358.xml"/><Relationship Id="rId67" Type="http://schemas.openxmlformats.org/officeDocument/2006/relationships/tags" Target="../tags/tag366.xml"/><Relationship Id="rId20" Type="http://schemas.openxmlformats.org/officeDocument/2006/relationships/tags" Target="../tags/tag319.xml"/><Relationship Id="rId41" Type="http://schemas.openxmlformats.org/officeDocument/2006/relationships/tags" Target="../tags/tag340.xml"/><Relationship Id="rId54" Type="http://schemas.openxmlformats.org/officeDocument/2006/relationships/tags" Target="../tags/tag353.xml"/><Relationship Id="rId62" Type="http://schemas.openxmlformats.org/officeDocument/2006/relationships/tags" Target="../tags/tag361.xml"/><Relationship Id="rId70" Type="http://schemas.openxmlformats.org/officeDocument/2006/relationships/tags" Target="../tags/tag369.xml"/><Relationship Id="rId75" Type="http://schemas.openxmlformats.org/officeDocument/2006/relationships/oleObject" Target="../embeddings/oleObject31.bin"/><Relationship Id="rId83" Type="http://schemas.openxmlformats.org/officeDocument/2006/relationships/image" Target="../media/image17.png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5" Type="http://schemas.openxmlformats.org/officeDocument/2006/relationships/theme" Target="../theme/theme3.xml"/><Relationship Id="rId23" Type="http://schemas.openxmlformats.org/officeDocument/2006/relationships/tags" Target="../tags/tag322.xml"/><Relationship Id="rId28" Type="http://schemas.openxmlformats.org/officeDocument/2006/relationships/tags" Target="../tags/tag327.xml"/><Relationship Id="rId36" Type="http://schemas.openxmlformats.org/officeDocument/2006/relationships/tags" Target="../tags/tag335.xml"/><Relationship Id="rId49" Type="http://schemas.openxmlformats.org/officeDocument/2006/relationships/tags" Target="../tags/tag348.xml"/><Relationship Id="rId57" Type="http://schemas.openxmlformats.org/officeDocument/2006/relationships/tags" Target="../tags/tag356.xml"/><Relationship Id="rId10" Type="http://schemas.openxmlformats.org/officeDocument/2006/relationships/slideLayout" Target="../slideLayouts/slideLayout39.xml"/><Relationship Id="rId31" Type="http://schemas.openxmlformats.org/officeDocument/2006/relationships/tags" Target="../tags/tag330.xml"/><Relationship Id="rId44" Type="http://schemas.openxmlformats.org/officeDocument/2006/relationships/tags" Target="../tags/tag343.xml"/><Relationship Id="rId52" Type="http://schemas.openxmlformats.org/officeDocument/2006/relationships/tags" Target="../tags/tag351.xml"/><Relationship Id="rId60" Type="http://schemas.openxmlformats.org/officeDocument/2006/relationships/tags" Target="../tags/tag359.xml"/><Relationship Id="rId65" Type="http://schemas.openxmlformats.org/officeDocument/2006/relationships/tags" Target="../tags/tag364.xml"/><Relationship Id="rId73" Type="http://schemas.openxmlformats.org/officeDocument/2006/relationships/tags" Target="../tags/tag372.xml"/><Relationship Id="rId78" Type="http://schemas.openxmlformats.org/officeDocument/2006/relationships/image" Target="../media/image4.svg"/><Relationship Id="rId81" Type="http://schemas.openxmlformats.org/officeDocument/2006/relationships/image" Target="../media/image7.png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2.xml"/><Relationship Id="rId18" Type="http://schemas.openxmlformats.org/officeDocument/2006/relationships/tags" Target="../tags/tag317.xml"/><Relationship Id="rId39" Type="http://schemas.openxmlformats.org/officeDocument/2006/relationships/tags" Target="../tags/tag338.xml"/><Relationship Id="rId34" Type="http://schemas.openxmlformats.org/officeDocument/2006/relationships/tags" Target="../tags/tag333.xml"/><Relationship Id="rId50" Type="http://schemas.openxmlformats.org/officeDocument/2006/relationships/tags" Target="../tags/tag349.xml"/><Relationship Id="rId55" Type="http://schemas.openxmlformats.org/officeDocument/2006/relationships/tags" Target="../tags/tag354.xml"/><Relationship Id="rId76" Type="http://schemas.openxmlformats.org/officeDocument/2006/relationships/image" Target="../media/image1.emf"/><Relationship Id="rId7" Type="http://schemas.openxmlformats.org/officeDocument/2006/relationships/slideLayout" Target="../slideLayouts/slideLayout36.xml"/><Relationship Id="rId71" Type="http://schemas.openxmlformats.org/officeDocument/2006/relationships/tags" Target="../tags/tag370.xml"/><Relationship Id="rId2" Type="http://schemas.openxmlformats.org/officeDocument/2006/relationships/slideLayout" Target="../slideLayouts/slideLayout31.xml"/><Relationship Id="rId29" Type="http://schemas.openxmlformats.org/officeDocument/2006/relationships/tags" Target="../tags/tag328.xml"/><Relationship Id="rId24" Type="http://schemas.openxmlformats.org/officeDocument/2006/relationships/tags" Target="../tags/tag323.xml"/><Relationship Id="rId40" Type="http://schemas.openxmlformats.org/officeDocument/2006/relationships/tags" Target="../tags/tag339.xml"/><Relationship Id="rId45" Type="http://schemas.openxmlformats.org/officeDocument/2006/relationships/tags" Target="../tags/tag344.xml"/><Relationship Id="rId66" Type="http://schemas.openxmlformats.org/officeDocument/2006/relationships/tags" Target="../tags/tag365.xml"/><Relationship Id="rId61" Type="http://schemas.openxmlformats.org/officeDocument/2006/relationships/tags" Target="../tags/tag360.xml"/><Relationship Id="rId82" Type="http://schemas.openxmlformats.org/officeDocument/2006/relationships/image" Target="../media/image8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670089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" name="think-cell Slide" r:id="rId76" imgW="413" imgH="416" progId="TCLayout.ActiveDocument.1">
                  <p:embed/>
                </p:oleObj>
              </mc:Choice>
              <mc:Fallback>
                <p:oleObj name="think-cell Slide" r:id="rId76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" name="Rectangle 190">
            <a:extLst>
              <a:ext uri="{FF2B5EF4-FFF2-40B4-BE49-F238E27FC236}">
                <a16:creationId xmlns:a16="http://schemas.microsoft.com/office/drawing/2014/main" id="{1C81C2BC-A44A-4526-B5B7-7D5162C5A35D}"/>
              </a:ext>
            </a:extLst>
          </p:cNvPr>
          <p:cNvSpPr/>
          <p:nvPr userDrawn="1">
            <p:custDataLst>
              <p:tags r:id="rId19"/>
            </p:custDataLst>
          </p:nvPr>
        </p:nvSpPr>
        <p:spPr bwMode="ltGray">
          <a:xfrm rot="16200000">
            <a:off x="5756936" y="422929"/>
            <a:ext cx="678140" cy="12191999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20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554736" y="226624"/>
            <a:ext cx="11082528" cy="677108"/>
          </a:xfrm>
          <a:prstGeom prst="rect">
            <a:avLst/>
          </a:prstGeom>
        </p:spPr>
        <p:txBody>
          <a:bodyPr vert="horz" wrap="square" lIns="0" tIns="0" rIns="792000" bIns="0" rtlCol="0" anchor="b" anchorCtr="0">
            <a:noAutofit/>
          </a:bodyPr>
          <a:lstStyle/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10557264" y="41597"/>
            <a:ext cx="1080000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2"/>
            </p:custDataLst>
          </p:nvPr>
        </p:nvSpPr>
        <p:spPr>
          <a:xfrm>
            <a:off x="3754105" y="21717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+mn-lt"/>
                <a:ea typeface="+mn-ea"/>
                <a:cs typeface="+mn-cs"/>
                <a:sym typeface="+mn-lt"/>
              </a:rPr>
              <a:t>Above Chart Exhibit Title</a:t>
            </a:r>
            <a:br>
              <a:rPr lang="en-US" dirty="0">
                <a:latin typeface="+mn-lt"/>
                <a:ea typeface="+mn-ea"/>
                <a:cs typeface="+mn-cs"/>
                <a:sym typeface="+mn-lt"/>
              </a:rPr>
            </a:br>
            <a:r>
              <a:rPr lang="en-US" b="0" dirty="0">
                <a:latin typeface="+mn-lt"/>
                <a:ea typeface="+mn-ea"/>
                <a:cs typeface="+mn-cs"/>
                <a:sym typeface="+mn-lt"/>
              </a:rPr>
              <a:t>Units of measure</a:t>
            </a:r>
            <a:endParaRPr lang="ru-RU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grpSp>
        <p:nvGrpSpPr>
          <p:cNvPr id="6" name="Grid" hidden="1">
            <a:extLst>
              <a:ext uri="{FF2B5EF4-FFF2-40B4-BE49-F238E27FC236}">
                <a16:creationId xmlns:a16="http://schemas.microsoft.com/office/drawing/2014/main" id="{861F1414-E69A-4B93-B791-A09EC410AACA}"/>
              </a:ext>
            </a:extLst>
          </p:cNvPr>
          <p:cNvGrpSpPr/>
          <p:nvPr userDrawn="1"/>
        </p:nvGrpSpPr>
        <p:grpSpPr>
          <a:xfrm>
            <a:off x="-497642" y="-463534"/>
            <a:ext cx="12134906" cy="6527826"/>
            <a:chOff x="-497642" y="-463534"/>
            <a:chExt cx="12134906" cy="652782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64F6561-1469-4E8F-B8EF-9027513963D5}"/>
                </a:ext>
              </a:extLst>
            </p:cNvPr>
            <p:cNvSpPr>
              <a:spLocks/>
            </p:cNvSpPr>
            <p:nvPr/>
          </p:nvSpPr>
          <p:spPr>
            <a:xfrm>
              <a:off x="554736" y="-463534"/>
              <a:ext cx="1108252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 v.2</a:t>
              </a:r>
              <a:endParaRPr lang="ru-RU" sz="160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7E9DA43-116B-4B2B-8EB5-2A43A4A8B8E2}"/>
                </a:ext>
              </a:extLst>
            </p:cNvPr>
            <p:cNvSpPr>
              <a:spLocks/>
            </p:cNvSpPr>
            <p:nvPr/>
          </p:nvSpPr>
          <p:spPr>
            <a:xfrm>
              <a:off x="3758184" y="-463534"/>
              <a:ext cx="7879080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1/4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D48FD89-D6E0-4A2A-8413-890E0FFF94C9}"/>
                </a:ext>
              </a:extLst>
            </p:cNvPr>
            <p:cNvSpPr>
              <a:spLocks/>
            </p:cNvSpPr>
            <p:nvPr/>
          </p:nvSpPr>
          <p:spPr>
            <a:xfrm>
              <a:off x="4709160" y="-463534"/>
              <a:ext cx="6928104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1/3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02EB4D0-076F-4C43-84BC-7DD02D78A8D9}"/>
                </a:ext>
              </a:extLst>
            </p:cNvPr>
            <p:cNvSpPr>
              <a:spLocks/>
            </p:cNvSpPr>
            <p:nvPr/>
          </p:nvSpPr>
          <p:spPr>
            <a:xfrm>
              <a:off x="6437376" y="-463534"/>
              <a:ext cx="519988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D152B6B-9FE9-4878-83CF-35C1380ACB0B}"/>
                </a:ext>
              </a:extLst>
            </p:cNvPr>
            <p:cNvSpPr>
              <a:spLocks/>
            </p:cNvSpPr>
            <p:nvPr/>
          </p:nvSpPr>
          <p:spPr>
            <a:xfrm>
              <a:off x="8174736" y="-463534"/>
              <a:ext cx="346252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2/3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287DF8-521C-4F6A-A39E-232AD36355B6}"/>
                </a:ext>
              </a:extLst>
            </p:cNvPr>
            <p:cNvSpPr>
              <a:spLocks/>
            </p:cNvSpPr>
            <p:nvPr/>
          </p:nvSpPr>
          <p:spPr>
            <a:xfrm>
              <a:off x="9125840" y="-463534"/>
              <a:ext cx="2511424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3/4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C53879D-A9B4-48E4-88DE-6B149C00047B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84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0E362AF-AE68-4195-BB03-567C8E157906}"/>
                </a:ext>
              </a:extLst>
            </p:cNvPr>
            <p:cNvCxnSpPr>
              <a:cxnSpLocks/>
            </p:cNvCxnSpPr>
            <p:nvPr/>
          </p:nvCxnSpPr>
          <p:spPr>
            <a:xfrm>
              <a:off x="470916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E4D6098-4986-48C4-83FD-08CD00E943DD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194799-10B3-4D39-BD33-C1A616ED9D3D}"/>
                </a:ext>
              </a:extLst>
            </p:cNvPr>
            <p:cNvCxnSpPr>
              <a:cxnSpLocks/>
            </p:cNvCxnSpPr>
            <p:nvPr/>
          </p:nvCxnSpPr>
          <p:spPr>
            <a:xfrm>
              <a:off x="817473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2F8D9E-4B15-4CE7-80E0-444A6580B411}"/>
                </a:ext>
              </a:extLst>
            </p:cNvPr>
            <p:cNvCxnSpPr>
              <a:cxnSpLocks/>
            </p:cNvCxnSpPr>
            <p:nvPr/>
          </p:nvCxnSpPr>
          <p:spPr>
            <a:xfrm>
              <a:off x="912584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D03324C-C4D6-4D8E-8CB9-DCCF952BF70C}"/>
                </a:ext>
              </a:extLst>
            </p:cNvPr>
            <p:cNvSpPr>
              <a:spLocks/>
            </p:cNvSpPr>
            <p:nvPr/>
          </p:nvSpPr>
          <p:spPr>
            <a:xfrm>
              <a:off x="-497642" y="1373675"/>
              <a:ext cx="364936" cy="469061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</a:t>
              </a:r>
              <a:endParaRPr lang="ru-RU" sz="160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A7F425E-D0E1-478C-8946-0E478C0DC7A6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12192000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3" name="Google Shape;14;p2" descr="Google Shape;14;p2">
            <a:extLst>
              <a:ext uri="{FF2B5EF4-FFF2-40B4-BE49-F238E27FC236}">
                <a16:creationId xmlns:a16="http://schemas.microsoft.com/office/drawing/2014/main" id="{F969C0EA-A9B4-4338-A8E1-164D51B8B0EE}"/>
              </a:ext>
            </a:extLst>
          </p:cNvPr>
          <p:cNvPicPr>
            <a:picLocks noChangeAspect="1"/>
          </p:cNvPicPr>
          <p:nvPr userDrawn="1"/>
        </p:nvPicPr>
        <p:blipFill>
          <a:blip r:embed="rId78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4" name="EqualSignWhite" hidden="1">
            <a:extLst>
              <a:ext uri="{FF2B5EF4-FFF2-40B4-BE49-F238E27FC236}">
                <a16:creationId xmlns:a16="http://schemas.microsoft.com/office/drawing/2014/main" id="{6F134EB7-3345-4CE8-9098-F9AF787DEA8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1765645"/>
            <a:ext cx="396228" cy="396228"/>
            <a:chOff x="5628456" y="6080974"/>
            <a:chExt cx="252000" cy="252000"/>
          </a:xfrm>
        </p:grpSpPr>
        <p:sp>
          <p:nvSpPr>
            <p:cNvPr id="196" name="Oval 43">
              <a:extLst>
                <a:ext uri="{FF2B5EF4-FFF2-40B4-BE49-F238E27FC236}">
                  <a16:creationId xmlns:a16="http://schemas.microsoft.com/office/drawing/2014/main" id="{8DC74F05-815E-4EE8-9CF5-562E9E261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60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A8C6472A-D330-4FE0-BAA2-C4CDC5107D77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00" name="Line 44">
                <a:extLst>
                  <a:ext uri="{FF2B5EF4-FFF2-40B4-BE49-F238E27FC236}">
                    <a16:creationId xmlns:a16="http://schemas.microsoft.com/office/drawing/2014/main" id="{9C6633DB-F8EA-485D-8136-541C19554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01" name="Line 44">
                <a:extLst>
                  <a:ext uri="{FF2B5EF4-FFF2-40B4-BE49-F238E27FC236}">
                    <a16:creationId xmlns:a16="http://schemas.microsoft.com/office/drawing/2014/main" id="{E94EB394-8F51-4841-93DF-B495A96002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438" name="QuotationMarksWhite" hidden="1">
            <a:extLst>
              <a:ext uri="{FF2B5EF4-FFF2-40B4-BE49-F238E27FC236}">
                <a16:creationId xmlns:a16="http://schemas.microsoft.com/office/drawing/2014/main" id="{0AA18171-3664-43C8-85D9-26DC5539AC74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3525112"/>
            <a:ext cx="396228" cy="396228"/>
            <a:chOff x="5318049" y="5268554"/>
            <a:chExt cx="252000" cy="252000"/>
          </a:xfrm>
        </p:grpSpPr>
        <p:sp>
          <p:nvSpPr>
            <p:cNvPr id="439" name="Oval 43">
              <a:extLst>
                <a:ext uri="{FF2B5EF4-FFF2-40B4-BE49-F238E27FC236}">
                  <a16:creationId xmlns:a16="http://schemas.microsoft.com/office/drawing/2014/main" id="{090703B2-4AAB-476A-B640-5AA748B30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0" name="Freeform 115">
              <a:extLst>
                <a:ext uri="{FF2B5EF4-FFF2-40B4-BE49-F238E27FC236}">
                  <a16:creationId xmlns:a16="http://schemas.microsoft.com/office/drawing/2014/main" id="{68CE81C0-7402-4E9C-9662-6AC76BDF03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2723"/>
            </a:solidFill>
            <a:ln w="3175" cap="sq">
              <a:solidFill>
                <a:schemeClr val="bg1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2" name="MinusSignWhite" hidden="1">
            <a:extLst>
              <a:ext uri="{FF2B5EF4-FFF2-40B4-BE49-F238E27FC236}">
                <a16:creationId xmlns:a16="http://schemas.microsoft.com/office/drawing/2014/main" id="{94FC29BD-47DD-4988-84DA-DC8356974149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3525112"/>
            <a:ext cx="396228" cy="396228"/>
            <a:chOff x="5774102" y="5004016"/>
            <a:chExt cx="205180" cy="205180"/>
          </a:xfrm>
        </p:grpSpPr>
        <p:sp>
          <p:nvSpPr>
            <p:cNvPr id="203" name="Oval 43">
              <a:extLst>
                <a:ext uri="{FF2B5EF4-FFF2-40B4-BE49-F238E27FC236}">
                  <a16:creationId xmlns:a16="http://schemas.microsoft.com/office/drawing/2014/main" id="{4395DE7A-3237-456D-A40E-3562CC732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60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4" name="Line 44">
              <a:extLst>
                <a:ext uri="{FF2B5EF4-FFF2-40B4-BE49-F238E27FC236}">
                  <a16:creationId xmlns:a16="http://schemas.microsoft.com/office/drawing/2014/main" id="{8CFD64A5-BD7F-427E-959D-F20EEA0EB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5" name="MoonEmpty" hidden="1">
            <a:extLst>
              <a:ext uri="{FF2B5EF4-FFF2-40B4-BE49-F238E27FC236}">
                <a16:creationId xmlns:a16="http://schemas.microsoft.com/office/drawing/2014/main" id="{EEF7756D-7698-4345-BE5B-09369505E931}"/>
              </a:ext>
            </a:extLst>
          </p:cNvPr>
          <p:cNvGrpSpPr>
            <a:grpSpLocks/>
          </p:cNvGrpSpPr>
          <p:nvPr userDrawn="1">
            <p:custDataLst>
              <p:tags r:id="rId24"/>
            </p:custDataLst>
          </p:nvPr>
        </p:nvGrpSpPr>
        <p:grpSpPr>
          <a:xfrm>
            <a:off x="204701" y="4207156"/>
            <a:ext cx="252000" cy="252000"/>
            <a:chOff x="762000" y="1270000"/>
            <a:chExt cx="254000" cy="25400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4A042EF1-480E-4867-B6CC-C7EC7AF5F6A8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7" name="Arc 206">
              <a:extLst>
                <a:ext uri="{FF2B5EF4-FFF2-40B4-BE49-F238E27FC236}">
                  <a16:creationId xmlns:a16="http://schemas.microsoft.com/office/drawing/2014/main" id="{1EE54E7C-B827-49A9-BD75-5FF308CF073F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8" name="MoonQuater" hidden="1">
            <a:extLst>
              <a:ext uri="{FF2B5EF4-FFF2-40B4-BE49-F238E27FC236}">
                <a16:creationId xmlns:a16="http://schemas.microsoft.com/office/drawing/2014/main" id="{6ECF7A3B-3A86-45CA-B7FE-A42281667D24}"/>
              </a:ext>
            </a:extLst>
          </p:cNvPr>
          <p:cNvGrpSpPr>
            <a:grpSpLocks/>
          </p:cNvGrpSpPr>
          <p:nvPr userDrawn="1">
            <p:custDataLst>
              <p:tags r:id="rId25"/>
            </p:custDataLst>
          </p:nvPr>
        </p:nvGrpSpPr>
        <p:grpSpPr>
          <a:xfrm>
            <a:off x="607132" y="4207156"/>
            <a:ext cx="252000" cy="252000"/>
            <a:chOff x="762000" y="1270000"/>
            <a:chExt cx="254000" cy="254000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EEA095DF-95C6-46F9-9E10-6D3EA37AA350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0" name="Arc 209">
              <a:extLst>
                <a:ext uri="{FF2B5EF4-FFF2-40B4-BE49-F238E27FC236}">
                  <a16:creationId xmlns:a16="http://schemas.microsoft.com/office/drawing/2014/main" id="{AD6E5FBA-23CA-455D-B7A1-E97A79D0BF16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1" name="MoonHalf" hidden="1">
            <a:extLst>
              <a:ext uri="{FF2B5EF4-FFF2-40B4-BE49-F238E27FC236}">
                <a16:creationId xmlns:a16="http://schemas.microsoft.com/office/drawing/2014/main" id="{7E1AEBED-8969-4F7B-8CFF-2512F7CBDDB5}"/>
              </a:ext>
            </a:extLst>
          </p:cNvPr>
          <p:cNvGrpSpPr>
            <a:grpSpLocks/>
          </p:cNvGrpSpPr>
          <p:nvPr userDrawn="1">
            <p:custDataLst>
              <p:tags r:id="rId26"/>
            </p:custDataLst>
          </p:nvPr>
        </p:nvGrpSpPr>
        <p:grpSpPr>
          <a:xfrm>
            <a:off x="1009563" y="4207156"/>
            <a:ext cx="252000" cy="252000"/>
            <a:chOff x="762000" y="1270000"/>
            <a:chExt cx="254000" cy="254000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610DB031-24D8-4A1B-A78D-4208B7B8B538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3" name="Arc 212">
              <a:extLst>
                <a:ext uri="{FF2B5EF4-FFF2-40B4-BE49-F238E27FC236}">
                  <a16:creationId xmlns:a16="http://schemas.microsoft.com/office/drawing/2014/main" id="{A1692404-6522-487B-B0B9-F11787E0686F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4" name="Moon3Quater" hidden="1">
            <a:extLst>
              <a:ext uri="{FF2B5EF4-FFF2-40B4-BE49-F238E27FC236}">
                <a16:creationId xmlns:a16="http://schemas.microsoft.com/office/drawing/2014/main" id="{0DB17D5B-30D9-45A1-8268-1202410D5417}"/>
              </a:ext>
            </a:extLst>
          </p:cNvPr>
          <p:cNvGrpSpPr>
            <a:grpSpLocks/>
          </p:cNvGrpSpPr>
          <p:nvPr userDrawn="1">
            <p:custDataLst>
              <p:tags r:id="rId27"/>
            </p:custDataLst>
          </p:nvPr>
        </p:nvGrpSpPr>
        <p:grpSpPr>
          <a:xfrm>
            <a:off x="1411994" y="4207156"/>
            <a:ext cx="252000" cy="252000"/>
            <a:chOff x="762000" y="1270000"/>
            <a:chExt cx="254000" cy="254000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2946760-653D-4E1E-9D8D-DCA44931B626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6" name="Arc 215">
              <a:extLst>
                <a:ext uri="{FF2B5EF4-FFF2-40B4-BE49-F238E27FC236}">
                  <a16:creationId xmlns:a16="http://schemas.microsoft.com/office/drawing/2014/main" id="{48F45C20-3DC7-4643-AE88-FFC3520AEDCF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7" name="MoonFull" hidden="1">
            <a:extLst>
              <a:ext uri="{FF2B5EF4-FFF2-40B4-BE49-F238E27FC236}">
                <a16:creationId xmlns:a16="http://schemas.microsoft.com/office/drawing/2014/main" id="{C891D058-93C3-44FC-AE50-A19969EC1A87}"/>
              </a:ext>
            </a:extLst>
          </p:cNvPr>
          <p:cNvGrpSpPr>
            <a:grpSpLocks/>
          </p:cNvGrpSpPr>
          <p:nvPr userDrawn="1">
            <p:custDataLst>
              <p:tags r:id="rId28"/>
            </p:custDataLst>
          </p:nvPr>
        </p:nvGrpSpPr>
        <p:grpSpPr>
          <a:xfrm>
            <a:off x="1814426" y="4207156"/>
            <a:ext cx="252000" cy="252001"/>
            <a:chOff x="762000" y="1270000"/>
            <a:chExt cx="254000" cy="254001"/>
          </a:xfrm>
          <a:solidFill>
            <a:schemeClr val="accent5"/>
          </a:solidFill>
        </p:grpSpPr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D40FDCF7-CB9C-4279-86EB-2BE8D562BBB9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9" name="Arc 218">
              <a:extLst>
                <a:ext uri="{FF2B5EF4-FFF2-40B4-BE49-F238E27FC236}">
                  <a16:creationId xmlns:a16="http://schemas.microsoft.com/office/drawing/2014/main" id="{EFCFED24-D2BE-46A5-A61D-C21AD627D43D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762000" y="1270001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0" name="StatusGauge" hidden="1">
            <a:extLst>
              <a:ext uri="{FF2B5EF4-FFF2-40B4-BE49-F238E27FC236}">
                <a16:creationId xmlns:a16="http://schemas.microsoft.com/office/drawing/2014/main" id="{D6C3821B-CB53-414B-946C-9CA1BC9CD29C}"/>
              </a:ext>
            </a:extLst>
          </p:cNvPr>
          <p:cNvGrpSpPr/>
          <p:nvPr userDrawn="1"/>
        </p:nvGrpSpPr>
        <p:grpSpPr>
          <a:xfrm>
            <a:off x="1477695" y="1331086"/>
            <a:ext cx="181450" cy="184330"/>
            <a:chOff x="1105451" y="3317419"/>
            <a:chExt cx="181450" cy="184330"/>
          </a:xfrm>
          <a:noFill/>
        </p:grpSpPr>
        <p:sp>
          <p:nvSpPr>
            <p:cNvPr id="221" name="Freeform 46">
              <a:extLst>
                <a:ext uri="{FF2B5EF4-FFF2-40B4-BE49-F238E27FC236}">
                  <a16:creationId xmlns:a16="http://schemas.microsoft.com/office/drawing/2014/main" id="{0735B865-E6CF-4B03-83CF-7C90321C9C64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 flipV="1">
              <a:off x="1130288" y="3317419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2" name="Line 47">
              <a:extLst>
                <a:ext uri="{FF2B5EF4-FFF2-40B4-BE49-F238E27FC236}">
                  <a16:creationId xmlns:a16="http://schemas.microsoft.com/office/drawing/2014/main" id="{E4E53E59-2F0C-430F-AC54-AFEDF860E5F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8900000" flipH="1">
              <a:off x="1105451" y="3327704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3" name="StatusGaugeWhite" hidden="1">
            <a:extLst>
              <a:ext uri="{FF2B5EF4-FFF2-40B4-BE49-F238E27FC236}">
                <a16:creationId xmlns:a16="http://schemas.microsoft.com/office/drawing/2014/main" id="{4F6F40B4-572D-4300-8535-A9C100147F90}"/>
              </a:ext>
            </a:extLst>
          </p:cNvPr>
          <p:cNvGrpSpPr/>
          <p:nvPr userDrawn="1"/>
        </p:nvGrpSpPr>
        <p:grpSpPr>
          <a:xfrm>
            <a:off x="1370306" y="1765645"/>
            <a:ext cx="396228" cy="396228"/>
            <a:chOff x="1003300" y="3670300"/>
            <a:chExt cx="396228" cy="396228"/>
          </a:xfrm>
        </p:grpSpPr>
        <p:sp>
          <p:nvSpPr>
            <p:cNvPr id="224" name="Oval 45">
              <a:extLst>
                <a:ext uri="{FF2B5EF4-FFF2-40B4-BE49-F238E27FC236}">
                  <a16:creationId xmlns:a16="http://schemas.microsoft.com/office/drawing/2014/main" id="{EA83F7E9-FBB4-4DCF-B297-DF5181FAF9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36703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5" name="Freeform 46">
              <a:extLst>
                <a:ext uri="{FF2B5EF4-FFF2-40B4-BE49-F238E27FC236}">
                  <a16:creationId xmlns:a16="http://schemas.microsoft.com/office/drawing/2014/main" id="{37329834-7E67-4AC0-8682-F913A3238038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3776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6" name="Line 47">
              <a:extLst>
                <a:ext uri="{FF2B5EF4-FFF2-40B4-BE49-F238E27FC236}">
                  <a16:creationId xmlns:a16="http://schemas.microsoft.com/office/drawing/2014/main" id="{D3817716-8417-4E63-9B81-AF65BCFC76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3786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7" name="StatusGaugeBlue" hidden="1">
            <a:extLst>
              <a:ext uri="{FF2B5EF4-FFF2-40B4-BE49-F238E27FC236}">
                <a16:creationId xmlns:a16="http://schemas.microsoft.com/office/drawing/2014/main" id="{CC5AF1AB-6491-4EF4-A9F0-51C53DD47848}"/>
              </a:ext>
            </a:extLst>
          </p:cNvPr>
          <p:cNvGrpSpPr/>
          <p:nvPr userDrawn="1"/>
        </p:nvGrpSpPr>
        <p:grpSpPr>
          <a:xfrm>
            <a:off x="1370306" y="2352134"/>
            <a:ext cx="396228" cy="396228"/>
            <a:chOff x="1003300" y="4305300"/>
            <a:chExt cx="396228" cy="396228"/>
          </a:xfrm>
        </p:grpSpPr>
        <p:sp>
          <p:nvSpPr>
            <p:cNvPr id="228" name="Oval 45">
              <a:extLst>
                <a:ext uri="{FF2B5EF4-FFF2-40B4-BE49-F238E27FC236}">
                  <a16:creationId xmlns:a16="http://schemas.microsoft.com/office/drawing/2014/main" id="{7E9C4886-4B5A-49E8-B0F9-6AF47D9C14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43053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9" name="Freeform 46">
              <a:extLst>
                <a:ext uri="{FF2B5EF4-FFF2-40B4-BE49-F238E27FC236}">
                  <a16:creationId xmlns:a16="http://schemas.microsoft.com/office/drawing/2014/main" id="{495BA935-7FE9-4A15-B62C-7FC14FA7D82E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4411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30" name="Line 47">
              <a:extLst>
                <a:ext uri="{FF2B5EF4-FFF2-40B4-BE49-F238E27FC236}">
                  <a16:creationId xmlns:a16="http://schemas.microsoft.com/office/drawing/2014/main" id="{9DAD3AED-C6D1-4FDB-AD4A-CD46DC5891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4421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31" name="TrackerAlphaWhite" hidden="1">
            <a:extLst>
              <a:ext uri="{FF2B5EF4-FFF2-40B4-BE49-F238E27FC236}">
                <a16:creationId xmlns:a16="http://schemas.microsoft.com/office/drawing/2014/main" id="{6CEE5541-1892-4C27-9395-A8D2B87603D7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554735" y="1283581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</a:p>
        </p:txBody>
      </p:sp>
      <p:sp>
        <p:nvSpPr>
          <p:cNvPr id="232" name="TrackerAlphaBlue" hidden="1">
            <a:extLst>
              <a:ext uri="{FF2B5EF4-FFF2-40B4-BE49-F238E27FC236}">
                <a16:creationId xmlns:a16="http://schemas.microsoft.com/office/drawing/2014/main" id="{2822AEFC-7960-41E4-9E9A-D32EA225D8CA}"/>
              </a:ext>
            </a:extLst>
          </p:cNvPr>
          <p:cNvSpPr/>
          <p:nvPr userDrawn="1">
            <p:custDataLst>
              <p:tags r:id="rId30"/>
            </p:custDataLst>
          </p:nvPr>
        </p:nvSpPr>
        <p:spPr>
          <a:xfrm>
            <a:off x="554735" y="1824089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  <a:endParaRPr lang="en-US" sz="1400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3" name="TrackerNumWhite" hidden="1">
            <a:extLst>
              <a:ext uri="{FF2B5EF4-FFF2-40B4-BE49-F238E27FC236}">
                <a16:creationId xmlns:a16="http://schemas.microsoft.com/office/drawing/2014/main" id="{43F1F8C1-5E2F-49AB-896D-55AEF295DEEE}"/>
              </a:ext>
            </a:extLst>
          </p:cNvPr>
          <p:cNvSpPr/>
          <p:nvPr userDrawn="1">
            <p:custDataLst>
              <p:tags r:id="rId31"/>
            </p:custDataLst>
          </p:nvPr>
        </p:nvSpPr>
        <p:spPr>
          <a:xfrm>
            <a:off x="554735" y="2352134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1400" b="1" dirty="0" err="1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4" name="TrackerNumBlue" hidden="1">
            <a:extLst>
              <a:ext uri="{FF2B5EF4-FFF2-40B4-BE49-F238E27FC236}">
                <a16:creationId xmlns:a16="http://schemas.microsoft.com/office/drawing/2014/main" id="{14748B87-7156-44A6-9000-D2C52291FE74}"/>
              </a:ext>
            </a:extLst>
          </p:cNvPr>
          <p:cNvSpPr/>
          <p:nvPr userDrawn="1">
            <p:custDataLst>
              <p:tags r:id="rId32"/>
            </p:custDataLst>
          </p:nvPr>
        </p:nvSpPr>
        <p:spPr>
          <a:xfrm>
            <a:off x="554735" y="2997067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1400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5" name="X" hidden="1">
            <a:extLst>
              <a:ext uri="{FF2B5EF4-FFF2-40B4-BE49-F238E27FC236}">
                <a16:creationId xmlns:a16="http://schemas.microsoft.com/office/drawing/2014/main" id="{6C1E3FEF-BF7E-4B36-B296-C46366C805A4}"/>
              </a:ext>
            </a:extLst>
          </p:cNvPr>
          <p:cNvSpPr>
            <a:spLocks noChangeAspect="1"/>
          </p:cNvSpPr>
          <p:nvPr userDrawn="1">
            <p:custDataLst>
              <p:tags r:id="rId33"/>
            </p:custDataLst>
          </p:nvPr>
        </p:nvSpPr>
        <p:spPr>
          <a:xfrm>
            <a:off x="2408978" y="4804430"/>
            <a:ext cx="183803" cy="183548"/>
          </a:xfrm>
          <a:custGeom>
            <a:avLst/>
            <a:gdLst/>
            <a:ahLst/>
            <a:cxnLst/>
            <a:rect l="0" t="0" r="0" b="0"/>
            <a:pathLst>
              <a:path w="183805" h="183550">
                <a:moveTo>
                  <a:pt x="182094" y="175600"/>
                </a:moveTo>
                <a:lnTo>
                  <a:pt x="182094" y="175600"/>
                </a:lnTo>
                <a:lnTo>
                  <a:pt x="183804" y="177411"/>
                </a:lnTo>
                <a:lnTo>
                  <a:pt x="183804" y="180429"/>
                </a:lnTo>
                <a:lnTo>
                  <a:pt x="182094" y="182240"/>
                </a:lnTo>
                <a:lnTo>
                  <a:pt x="181189" y="183146"/>
                </a:lnTo>
                <a:lnTo>
                  <a:pt x="179982" y="183549"/>
                </a:lnTo>
                <a:lnTo>
                  <a:pt x="178776" y="183549"/>
                </a:lnTo>
                <a:lnTo>
                  <a:pt x="177569" y="183549"/>
                </a:lnTo>
                <a:lnTo>
                  <a:pt x="176362" y="183146"/>
                </a:lnTo>
                <a:lnTo>
                  <a:pt x="175457" y="182240"/>
                </a:lnTo>
                <a:lnTo>
                  <a:pt x="91903" y="98517"/>
                </a:lnTo>
                <a:lnTo>
                  <a:pt x="91903" y="98517"/>
                </a:lnTo>
                <a:lnTo>
                  <a:pt x="91903" y="98517"/>
                </a:lnTo>
                <a:lnTo>
                  <a:pt x="8345" y="182240"/>
                </a:lnTo>
                <a:lnTo>
                  <a:pt x="8345" y="182240"/>
                </a:lnTo>
                <a:lnTo>
                  <a:pt x="8345" y="182240"/>
                </a:lnTo>
                <a:lnTo>
                  <a:pt x="7441" y="183146"/>
                </a:lnTo>
                <a:lnTo>
                  <a:pt x="6235" y="183549"/>
                </a:lnTo>
                <a:lnTo>
                  <a:pt x="5027" y="183549"/>
                </a:lnTo>
                <a:lnTo>
                  <a:pt x="3822" y="183549"/>
                </a:lnTo>
                <a:lnTo>
                  <a:pt x="2614" y="183146"/>
                </a:lnTo>
                <a:lnTo>
                  <a:pt x="1708" y="182240"/>
                </a:lnTo>
                <a:lnTo>
                  <a:pt x="0" y="180429"/>
                </a:lnTo>
                <a:lnTo>
                  <a:pt x="0" y="177411"/>
                </a:lnTo>
                <a:lnTo>
                  <a:pt x="1708" y="175600"/>
                </a:lnTo>
                <a:lnTo>
                  <a:pt x="85366" y="91976"/>
                </a:lnTo>
                <a:lnTo>
                  <a:pt x="85366" y="91976"/>
                </a:lnTo>
                <a:lnTo>
                  <a:pt x="85366" y="91976"/>
                </a:lnTo>
                <a:lnTo>
                  <a:pt x="1708" y="8353"/>
                </a:lnTo>
                <a:lnTo>
                  <a:pt x="1708" y="8353"/>
                </a:lnTo>
                <a:lnTo>
                  <a:pt x="1708" y="8353"/>
                </a:lnTo>
                <a:lnTo>
                  <a:pt x="0" y="6542"/>
                </a:lnTo>
                <a:lnTo>
                  <a:pt x="0" y="3523"/>
                </a:lnTo>
                <a:lnTo>
                  <a:pt x="1708" y="1713"/>
                </a:lnTo>
                <a:lnTo>
                  <a:pt x="3520" y="0"/>
                </a:lnTo>
                <a:lnTo>
                  <a:pt x="6536" y="0"/>
                </a:lnTo>
                <a:lnTo>
                  <a:pt x="8345" y="1713"/>
                </a:lnTo>
                <a:lnTo>
                  <a:pt x="91903" y="85435"/>
                </a:lnTo>
                <a:lnTo>
                  <a:pt x="91903" y="85435"/>
                </a:lnTo>
                <a:lnTo>
                  <a:pt x="91903" y="85435"/>
                </a:lnTo>
                <a:lnTo>
                  <a:pt x="175457" y="1713"/>
                </a:lnTo>
                <a:lnTo>
                  <a:pt x="175457" y="1713"/>
                </a:lnTo>
                <a:lnTo>
                  <a:pt x="175457" y="1713"/>
                </a:lnTo>
                <a:lnTo>
                  <a:pt x="177267" y="0"/>
                </a:lnTo>
                <a:lnTo>
                  <a:pt x="180284" y="0"/>
                </a:lnTo>
                <a:lnTo>
                  <a:pt x="182094" y="1713"/>
                </a:lnTo>
                <a:lnTo>
                  <a:pt x="183804" y="3523"/>
                </a:lnTo>
                <a:lnTo>
                  <a:pt x="183804" y="6542"/>
                </a:lnTo>
                <a:lnTo>
                  <a:pt x="182094" y="8353"/>
                </a:lnTo>
                <a:lnTo>
                  <a:pt x="98437" y="91976"/>
                </a:lnTo>
                <a:lnTo>
                  <a:pt x="98437" y="91976"/>
                </a:lnTo>
                <a:lnTo>
                  <a:pt x="98437" y="91976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243" name="CheckmarkDash" hidden="1">
            <a:extLst>
              <a:ext uri="{FF2B5EF4-FFF2-40B4-BE49-F238E27FC236}">
                <a16:creationId xmlns:a16="http://schemas.microsoft.com/office/drawing/2014/main" id="{6D197BD0-E4F8-43E3-85F0-BDAC6EFBEE38}"/>
              </a:ext>
            </a:extLst>
          </p:cNvPr>
          <p:cNvPicPr>
            <a:picLocks noChangeAspect="1"/>
          </p:cNvPicPr>
          <p:nvPr userDrawn="1">
            <p:custDataLst>
              <p:tags r:id="rId34"/>
            </p:custDataLst>
          </p:nvPr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2310379" y="2946237"/>
            <a:ext cx="381000" cy="381000"/>
          </a:xfrm>
          <a:prstGeom prst="rect">
            <a:avLst/>
          </a:prstGeom>
        </p:spPr>
      </p:pic>
      <p:grpSp>
        <p:nvGrpSpPr>
          <p:cNvPr id="244" name="CheckmarkDashWhite" hidden="1">
            <a:extLst>
              <a:ext uri="{FF2B5EF4-FFF2-40B4-BE49-F238E27FC236}">
                <a16:creationId xmlns:a16="http://schemas.microsoft.com/office/drawing/2014/main" id="{DDD76515-4E98-4C0E-97A3-09077FB620C4}"/>
              </a:ext>
            </a:extLst>
          </p:cNvPr>
          <p:cNvGrpSpPr>
            <a:grpSpLocks noChangeAspect="1"/>
          </p:cNvGrpSpPr>
          <p:nvPr userDrawn="1">
            <p:custDataLst>
              <p:tags r:id="rId35"/>
            </p:custDataLst>
          </p:nvPr>
        </p:nvGrpSpPr>
        <p:grpSpPr>
          <a:xfrm>
            <a:off x="2302765" y="3525112"/>
            <a:ext cx="396228" cy="396228"/>
            <a:chOff x="1016000" y="1016000"/>
            <a:chExt cx="396228" cy="396228"/>
          </a:xfrm>
        </p:grpSpPr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BFE44F03-5DDF-406A-9704-79A91E404649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6" name="Graphic 245">
              <a:extLst>
                <a:ext uri="{FF2B5EF4-FFF2-40B4-BE49-F238E27FC236}">
                  <a16:creationId xmlns:a16="http://schemas.microsoft.com/office/drawing/2014/main" id="{FEBCFA72-4815-4B9B-A22F-5AB2EF789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47" name="CheckmarkDashBlue" hidden="1">
            <a:extLst>
              <a:ext uri="{FF2B5EF4-FFF2-40B4-BE49-F238E27FC236}">
                <a16:creationId xmlns:a16="http://schemas.microsoft.com/office/drawing/2014/main" id="{81F9EE34-1BCC-42F0-90D7-FC9EE70CCE02}"/>
              </a:ext>
            </a:extLst>
          </p:cNvPr>
          <p:cNvGrpSpPr>
            <a:grpSpLocks noChangeAspect="1"/>
          </p:cNvGrpSpPr>
          <p:nvPr userDrawn="1">
            <p:custDataLst>
              <p:tags r:id="rId36"/>
            </p:custDataLst>
          </p:nvPr>
        </p:nvGrpSpPr>
        <p:grpSpPr>
          <a:xfrm>
            <a:off x="2302765" y="4111601"/>
            <a:ext cx="396228" cy="396228"/>
            <a:chOff x="1016000" y="1016000"/>
            <a:chExt cx="396228" cy="396228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4EA313F9-6D48-4D01-830A-3A81EF57563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9" name="Graphic 248">
              <a:extLst>
                <a:ext uri="{FF2B5EF4-FFF2-40B4-BE49-F238E27FC236}">
                  <a16:creationId xmlns:a16="http://schemas.microsoft.com/office/drawing/2014/main" id="{231422F3-779A-4B21-ABE4-39219EAA8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50" name="LineArrowBlue" hidden="1">
            <a:extLst>
              <a:ext uri="{FF2B5EF4-FFF2-40B4-BE49-F238E27FC236}">
                <a16:creationId xmlns:a16="http://schemas.microsoft.com/office/drawing/2014/main" id="{1D863E20-B32C-48FF-949F-E00FD4DB1D94}"/>
              </a:ext>
            </a:extLst>
          </p:cNvPr>
          <p:cNvGrpSpPr>
            <a:grpSpLocks/>
          </p:cNvGrpSpPr>
          <p:nvPr userDrawn="1">
            <p:custDataLst>
              <p:tags r:id="rId37"/>
            </p:custDataLst>
          </p:nvPr>
        </p:nvGrpSpPr>
        <p:grpSpPr>
          <a:xfrm>
            <a:off x="3235224" y="5856330"/>
            <a:ext cx="396228" cy="396228"/>
            <a:chOff x="1016000" y="1016000"/>
            <a:chExt cx="396228" cy="396228"/>
          </a:xfrm>
        </p:grpSpPr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816B6DF1-1FD4-4988-B3B3-84F3DBEED17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6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B9787BF0-88E0-4B6A-92AD-2CD419B312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pic>
        <p:nvPicPr>
          <p:cNvPr id="253" name="DoubleArrow" hidden="1">
            <a:extLst>
              <a:ext uri="{FF2B5EF4-FFF2-40B4-BE49-F238E27FC236}">
                <a16:creationId xmlns:a16="http://schemas.microsoft.com/office/drawing/2014/main" id="{E532A4E3-9D74-496E-AD75-84739A28E59C}"/>
              </a:ext>
            </a:extLst>
          </p:cNvPr>
          <p:cNvPicPr>
            <a:picLocks noChangeAspect="1"/>
          </p:cNvPicPr>
          <p:nvPr userDrawn="1">
            <p:custDataLst>
              <p:tags r:id="rId38"/>
            </p:custDataLst>
          </p:nvPr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4200697" y="1258151"/>
            <a:ext cx="330200" cy="330200"/>
          </a:xfrm>
          <a:prstGeom prst="rect">
            <a:avLst/>
          </a:prstGeom>
        </p:spPr>
      </p:pic>
      <p:sp>
        <p:nvSpPr>
          <p:cNvPr id="254" name="Filter" hidden="1">
            <a:extLst>
              <a:ext uri="{FF2B5EF4-FFF2-40B4-BE49-F238E27FC236}">
                <a16:creationId xmlns:a16="http://schemas.microsoft.com/office/drawing/2014/main" id="{0EED5966-93D2-41E2-B722-0851E65ABFAF}"/>
              </a:ext>
            </a:extLst>
          </p:cNvPr>
          <p:cNvSpPr>
            <a:spLocks noChangeAspect="1"/>
          </p:cNvSpPr>
          <p:nvPr userDrawn="1">
            <p:custDataLst>
              <p:tags r:id="rId39"/>
            </p:custDataLst>
          </p:nvPr>
        </p:nvSpPr>
        <p:spPr>
          <a:xfrm>
            <a:off x="3310075" y="1290724"/>
            <a:ext cx="246526" cy="265054"/>
          </a:xfrm>
          <a:custGeom>
            <a:avLst/>
            <a:gdLst/>
            <a:ahLst/>
            <a:cxnLst/>
            <a:rect l="0" t="0" r="0" b="0"/>
            <a:pathLst>
              <a:path w="202746" h="217984">
                <a:moveTo>
                  <a:pt x="83954" y="217983"/>
                </a:moveTo>
                <a:lnTo>
                  <a:pt x="83184" y="217983"/>
                </a:lnTo>
                <a:lnTo>
                  <a:pt x="82411" y="217799"/>
                </a:lnTo>
                <a:lnTo>
                  <a:pt x="81705" y="217428"/>
                </a:lnTo>
                <a:lnTo>
                  <a:pt x="80116" y="216592"/>
                </a:lnTo>
                <a:lnTo>
                  <a:pt x="79123" y="214945"/>
                </a:lnTo>
                <a:lnTo>
                  <a:pt x="79123" y="213149"/>
                </a:lnTo>
                <a:lnTo>
                  <a:pt x="79123" y="120879"/>
                </a:lnTo>
                <a:lnTo>
                  <a:pt x="1131" y="7575"/>
                </a:lnTo>
                <a:lnTo>
                  <a:pt x="114" y="6095"/>
                </a:lnTo>
                <a:lnTo>
                  <a:pt x="0" y="4175"/>
                </a:lnTo>
                <a:lnTo>
                  <a:pt x="832" y="2587"/>
                </a:lnTo>
                <a:lnTo>
                  <a:pt x="1665" y="996"/>
                </a:lnTo>
                <a:lnTo>
                  <a:pt x="3317" y="0"/>
                </a:lnTo>
                <a:lnTo>
                  <a:pt x="5112" y="0"/>
                </a:lnTo>
                <a:lnTo>
                  <a:pt x="197645" y="0"/>
                </a:lnTo>
                <a:lnTo>
                  <a:pt x="199424" y="0"/>
                </a:lnTo>
                <a:lnTo>
                  <a:pt x="201058" y="976"/>
                </a:lnTo>
                <a:lnTo>
                  <a:pt x="201899" y="2539"/>
                </a:lnTo>
                <a:lnTo>
                  <a:pt x="202745" y="4103"/>
                </a:lnTo>
                <a:lnTo>
                  <a:pt x="202661" y="6006"/>
                </a:lnTo>
                <a:lnTo>
                  <a:pt x="201680" y="7491"/>
                </a:lnTo>
                <a:lnTo>
                  <a:pt x="127109" y="120826"/>
                </a:lnTo>
                <a:lnTo>
                  <a:pt x="127109" y="186825"/>
                </a:lnTo>
                <a:lnTo>
                  <a:pt x="127109" y="188418"/>
                </a:lnTo>
                <a:lnTo>
                  <a:pt x="126323" y="189906"/>
                </a:lnTo>
                <a:lnTo>
                  <a:pt x="125012" y="190809"/>
                </a:lnTo>
                <a:lnTo>
                  <a:pt x="86690" y="217134"/>
                </a:lnTo>
                <a:lnTo>
                  <a:pt x="85870" y="217698"/>
                </a:lnTo>
                <a:lnTo>
                  <a:pt x="84917" y="217983"/>
                </a:lnTo>
                <a:lnTo>
                  <a:pt x="83954" y="217983"/>
                </a:lnTo>
                <a:lnTo>
                  <a:pt x="14310" y="9669"/>
                </a:lnTo>
                <a:lnTo>
                  <a:pt x="87939" y="116639"/>
                </a:lnTo>
                <a:lnTo>
                  <a:pt x="88494" y="117447"/>
                </a:lnTo>
                <a:lnTo>
                  <a:pt x="88792" y="118400"/>
                </a:lnTo>
                <a:lnTo>
                  <a:pt x="88792" y="119379"/>
                </a:lnTo>
                <a:lnTo>
                  <a:pt x="88792" y="203964"/>
                </a:lnTo>
                <a:lnTo>
                  <a:pt x="117445" y="184281"/>
                </a:lnTo>
                <a:lnTo>
                  <a:pt x="117445" y="119379"/>
                </a:lnTo>
                <a:lnTo>
                  <a:pt x="117445" y="118433"/>
                </a:lnTo>
                <a:lnTo>
                  <a:pt x="117722" y="117512"/>
                </a:lnTo>
                <a:lnTo>
                  <a:pt x="118240" y="116723"/>
                </a:lnTo>
                <a:lnTo>
                  <a:pt x="188678" y="9669"/>
                </a:lnTo>
                <a:lnTo>
                  <a:pt x="14310" y="9669"/>
                </a:lnTo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55" name="FilterWhite" hidden="1">
            <a:extLst>
              <a:ext uri="{FF2B5EF4-FFF2-40B4-BE49-F238E27FC236}">
                <a16:creationId xmlns:a16="http://schemas.microsoft.com/office/drawing/2014/main" id="{6D68FF4A-05D9-4B19-B476-2F6C525E0E88}"/>
              </a:ext>
            </a:extLst>
          </p:cNvPr>
          <p:cNvGrpSpPr>
            <a:grpSpLocks noChangeAspect="1"/>
          </p:cNvGrpSpPr>
          <p:nvPr userDrawn="1">
            <p:custDataLst>
              <p:tags r:id="rId40"/>
            </p:custDataLst>
          </p:nvPr>
        </p:nvGrpSpPr>
        <p:grpSpPr>
          <a:xfrm>
            <a:off x="3235224" y="1765645"/>
            <a:ext cx="396228" cy="396228"/>
            <a:chOff x="1016000" y="1016000"/>
            <a:chExt cx="396228" cy="396228"/>
          </a:xfrm>
        </p:grpSpPr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9ADD0F7E-3AF7-46C9-A3E1-F62C41D03D83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88278604-48C5-4C6A-8888-2E3569EE06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58" name="FilterBlue" hidden="1">
            <a:extLst>
              <a:ext uri="{FF2B5EF4-FFF2-40B4-BE49-F238E27FC236}">
                <a16:creationId xmlns:a16="http://schemas.microsoft.com/office/drawing/2014/main" id="{5474AF20-0987-4FD5-979C-1A682194A66D}"/>
              </a:ext>
            </a:extLst>
          </p:cNvPr>
          <p:cNvGrpSpPr>
            <a:grpSpLocks noChangeAspect="1"/>
          </p:cNvGrpSpPr>
          <p:nvPr userDrawn="1">
            <p:custDataLst>
              <p:tags r:id="rId41"/>
            </p:custDataLst>
          </p:nvPr>
        </p:nvGrpSpPr>
        <p:grpSpPr>
          <a:xfrm>
            <a:off x="3235224" y="2352134"/>
            <a:ext cx="396228" cy="396228"/>
            <a:chOff x="1016000" y="1016000"/>
            <a:chExt cx="396228" cy="396228"/>
          </a:xfrm>
        </p:grpSpPr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0F5BA81D-1848-48A6-A26B-B7E5DC3B0E1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CACBB1FC-9DD2-400D-AFAC-8333BC5279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bg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61" name="Chevron" hidden="1">
            <a:extLst>
              <a:ext uri="{FF2B5EF4-FFF2-40B4-BE49-F238E27FC236}">
                <a16:creationId xmlns:a16="http://schemas.microsoft.com/office/drawing/2014/main" id="{DC75E446-1A7C-407A-B89E-82DA8F0E1490}"/>
              </a:ext>
            </a:extLst>
          </p:cNvPr>
          <p:cNvSpPr>
            <a:spLocks noChangeAspect="1"/>
          </p:cNvSpPr>
          <p:nvPr userDrawn="1">
            <p:custDataLst>
              <p:tags r:id="rId42"/>
            </p:custDataLst>
          </p:nvPr>
        </p:nvSpPr>
        <p:spPr>
          <a:xfrm>
            <a:off x="3370045" y="3017414"/>
            <a:ext cx="126587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62" name="ChevronWhite" hidden="1">
            <a:extLst>
              <a:ext uri="{FF2B5EF4-FFF2-40B4-BE49-F238E27FC236}">
                <a16:creationId xmlns:a16="http://schemas.microsoft.com/office/drawing/2014/main" id="{52A0B6F0-DEFB-4E69-9C31-32A377FC0BEC}"/>
              </a:ext>
            </a:extLst>
          </p:cNvPr>
          <p:cNvGrpSpPr>
            <a:grpSpLocks noChangeAspect="1"/>
          </p:cNvGrpSpPr>
          <p:nvPr userDrawn="1">
            <p:custDataLst>
              <p:tags r:id="rId43"/>
            </p:custDataLst>
          </p:nvPr>
        </p:nvGrpSpPr>
        <p:grpSpPr>
          <a:xfrm>
            <a:off x="3235224" y="3563463"/>
            <a:ext cx="396228" cy="396228"/>
            <a:chOff x="1016000" y="1016000"/>
            <a:chExt cx="396228" cy="396228"/>
          </a:xfrm>
        </p:grpSpPr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1A76E20B-0207-48C1-87E7-C87D7609C81E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FEC039-7EAB-4585-8E9B-B03FD77115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chemeClr val="tx2"/>
            </a:solidFill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5" name="ChevronBlue" hidden="1">
            <a:extLst>
              <a:ext uri="{FF2B5EF4-FFF2-40B4-BE49-F238E27FC236}">
                <a16:creationId xmlns:a16="http://schemas.microsoft.com/office/drawing/2014/main" id="{27EA86D3-85EB-486E-924F-CC30C668AD6D}"/>
              </a:ext>
            </a:extLst>
          </p:cNvPr>
          <p:cNvGrpSpPr>
            <a:grpSpLocks noChangeAspect="1"/>
          </p:cNvGrpSpPr>
          <p:nvPr userDrawn="1">
            <p:custDataLst>
              <p:tags r:id="rId44"/>
            </p:custDataLst>
          </p:nvPr>
        </p:nvGrpSpPr>
        <p:grpSpPr>
          <a:xfrm>
            <a:off x="3235224" y="4142332"/>
            <a:ext cx="396228" cy="396228"/>
            <a:chOff x="1016000" y="1016000"/>
            <a:chExt cx="396228" cy="396228"/>
          </a:xfrm>
        </p:grpSpPr>
        <p:sp>
          <p:nvSpPr>
            <p:cNvPr id="266" name="Oval">
              <a:extLst>
                <a:ext uri="{FF2B5EF4-FFF2-40B4-BE49-F238E27FC236}">
                  <a16:creationId xmlns:a16="http://schemas.microsoft.com/office/drawing/2014/main" id="{D5542968-FFCC-4FCD-A7E1-C8B93F7CDD7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7" name="Freeform: Shape">
              <a:extLst>
                <a:ext uri="{FF2B5EF4-FFF2-40B4-BE49-F238E27FC236}">
                  <a16:creationId xmlns:a16="http://schemas.microsoft.com/office/drawing/2014/main" id="{8DB4446B-0FAE-4768-BFD8-6201B5E208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8" name="LineArrowWhite" hidden="1">
            <a:extLst>
              <a:ext uri="{FF2B5EF4-FFF2-40B4-BE49-F238E27FC236}">
                <a16:creationId xmlns:a16="http://schemas.microsoft.com/office/drawing/2014/main" id="{7E4FE895-A694-4CD7-B7FC-D28EA0FAA7B3}"/>
              </a:ext>
            </a:extLst>
          </p:cNvPr>
          <p:cNvGrpSpPr>
            <a:grpSpLocks noChangeAspect="1"/>
          </p:cNvGrpSpPr>
          <p:nvPr userDrawn="1">
            <p:custDataLst>
              <p:tags r:id="rId45"/>
            </p:custDataLst>
          </p:nvPr>
        </p:nvGrpSpPr>
        <p:grpSpPr>
          <a:xfrm>
            <a:off x="3235224" y="5269841"/>
            <a:ext cx="396228" cy="396228"/>
            <a:chOff x="1016000" y="1016000"/>
            <a:chExt cx="396228" cy="396228"/>
          </a:xfrm>
        </p:grpSpPr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CA052EDA-5979-495F-94F8-2F27975E375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3D3C9B4B-20FD-4C22-95B1-554FDC078F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1" name="Asterisk" hidden="1">
            <a:extLst>
              <a:ext uri="{FF2B5EF4-FFF2-40B4-BE49-F238E27FC236}">
                <a16:creationId xmlns:a16="http://schemas.microsoft.com/office/drawing/2014/main" id="{E7A5E89F-7760-4485-8B60-6187E58D3169}"/>
              </a:ext>
            </a:extLst>
          </p:cNvPr>
          <p:cNvSpPr>
            <a:spLocks noChangeAspect="1"/>
          </p:cNvSpPr>
          <p:nvPr userDrawn="1">
            <p:custDataLst>
              <p:tags r:id="rId46"/>
            </p:custDataLst>
          </p:nvPr>
        </p:nvSpPr>
        <p:spPr>
          <a:xfrm>
            <a:off x="4245411" y="4775817"/>
            <a:ext cx="240772" cy="240773"/>
          </a:xfrm>
          <a:custGeom>
            <a:avLst/>
            <a:gdLst/>
            <a:ahLst/>
            <a:cxnLst/>
            <a:rect l="0" t="0" r="0" b="0"/>
            <a:pathLst>
              <a:path w="240773" h="240774">
                <a:moveTo>
                  <a:pt x="236149" y="115764"/>
                </a:moveTo>
                <a:lnTo>
                  <a:pt x="131560" y="115764"/>
                </a:lnTo>
                <a:lnTo>
                  <a:pt x="210505" y="36820"/>
                </a:lnTo>
                <a:lnTo>
                  <a:pt x="212313" y="35010"/>
                </a:lnTo>
                <a:lnTo>
                  <a:pt x="212313" y="32076"/>
                </a:lnTo>
                <a:lnTo>
                  <a:pt x="210505" y="30268"/>
                </a:lnTo>
                <a:lnTo>
                  <a:pt x="208695" y="28458"/>
                </a:lnTo>
                <a:lnTo>
                  <a:pt x="205761" y="28458"/>
                </a:lnTo>
                <a:lnTo>
                  <a:pt x="203951" y="30268"/>
                </a:lnTo>
                <a:lnTo>
                  <a:pt x="125008" y="109212"/>
                </a:lnTo>
                <a:lnTo>
                  <a:pt x="125008" y="4623"/>
                </a:lnTo>
                <a:lnTo>
                  <a:pt x="125008" y="2049"/>
                </a:lnTo>
                <a:lnTo>
                  <a:pt x="122959" y="0"/>
                </a:lnTo>
                <a:lnTo>
                  <a:pt x="120384" y="0"/>
                </a:lnTo>
                <a:lnTo>
                  <a:pt x="117812" y="0"/>
                </a:lnTo>
                <a:lnTo>
                  <a:pt x="115763" y="2049"/>
                </a:lnTo>
                <a:lnTo>
                  <a:pt x="115763" y="4623"/>
                </a:lnTo>
                <a:lnTo>
                  <a:pt x="115763" y="109212"/>
                </a:lnTo>
                <a:lnTo>
                  <a:pt x="36818" y="30268"/>
                </a:lnTo>
                <a:lnTo>
                  <a:pt x="35009" y="28458"/>
                </a:lnTo>
                <a:lnTo>
                  <a:pt x="32075" y="28458"/>
                </a:lnTo>
                <a:lnTo>
                  <a:pt x="30266" y="30268"/>
                </a:lnTo>
                <a:lnTo>
                  <a:pt x="28457" y="32076"/>
                </a:lnTo>
                <a:lnTo>
                  <a:pt x="28457" y="35010"/>
                </a:lnTo>
                <a:lnTo>
                  <a:pt x="30266" y="36820"/>
                </a:lnTo>
                <a:lnTo>
                  <a:pt x="109211" y="115764"/>
                </a:lnTo>
                <a:lnTo>
                  <a:pt x="4621" y="115764"/>
                </a:lnTo>
                <a:lnTo>
                  <a:pt x="2049" y="115764"/>
                </a:lnTo>
                <a:lnTo>
                  <a:pt x="0" y="117814"/>
                </a:lnTo>
                <a:lnTo>
                  <a:pt x="0" y="120385"/>
                </a:lnTo>
                <a:lnTo>
                  <a:pt x="0" y="122959"/>
                </a:lnTo>
                <a:lnTo>
                  <a:pt x="2049" y="125010"/>
                </a:lnTo>
                <a:lnTo>
                  <a:pt x="4621" y="125010"/>
                </a:lnTo>
                <a:lnTo>
                  <a:pt x="109211" y="125010"/>
                </a:lnTo>
                <a:lnTo>
                  <a:pt x="30266" y="203953"/>
                </a:lnTo>
                <a:lnTo>
                  <a:pt x="28457" y="205763"/>
                </a:lnTo>
                <a:lnTo>
                  <a:pt x="28457" y="208696"/>
                </a:lnTo>
                <a:lnTo>
                  <a:pt x="30266" y="210505"/>
                </a:lnTo>
                <a:lnTo>
                  <a:pt x="31150" y="211390"/>
                </a:lnTo>
                <a:lnTo>
                  <a:pt x="32357" y="211872"/>
                </a:lnTo>
                <a:lnTo>
                  <a:pt x="33521" y="211872"/>
                </a:lnTo>
                <a:lnTo>
                  <a:pt x="34689" y="211872"/>
                </a:lnTo>
                <a:lnTo>
                  <a:pt x="35893" y="211430"/>
                </a:lnTo>
                <a:lnTo>
                  <a:pt x="36778" y="210505"/>
                </a:lnTo>
                <a:lnTo>
                  <a:pt x="115722" y="131561"/>
                </a:lnTo>
                <a:lnTo>
                  <a:pt x="115722" y="236150"/>
                </a:lnTo>
                <a:lnTo>
                  <a:pt x="115722" y="238723"/>
                </a:lnTo>
                <a:lnTo>
                  <a:pt x="117772" y="240773"/>
                </a:lnTo>
                <a:lnTo>
                  <a:pt x="120345" y="240773"/>
                </a:lnTo>
                <a:lnTo>
                  <a:pt x="122918" y="240773"/>
                </a:lnTo>
                <a:lnTo>
                  <a:pt x="124967" y="238723"/>
                </a:lnTo>
                <a:lnTo>
                  <a:pt x="124967" y="236150"/>
                </a:lnTo>
                <a:lnTo>
                  <a:pt x="124967" y="131561"/>
                </a:lnTo>
                <a:lnTo>
                  <a:pt x="203912" y="210505"/>
                </a:lnTo>
                <a:lnTo>
                  <a:pt x="204796" y="211390"/>
                </a:lnTo>
                <a:lnTo>
                  <a:pt x="206002" y="211872"/>
                </a:lnTo>
                <a:lnTo>
                  <a:pt x="207168" y="211872"/>
                </a:lnTo>
                <a:lnTo>
                  <a:pt x="208334" y="211872"/>
                </a:lnTo>
                <a:lnTo>
                  <a:pt x="209539" y="211430"/>
                </a:lnTo>
                <a:lnTo>
                  <a:pt x="210424" y="210505"/>
                </a:lnTo>
                <a:lnTo>
                  <a:pt x="212233" y="208696"/>
                </a:lnTo>
                <a:lnTo>
                  <a:pt x="212233" y="205763"/>
                </a:lnTo>
                <a:lnTo>
                  <a:pt x="210424" y="203953"/>
                </a:lnTo>
                <a:lnTo>
                  <a:pt x="131479" y="125010"/>
                </a:lnTo>
                <a:lnTo>
                  <a:pt x="236149" y="125010"/>
                </a:lnTo>
                <a:lnTo>
                  <a:pt x="238721" y="125010"/>
                </a:lnTo>
                <a:lnTo>
                  <a:pt x="240772" y="122959"/>
                </a:lnTo>
                <a:lnTo>
                  <a:pt x="240772" y="120385"/>
                </a:lnTo>
                <a:lnTo>
                  <a:pt x="240772" y="117814"/>
                </a:lnTo>
                <a:lnTo>
                  <a:pt x="238721" y="115764"/>
                </a:lnTo>
                <a:close/>
              </a:path>
            </a:pathLst>
          </a:custGeom>
          <a:solidFill>
            <a:schemeClr val="tx2"/>
          </a:solidFill>
          <a:ln w="12700" cap="sq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2" name="AsteriskWhite" hidden="1">
            <a:extLst>
              <a:ext uri="{FF2B5EF4-FFF2-40B4-BE49-F238E27FC236}">
                <a16:creationId xmlns:a16="http://schemas.microsoft.com/office/drawing/2014/main" id="{2FA82C04-C2F6-4218-B6FC-3F722BB53643}"/>
              </a:ext>
            </a:extLst>
          </p:cNvPr>
          <p:cNvGrpSpPr>
            <a:grpSpLocks noChangeAspect="1"/>
          </p:cNvGrpSpPr>
          <p:nvPr userDrawn="1">
            <p:custDataLst>
              <p:tags r:id="rId47"/>
            </p:custDataLst>
          </p:nvPr>
        </p:nvGrpSpPr>
        <p:grpSpPr>
          <a:xfrm>
            <a:off x="4167683" y="5284579"/>
            <a:ext cx="396228" cy="396228"/>
            <a:chOff x="1016000" y="1016000"/>
            <a:chExt cx="396228" cy="396228"/>
          </a:xfrm>
        </p:grpSpPr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3EBE5DC4-07AB-405C-A5F0-60B4A13EA44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A8321D18-42DA-4B54-9618-0A81009452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75" name="AsteriskBlue" hidden="1">
            <a:extLst>
              <a:ext uri="{FF2B5EF4-FFF2-40B4-BE49-F238E27FC236}">
                <a16:creationId xmlns:a16="http://schemas.microsoft.com/office/drawing/2014/main" id="{C2CC9B35-735E-45D9-8CAB-B22E5A0068FC}"/>
              </a:ext>
            </a:extLst>
          </p:cNvPr>
          <p:cNvGrpSpPr>
            <a:grpSpLocks noChangeAspect="1"/>
          </p:cNvGrpSpPr>
          <p:nvPr userDrawn="1">
            <p:custDataLst>
              <p:tags r:id="rId48"/>
            </p:custDataLst>
          </p:nvPr>
        </p:nvGrpSpPr>
        <p:grpSpPr>
          <a:xfrm>
            <a:off x="4167683" y="5871065"/>
            <a:ext cx="396228" cy="396228"/>
            <a:chOff x="1016000" y="1016000"/>
            <a:chExt cx="396228" cy="396228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C3F35EFC-EE0A-4382-9791-14D10893BCE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6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BBF6FF68-86FA-4DB1-BCC5-C916AA763F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8" name="LineArrow" hidden="1">
            <a:extLst>
              <a:ext uri="{FF2B5EF4-FFF2-40B4-BE49-F238E27FC236}">
                <a16:creationId xmlns:a16="http://schemas.microsoft.com/office/drawing/2014/main" id="{683393F0-1C2E-4DF7-BB01-D01E30AF7633}"/>
              </a:ext>
            </a:extLst>
          </p:cNvPr>
          <p:cNvSpPr>
            <a:spLocks noChangeAspect="1"/>
          </p:cNvSpPr>
          <p:nvPr userDrawn="1">
            <p:custDataLst>
              <p:tags r:id="rId49"/>
            </p:custDataLst>
          </p:nvPr>
        </p:nvSpPr>
        <p:spPr>
          <a:xfrm>
            <a:off x="3260099" y="4780426"/>
            <a:ext cx="326774" cy="231556"/>
          </a:xfrm>
          <a:custGeom>
            <a:avLst/>
            <a:gdLst/>
            <a:ahLst/>
            <a:cxnLst/>
            <a:rect l="0" t="0" r="0" b="0"/>
            <a:pathLst>
              <a:path w="270576" h="191733">
                <a:moveTo>
                  <a:pt x="268764" y="99351"/>
                </a:moveTo>
                <a:lnTo>
                  <a:pt x="177792" y="190362"/>
                </a:lnTo>
                <a:lnTo>
                  <a:pt x="176904" y="191249"/>
                </a:lnTo>
                <a:lnTo>
                  <a:pt x="175697" y="191732"/>
                </a:lnTo>
                <a:lnTo>
                  <a:pt x="174528" y="191732"/>
                </a:lnTo>
                <a:lnTo>
                  <a:pt x="173360" y="191732"/>
                </a:lnTo>
                <a:lnTo>
                  <a:pt x="172151" y="191289"/>
                </a:lnTo>
                <a:lnTo>
                  <a:pt x="171264" y="190362"/>
                </a:lnTo>
                <a:lnTo>
                  <a:pt x="169452" y="188549"/>
                </a:lnTo>
                <a:lnTo>
                  <a:pt x="169452" y="185608"/>
                </a:lnTo>
                <a:lnTo>
                  <a:pt x="171264" y="183794"/>
                </a:lnTo>
                <a:lnTo>
                  <a:pt x="254098" y="100923"/>
                </a:lnTo>
                <a:lnTo>
                  <a:pt x="4633" y="100923"/>
                </a:lnTo>
                <a:lnTo>
                  <a:pt x="2053" y="100923"/>
                </a:lnTo>
                <a:lnTo>
                  <a:pt x="0" y="98868"/>
                </a:lnTo>
                <a:lnTo>
                  <a:pt x="0" y="96289"/>
                </a:lnTo>
                <a:lnTo>
                  <a:pt x="0" y="93711"/>
                </a:lnTo>
                <a:lnTo>
                  <a:pt x="2053" y="91656"/>
                </a:lnTo>
                <a:lnTo>
                  <a:pt x="4633" y="91656"/>
                </a:lnTo>
                <a:lnTo>
                  <a:pt x="254502" y="91656"/>
                </a:lnTo>
                <a:lnTo>
                  <a:pt x="171225" y="8381"/>
                </a:lnTo>
                <a:lnTo>
                  <a:pt x="169411" y="6568"/>
                </a:lnTo>
                <a:lnTo>
                  <a:pt x="169411" y="3626"/>
                </a:lnTo>
                <a:lnTo>
                  <a:pt x="171225" y="1812"/>
                </a:lnTo>
                <a:lnTo>
                  <a:pt x="173038" y="0"/>
                </a:lnTo>
                <a:lnTo>
                  <a:pt x="175979" y="0"/>
                </a:lnTo>
                <a:lnTo>
                  <a:pt x="177792" y="1812"/>
                </a:lnTo>
                <a:lnTo>
                  <a:pt x="268764" y="92784"/>
                </a:lnTo>
                <a:lnTo>
                  <a:pt x="270575" y="94638"/>
                </a:lnTo>
                <a:lnTo>
                  <a:pt x="270575" y="97539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9" name="DoubleArrowWhite" hidden="1">
            <a:extLst>
              <a:ext uri="{FF2B5EF4-FFF2-40B4-BE49-F238E27FC236}">
                <a16:creationId xmlns:a16="http://schemas.microsoft.com/office/drawing/2014/main" id="{7CF783B8-282C-43C3-9919-98D894BE6107}"/>
              </a:ext>
            </a:extLst>
          </p:cNvPr>
          <p:cNvGrpSpPr>
            <a:grpSpLocks noChangeAspect="1"/>
          </p:cNvGrpSpPr>
          <p:nvPr userDrawn="1">
            <p:custDataLst>
              <p:tags r:id="rId50"/>
            </p:custDataLst>
          </p:nvPr>
        </p:nvGrpSpPr>
        <p:grpSpPr>
          <a:xfrm>
            <a:off x="4167683" y="1765645"/>
            <a:ext cx="396228" cy="396228"/>
            <a:chOff x="1016000" y="1016000"/>
            <a:chExt cx="396228" cy="396228"/>
          </a:xfrm>
        </p:grpSpPr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EA618A26-166F-470F-BABA-2A570E68E5F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1" name="Graphic 280">
              <a:extLst>
                <a:ext uri="{FF2B5EF4-FFF2-40B4-BE49-F238E27FC236}">
                  <a16:creationId xmlns:a16="http://schemas.microsoft.com/office/drawing/2014/main" id="{E57F8461-4500-4C67-9858-DCFED4763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>
              <a:extLst>
                <a:ext uri="{96DAC541-7B7A-43D3-8B79-37D633B846F1}">
                  <asvg:svgBlip xmlns:asvg="http://schemas.microsoft.com/office/drawing/2016/SVG/main" r:embed="rId84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2" name="DoubleArrowBlue" hidden="1">
            <a:extLst>
              <a:ext uri="{FF2B5EF4-FFF2-40B4-BE49-F238E27FC236}">
                <a16:creationId xmlns:a16="http://schemas.microsoft.com/office/drawing/2014/main" id="{D2F8DAA2-D321-41B1-933B-06C4135F6C42}"/>
              </a:ext>
            </a:extLst>
          </p:cNvPr>
          <p:cNvGrpSpPr>
            <a:grpSpLocks noChangeAspect="1"/>
          </p:cNvGrpSpPr>
          <p:nvPr userDrawn="1">
            <p:custDataLst>
              <p:tags r:id="rId51"/>
            </p:custDataLst>
          </p:nvPr>
        </p:nvGrpSpPr>
        <p:grpSpPr>
          <a:xfrm>
            <a:off x="4167683" y="2352134"/>
            <a:ext cx="396228" cy="396228"/>
            <a:chOff x="1016000" y="1016000"/>
            <a:chExt cx="396228" cy="396228"/>
          </a:xfrm>
        </p:grpSpPr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FDA897A6-3557-4DB8-8C21-06AC7AD54E45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4" name="Graphic 283">
              <a:extLst>
                <a:ext uri="{FF2B5EF4-FFF2-40B4-BE49-F238E27FC236}">
                  <a16:creationId xmlns:a16="http://schemas.microsoft.com/office/drawing/2014/main" id="{D361B91D-CD48-417F-9959-EF45A3EF6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>
              <a:extLst>
                <a:ext uri="{96DAC541-7B7A-43D3-8B79-37D633B846F1}">
                  <asvg:svgBlip xmlns:asvg="http://schemas.microsoft.com/office/drawing/2016/SVG/main" r:embed="rId86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5" name="MinusSignBlue" hidden="1">
            <a:extLst>
              <a:ext uri="{FF2B5EF4-FFF2-40B4-BE49-F238E27FC236}">
                <a16:creationId xmlns:a16="http://schemas.microsoft.com/office/drawing/2014/main" id="{3AF33939-7012-4441-94C8-9FC567D64A86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4111601"/>
            <a:ext cx="396228" cy="396228"/>
            <a:chOff x="5774102" y="5004016"/>
            <a:chExt cx="205180" cy="205180"/>
          </a:xfrm>
        </p:grpSpPr>
        <p:sp>
          <p:nvSpPr>
            <p:cNvPr id="286" name="Oval 43">
              <a:extLst>
                <a:ext uri="{FF2B5EF4-FFF2-40B4-BE49-F238E27FC236}">
                  <a16:creationId xmlns:a16="http://schemas.microsoft.com/office/drawing/2014/main" id="{82D33441-617D-4C6D-AEC1-ABAEEA3D6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72C7068-D98E-48D9-BC86-EDF9B0930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88" name="MinusSign" hidden="1">
            <a:extLst>
              <a:ext uri="{FF2B5EF4-FFF2-40B4-BE49-F238E27FC236}">
                <a16:creationId xmlns:a16="http://schemas.microsoft.com/office/drawing/2014/main" id="{D3C62045-19CB-472C-B904-F75FF95E6E4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083558" y="3136737"/>
            <a:ext cx="159233" cy="0"/>
          </a:xfrm>
          <a:prstGeom prst="line">
            <a:avLst/>
          </a:pr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ru-RU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89" name="EqualSignBlue" hidden="1">
            <a:extLst>
              <a:ext uri="{FF2B5EF4-FFF2-40B4-BE49-F238E27FC236}">
                <a16:creationId xmlns:a16="http://schemas.microsoft.com/office/drawing/2014/main" id="{C251ACB4-3817-4B99-81EF-3319F8D753D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2352134"/>
            <a:ext cx="396228" cy="396228"/>
            <a:chOff x="5628456" y="6080974"/>
            <a:chExt cx="252000" cy="252000"/>
          </a:xfrm>
        </p:grpSpPr>
        <p:sp>
          <p:nvSpPr>
            <p:cNvPr id="290" name="Oval 43">
              <a:extLst>
                <a:ext uri="{FF2B5EF4-FFF2-40B4-BE49-F238E27FC236}">
                  <a16:creationId xmlns:a16="http://schemas.microsoft.com/office/drawing/2014/main" id="{9AA5579B-1DB7-4BD6-8C0E-81625EF19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92406EAB-65AA-4D84-A777-53F398C185FF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92" name="Line 44">
                <a:extLst>
                  <a:ext uri="{FF2B5EF4-FFF2-40B4-BE49-F238E27FC236}">
                    <a16:creationId xmlns:a16="http://schemas.microsoft.com/office/drawing/2014/main" id="{DDEB8513-3D78-4F1B-AD9A-644B4E1529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93" name="Line 44">
                <a:extLst>
                  <a:ext uri="{FF2B5EF4-FFF2-40B4-BE49-F238E27FC236}">
                    <a16:creationId xmlns:a16="http://schemas.microsoft.com/office/drawing/2014/main" id="{BC3D9BDF-0AEA-4D17-BC88-51987C5C28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294" name="EqualSign" hidden="1">
            <a:extLst>
              <a:ext uri="{FF2B5EF4-FFF2-40B4-BE49-F238E27FC236}">
                <a16:creationId xmlns:a16="http://schemas.microsoft.com/office/drawing/2014/main" id="{F9D1581B-944D-4374-A0E8-A0DB5FC42E41}"/>
              </a:ext>
            </a:extLst>
          </p:cNvPr>
          <p:cNvGrpSpPr/>
          <p:nvPr userDrawn="1"/>
        </p:nvGrpSpPr>
        <p:grpSpPr>
          <a:xfrm>
            <a:off x="7083558" y="1390066"/>
            <a:ext cx="159233" cy="66370"/>
            <a:chOff x="7235957" y="2669464"/>
            <a:chExt cx="159233" cy="66370"/>
          </a:xfrm>
        </p:grpSpPr>
        <p:sp>
          <p:nvSpPr>
            <p:cNvPr id="295" name="Line 44">
              <a:extLst>
                <a:ext uri="{FF2B5EF4-FFF2-40B4-BE49-F238E27FC236}">
                  <a16:creationId xmlns:a16="http://schemas.microsoft.com/office/drawing/2014/main" id="{9205093A-0A04-4022-AF99-5B3C7BB5B50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73583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96" name="Line 44">
              <a:extLst>
                <a:ext uri="{FF2B5EF4-FFF2-40B4-BE49-F238E27FC236}">
                  <a16:creationId xmlns:a16="http://schemas.microsoft.com/office/drawing/2014/main" id="{56DFEE37-A213-4E24-A840-D67F24A902D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66946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97" name="DivisionSignWhite" hidden="1">
            <a:extLst>
              <a:ext uri="{FF2B5EF4-FFF2-40B4-BE49-F238E27FC236}">
                <a16:creationId xmlns:a16="http://schemas.microsoft.com/office/drawing/2014/main" id="{342C481E-2771-4037-84DD-5DFA03611397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3547219"/>
            <a:ext cx="396228" cy="396228"/>
            <a:chOff x="5774102" y="5625318"/>
            <a:chExt cx="205180" cy="205180"/>
          </a:xfrm>
        </p:grpSpPr>
        <p:sp>
          <p:nvSpPr>
            <p:cNvPr id="298" name="Oval 43">
              <a:extLst>
                <a:ext uri="{FF2B5EF4-FFF2-40B4-BE49-F238E27FC236}">
                  <a16:creationId xmlns:a16="http://schemas.microsoft.com/office/drawing/2014/main" id="{C7CBA324-6D65-4917-9123-3BFDAE3EF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625318"/>
              <a:ext cx="205180" cy="20518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0E075EA0-546C-49D4-9910-1DCF7A86425C}"/>
                </a:ext>
              </a:extLst>
            </p:cNvPr>
            <p:cNvGrpSpPr/>
            <p:nvPr/>
          </p:nvGrpSpPr>
          <p:grpSpPr>
            <a:xfrm>
              <a:off x="5835464" y="5693540"/>
              <a:ext cx="82456" cy="68736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0" name="Line 44">
                <a:extLst>
                  <a:ext uri="{FF2B5EF4-FFF2-40B4-BE49-F238E27FC236}">
                    <a16:creationId xmlns:a16="http://schemas.microsoft.com/office/drawing/2014/main" id="{5E43A480-7A7B-4771-892C-B92B9BB74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1" name="Line 44">
                <a:extLst>
                  <a:ext uri="{FF2B5EF4-FFF2-40B4-BE49-F238E27FC236}">
                    <a16:creationId xmlns:a16="http://schemas.microsoft.com/office/drawing/2014/main" id="{1902D586-D66B-4A9C-84DA-067501F33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dirty="0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2" name="Line 44">
                <a:extLst>
                  <a:ext uri="{FF2B5EF4-FFF2-40B4-BE49-F238E27FC236}">
                    <a16:creationId xmlns:a16="http://schemas.microsoft.com/office/drawing/2014/main" id="{D100CDD8-5813-44CC-9144-01079AFE90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3" name="DivisionSignBlue" hidden="1">
            <a:extLst>
              <a:ext uri="{FF2B5EF4-FFF2-40B4-BE49-F238E27FC236}">
                <a16:creationId xmlns:a16="http://schemas.microsoft.com/office/drawing/2014/main" id="{9F91621D-FE96-4B12-BD91-1E7BC85E6913}"/>
              </a:ext>
            </a:extLst>
          </p:cNvPr>
          <p:cNvGrpSpPr/>
          <p:nvPr userDrawn="1"/>
        </p:nvGrpSpPr>
        <p:grpSpPr>
          <a:xfrm>
            <a:off x="6032601" y="4133705"/>
            <a:ext cx="396228" cy="396228"/>
            <a:chOff x="6032601" y="5871065"/>
            <a:chExt cx="396228" cy="396228"/>
          </a:xfrm>
        </p:grpSpPr>
        <p:sp>
          <p:nvSpPr>
            <p:cNvPr id="304" name="Oval 43">
              <a:extLst>
                <a:ext uri="{FF2B5EF4-FFF2-40B4-BE49-F238E27FC236}">
                  <a16:creationId xmlns:a16="http://schemas.microsoft.com/office/drawing/2014/main" id="{767D1444-1A4F-43AC-B6E8-B204EE2CB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601" y="5871065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3283AF53-7299-4A7A-87B1-6F0C95BFE917}"/>
                </a:ext>
              </a:extLst>
            </p:cNvPr>
            <p:cNvGrpSpPr/>
            <p:nvPr/>
          </p:nvGrpSpPr>
          <p:grpSpPr>
            <a:xfrm>
              <a:off x="6151099" y="6002810"/>
              <a:ext cx="159233" cy="132738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6" name="Line 44">
                <a:extLst>
                  <a:ext uri="{FF2B5EF4-FFF2-40B4-BE49-F238E27FC236}">
                    <a16:creationId xmlns:a16="http://schemas.microsoft.com/office/drawing/2014/main" id="{29ED7400-C0F5-4DB4-8DBE-E5FD1C1DF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7" name="Line 44">
                <a:extLst>
                  <a:ext uri="{FF2B5EF4-FFF2-40B4-BE49-F238E27FC236}">
                    <a16:creationId xmlns:a16="http://schemas.microsoft.com/office/drawing/2014/main" id="{3D022D5C-B547-497E-A4E3-58F2B22FD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8" name="Line 44">
                <a:extLst>
                  <a:ext uri="{FF2B5EF4-FFF2-40B4-BE49-F238E27FC236}">
                    <a16:creationId xmlns:a16="http://schemas.microsoft.com/office/drawing/2014/main" id="{8843BE29-0938-40BF-95EC-040F1323B9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9" name="DivisionSign" hidden="1">
            <a:extLst>
              <a:ext uri="{FF2B5EF4-FFF2-40B4-BE49-F238E27FC236}">
                <a16:creationId xmlns:a16="http://schemas.microsoft.com/office/drawing/2014/main" id="{7EDFE250-3D01-4807-BFD2-79CAFE7F021B}"/>
              </a:ext>
            </a:extLst>
          </p:cNvPr>
          <p:cNvGrpSpPr/>
          <p:nvPr userDrawn="1"/>
        </p:nvGrpSpPr>
        <p:grpSpPr>
          <a:xfrm>
            <a:off x="6151099" y="3092475"/>
            <a:ext cx="159233" cy="132738"/>
            <a:chOff x="6703549" y="6002810"/>
            <a:chExt cx="159233" cy="132738"/>
          </a:xfrm>
        </p:grpSpPr>
        <p:sp>
          <p:nvSpPr>
            <p:cNvPr id="310" name="Line 44">
              <a:extLst>
                <a:ext uri="{FF2B5EF4-FFF2-40B4-BE49-F238E27FC236}">
                  <a16:creationId xmlns:a16="http://schemas.microsoft.com/office/drawing/2014/main" id="{1B656512-52DA-4604-BE71-04D238927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3549" y="6069179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1" name="Line 44">
              <a:extLst>
                <a:ext uri="{FF2B5EF4-FFF2-40B4-BE49-F238E27FC236}">
                  <a16:creationId xmlns:a16="http://schemas.microsoft.com/office/drawing/2014/main" id="{E27C268B-104C-40CE-BD84-B8D9B8608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002810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2" name="Line 44">
              <a:extLst>
                <a:ext uri="{FF2B5EF4-FFF2-40B4-BE49-F238E27FC236}">
                  <a16:creationId xmlns:a16="http://schemas.microsoft.com/office/drawing/2014/main" id="{639BECC2-F9BB-4F61-8B10-AC459AEB9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135548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3" name="PlusSignWhite" hidden="1">
            <a:extLst>
              <a:ext uri="{FF2B5EF4-FFF2-40B4-BE49-F238E27FC236}">
                <a16:creationId xmlns:a16="http://schemas.microsoft.com/office/drawing/2014/main" id="{1EB82B89-1DA5-467E-A27B-77F04EA36BFB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1765645"/>
            <a:ext cx="396228" cy="396228"/>
            <a:chOff x="5774102" y="5312478"/>
            <a:chExt cx="205180" cy="205180"/>
          </a:xfrm>
        </p:grpSpPr>
        <p:sp>
          <p:nvSpPr>
            <p:cNvPr id="314" name="Oval 40">
              <a:extLst>
                <a:ext uri="{FF2B5EF4-FFF2-40B4-BE49-F238E27FC236}">
                  <a16:creationId xmlns:a16="http://schemas.microsoft.com/office/drawing/2014/main" id="{4C827BB0-2AEC-4809-B220-A4886CCF9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60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5" name="Line 41">
              <a:extLst>
                <a:ext uri="{FF2B5EF4-FFF2-40B4-BE49-F238E27FC236}">
                  <a16:creationId xmlns:a16="http://schemas.microsoft.com/office/drawing/2014/main" id="{979EDF2F-A554-4F9E-94B1-8EFBAE43F4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6" name="Line 42">
              <a:extLst>
                <a:ext uri="{FF2B5EF4-FFF2-40B4-BE49-F238E27FC236}">
                  <a16:creationId xmlns:a16="http://schemas.microsoft.com/office/drawing/2014/main" id="{B4CF1EFF-207E-4B34-9369-CA5077E82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7" name="PlusSignBlue" hidden="1">
            <a:extLst>
              <a:ext uri="{FF2B5EF4-FFF2-40B4-BE49-F238E27FC236}">
                <a16:creationId xmlns:a16="http://schemas.microsoft.com/office/drawing/2014/main" id="{4E733F3E-AA8E-497B-841C-40ED51984548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2352134"/>
            <a:ext cx="396228" cy="396228"/>
            <a:chOff x="5774102" y="5312478"/>
            <a:chExt cx="205180" cy="205180"/>
          </a:xfrm>
        </p:grpSpPr>
        <p:sp>
          <p:nvSpPr>
            <p:cNvPr id="318" name="Oval 40">
              <a:extLst>
                <a:ext uri="{FF2B5EF4-FFF2-40B4-BE49-F238E27FC236}">
                  <a16:creationId xmlns:a16="http://schemas.microsoft.com/office/drawing/2014/main" id="{840053CE-6498-4349-B264-CD8327D85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9" name="Line 41">
              <a:extLst>
                <a:ext uri="{FF2B5EF4-FFF2-40B4-BE49-F238E27FC236}">
                  <a16:creationId xmlns:a16="http://schemas.microsoft.com/office/drawing/2014/main" id="{2DFBC0C5-EA16-48C1-9C9E-A9F097438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0" name="Line 42">
              <a:extLst>
                <a:ext uri="{FF2B5EF4-FFF2-40B4-BE49-F238E27FC236}">
                  <a16:creationId xmlns:a16="http://schemas.microsoft.com/office/drawing/2014/main" id="{4DE68072-921B-4CD0-AB56-AAD833C3B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21" name="PlusSign" hidden="1">
            <a:extLst>
              <a:ext uri="{FF2B5EF4-FFF2-40B4-BE49-F238E27FC236}">
                <a16:creationId xmlns:a16="http://schemas.microsoft.com/office/drawing/2014/main" id="{6D2B9035-C1A1-4D76-903C-4205636C324C}"/>
              </a:ext>
            </a:extLst>
          </p:cNvPr>
          <p:cNvGrpSpPr/>
          <p:nvPr userDrawn="1"/>
        </p:nvGrpSpPr>
        <p:grpSpPr>
          <a:xfrm>
            <a:off x="6125177" y="1319566"/>
            <a:ext cx="211076" cy="207370"/>
            <a:chOff x="6277577" y="2012475"/>
            <a:chExt cx="211076" cy="207370"/>
          </a:xfrm>
        </p:grpSpPr>
        <p:sp>
          <p:nvSpPr>
            <p:cNvPr id="322" name="Line 41">
              <a:extLst>
                <a:ext uri="{FF2B5EF4-FFF2-40B4-BE49-F238E27FC236}">
                  <a16:creationId xmlns:a16="http://schemas.microsoft.com/office/drawing/2014/main" id="{2D14CD41-A12D-40EA-A6D9-253508413D7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383115" y="2012475"/>
              <a:ext cx="0" cy="20737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3" name="Line 42">
              <a:extLst>
                <a:ext uri="{FF2B5EF4-FFF2-40B4-BE49-F238E27FC236}">
                  <a16:creationId xmlns:a16="http://schemas.microsoft.com/office/drawing/2014/main" id="{ADB2C483-8F4C-4630-8C8C-4694BD01713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277577" y="2116159"/>
              <a:ext cx="21107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24" name="ExclamationMarkWhite" hidden="1">
            <a:extLst>
              <a:ext uri="{FF2B5EF4-FFF2-40B4-BE49-F238E27FC236}">
                <a16:creationId xmlns:a16="http://schemas.microsoft.com/office/drawing/2014/main" id="{BD7591C5-2F5C-4DF2-AE3A-81FD6ECA04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765645"/>
            <a:ext cx="396228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6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5" name="ExclamationMarkBlue" hidden="1">
            <a:extLst>
              <a:ext uri="{FF2B5EF4-FFF2-40B4-BE49-F238E27FC236}">
                <a16:creationId xmlns:a16="http://schemas.microsoft.com/office/drawing/2014/main" id="{F3D3EB97-945D-4713-8574-1DEB99720F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2352134"/>
            <a:ext cx="396228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6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6" name="ExclamationMark" hidden="1">
            <a:extLst>
              <a:ext uri="{FF2B5EF4-FFF2-40B4-BE49-F238E27FC236}">
                <a16:creationId xmlns:a16="http://schemas.microsoft.com/office/drawing/2014/main" id="{9E0558B8-8450-41CA-965B-64DD3A2C1E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229864"/>
            <a:ext cx="396228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914400" rtl="0" eaLnBrk="1" latinLnBrk="0" hangingPunct="1"/>
            <a:r>
              <a: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60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0" name="QuestionMarkWhite" hidden="1">
            <a:extLst>
              <a:ext uri="{FF2B5EF4-FFF2-40B4-BE49-F238E27FC236}">
                <a16:creationId xmlns:a16="http://schemas.microsoft.com/office/drawing/2014/main" id="{3D3DE55A-EFB5-4A46-855A-CFB36742E0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3" y="3525112"/>
            <a:ext cx="396228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6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1" name="QuestionMarkBlue" hidden="1">
            <a:extLst>
              <a:ext uri="{FF2B5EF4-FFF2-40B4-BE49-F238E27FC236}">
                <a16:creationId xmlns:a16="http://schemas.microsoft.com/office/drawing/2014/main" id="{92A4EE15-ABA6-4665-9FB4-616C1B6AA3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3" y="4111601"/>
            <a:ext cx="396228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6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2" name="QuestionMark" hidden="1">
            <a:extLst>
              <a:ext uri="{FF2B5EF4-FFF2-40B4-BE49-F238E27FC236}">
                <a16:creationId xmlns:a16="http://schemas.microsoft.com/office/drawing/2014/main" id="{4E78E58E-5E73-4DAC-91A5-FA395FEE6C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3" y="2938623"/>
            <a:ext cx="396228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914400" rtl="0" eaLnBrk="1" latinLnBrk="0" hangingPunct="1"/>
            <a:r>
              <a: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60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353" name="XWhite" hidden="1">
            <a:extLst>
              <a:ext uri="{FF2B5EF4-FFF2-40B4-BE49-F238E27FC236}">
                <a16:creationId xmlns:a16="http://schemas.microsoft.com/office/drawing/2014/main" id="{64A8F67C-2547-40D5-969E-B6BF43205EE4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284579"/>
            <a:ext cx="396228" cy="396228"/>
            <a:chOff x="4846772" y="6015293"/>
            <a:chExt cx="252000" cy="252000"/>
          </a:xfrm>
        </p:grpSpPr>
        <p:sp>
          <p:nvSpPr>
            <p:cNvPr id="354" name="Oval 35">
              <a:extLst>
                <a:ext uri="{FF2B5EF4-FFF2-40B4-BE49-F238E27FC236}">
                  <a16:creationId xmlns:a16="http://schemas.microsoft.com/office/drawing/2014/main" id="{947E4B2F-2AE1-4838-89F1-BDAF16E04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5" name="Line 36">
              <a:extLst>
                <a:ext uri="{FF2B5EF4-FFF2-40B4-BE49-F238E27FC236}">
                  <a16:creationId xmlns:a16="http://schemas.microsoft.com/office/drawing/2014/main" id="{A0EFB238-5946-4CC6-8454-2E5643F16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7118" y="6055639"/>
              <a:ext cx="171307" cy="171307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6" name="Line 37">
              <a:extLst>
                <a:ext uri="{FF2B5EF4-FFF2-40B4-BE49-F238E27FC236}">
                  <a16:creationId xmlns:a16="http://schemas.microsoft.com/office/drawing/2014/main" id="{7269D199-3BC4-494A-831F-7E48B55D8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7293" y="6055812"/>
              <a:ext cx="170964" cy="170964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57" name="XBlue" hidden="1">
            <a:extLst>
              <a:ext uri="{FF2B5EF4-FFF2-40B4-BE49-F238E27FC236}">
                <a16:creationId xmlns:a16="http://schemas.microsoft.com/office/drawing/2014/main" id="{963F1768-3663-4E38-99EB-BEBC2D52621E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871065"/>
            <a:ext cx="396228" cy="396228"/>
            <a:chOff x="4846772" y="6015293"/>
            <a:chExt cx="252000" cy="252000"/>
          </a:xfrm>
        </p:grpSpPr>
        <p:sp>
          <p:nvSpPr>
            <p:cNvPr id="358" name="Oval 35">
              <a:extLst>
                <a:ext uri="{FF2B5EF4-FFF2-40B4-BE49-F238E27FC236}">
                  <a16:creationId xmlns:a16="http://schemas.microsoft.com/office/drawing/2014/main" id="{6BCD81C2-8F8E-46C9-B2F0-949EDB30D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9" name="Line 36">
              <a:extLst>
                <a:ext uri="{FF2B5EF4-FFF2-40B4-BE49-F238E27FC236}">
                  <a16:creationId xmlns:a16="http://schemas.microsoft.com/office/drawing/2014/main" id="{FFEE35B1-A2D3-4910-8E1C-9C137E69A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2264" y="6050785"/>
              <a:ext cx="181016" cy="181016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60" name="Line 37">
              <a:extLst>
                <a:ext uri="{FF2B5EF4-FFF2-40B4-BE49-F238E27FC236}">
                  <a16:creationId xmlns:a16="http://schemas.microsoft.com/office/drawing/2014/main" id="{2BB44F3C-9601-462F-9F01-986092699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3818" y="6052339"/>
              <a:ext cx="177910" cy="17791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67" name="Chevron" hidden="1">
            <a:extLst>
              <a:ext uri="{FF2B5EF4-FFF2-40B4-BE49-F238E27FC236}">
                <a16:creationId xmlns:a16="http://schemas.microsoft.com/office/drawing/2014/main" id="{6CB1977F-395D-4541-A0E1-6416254928B7}"/>
              </a:ext>
            </a:extLst>
          </p:cNvPr>
          <p:cNvSpPr>
            <a:spLocks noChangeAspect="1"/>
          </p:cNvSpPr>
          <p:nvPr userDrawn="1">
            <p:custDataLst>
              <p:tags r:id="rId52"/>
            </p:custDataLst>
          </p:nvPr>
        </p:nvSpPr>
        <p:spPr>
          <a:xfrm>
            <a:off x="3370045" y="3017414"/>
            <a:ext cx="126587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72" name="KeyTakeawayOF" hidden="1">
            <a:extLst>
              <a:ext uri="{FF2B5EF4-FFF2-40B4-BE49-F238E27FC236}">
                <a16:creationId xmlns:a16="http://schemas.microsoft.com/office/drawing/2014/main" id="{1ADFC805-1B70-432B-A2E4-EC1E5DB7B205}"/>
              </a:ext>
            </a:extLst>
          </p:cNvPr>
          <p:cNvSpPr txBox="1"/>
          <p:nvPr userDrawn="1">
            <p:custDataLst>
              <p:tags r:id="rId53"/>
            </p:custDataLst>
          </p:nvPr>
        </p:nvSpPr>
        <p:spPr>
          <a:xfrm>
            <a:off x="7556500" y="1257300"/>
            <a:ext cx="2819400" cy="1187708"/>
          </a:xfrm>
          <a:prstGeom prst="snip1Rect">
            <a:avLst/>
          </a:prstGeom>
          <a:solidFill>
            <a:schemeClr val="accent1"/>
          </a:solidFill>
        </p:spPr>
        <p:txBody>
          <a:bodyPr vert="horz" wrap="square" lIns="182880" tIns="182880" rIns="182880" bIns="18288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  <a:lvl2pPr marL="144000" lvl="1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latin typeface="Franklin Gothic Book" panose="020B0503020102020204" pitchFamily="34" charset="0"/>
              </a:defRPr>
            </a:lvl2pPr>
            <a:lvl3pPr marL="288000" lvl="2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latin typeface="Franklin Gothic Book" panose="020B0503020102020204" pitchFamily="34" charset="0"/>
              </a:defRPr>
            </a:lvl3pPr>
            <a:lvl4pPr marL="432000" lvl="3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latin typeface="Franklin Gothic Book" panose="020B0503020102020204" pitchFamily="34" charset="0"/>
              </a:defRPr>
            </a:lvl4pPr>
            <a:lvl5pPr marL="576000" lvl="4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latin typeface="Franklin Gothic Book" panose="020B05030201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Key Takeaway</a:t>
            </a:r>
          </a:p>
          <a:p>
            <a:pPr>
              <a:spcBef>
                <a:spcPts val="0"/>
              </a:spcBef>
            </a:pPr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Body paragraph</a:t>
            </a:r>
          </a:p>
          <a:p>
            <a:pPr lvl="1">
              <a:buClr>
                <a:schemeClr val="tx2"/>
              </a:buClr>
            </a:pPr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Bullet level one</a:t>
            </a:r>
          </a:p>
        </p:txBody>
      </p:sp>
      <p:grpSp>
        <p:nvGrpSpPr>
          <p:cNvPr id="373" name="Callout" hidden="1">
            <a:extLst>
              <a:ext uri="{FF2B5EF4-FFF2-40B4-BE49-F238E27FC236}">
                <a16:creationId xmlns:a16="http://schemas.microsoft.com/office/drawing/2014/main" id="{21CB9224-F876-4528-9F19-97359B65E4E5}"/>
              </a:ext>
            </a:extLst>
          </p:cNvPr>
          <p:cNvGrpSpPr/>
          <p:nvPr userDrawn="1">
            <p:custDataLst>
              <p:tags r:id="rId54"/>
            </p:custDataLst>
          </p:nvPr>
        </p:nvGrpSpPr>
        <p:grpSpPr>
          <a:xfrm>
            <a:off x="7556500" y="2814268"/>
            <a:ext cx="3026228" cy="1769715"/>
            <a:chOff x="1016000" y="1016000"/>
            <a:chExt cx="3026228" cy="1769715"/>
          </a:xfrm>
        </p:grpSpPr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8677E9B9-A539-4E0F-9A04-8CEE1655CD88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76971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140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9989B7A8-CE5E-4D8D-B5F6-18711E66CDF7}"/>
                </a:ext>
              </a:extLst>
            </p:cNvPr>
            <p:cNvCxnSpPr>
              <a:cxnSpLocks/>
              <a:stCxn id="374" idx="3"/>
            </p:cNvCxnSpPr>
            <p:nvPr/>
          </p:nvCxnSpPr>
          <p:spPr>
            <a:xfrm>
              <a:off x="3661228" y="1900858"/>
              <a:ext cx="3810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StrongCallout" hidden="1">
            <a:extLst>
              <a:ext uri="{FF2B5EF4-FFF2-40B4-BE49-F238E27FC236}">
                <a16:creationId xmlns:a16="http://schemas.microsoft.com/office/drawing/2014/main" id="{FBFAAB70-F343-4BC7-9809-954862307099}"/>
              </a:ext>
            </a:extLst>
          </p:cNvPr>
          <p:cNvGrpSpPr/>
          <p:nvPr userDrawn="1">
            <p:custDataLst>
              <p:tags r:id="rId55"/>
            </p:custDataLst>
          </p:nvPr>
        </p:nvGrpSpPr>
        <p:grpSpPr>
          <a:xfrm>
            <a:off x="7556500" y="4704342"/>
            <a:ext cx="3026228" cy="1769715"/>
            <a:chOff x="1016000" y="1016000"/>
            <a:chExt cx="3026228" cy="1769715"/>
          </a:xfrm>
        </p:grpSpPr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F4EDB771-524B-4E85-A799-96A9C1C0C33E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76971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8" name="Straight Arrow Connector 377">
              <a:extLst>
                <a:ext uri="{FF2B5EF4-FFF2-40B4-BE49-F238E27FC236}">
                  <a16:creationId xmlns:a16="http://schemas.microsoft.com/office/drawing/2014/main" id="{7E555C10-ED0D-4742-8F7F-ABCB7750B0FE}"/>
                </a:ext>
              </a:extLst>
            </p:cNvPr>
            <p:cNvCxnSpPr>
              <a:cxnSpLocks/>
              <a:stCxn id="377" idx="3"/>
            </p:cNvCxnSpPr>
            <p:nvPr/>
          </p:nvCxnSpPr>
          <p:spPr>
            <a:xfrm>
              <a:off x="3661228" y="1900858"/>
              <a:ext cx="381000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9" name="SplitFlowOF" hidden="1">
            <a:extLst>
              <a:ext uri="{FF2B5EF4-FFF2-40B4-BE49-F238E27FC236}">
                <a16:creationId xmlns:a16="http://schemas.microsoft.com/office/drawing/2014/main" id="{C6C961D3-A82A-41AF-847D-45C80E658C14}"/>
              </a:ext>
            </a:extLst>
          </p:cNvPr>
          <p:cNvGrpSpPr>
            <a:grpSpLocks/>
          </p:cNvGrpSpPr>
          <p:nvPr userDrawn="1">
            <p:custDataLst>
              <p:tags r:id="rId56"/>
            </p:custDataLst>
          </p:nvPr>
        </p:nvGrpSpPr>
        <p:grpSpPr>
          <a:xfrm>
            <a:off x="11074400" y="1257300"/>
            <a:ext cx="1828801" cy="914400"/>
            <a:chOff x="114299" y="1270000"/>
            <a:chExt cx="1828801" cy="914400"/>
          </a:xfrm>
          <a:solidFill>
            <a:schemeClr val="accent3"/>
          </a:solidFill>
        </p:grpSpPr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629A692C-B796-462A-97D2-5BDE28897A8C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14300" y="1270000"/>
              <a:ext cx="1828800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457200">
                  <a:moveTo>
                    <a:pt x="0" y="0"/>
                  </a:moveTo>
                  <a:lnTo>
                    <a:pt x="1664208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30F8C376-A37C-4AC0-AD8E-FF489C86A2CC}"/>
                </a:ext>
              </a:extLst>
            </p:cNvPr>
            <p:cNvSpPr txBox="1"/>
            <p:nvPr>
              <p:custDataLst>
                <p:tags r:id="rId61"/>
              </p:custDataLst>
            </p:nvPr>
          </p:nvSpPr>
          <p:spPr>
            <a:xfrm>
              <a:off x="177800" y="1327150"/>
              <a:ext cx="1600708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BF53C301-2D55-4813-B4B7-18A5B2B90892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14299" y="1727200"/>
              <a:ext cx="996697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980237 w 1664208"/>
                <a:gd name="connsiteY0" fmla="*/ 0 h 457200"/>
                <a:gd name="connsiteX1" fmla="*/ 1664208 w 1664208"/>
                <a:gd name="connsiteY1" fmla="*/ 457200 h 457200"/>
                <a:gd name="connsiteX2" fmla="*/ 0 w 1664208"/>
                <a:gd name="connsiteY2" fmla="*/ 457200 h 457200"/>
                <a:gd name="connsiteX3" fmla="*/ 0 w 1664208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96696 w 996696"/>
                <a:gd name="connsiteY0" fmla="*/ 0 h 457200"/>
                <a:gd name="connsiteX1" fmla="*/ 84856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6 w 996696"/>
                <a:gd name="connsiteY0" fmla="*/ 0 h 457200"/>
                <a:gd name="connsiteX1" fmla="*/ 83210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7" h="457200">
                  <a:moveTo>
                    <a:pt x="996697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84127477-F4C5-4F43-AD37-D862E044CF48}"/>
                </a:ext>
              </a:extLst>
            </p:cNvPr>
            <p:cNvSpPr txBox="1"/>
            <p:nvPr>
              <p:custDataLst>
                <p:tags r:id="rId63"/>
              </p:custDataLst>
            </p:nvPr>
          </p:nvSpPr>
          <p:spPr>
            <a:xfrm>
              <a:off x="177800" y="1784350"/>
              <a:ext cx="768604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>
                  <a:latin typeface="+mn-lt"/>
                  <a:ea typeface="+mn-ea"/>
                  <a:cs typeface="+mn-cs"/>
                  <a:sym typeface="+mn-lt"/>
                </a:rPr>
                <a:t>Text</a:t>
              </a:r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03606657-349E-4EB9-AC07-42D927B48B19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946404" y="1727200"/>
              <a:ext cx="996696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848563 w 1828800"/>
                <a:gd name="connsiteY2" fmla="*/ 457200 h 457200"/>
                <a:gd name="connsiteX3" fmla="*/ 0 w 1828800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15645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48133 w 996696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64592 w 996696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6" h="457200">
                  <a:moveTo>
                    <a:pt x="996696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64592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8D6E177A-752E-410D-B299-80215ACD3436}"/>
                </a:ext>
              </a:extLst>
            </p:cNvPr>
            <p:cNvSpPr txBox="1"/>
            <p:nvPr>
              <p:custDataLst>
                <p:tags r:id="rId65"/>
              </p:custDataLst>
            </p:nvPr>
          </p:nvSpPr>
          <p:spPr>
            <a:xfrm>
              <a:off x="1149096" y="1784350"/>
              <a:ext cx="629412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386" name="Group" hidden="1">
            <a:extLst>
              <a:ext uri="{FF2B5EF4-FFF2-40B4-BE49-F238E27FC236}">
                <a16:creationId xmlns:a16="http://schemas.microsoft.com/office/drawing/2014/main" id="{7D5F9D64-63BA-4A00-A40F-81D44C96A709}"/>
              </a:ext>
            </a:extLst>
          </p:cNvPr>
          <p:cNvGrpSpPr>
            <a:grpSpLocks/>
          </p:cNvGrpSpPr>
          <p:nvPr userDrawn="1">
            <p:custDataLst>
              <p:tags r:id="rId57"/>
            </p:custDataLst>
          </p:nvPr>
        </p:nvGrpSpPr>
        <p:grpSpPr>
          <a:xfrm>
            <a:off x="11074401" y="2814268"/>
            <a:ext cx="1828801" cy="908050"/>
            <a:chOff x="1016000" y="1016000"/>
            <a:chExt cx="2971800" cy="908050"/>
          </a:xfrm>
          <a:solidFill>
            <a:schemeClr val="accent3"/>
          </a:solidFill>
        </p:grpSpPr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4FA4576C-ECF7-457D-AF11-1D6F3595CAB9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016000" y="1016000"/>
              <a:ext cx="2971800" cy="908050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728216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728216" y="0"/>
                  </a:lnTo>
                  <a:lnTo>
                    <a:pt x="1828800" y="457200"/>
                  </a:lnTo>
                  <a:lnTo>
                    <a:pt x="1728216" y="914400"/>
                  </a:lnTo>
                  <a:lnTo>
                    <a:pt x="0" y="9144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E9A047FB-4C45-4EAC-9C1A-9769B09EC910}"/>
                </a:ext>
              </a:extLst>
            </p:cNvPr>
            <p:cNvSpPr txBox="1"/>
            <p:nvPr>
              <p:custDataLst>
                <p:tags r:id="rId59"/>
              </p:custDataLst>
            </p:nvPr>
          </p:nvSpPr>
          <p:spPr>
            <a:xfrm>
              <a:off x="1079500" y="1079059"/>
              <a:ext cx="2744851" cy="781932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445" name="CheckmarkWhite" hidden="1">
            <a:extLst>
              <a:ext uri="{FF2B5EF4-FFF2-40B4-BE49-F238E27FC236}">
                <a16:creationId xmlns:a16="http://schemas.microsoft.com/office/drawing/2014/main" id="{23B8C5E5-4ACA-40F9-A08E-EF887C7F53FD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1765645"/>
            <a:ext cx="396228" cy="396228"/>
            <a:chOff x="5612530" y="5130112"/>
            <a:chExt cx="252000" cy="252000"/>
          </a:xfrm>
        </p:grpSpPr>
        <p:sp>
          <p:nvSpPr>
            <p:cNvPr id="446" name="Oval 38">
              <a:extLst>
                <a:ext uri="{FF2B5EF4-FFF2-40B4-BE49-F238E27FC236}">
                  <a16:creationId xmlns:a16="http://schemas.microsoft.com/office/drawing/2014/main" id="{7E74802F-C333-4CD3-9D21-FA3C70A5B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7" name="Freeform 39">
              <a:extLst>
                <a:ext uri="{FF2B5EF4-FFF2-40B4-BE49-F238E27FC236}">
                  <a16:creationId xmlns:a16="http://schemas.microsoft.com/office/drawing/2014/main" id="{673344BF-49BF-4EF1-99FA-30708D581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506" name="QuotationMarks" hidden="1">
            <a:extLst>
              <a:ext uri="{FF2B5EF4-FFF2-40B4-BE49-F238E27FC236}">
                <a16:creationId xmlns:a16="http://schemas.microsoft.com/office/drawing/2014/main" id="{C2F33033-CBF4-496E-804A-0DE82A4D71E7}"/>
              </a:ext>
            </a:extLst>
          </p:cNvPr>
          <p:cNvSpPr>
            <a:spLocks noEditPoints="1"/>
          </p:cNvSpPr>
          <p:nvPr/>
        </p:nvSpPr>
        <p:spPr bwMode="auto">
          <a:xfrm>
            <a:off x="5228491" y="3100182"/>
            <a:ext cx="139530" cy="99518"/>
          </a:xfrm>
          <a:custGeom>
            <a:avLst/>
            <a:gdLst>
              <a:gd name="T0" fmla="*/ 291 w 544"/>
              <a:gd name="T1" fmla="*/ 0 h 388"/>
              <a:gd name="T2" fmla="*/ 544 w 544"/>
              <a:gd name="T3" fmla="*/ 0 h 388"/>
              <a:gd name="T4" fmla="*/ 544 w 544"/>
              <a:gd name="T5" fmla="*/ 224 h 388"/>
              <a:gd name="T6" fmla="*/ 418 w 544"/>
              <a:gd name="T7" fmla="*/ 388 h 388"/>
              <a:gd name="T8" fmla="*/ 418 w 544"/>
              <a:gd name="T9" fmla="*/ 240 h 388"/>
              <a:gd name="T10" fmla="*/ 291 w 544"/>
              <a:gd name="T11" fmla="*/ 240 h 388"/>
              <a:gd name="T12" fmla="*/ 291 w 544"/>
              <a:gd name="T13" fmla="*/ 0 h 388"/>
              <a:gd name="T14" fmla="*/ 291 w 544"/>
              <a:gd name="T15" fmla="*/ 0 h 388"/>
              <a:gd name="T16" fmla="*/ 0 w 544"/>
              <a:gd name="T17" fmla="*/ 0 h 388"/>
              <a:gd name="T18" fmla="*/ 252 w 544"/>
              <a:gd name="T19" fmla="*/ 0 h 388"/>
              <a:gd name="T20" fmla="*/ 252 w 544"/>
              <a:gd name="T21" fmla="*/ 224 h 388"/>
              <a:gd name="T22" fmla="*/ 126 w 544"/>
              <a:gd name="T23" fmla="*/ 388 h 388"/>
              <a:gd name="T24" fmla="*/ 126 w 544"/>
              <a:gd name="T25" fmla="*/ 240 h 388"/>
              <a:gd name="T26" fmla="*/ 0 w 544"/>
              <a:gd name="T27" fmla="*/ 240 h 388"/>
              <a:gd name="T28" fmla="*/ 0 w 544"/>
              <a:gd name="T29" fmla="*/ 0 h 388"/>
              <a:gd name="T30" fmla="*/ 0 w 544"/>
              <a:gd name="T31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44" h="388">
                <a:moveTo>
                  <a:pt x="291" y="0"/>
                </a:moveTo>
                <a:lnTo>
                  <a:pt x="544" y="0"/>
                </a:lnTo>
                <a:lnTo>
                  <a:pt x="544" y="224"/>
                </a:lnTo>
                <a:lnTo>
                  <a:pt x="418" y="388"/>
                </a:lnTo>
                <a:lnTo>
                  <a:pt x="418" y="240"/>
                </a:lnTo>
                <a:lnTo>
                  <a:pt x="291" y="240"/>
                </a:lnTo>
                <a:lnTo>
                  <a:pt x="291" y="0"/>
                </a:lnTo>
                <a:lnTo>
                  <a:pt x="291" y="0"/>
                </a:lnTo>
                <a:close/>
                <a:moveTo>
                  <a:pt x="0" y="0"/>
                </a:moveTo>
                <a:lnTo>
                  <a:pt x="252" y="0"/>
                </a:lnTo>
                <a:lnTo>
                  <a:pt x="252" y="224"/>
                </a:lnTo>
                <a:lnTo>
                  <a:pt x="126" y="388"/>
                </a:lnTo>
                <a:lnTo>
                  <a:pt x="126" y="240"/>
                </a:lnTo>
                <a:lnTo>
                  <a:pt x="0" y="24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2723"/>
          </a:solidFill>
          <a:ln w="3175" cap="sq">
            <a:solidFill>
              <a:schemeClr val="bg1"/>
            </a:solidFill>
            <a:beve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10" name="Checkmark" hidden="1">
            <a:extLst>
              <a:ext uri="{FF2B5EF4-FFF2-40B4-BE49-F238E27FC236}">
                <a16:creationId xmlns:a16="http://schemas.microsoft.com/office/drawing/2014/main" id="{70DDC772-B4F5-4D65-96F8-611389A23637}"/>
              </a:ext>
            </a:extLst>
          </p:cNvPr>
          <p:cNvSpPr>
            <a:spLocks/>
          </p:cNvSpPr>
          <p:nvPr userDrawn="1"/>
        </p:nvSpPr>
        <p:spPr bwMode="auto">
          <a:xfrm>
            <a:off x="2355654" y="1341107"/>
            <a:ext cx="285578" cy="172963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511" name="QuotationMarksBlue" hidden="1">
            <a:extLst>
              <a:ext uri="{FF2B5EF4-FFF2-40B4-BE49-F238E27FC236}">
                <a16:creationId xmlns:a16="http://schemas.microsoft.com/office/drawing/2014/main" id="{6028CAD6-AB7E-41DC-9A9A-FD8DABD700F6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4111601"/>
            <a:ext cx="396228" cy="396228"/>
            <a:chOff x="5318049" y="5268554"/>
            <a:chExt cx="252000" cy="252000"/>
          </a:xfrm>
        </p:grpSpPr>
        <p:sp>
          <p:nvSpPr>
            <p:cNvPr id="512" name="Oval 43">
              <a:extLst>
                <a:ext uri="{FF2B5EF4-FFF2-40B4-BE49-F238E27FC236}">
                  <a16:creationId xmlns:a16="http://schemas.microsoft.com/office/drawing/2014/main" id="{8FA1D922-A6F2-4778-9BD4-D7C5F06BE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3" name="Freeform 115">
              <a:extLst>
                <a:ext uri="{FF2B5EF4-FFF2-40B4-BE49-F238E27FC236}">
                  <a16:creationId xmlns:a16="http://schemas.microsoft.com/office/drawing/2014/main" id="{B0F2CC7D-D190-43A9-A23F-ACCFCD1D81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3175" cap="sq">
              <a:solidFill>
                <a:schemeClr val="tx2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517" name="CheckmarkBlue" hidden="1">
            <a:extLst>
              <a:ext uri="{FF2B5EF4-FFF2-40B4-BE49-F238E27FC236}">
                <a16:creationId xmlns:a16="http://schemas.microsoft.com/office/drawing/2014/main" id="{BA51177C-B04C-4A43-958A-E2562B91C53B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2352134"/>
            <a:ext cx="396228" cy="396228"/>
            <a:chOff x="5612530" y="5130112"/>
            <a:chExt cx="252000" cy="252000"/>
          </a:xfrm>
        </p:grpSpPr>
        <p:sp>
          <p:nvSpPr>
            <p:cNvPr id="518" name="Oval 38">
              <a:extLst>
                <a:ext uri="{FF2B5EF4-FFF2-40B4-BE49-F238E27FC236}">
                  <a16:creationId xmlns:a16="http://schemas.microsoft.com/office/drawing/2014/main" id="{80D1268F-5008-4D04-8BF3-F734AC9EB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9" name="Freeform 39">
              <a:extLst>
                <a:ext uri="{FF2B5EF4-FFF2-40B4-BE49-F238E27FC236}">
                  <a16:creationId xmlns:a16="http://schemas.microsoft.com/office/drawing/2014/main" id="{D6A11F35-CCB1-4085-8FA8-7B001864B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84" r:id="rId2"/>
    <p:sldLayoutId id="2147483888" r:id="rId3"/>
    <p:sldLayoutId id="2147483889" r:id="rId4"/>
    <p:sldLayoutId id="2147483654" r:id="rId5"/>
    <p:sldLayoutId id="2147483883" r:id="rId6"/>
    <p:sldLayoutId id="2147483860" r:id="rId7"/>
    <p:sldLayoutId id="2147483856" r:id="rId8"/>
    <p:sldLayoutId id="2147483805" r:id="rId9"/>
    <p:sldLayoutId id="2147483806" r:id="rId10"/>
    <p:sldLayoutId id="2147483882" r:id="rId11"/>
    <p:sldLayoutId id="2147483706" r:id="rId12"/>
    <p:sldLayoutId id="2147483887" r:id="rId13"/>
    <p:sldLayoutId id="2147483718" r:id="rId14"/>
    <p:sldLayoutId id="2147483890" r:id="rId1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2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318317399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7" name="think-cell Slide" r:id="rId75" imgW="413" imgH="416" progId="TCLayout.ActiveDocument.1">
                  <p:embed/>
                </p:oleObj>
              </mc:Choice>
              <mc:Fallback>
                <p:oleObj name="think-cell Slide" r:id="rId75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9B9B2FF-A42D-488D-B8CB-886FD091F71C}"/>
              </a:ext>
            </a:extLst>
          </p:cNvPr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19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8" y="226624"/>
            <a:ext cx="11082528" cy="677108"/>
          </a:xfrm>
          <a:prstGeom prst="rect">
            <a:avLst/>
          </a:prstGeom>
        </p:spPr>
        <p:txBody>
          <a:bodyPr vert="horz" wrap="square" lIns="0" tIns="0" rIns="792000" bIns="0" rtlCol="0" anchor="b" anchorCtr="0">
            <a:noAutofit/>
          </a:bodyPr>
          <a:lstStyle/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10557265" y="41597"/>
            <a:ext cx="1080000" cy="8694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>
          <a:xfrm>
            <a:off x="3754105" y="2171700"/>
            <a:ext cx="3049254" cy="347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1130" dirty="0">
                <a:latin typeface="+mn-lt"/>
                <a:ea typeface="+mn-ea"/>
                <a:cs typeface="+mn-cs"/>
                <a:sym typeface="+mn-lt"/>
              </a:rPr>
              <a:t>Above Chart Exhibit Title</a:t>
            </a:r>
            <a:br>
              <a:rPr lang="en-US" sz="1130" dirty="0">
                <a:latin typeface="+mn-lt"/>
                <a:ea typeface="+mn-ea"/>
                <a:cs typeface="+mn-cs"/>
                <a:sym typeface="+mn-lt"/>
              </a:rPr>
            </a:br>
            <a:r>
              <a:rPr lang="en-US" sz="1130" b="0" dirty="0">
                <a:latin typeface="+mn-lt"/>
                <a:ea typeface="+mn-ea"/>
                <a:cs typeface="+mn-cs"/>
                <a:sym typeface="+mn-lt"/>
              </a:rPr>
              <a:t>Units of measure</a:t>
            </a:r>
            <a:endParaRPr lang="ru-RU" sz="113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7" y="2170801"/>
            <a:ext cx="2856297" cy="859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2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grpSp>
        <p:nvGrpSpPr>
          <p:cNvPr id="6" name="Grid" hidden="1">
            <a:extLst>
              <a:ext uri="{FF2B5EF4-FFF2-40B4-BE49-F238E27FC236}">
                <a16:creationId xmlns:a16="http://schemas.microsoft.com/office/drawing/2014/main" id="{861F1414-E69A-4B93-B791-A09EC410AACA}"/>
              </a:ext>
            </a:extLst>
          </p:cNvPr>
          <p:cNvGrpSpPr/>
          <p:nvPr userDrawn="1"/>
        </p:nvGrpSpPr>
        <p:grpSpPr>
          <a:xfrm>
            <a:off x="-497642" y="-463534"/>
            <a:ext cx="12134906" cy="6527826"/>
            <a:chOff x="-497642" y="-463534"/>
            <a:chExt cx="12134906" cy="652782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64F6561-1469-4E8F-B8EF-9027513963D5}"/>
                </a:ext>
              </a:extLst>
            </p:cNvPr>
            <p:cNvSpPr>
              <a:spLocks/>
            </p:cNvSpPr>
            <p:nvPr/>
          </p:nvSpPr>
          <p:spPr>
            <a:xfrm>
              <a:off x="554736" y="-463534"/>
              <a:ext cx="1108252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212"/>
                </a:spcBef>
                <a:spcAft>
                  <a:spcPts val="212"/>
                </a:spcAft>
              </a:pPr>
              <a:r>
                <a:rPr lang="en-US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 v.2</a:t>
              </a:r>
              <a:endParaRPr lang="ru-RU" sz="113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7E9DA43-116B-4B2B-8EB5-2A43A4A8B8E2}"/>
                </a:ext>
              </a:extLst>
            </p:cNvPr>
            <p:cNvSpPr>
              <a:spLocks/>
            </p:cNvSpPr>
            <p:nvPr/>
          </p:nvSpPr>
          <p:spPr>
            <a:xfrm>
              <a:off x="3758184" y="-427370"/>
              <a:ext cx="7879080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1/4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D48FD89-D6E0-4A2A-8413-890E0FFF94C9}"/>
                </a:ext>
              </a:extLst>
            </p:cNvPr>
            <p:cNvSpPr>
              <a:spLocks/>
            </p:cNvSpPr>
            <p:nvPr/>
          </p:nvSpPr>
          <p:spPr>
            <a:xfrm>
              <a:off x="4709160" y="-427370"/>
              <a:ext cx="6928104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1/3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02EB4D0-076F-4C43-84BC-7DD02D78A8D9}"/>
                </a:ext>
              </a:extLst>
            </p:cNvPr>
            <p:cNvSpPr>
              <a:spLocks/>
            </p:cNvSpPr>
            <p:nvPr/>
          </p:nvSpPr>
          <p:spPr>
            <a:xfrm>
              <a:off x="6437376" y="-427370"/>
              <a:ext cx="5199888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D152B6B-9FE9-4878-83CF-35C1380ACB0B}"/>
                </a:ext>
              </a:extLst>
            </p:cNvPr>
            <p:cNvSpPr>
              <a:spLocks/>
            </p:cNvSpPr>
            <p:nvPr/>
          </p:nvSpPr>
          <p:spPr>
            <a:xfrm>
              <a:off x="8174736" y="-427370"/>
              <a:ext cx="3462528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2/3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287DF8-521C-4F6A-A39E-232AD36355B6}"/>
                </a:ext>
              </a:extLst>
            </p:cNvPr>
            <p:cNvSpPr>
              <a:spLocks/>
            </p:cNvSpPr>
            <p:nvPr/>
          </p:nvSpPr>
          <p:spPr>
            <a:xfrm>
              <a:off x="9125840" y="-463534"/>
              <a:ext cx="2511424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3/4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C53879D-A9B4-48E4-88DE-6B149C00047B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84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0E362AF-AE68-4195-BB03-567C8E157906}"/>
                </a:ext>
              </a:extLst>
            </p:cNvPr>
            <p:cNvCxnSpPr>
              <a:cxnSpLocks/>
            </p:cNvCxnSpPr>
            <p:nvPr/>
          </p:nvCxnSpPr>
          <p:spPr>
            <a:xfrm>
              <a:off x="470916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E4D6098-4986-48C4-83FD-08CD00E943DD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194799-10B3-4D39-BD33-C1A616ED9D3D}"/>
                </a:ext>
              </a:extLst>
            </p:cNvPr>
            <p:cNvCxnSpPr>
              <a:cxnSpLocks/>
            </p:cNvCxnSpPr>
            <p:nvPr/>
          </p:nvCxnSpPr>
          <p:spPr>
            <a:xfrm>
              <a:off x="817473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2F8D9E-4B15-4CE7-80E0-444A6580B411}"/>
                </a:ext>
              </a:extLst>
            </p:cNvPr>
            <p:cNvCxnSpPr>
              <a:cxnSpLocks/>
            </p:cNvCxnSpPr>
            <p:nvPr/>
          </p:nvCxnSpPr>
          <p:spPr>
            <a:xfrm>
              <a:off x="912584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D03324C-C4D6-4D8E-8CB9-DCCF952BF70C}"/>
                </a:ext>
              </a:extLst>
            </p:cNvPr>
            <p:cNvSpPr>
              <a:spLocks/>
            </p:cNvSpPr>
            <p:nvPr/>
          </p:nvSpPr>
          <p:spPr>
            <a:xfrm>
              <a:off x="-497642" y="1373675"/>
              <a:ext cx="364936" cy="469061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r>
                <a:rPr lang="en-US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</a:t>
              </a:r>
              <a:endParaRPr lang="ru-RU" sz="113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194" name="EqualSignWhite" hidden="1">
            <a:extLst>
              <a:ext uri="{FF2B5EF4-FFF2-40B4-BE49-F238E27FC236}">
                <a16:creationId xmlns:a16="http://schemas.microsoft.com/office/drawing/2014/main" id="{6F134EB7-3345-4CE8-9098-F9AF787DEA8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1765645"/>
            <a:ext cx="396229" cy="396228"/>
            <a:chOff x="5628456" y="6080974"/>
            <a:chExt cx="252000" cy="252000"/>
          </a:xfrm>
        </p:grpSpPr>
        <p:sp>
          <p:nvSpPr>
            <p:cNvPr id="196" name="Oval 43">
              <a:extLst>
                <a:ext uri="{FF2B5EF4-FFF2-40B4-BE49-F238E27FC236}">
                  <a16:creationId xmlns:a16="http://schemas.microsoft.com/office/drawing/2014/main" id="{8DC74F05-815E-4EE8-9CF5-562E9E261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13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A8C6472A-D330-4FE0-BAA2-C4CDC5107D77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00" name="Line 44">
                <a:extLst>
                  <a:ext uri="{FF2B5EF4-FFF2-40B4-BE49-F238E27FC236}">
                    <a16:creationId xmlns:a16="http://schemas.microsoft.com/office/drawing/2014/main" id="{9C6633DB-F8EA-485D-8136-541C19554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01" name="Line 44">
                <a:extLst>
                  <a:ext uri="{FF2B5EF4-FFF2-40B4-BE49-F238E27FC236}">
                    <a16:creationId xmlns:a16="http://schemas.microsoft.com/office/drawing/2014/main" id="{E94EB394-8F51-4841-93DF-B495A96002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438" name="QuotationMarksWhite" hidden="1">
            <a:extLst>
              <a:ext uri="{FF2B5EF4-FFF2-40B4-BE49-F238E27FC236}">
                <a16:creationId xmlns:a16="http://schemas.microsoft.com/office/drawing/2014/main" id="{0AA18171-3664-43C8-85D9-26DC5539AC74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3525112"/>
            <a:ext cx="396229" cy="396228"/>
            <a:chOff x="5318049" y="5268554"/>
            <a:chExt cx="252000" cy="252000"/>
          </a:xfrm>
        </p:grpSpPr>
        <p:sp>
          <p:nvSpPr>
            <p:cNvPr id="439" name="Oval 43">
              <a:extLst>
                <a:ext uri="{FF2B5EF4-FFF2-40B4-BE49-F238E27FC236}">
                  <a16:creationId xmlns:a16="http://schemas.microsoft.com/office/drawing/2014/main" id="{090703B2-4AAB-476A-B640-5AA748B30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0" name="Freeform 115">
              <a:extLst>
                <a:ext uri="{FF2B5EF4-FFF2-40B4-BE49-F238E27FC236}">
                  <a16:creationId xmlns:a16="http://schemas.microsoft.com/office/drawing/2014/main" id="{68CE81C0-7402-4E9C-9662-6AC76BDF03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2723"/>
            </a:solidFill>
            <a:ln w="3175" cap="sq">
              <a:solidFill>
                <a:schemeClr val="bg1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2" name="MinusSignWhite" hidden="1">
            <a:extLst>
              <a:ext uri="{FF2B5EF4-FFF2-40B4-BE49-F238E27FC236}">
                <a16:creationId xmlns:a16="http://schemas.microsoft.com/office/drawing/2014/main" id="{94FC29BD-47DD-4988-84DA-DC8356974149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3525112"/>
            <a:ext cx="396229" cy="396228"/>
            <a:chOff x="5774102" y="5004016"/>
            <a:chExt cx="205180" cy="205180"/>
          </a:xfrm>
        </p:grpSpPr>
        <p:sp>
          <p:nvSpPr>
            <p:cNvPr id="203" name="Oval 43">
              <a:extLst>
                <a:ext uri="{FF2B5EF4-FFF2-40B4-BE49-F238E27FC236}">
                  <a16:creationId xmlns:a16="http://schemas.microsoft.com/office/drawing/2014/main" id="{4395DE7A-3237-456D-A40E-3562CC732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13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4" name="Line 44">
              <a:extLst>
                <a:ext uri="{FF2B5EF4-FFF2-40B4-BE49-F238E27FC236}">
                  <a16:creationId xmlns:a16="http://schemas.microsoft.com/office/drawing/2014/main" id="{8CFD64A5-BD7F-427E-959D-F20EEA0EB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5" name="MoonEmpty" hidden="1">
            <a:extLst>
              <a:ext uri="{FF2B5EF4-FFF2-40B4-BE49-F238E27FC236}">
                <a16:creationId xmlns:a16="http://schemas.microsoft.com/office/drawing/2014/main" id="{EEF7756D-7698-4345-BE5B-09369505E931}"/>
              </a:ext>
            </a:extLst>
          </p:cNvPr>
          <p:cNvGrpSpPr>
            <a:grpSpLocks/>
          </p:cNvGrpSpPr>
          <p:nvPr userDrawn="1">
            <p:custDataLst>
              <p:tags r:id="rId23"/>
            </p:custDataLst>
          </p:nvPr>
        </p:nvGrpSpPr>
        <p:grpSpPr>
          <a:xfrm>
            <a:off x="204702" y="4207156"/>
            <a:ext cx="252001" cy="252000"/>
            <a:chOff x="762000" y="1270000"/>
            <a:chExt cx="254000" cy="25400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4A042EF1-480E-4867-B6CC-C7EC7AF5F6A8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7" name="Arc 206">
              <a:extLst>
                <a:ext uri="{FF2B5EF4-FFF2-40B4-BE49-F238E27FC236}">
                  <a16:creationId xmlns:a16="http://schemas.microsoft.com/office/drawing/2014/main" id="{1EE54E7C-B827-49A9-BD75-5FF308CF073F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8" name="MoonQuater" hidden="1">
            <a:extLst>
              <a:ext uri="{FF2B5EF4-FFF2-40B4-BE49-F238E27FC236}">
                <a16:creationId xmlns:a16="http://schemas.microsoft.com/office/drawing/2014/main" id="{6ECF7A3B-3A86-45CA-B7FE-A42281667D24}"/>
              </a:ext>
            </a:extLst>
          </p:cNvPr>
          <p:cNvGrpSpPr>
            <a:grpSpLocks/>
          </p:cNvGrpSpPr>
          <p:nvPr userDrawn="1">
            <p:custDataLst>
              <p:tags r:id="rId24"/>
            </p:custDataLst>
          </p:nvPr>
        </p:nvGrpSpPr>
        <p:grpSpPr>
          <a:xfrm>
            <a:off x="607132" y="4207156"/>
            <a:ext cx="252001" cy="252000"/>
            <a:chOff x="762000" y="1270000"/>
            <a:chExt cx="254000" cy="254000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EEA095DF-95C6-46F9-9E10-6D3EA37AA350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0" name="Arc 209">
              <a:extLst>
                <a:ext uri="{FF2B5EF4-FFF2-40B4-BE49-F238E27FC236}">
                  <a16:creationId xmlns:a16="http://schemas.microsoft.com/office/drawing/2014/main" id="{AD6E5FBA-23CA-455D-B7A1-E97A79D0BF16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1" name="MoonHalf" hidden="1">
            <a:extLst>
              <a:ext uri="{FF2B5EF4-FFF2-40B4-BE49-F238E27FC236}">
                <a16:creationId xmlns:a16="http://schemas.microsoft.com/office/drawing/2014/main" id="{7E1AEBED-8969-4F7B-8CFF-2512F7CBDDB5}"/>
              </a:ext>
            </a:extLst>
          </p:cNvPr>
          <p:cNvGrpSpPr>
            <a:grpSpLocks/>
          </p:cNvGrpSpPr>
          <p:nvPr userDrawn="1">
            <p:custDataLst>
              <p:tags r:id="rId25"/>
            </p:custDataLst>
          </p:nvPr>
        </p:nvGrpSpPr>
        <p:grpSpPr>
          <a:xfrm>
            <a:off x="1009564" y="4207156"/>
            <a:ext cx="252001" cy="252000"/>
            <a:chOff x="762000" y="1270000"/>
            <a:chExt cx="254000" cy="254000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610DB031-24D8-4A1B-A78D-4208B7B8B538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3" name="Arc 212">
              <a:extLst>
                <a:ext uri="{FF2B5EF4-FFF2-40B4-BE49-F238E27FC236}">
                  <a16:creationId xmlns:a16="http://schemas.microsoft.com/office/drawing/2014/main" id="{A1692404-6522-487B-B0B9-F11787E0686F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4" name="Moon3Quater" hidden="1">
            <a:extLst>
              <a:ext uri="{FF2B5EF4-FFF2-40B4-BE49-F238E27FC236}">
                <a16:creationId xmlns:a16="http://schemas.microsoft.com/office/drawing/2014/main" id="{0DB17D5B-30D9-45A1-8268-1202410D5417}"/>
              </a:ext>
            </a:extLst>
          </p:cNvPr>
          <p:cNvGrpSpPr>
            <a:grpSpLocks/>
          </p:cNvGrpSpPr>
          <p:nvPr userDrawn="1">
            <p:custDataLst>
              <p:tags r:id="rId26"/>
            </p:custDataLst>
          </p:nvPr>
        </p:nvGrpSpPr>
        <p:grpSpPr>
          <a:xfrm>
            <a:off x="1411994" y="4207156"/>
            <a:ext cx="252001" cy="252000"/>
            <a:chOff x="762000" y="1270000"/>
            <a:chExt cx="254000" cy="254000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2946760-653D-4E1E-9D8D-DCA44931B626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6" name="Arc 215">
              <a:extLst>
                <a:ext uri="{FF2B5EF4-FFF2-40B4-BE49-F238E27FC236}">
                  <a16:creationId xmlns:a16="http://schemas.microsoft.com/office/drawing/2014/main" id="{48F45C20-3DC7-4643-AE88-FFC3520AEDCF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7" name="MoonFull" hidden="1">
            <a:extLst>
              <a:ext uri="{FF2B5EF4-FFF2-40B4-BE49-F238E27FC236}">
                <a16:creationId xmlns:a16="http://schemas.microsoft.com/office/drawing/2014/main" id="{C891D058-93C3-44FC-AE50-A19969EC1A87}"/>
              </a:ext>
            </a:extLst>
          </p:cNvPr>
          <p:cNvGrpSpPr>
            <a:grpSpLocks/>
          </p:cNvGrpSpPr>
          <p:nvPr userDrawn="1">
            <p:custDataLst>
              <p:tags r:id="rId27"/>
            </p:custDataLst>
          </p:nvPr>
        </p:nvGrpSpPr>
        <p:grpSpPr>
          <a:xfrm>
            <a:off x="1814426" y="4207157"/>
            <a:ext cx="252001" cy="252001"/>
            <a:chOff x="762000" y="1270000"/>
            <a:chExt cx="254000" cy="254001"/>
          </a:xfrm>
          <a:solidFill>
            <a:schemeClr val="accent5"/>
          </a:solidFill>
        </p:grpSpPr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D40FDCF7-CB9C-4279-86EB-2BE8D562BBB9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9" name="Arc 218">
              <a:extLst>
                <a:ext uri="{FF2B5EF4-FFF2-40B4-BE49-F238E27FC236}">
                  <a16:creationId xmlns:a16="http://schemas.microsoft.com/office/drawing/2014/main" id="{EFCFED24-D2BE-46A5-A61D-C21AD627D43D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762000" y="1270001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0" name="StatusGauge" hidden="1">
            <a:extLst>
              <a:ext uri="{FF2B5EF4-FFF2-40B4-BE49-F238E27FC236}">
                <a16:creationId xmlns:a16="http://schemas.microsoft.com/office/drawing/2014/main" id="{D6C3821B-CB53-414B-946C-9CA1BC9CD29C}"/>
              </a:ext>
            </a:extLst>
          </p:cNvPr>
          <p:cNvGrpSpPr/>
          <p:nvPr userDrawn="1"/>
        </p:nvGrpSpPr>
        <p:grpSpPr>
          <a:xfrm>
            <a:off x="1477696" y="1331087"/>
            <a:ext cx="181450" cy="184330"/>
            <a:chOff x="1105451" y="3317419"/>
            <a:chExt cx="181450" cy="184330"/>
          </a:xfrm>
          <a:noFill/>
        </p:grpSpPr>
        <p:sp>
          <p:nvSpPr>
            <p:cNvPr id="221" name="Freeform 46">
              <a:extLst>
                <a:ext uri="{FF2B5EF4-FFF2-40B4-BE49-F238E27FC236}">
                  <a16:creationId xmlns:a16="http://schemas.microsoft.com/office/drawing/2014/main" id="{0735B865-E6CF-4B03-83CF-7C90321C9C64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 flipV="1">
              <a:off x="1130288" y="3317419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2" name="Line 47">
              <a:extLst>
                <a:ext uri="{FF2B5EF4-FFF2-40B4-BE49-F238E27FC236}">
                  <a16:creationId xmlns:a16="http://schemas.microsoft.com/office/drawing/2014/main" id="{E4E53E59-2F0C-430F-AC54-AFEDF860E5F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8900000" flipH="1">
              <a:off x="1105451" y="3327704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3" name="StatusGaugeWhite" hidden="1">
            <a:extLst>
              <a:ext uri="{FF2B5EF4-FFF2-40B4-BE49-F238E27FC236}">
                <a16:creationId xmlns:a16="http://schemas.microsoft.com/office/drawing/2014/main" id="{4F6F40B4-572D-4300-8535-A9C100147F90}"/>
              </a:ext>
            </a:extLst>
          </p:cNvPr>
          <p:cNvGrpSpPr/>
          <p:nvPr userDrawn="1"/>
        </p:nvGrpSpPr>
        <p:grpSpPr>
          <a:xfrm>
            <a:off x="1370306" y="1765645"/>
            <a:ext cx="396229" cy="396228"/>
            <a:chOff x="1003300" y="3670300"/>
            <a:chExt cx="396228" cy="396228"/>
          </a:xfrm>
        </p:grpSpPr>
        <p:sp>
          <p:nvSpPr>
            <p:cNvPr id="224" name="Oval 45">
              <a:extLst>
                <a:ext uri="{FF2B5EF4-FFF2-40B4-BE49-F238E27FC236}">
                  <a16:creationId xmlns:a16="http://schemas.microsoft.com/office/drawing/2014/main" id="{EA83F7E9-FBB4-4DCF-B297-DF5181FAF9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36703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5" name="Freeform 46">
              <a:extLst>
                <a:ext uri="{FF2B5EF4-FFF2-40B4-BE49-F238E27FC236}">
                  <a16:creationId xmlns:a16="http://schemas.microsoft.com/office/drawing/2014/main" id="{37329834-7E67-4AC0-8682-F913A3238038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3776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6" name="Line 47">
              <a:extLst>
                <a:ext uri="{FF2B5EF4-FFF2-40B4-BE49-F238E27FC236}">
                  <a16:creationId xmlns:a16="http://schemas.microsoft.com/office/drawing/2014/main" id="{D3817716-8417-4E63-9B81-AF65BCFC76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3786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7" name="StatusGaugeBlue" hidden="1">
            <a:extLst>
              <a:ext uri="{FF2B5EF4-FFF2-40B4-BE49-F238E27FC236}">
                <a16:creationId xmlns:a16="http://schemas.microsoft.com/office/drawing/2014/main" id="{CC5AF1AB-6491-4EF4-A9F0-51C53DD47848}"/>
              </a:ext>
            </a:extLst>
          </p:cNvPr>
          <p:cNvGrpSpPr/>
          <p:nvPr userDrawn="1"/>
        </p:nvGrpSpPr>
        <p:grpSpPr>
          <a:xfrm>
            <a:off x="1370306" y="2352134"/>
            <a:ext cx="396229" cy="396228"/>
            <a:chOff x="1003300" y="4305300"/>
            <a:chExt cx="396228" cy="396228"/>
          </a:xfrm>
        </p:grpSpPr>
        <p:sp>
          <p:nvSpPr>
            <p:cNvPr id="228" name="Oval 45">
              <a:extLst>
                <a:ext uri="{FF2B5EF4-FFF2-40B4-BE49-F238E27FC236}">
                  <a16:creationId xmlns:a16="http://schemas.microsoft.com/office/drawing/2014/main" id="{7E9C4886-4B5A-49E8-B0F9-6AF47D9C14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43053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9" name="Freeform 46">
              <a:extLst>
                <a:ext uri="{FF2B5EF4-FFF2-40B4-BE49-F238E27FC236}">
                  <a16:creationId xmlns:a16="http://schemas.microsoft.com/office/drawing/2014/main" id="{495BA935-7FE9-4A15-B62C-7FC14FA7D82E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4411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30" name="Line 47">
              <a:extLst>
                <a:ext uri="{FF2B5EF4-FFF2-40B4-BE49-F238E27FC236}">
                  <a16:creationId xmlns:a16="http://schemas.microsoft.com/office/drawing/2014/main" id="{9DAD3AED-C6D1-4FDB-AD4A-CD46DC5891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4421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31" name="TrackerAlphaWhite" hidden="1">
            <a:extLst>
              <a:ext uri="{FF2B5EF4-FFF2-40B4-BE49-F238E27FC236}">
                <a16:creationId xmlns:a16="http://schemas.microsoft.com/office/drawing/2014/main" id="{6CEE5541-1892-4C27-9395-A8D2B87603D7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5" y="1283582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</a:p>
        </p:txBody>
      </p:sp>
      <p:sp>
        <p:nvSpPr>
          <p:cNvPr id="232" name="TrackerAlphaBlue" hidden="1">
            <a:extLst>
              <a:ext uri="{FF2B5EF4-FFF2-40B4-BE49-F238E27FC236}">
                <a16:creationId xmlns:a16="http://schemas.microsoft.com/office/drawing/2014/main" id="{2822AEFC-7960-41E4-9E9A-D32EA225D8CA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554735" y="1824090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  <a:endParaRPr lang="en-US" sz="988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3" name="TrackerNumWhite" hidden="1">
            <a:extLst>
              <a:ext uri="{FF2B5EF4-FFF2-40B4-BE49-F238E27FC236}">
                <a16:creationId xmlns:a16="http://schemas.microsoft.com/office/drawing/2014/main" id="{43F1F8C1-5E2F-49AB-896D-55AEF295DEEE}"/>
              </a:ext>
            </a:extLst>
          </p:cNvPr>
          <p:cNvSpPr/>
          <p:nvPr userDrawn="1">
            <p:custDataLst>
              <p:tags r:id="rId30"/>
            </p:custDataLst>
          </p:nvPr>
        </p:nvSpPr>
        <p:spPr>
          <a:xfrm>
            <a:off x="554735" y="2352134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988" b="1" dirty="0" err="1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4" name="TrackerNumBlue" hidden="1">
            <a:extLst>
              <a:ext uri="{FF2B5EF4-FFF2-40B4-BE49-F238E27FC236}">
                <a16:creationId xmlns:a16="http://schemas.microsoft.com/office/drawing/2014/main" id="{14748B87-7156-44A6-9000-D2C52291FE74}"/>
              </a:ext>
            </a:extLst>
          </p:cNvPr>
          <p:cNvSpPr/>
          <p:nvPr userDrawn="1">
            <p:custDataLst>
              <p:tags r:id="rId31"/>
            </p:custDataLst>
          </p:nvPr>
        </p:nvSpPr>
        <p:spPr>
          <a:xfrm>
            <a:off x="554735" y="2997067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988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5" name="X" hidden="1">
            <a:extLst>
              <a:ext uri="{FF2B5EF4-FFF2-40B4-BE49-F238E27FC236}">
                <a16:creationId xmlns:a16="http://schemas.microsoft.com/office/drawing/2014/main" id="{6C1E3FEF-BF7E-4B36-B296-C46366C805A4}"/>
              </a:ext>
            </a:extLst>
          </p:cNvPr>
          <p:cNvSpPr>
            <a:spLocks noChangeAspect="1"/>
          </p:cNvSpPr>
          <p:nvPr userDrawn="1">
            <p:custDataLst>
              <p:tags r:id="rId32"/>
            </p:custDataLst>
          </p:nvPr>
        </p:nvSpPr>
        <p:spPr>
          <a:xfrm>
            <a:off x="2408980" y="4804430"/>
            <a:ext cx="183803" cy="183548"/>
          </a:xfrm>
          <a:custGeom>
            <a:avLst/>
            <a:gdLst/>
            <a:ahLst/>
            <a:cxnLst/>
            <a:rect l="0" t="0" r="0" b="0"/>
            <a:pathLst>
              <a:path w="183805" h="183550">
                <a:moveTo>
                  <a:pt x="182094" y="175600"/>
                </a:moveTo>
                <a:lnTo>
                  <a:pt x="182094" y="175600"/>
                </a:lnTo>
                <a:lnTo>
                  <a:pt x="183804" y="177411"/>
                </a:lnTo>
                <a:lnTo>
                  <a:pt x="183804" y="180429"/>
                </a:lnTo>
                <a:lnTo>
                  <a:pt x="182094" y="182240"/>
                </a:lnTo>
                <a:lnTo>
                  <a:pt x="181189" y="183146"/>
                </a:lnTo>
                <a:lnTo>
                  <a:pt x="179982" y="183549"/>
                </a:lnTo>
                <a:lnTo>
                  <a:pt x="178776" y="183549"/>
                </a:lnTo>
                <a:lnTo>
                  <a:pt x="177569" y="183549"/>
                </a:lnTo>
                <a:lnTo>
                  <a:pt x="176362" y="183146"/>
                </a:lnTo>
                <a:lnTo>
                  <a:pt x="175457" y="182240"/>
                </a:lnTo>
                <a:lnTo>
                  <a:pt x="91903" y="98517"/>
                </a:lnTo>
                <a:lnTo>
                  <a:pt x="91903" y="98517"/>
                </a:lnTo>
                <a:lnTo>
                  <a:pt x="91903" y="98517"/>
                </a:lnTo>
                <a:lnTo>
                  <a:pt x="8345" y="182240"/>
                </a:lnTo>
                <a:lnTo>
                  <a:pt x="8345" y="182240"/>
                </a:lnTo>
                <a:lnTo>
                  <a:pt x="8345" y="182240"/>
                </a:lnTo>
                <a:lnTo>
                  <a:pt x="7441" y="183146"/>
                </a:lnTo>
                <a:lnTo>
                  <a:pt x="6235" y="183549"/>
                </a:lnTo>
                <a:lnTo>
                  <a:pt x="5027" y="183549"/>
                </a:lnTo>
                <a:lnTo>
                  <a:pt x="3822" y="183549"/>
                </a:lnTo>
                <a:lnTo>
                  <a:pt x="2614" y="183146"/>
                </a:lnTo>
                <a:lnTo>
                  <a:pt x="1708" y="182240"/>
                </a:lnTo>
                <a:lnTo>
                  <a:pt x="0" y="180429"/>
                </a:lnTo>
                <a:lnTo>
                  <a:pt x="0" y="177411"/>
                </a:lnTo>
                <a:lnTo>
                  <a:pt x="1708" y="175600"/>
                </a:lnTo>
                <a:lnTo>
                  <a:pt x="85366" y="91976"/>
                </a:lnTo>
                <a:lnTo>
                  <a:pt x="85366" y="91976"/>
                </a:lnTo>
                <a:lnTo>
                  <a:pt x="85366" y="91976"/>
                </a:lnTo>
                <a:lnTo>
                  <a:pt x="1708" y="8353"/>
                </a:lnTo>
                <a:lnTo>
                  <a:pt x="1708" y="8353"/>
                </a:lnTo>
                <a:lnTo>
                  <a:pt x="1708" y="8353"/>
                </a:lnTo>
                <a:lnTo>
                  <a:pt x="0" y="6542"/>
                </a:lnTo>
                <a:lnTo>
                  <a:pt x="0" y="3523"/>
                </a:lnTo>
                <a:lnTo>
                  <a:pt x="1708" y="1713"/>
                </a:lnTo>
                <a:lnTo>
                  <a:pt x="3520" y="0"/>
                </a:lnTo>
                <a:lnTo>
                  <a:pt x="6536" y="0"/>
                </a:lnTo>
                <a:lnTo>
                  <a:pt x="8345" y="1713"/>
                </a:lnTo>
                <a:lnTo>
                  <a:pt x="91903" y="85435"/>
                </a:lnTo>
                <a:lnTo>
                  <a:pt x="91903" y="85435"/>
                </a:lnTo>
                <a:lnTo>
                  <a:pt x="91903" y="85435"/>
                </a:lnTo>
                <a:lnTo>
                  <a:pt x="175457" y="1713"/>
                </a:lnTo>
                <a:lnTo>
                  <a:pt x="175457" y="1713"/>
                </a:lnTo>
                <a:lnTo>
                  <a:pt x="175457" y="1713"/>
                </a:lnTo>
                <a:lnTo>
                  <a:pt x="177267" y="0"/>
                </a:lnTo>
                <a:lnTo>
                  <a:pt x="180284" y="0"/>
                </a:lnTo>
                <a:lnTo>
                  <a:pt x="182094" y="1713"/>
                </a:lnTo>
                <a:lnTo>
                  <a:pt x="183804" y="3523"/>
                </a:lnTo>
                <a:lnTo>
                  <a:pt x="183804" y="6542"/>
                </a:lnTo>
                <a:lnTo>
                  <a:pt x="182094" y="8353"/>
                </a:lnTo>
                <a:lnTo>
                  <a:pt x="98437" y="91976"/>
                </a:lnTo>
                <a:lnTo>
                  <a:pt x="98437" y="91976"/>
                </a:lnTo>
                <a:lnTo>
                  <a:pt x="98437" y="91976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243" name="CheckmarkDash" hidden="1">
            <a:extLst>
              <a:ext uri="{FF2B5EF4-FFF2-40B4-BE49-F238E27FC236}">
                <a16:creationId xmlns:a16="http://schemas.microsoft.com/office/drawing/2014/main" id="{6D197BD0-E4F8-43E3-85F0-BDAC6EFBEE38}"/>
              </a:ext>
            </a:extLst>
          </p:cNvPr>
          <p:cNvPicPr>
            <a:picLocks noChangeAspect="1"/>
          </p:cNvPicPr>
          <p:nvPr userDrawn="1">
            <p:custDataLst>
              <p:tags r:id="rId33"/>
            </p:custDataLst>
          </p:nvPr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2310379" y="2946237"/>
            <a:ext cx="381000" cy="381000"/>
          </a:xfrm>
          <a:prstGeom prst="rect">
            <a:avLst/>
          </a:prstGeom>
        </p:spPr>
      </p:pic>
      <p:grpSp>
        <p:nvGrpSpPr>
          <p:cNvPr id="244" name="CheckmarkDashWhite" hidden="1">
            <a:extLst>
              <a:ext uri="{FF2B5EF4-FFF2-40B4-BE49-F238E27FC236}">
                <a16:creationId xmlns:a16="http://schemas.microsoft.com/office/drawing/2014/main" id="{DDD76515-4E98-4C0E-97A3-09077FB620C4}"/>
              </a:ext>
            </a:extLst>
          </p:cNvPr>
          <p:cNvGrpSpPr>
            <a:grpSpLocks noChangeAspect="1"/>
          </p:cNvGrpSpPr>
          <p:nvPr userDrawn="1">
            <p:custDataLst>
              <p:tags r:id="rId34"/>
            </p:custDataLst>
          </p:nvPr>
        </p:nvGrpSpPr>
        <p:grpSpPr>
          <a:xfrm>
            <a:off x="2302765" y="3525112"/>
            <a:ext cx="396229" cy="396228"/>
            <a:chOff x="1016000" y="1016000"/>
            <a:chExt cx="396228" cy="396228"/>
          </a:xfrm>
        </p:grpSpPr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BFE44F03-5DDF-406A-9704-79A91E404649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6" name="Graphic 245">
              <a:extLst>
                <a:ext uri="{FF2B5EF4-FFF2-40B4-BE49-F238E27FC236}">
                  <a16:creationId xmlns:a16="http://schemas.microsoft.com/office/drawing/2014/main" id="{FEBCFA72-4815-4B9B-A22F-5AB2EF789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47" name="CheckmarkDashBlue" hidden="1">
            <a:extLst>
              <a:ext uri="{FF2B5EF4-FFF2-40B4-BE49-F238E27FC236}">
                <a16:creationId xmlns:a16="http://schemas.microsoft.com/office/drawing/2014/main" id="{81F9EE34-1BCC-42F0-90D7-FC9EE70CCE02}"/>
              </a:ext>
            </a:extLst>
          </p:cNvPr>
          <p:cNvGrpSpPr>
            <a:grpSpLocks noChangeAspect="1"/>
          </p:cNvGrpSpPr>
          <p:nvPr userDrawn="1">
            <p:custDataLst>
              <p:tags r:id="rId35"/>
            </p:custDataLst>
          </p:nvPr>
        </p:nvGrpSpPr>
        <p:grpSpPr>
          <a:xfrm>
            <a:off x="2302765" y="4111601"/>
            <a:ext cx="396229" cy="396228"/>
            <a:chOff x="1016000" y="1016000"/>
            <a:chExt cx="396228" cy="396228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4EA313F9-6D48-4D01-830A-3A81EF57563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9" name="Graphic 248">
              <a:extLst>
                <a:ext uri="{FF2B5EF4-FFF2-40B4-BE49-F238E27FC236}">
                  <a16:creationId xmlns:a16="http://schemas.microsoft.com/office/drawing/2014/main" id="{231422F3-779A-4B21-ABE4-39219EAA8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50" name="LineArrowBlue" hidden="1">
            <a:extLst>
              <a:ext uri="{FF2B5EF4-FFF2-40B4-BE49-F238E27FC236}">
                <a16:creationId xmlns:a16="http://schemas.microsoft.com/office/drawing/2014/main" id="{1D863E20-B32C-48FF-949F-E00FD4DB1D94}"/>
              </a:ext>
            </a:extLst>
          </p:cNvPr>
          <p:cNvGrpSpPr>
            <a:grpSpLocks/>
          </p:cNvGrpSpPr>
          <p:nvPr userDrawn="1">
            <p:custDataLst>
              <p:tags r:id="rId36"/>
            </p:custDataLst>
          </p:nvPr>
        </p:nvGrpSpPr>
        <p:grpSpPr>
          <a:xfrm>
            <a:off x="3235224" y="5856331"/>
            <a:ext cx="396229" cy="396228"/>
            <a:chOff x="1016000" y="1016000"/>
            <a:chExt cx="396228" cy="396228"/>
          </a:xfrm>
        </p:grpSpPr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816B6DF1-1FD4-4988-B3B3-84F3DBEED17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13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B9787BF0-88E0-4B6A-92AD-2CD419B312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pic>
        <p:nvPicPr>
          <p:cNvPr id="253" name="DoubleArrow" hidden="1">
            <a:extLst>
              <a:ext uri="{FF2B5EF4-FFF2-40B4-BE49-F238E27FC236}">
                <a16:creationId xmlns:a16="http://schemas.microsoft.com/office/drawing/2014/main" id="{E532A4E3-9D74-496E-AD75-84739A28E59C}"/>
              </a:ext>
            </a:extLst>
          </p:cNvPr>
          <p:cNvPicPr>
            <a:picLocks noChangeAspect="1"/>
          </p:cNvPicPr>
          <p:nvPr userDrawn="1">
            <p:custDataLst>
              <p:tags r:id="rId37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4200697" y="1258152"/>
            <a:ext cx="330200" cy="330200"/>
          </a:xfrm>
          <a:prstGeom prst="rect">
            <a:avLst/>
          </a:prstGeom>
        </p:spPr>
      </p:pic>
      <p:sp>
        <p:nvSpPr>
          <p:cNvPr id="254" name="Filter" hidden="1">
            <a:extLst>
              <a:ext uri="{FF2B5EF4-FFF2-40B4-BE49-F238E27FC236}">
                <a16:creationId xmlns:a16="http://schemas.microsoft.com/office/drawing/2014/main" id="{0EED5966-93D2-41E2-B722-0851E65ABFAF}"/>
              </a:ext>
            </a:extLst>
          </p:cNvPr>
          <p:cNvSpPr>
            <a:spLocks noChangeAspect="1"/>
          </p:cNvSpPr>
          <p:nvPr userDrawn="1">
            <p:custDataLst>
              <p:tags r:id="rId38"/>
            </p:custDataLst>
          </p:nvPr>
        </p:nvSpPr>
        <p:spPr>
          <a:xfrm>
            <a:off x="3310077" y="1290725"/>
            <a:ext cx="246525" cy="265054"/>
          </a:xfrm>
          <a:custGeom>
            <a:avLst/>
            <a:gdLst/>
            <a:ahLst/>
            <a:cxnLst/>
            <a:rect l="0" t="0" r="0" b="0"/>
            <a:pathLst>
              <a:path w="202746" h="217984">
                <a:moveTo>
                  <a:pt x="83954" y="217983"/>
                </a:moveTo>
                <a:lnTo>
                  <a:pt x="83184" y="217983"/>
                </a:lnTo>
                <a:lnTo>
                  <a:pt x="82411" y="217799"/>
                </a:lnTo>
                <a:lnTo>
                  <a:pt x="81705" y="217428"/>
                </a:lnTo>
                <a:lnTo>
                  <a:pt x="80116" y="216592"/>
                </a:lnTo>
                <a:lnTo>
                  <a:pt x="79123" y="214945"/>
                </a:lnTo>
                <a:lnTo>
                  <a:pt x="79123" y="213149"/>
                </a:lnTo>
                <a:lnTo>
                  <a:pt x="79123" y="120879"/>
                </a:lnTo>
                <a:lnTo>
                  <a:pt x="1131" y="7575"/>
                </a:lnTo>
                <a:lnTo>
                  <a:pt x="114" y="6095"/>
                </a:lnTo>
                <a:lnTo>
                  <a:pt x="0" y="4175"/>
                </a:lnTo>
                <a:lnTo>
                  <a:pt x="832" y="2587"/>
                </a:lnTo>
                <a:lnTo>
                  <a:pt x="1665" y="996"/>
                </a:lnTo>
                <a:lnTo>
                  <a:pt x="3317" y="0"/>
                </a:lnTo>
                <a:lnTo>
                  <a:pt x="5112" y="0"/>
                </a:lnTo>
                <a:lnTo>
                  <a:pt x="197645" y="0"/>
                </a:lnTo>
                <a:lnTo>
                  <a:pt x="199424" y="0"/>
                </a:lnTo>
                <a:lnTo>
                  <a:pt x="201058" y="976"/>
                </a:lnTo>
                <a:lnTo>
                  <a:pt x="201899" y="2539"/>
                </a:lnTo>
                <a:lnTo>
                  <a:pt x="202745" y="4103"/>
                </a:lnTo>
                <a:lnTo>
                  <a:pt x="202661" y="6006"/>
                </a:lnTo>
                <a:lnTo>
                  <a:pt x="201680" y="7491"/>
                </a:lnTo>
                <a:lnTo>
                  <a:pt x="127109" y="120826"/>
                </a:lnTo>
                <a:lnTo>
                  <a:pt x="127109" y="186825"/>
                </a:lnTo>
                <a:lnTo>
                  <a:pt x="127109" y="188418"/>
                </a:lnTo>
                <a:lnTo>
                  <a:pt x="126323" y="189906"/>
                </a:lnTo>
                <a:lnTo>
                  <a:pt x="125012" y="190809"/>
                </a:lnTo>
                <a:lnTo>
                  <a:pt x="86690" y="217134"/>
                </a:lnTo>
                <a:lnTo>
                  <a:pt x="85870" y="217698"/>
                </a:lnTo>
                <a:lnTo>
                  <a:pt x="84917" y="217983"/>
                </a:lnTo>
                <a:lnTo>
                  <a:pt x="83954" y="217983"/>
                </a:lnTo>
                <a:lnTo>
                  <a:pt x="14310" y="9669"/>
                </a:lnTo>
                <a:lnTo>
                  <a:pt x="87939" y="116639"/>
                </a:lnTo>
                <a:lnTo>
                  <a:pt x="88494" y="117447"/>
                </a:lnTo>
                <a:lnTo>
                  <a:pt x="88792" y="118400"/>
                </a:lnTo>
                <a:lnTo>
                  <a:pt x="88792" y="119379"/>
                </a:lnTo>
                <a:lnTo>
                  <a:pt x="88792" y="203964"/>
                </a:lnTo>
                <a:lnTo>
                  <a:pt x="117445" y="184281"/>
                </a:lnTo>
                <a:lnTo>
                  <a:pt x="117445" y="119379"/>
                </a:lnTo>
                <a:lnTo>
                  <a:pt x="117445" y="118433"/>
                </a:lnTo>
                <a:lnTo>
                  <a:pt x="117722" y="117512"/>
                </a:lnTo>
                <a:lnTo>
                  <a:pt x="118240" y="116723"/>
                </a:lnTo>
                <a:lnTo>
                  <a:pt x="188678" y="9669"/>
                </a:lnTo>
                <a:lnTo>
                  <a:pt x="14310" y="9669"/>
                </a:lnTo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71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55" name="FilterWhite" hidden="1">
            <a:extLst>
              <a:ext uri="{FF2B5EF4-FFF2-40B4-BE49-F238E27FC236}">
                <a16:creationId xmlns:a16="http://schemas.microsoft.com/office/drawing/2014/main" id="{6D68FF4A-05D9-4B19-B476-2F6C525E0E88}"/>
              </a:ext>
            </a:extLst>
          </p:cNvPr>
          <p:cNvGrpSpPr>
            <a:grpSpLocks noChangeAspect="1"/>
          </p:cNvGrpSpPr>
          <p:nvPr userDrawn="1">
            <p:custDataLst>
              <p:tags r:id="rId39"/>
            </p:custDataLst>
          </p:nvPr>
        </p:nvGrpSpPr>
        <p:grpSpPr>
          <a:xfrm>
            <a:off x="3235224" y="1765645"/>
            <a:ext cx="396229" cy="396228"/>
            <a:chOff x="1016000" y="1016000"/>
            <a:chExt cx="396228" cy="396228"/>
          </a:xfrm>
        </p:grpSpPr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9ADD0F7E-3AF7-46C9-A3E1-F62C41D03D83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88278604-48C5-4C6A-8888-2E3569EE06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58" name="FilterBlue" hidden="1">
            <a:extLst>
              <a:ext uri="{FF2B5EF4-FFF2-40B4-BE49-F238E27FC236}">
                <a16:creationId xmlns:a16="http://schemas.microsoft.com/office/drawing/2014/main" id="{5474AF20-0987-4FD5-979C-1A682194A66D}"/>
              </a:ext>
            </a:extLst>
          </p:cNvPr>
          <p:cNvGrpSpPr>
            <a:grpSpLocks noChangeAspect="1"/>
          </p:cNvGrpSpPr>
          <p:nvPr userDrawn="1">
            <p:custDataLst>
              <p:tags r:id="rId40"/>
            </p:custDataLst>
          </p:nvPr>
        </p:nvGrpSpPr>
        <p:grpSpPr>
          <a:xfrm>
            <a:off x="3235224" y="2352134"/>
            <a:ext cx="396229" cy="396228"/>
            <a:chOff x="1016000" y="1016000"/>
            <a:chExt cx="396228" cy="396228"/>
          </a:xfrm>
        </p:grpSpPr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0F5BA81D-1848-48A6-A26B-B7E5DC3B0E1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CACBB1FC-9DD2-400D-AFAC-8333BC5279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bg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61" name="Chevron" hidden="1">
            <a:extLst>
              <a:ext uri="{FF2B5EF4-FFF2-40B4-BE49-F238E27FC236}">
                <a16:creationId xmlns:a16="http://schemas.microsoft.com/office/drawing/2014/main" id="{DC75E446-1A7C-407A-B89E-82DA8F0E1490}"/>
              </a:ext>
            </a:extLst>
          </p:cNvPr>
          <p:cNvSpPr>
            <a:spLocks noChangeAspect="1"/>
          </p:cNvSpPr>
          <p:nvPr userDrawn="1">
            <p:custDataLst>
              <p:tags r:id="rId41"/>
            </p:custDataLst>
          </p:nvPr>
        </p:nvSpPr>
        <p:spPr>
          <a:xfrm>
            <a:off x="3370045" y="3017414"/>
            <a:ext cx="126588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62" name="ChevronWhite" hidden="1">
            <a:extLst>
              <a:ext uri="{FF2B5EF4-FFF2-40B4-BE49-F238E27FC236}">
                <a16:creationId xmlns:a16="http://schemas.microsoft.com/office/drawing/2014/main" id="{52A0B6F0-DEFB-4E69-9C31-32A377FC0BEC}"/>
              </a:ext>
            </a:extLst>
          </p:cNvPr>
          <p:cNvGrpSpPr>
            <a:grpSpLocks noChangeAspect="1"/>
          </p:cNvGrpSpPr>
          <p:nvPr userDrawn="1">
            <p:custDataLst>
              <p:tags r:id="rId42"/>
            </p:custDataLst>
          </p:nvPr>
        </p:nvGrpSpPr>
        <p:grpSpPr>
          <a:xfrm>
            <a:off x="3235224" y="3563463"/>
            <a:ext cx="396229" cy="396228"/>
            <a:chOff x="1016000" y="1016000"/>
            <a:chExt cx="396228" cy="396228"/>
          </a:xfrm>
        </p:grpSpPr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1A76E20B-0207-48C1-87E7-C87D7609C81E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FEC039-7EAB-4585-8E9B-B03FD77115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chemeClr val="tx2"/>
            </a:solidFill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5" name="ChevronBlue" hidden="1">
            <a:extLst>
              <a:ext uri="{FF2B5EF4-FFF2-40B4-BE49-F238E27FC236}">
                <a16:creationId xmlns:a16="http://schemas.microsoft.com/office/drawing/2014/main" id="{27EA86D3-85EB-486E-924F-CC30C668AD6D}"/>
              </a:ext>
            </a:extLst>
          </p:cNvPr>
          <p:cNvGrpSpPr>
            <a:grpSpLocks noChangeAspect="1"/>
          </p:cNvGrpSpPr>
          <p:nvPr userDrawn="1">
            <p:custDataLst>
              <p:tags r:id="rId43"/>
            </p:custDataLst>
          </p:nvPr>
        </p:nvGrpSpPr>
        <p:grpSpPr>
          <a:xfrm>
            <a:off x="3235224" y="4142333"/>
            <a:ext cx="396229" cy="396228"/>
            <a:chOff x="1016000" y="1016000"/>
            <a:chExt cx="396228" cy="396228"/>
          </a:xfrm>
        </p:grpSpPr>
        <p:sp>
          <p:nvSpPr>
            <p:cNvPr id="266" name="Oval">
              <a:extLst>
                <a:ext uri="{FF2B5EF4-FFF2-40B4-BE49-F238E27FC236}">
                  <a16:creationId xmlns:a16="http://schemas.microsoft.com/office/drawing/2014/main" id="{D5542968-FFCC-4FCD-A7E1-C8B93F7CDD7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7" name="Freeform: Shape">
              <a:extLst>
                <a:ext uri="{FF2B5EF4-FFF2-40B4-BE49-F238E27FC236}">
                  <a16:creationId xmlns:a16="http://schemas.microsoft.com/office/drawing/2014/main" id="{8DB4446B-0FAE-4768-BFD8-6201B5E208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8" name="LineArrowWhite" hidden="1">
            <a:extLst>
              <a:ext uri="{FF2B5EF4-FFF2-40B4-BE49-F238E27FC236}">
                <a16:creationId xmlns:a16="http://schemas.microsoft.com/office/drawing/2014/main" id="{7E4FE895-A694-4CD7-B7FC-D28EA0FAA7B3}"/>
              </a:ext>
            </a:extLst>
          </p:cNvPr>
          <p:cNvGrpSpPr>
            <a:grpSpLocks noChangeAspect="1"/>
          </p:cNvGrpSpPr>
          <p:nvPr userDrawn="1">
            <p:custDataLst>
              <p:tags r:id="rId44"/>
            </p:custDataLst>
          </p:nvPr>
        </p:nvGrpSpPr>
        <p:grpSpPr>
          <a:xfrm>
            <a:off x="3235224" y="5269842"/>
            <a:ext cx="396229" cy="396228"/>
            <a:chOff x="1016000" y="1016000"/>
            <a:chExt cx="396228" cy="396228"/>
          </a:xfrm>
        </p:grpSpPr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CA052EDA-5979-495F-94F8-2F27975E375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3D3C9B4B-20FD-4C22-95B1-554FDC078F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1" name="Asterisk" hidden="1">
            <a:extLst>
              <a:ext uri="{FF2B5EF4-FFF2-40B4-BE49-F238E27FC236}">
                <a16:creationId xmlns:a16="http://schemas.microsoft.com/office/drawing/2014/main" id="{E7A5E89F-7760-4485-8B60-6187E58D3169}"/>
              </a:ext>
            </a:extLst>
          </p:cNvPr>
          <p:cNvSpPr>
            <a:spLocks noChangeAspect="1"/>
          </p:cNvSpPr>
          <p:nvPr userDrawn="1">
            <p:custDataLst>
              <p:tags r:id="rId45"/>
            </p:custDataLst>
          </p:nvPr>
        </p:nvSpPr>
        <p:spPr>
          <a:xfrm>
            <a:off x="4245411" y="4775817"/>
            <a:ext cx="240772" cy="240773"/>
          </a:xfrm>
          <a:custGeom>
            <a:avLst/>
            <a:gdLst/>
            <a:ahLst/>
            <a:cxnLst/>
            <a:rect l="0" t="0" r="0" b="0"/>
            <a:pathLst>
              <a:path w="240773" h="240774">
                <a:moveTo>
                  <a:pt x="236149" y="115764"/>
                </a:moveTo>
                <a:lnTo>
                  <a:pt x="131560" y="115764"/>
                </a:lnTo>
                <a:lnTo>
                  <a:pt x="210505" y="36820"/>
                </a:lnTo>
                <a:lnTo>
                  <a:pt x="212313" y="35010"/>
                </a:lnTo>
                <a:lnTo>
                  <a:pt x="212313" y="32076"/>
                </a:lnTo>
                <a:lnTo>
                  <a:pt x="210505" y="30268"/>
                </a:lnTo>
                <a:lnTo>
                  <a:pt x="208695" y="28458"/>
                </a:lnTo>
                <a:lnTo>
                  <a:pt x="205761" y="28458"/>
                </a:lnTo>
                <a:lnTo>
                  <a:pt x="203951" y="30268"/>
                </a:lnTo>
                <a:lnTo>
                  <a:pt x="125008" y="109212"/>
                </a:lnTo>
                <a:lnTo>
                  <a:pt x="125008" y="4623"/>
                </a:lnTo>
                <a:lnTo>
                  <a:pt x="125008" y="2049"/>
                </a:lnTo>
                <a:lnTo>
                  <a:pt x="122959" y="0"/>
                </a:lnTo>
                <a:lnTo>
                  <a:pt x="120384" y="0"/>
                </a:lnTo>
                <a:lnTo>
                  <a:pt x="117812" y="0"/>
                </a:lnTo>
                <a:lnTo>
                  <a:pt x="115763" y="2049"/>
                </a:lnTo>
                <a:lnTo>
                  <a:pt x="115763" y="4623"/>
                </a:lnTo>
                <a:lnTo>
                  <a:pt x="115763" y="109212"/>
                </a:lnTo>
                <a:lnTo>
                  <a:pt x="36818" y="30268"/>
                </a:lnTo>
                <a:lnTo>
                  <a:pt x="35009" y="28458"/>
                </a:lnTo>
                <a:lnTo>
                  <a:pt x="32075" y="28458"/>
                </a:lnTo>
                <a:lnTo>
                  <a:pt x="30266" y="30268"/>
                </a:lnTo>
                <a:lnTo>
                  <a:pt x="28457" y="32076"/>
                </a:lnTo>
                <a:lnTo>
                  <a:pt x="28457" y="35010"/>
                </a:lnTo>
                <a:lnTo>
                  <a:pt x="30266" y="36820"/>
                </a:lnTo>
                <a:lnTo>
                  <a:pt x="109211" y="115764"/>
                </a:lnTo>
                <a:lnTo>
                  <a:pt x="4621" y="115764"/>
                </a:lnTo>
                <a:lnTo>
                  <a:pt x="2049" y="115764"/>
                </a:lnTo>
                <a:lnTo>
                  <a:pt x="0" y="117814"/>
                </a:lnTo>
                <a:lnTo>
                  <a:pt x="0" y="120385"/>
                </a:lnTo>
                <a:lnTo>
                  <a:pt x="0" y="122959"/>
                </a:lnTo>
                <a:lnTo>
                  <a:pt x="2049" y="125010"/>
                </a:lnTo>
                <a:lnTo>
                  <a:pt x="4621" y="125010"/>
                </a:lnTo>
                <a:lnTo>
                  <a:pt x="109211" y="125010"/>
                </a:lnTo>
                <a:lnTo>
                  <a:pt x="30266" y="203953"/>
                </a:lnTo>
                <a:lnTo>
                  <a:pt x="28457" y="205763"/>
                </a:lnTo>
                <a:lnTo>
                  <a:pt x="28457" y="208696"/>
                </a:lnTo>
                <a:lnTo>
                  <a:pt x="30266" y="210505"/>
                </a:lnTo>
                <a:lnTo>
                  <a:pt x="31150" y="211390"/>
                </a:lnTo>
                <a:lnTo>
                  <a:pt x="32357" y="211872"/>
                </a:lnTo>
                <a:lnTo>
                  <a:pt x="33521" y="211872"/>
                </a:lnTo>
                <a:lnTo>
                  <a:pt x="34689" y="211872"/>
                </a:lnTo>
                <a:lnTo>
                  <a:pt x="35893" y="211430"/>
                </a:lnTo>
                <a:lnTo>
                  <a:pt x="36778" y="210505"/>
                </a:lnTo>
                <a:lnTo>
                  <a:pt x="115722" y="131561"/>
                </a:lnTo>
                <a:lnTo>
                  <a:pt x="115722" y="236150"/>
                </a:lnTo>
                <a:lnTo>
                  <a:pt x="115722" y="238723"/>
                </a:lnTo>
                <a:lnTo>
                  <a:pt x="117772" y="240773"/>
                </a:lnTo>
                <a:lnTo>
                  <a:pt x="120345" y="240773"/>
                </a:lnTo>
                <a:lnTo>
                  <a:pt x="122918" y="240773"/>
                </a:lnTo>
                <a:lnTo>
                  <a:pt x="124967" y="238723"/>
                </a:lnTo>
                <a:lnTo>
                  <a:pt x="124967" y="236150"/>
                </a:lnTo>
                <a:lnTo>
                  <a:pt x="124967" y="131561"/>
                </a:lnTo>
                <a:lnTo>
                  <a:pt x="203912" y="210505"/>
                </a:lnTo>
                <a:lnTo>
                  <a:pt x="204796" y="211390"/>
                </a:lnTo>
                <a:lnTo>
                  <a:pt x="206002" y="211872"/>
                </a:lnTo>
                <a:lnTo>
                  <a:pt x="207168" y="211872"/>
                </a:lnTo>
                <a:lnTo>
                  <a:pt x="208334" y="211872"/>
                </a:lnTo>
                <a:lnTo>
                  <a:pt x="209539" y="211430"/>
                </a:lnTo>
                <a:lnTo>
                  <a:pt x="210424" y="210505"/>
                </a:lnTo>
                <a:lnTo>
                  <a:pt x="212233" y="208696"/>
                </a:lnTo>
                <a:lnTo>
                  <a:pt x="212233" y="205763"/>
                </a:lnTo>
                <a:lnTo>
                  <a:pt x="210424" y="203953"/>
                </a:lnTo>
                <a:lnTo>
                  <a:pt x="131479" y="125010"/>
                </a:lnTo>
                <a:lnTo>
                  <a:pt x="236149" y="125010"/>
                </a:lnTo>
                <a:lnTo>
                  <a:pt x="238721" y="125010"/>
                </a:lnTo>
                <a:lnTo>
                  <a:pt x="240772" y="122959"/>
                </a:lnTo>
                <a:lnTo>
                  <a:pt x="240772" y="120385"/>
                </a:lnTo>
                <a:lnTo>
                  <a:pt x="240772" y="117814"/>
                </a:lnTo>
                <a:lnTo>
                  <a:pt x="238721" y="115764"/>
                </a:lnTo>
                <a:close/>
              </a:path>
            </a:pathLst>
          </a:custGeom>
          <a:solidFill>
            <a:schemeClr val="tx2"/>
          </a:solidFill>
          <a:ln w="12700" cap="sq">
            <a:noFill/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2" name="AsteriskWhite" hidden="1">
            <a:extLst>
              <a:ext uri="{FF2B5EF4-FFF2-40B4-BE49-F238E27FC236}">
                <a16:creationId xmlns:a16="http://schemas.microsoft.com/office/drawing/2014/main" id="{2FA82C04-C2F6-4218-B6FC-3F722BB53643}"/>
              </a:ext>
            </a:extLst>
          </p:cNvPr>
          <p:cNvGrpSpPr>
            <a:grpSpLocks noChangeAspect="1"/>
          </p:cNvGrpSpPr>
          <p:nvPr userDrawn="1">
            <p:custDataLst>
              <p:tags r:id="rId46"/>
            </p:custDataLst>
          </p:nvPr>
        </p:nvGrpSpPr>
        <p:grpSpPr>
          <a:xfrm>
            <a:off x="4167682" y="5284580"/>
            <a:ext cx="396229" cy="396228"/>
            <a:chOff x="1016000" y="1016000"/>
            <a:chExt cx="396228" cy="396228"/>
          </a:xfrm>
        </p:grpSpPr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3EBE5DC4-07AB-405C-A5F0-60B4A13EA44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A8321D18-42DA-4B54-9618-0A81009452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75" name="AsteriskBlue" hidden="1">
            <a:extLst>
              <a:ext uri="{FF2B5EF4-FFF2-40B4-BE49-F238E27FC236}">
                <a16:creationId xmlns:a16="http://schemas.microsoft.com/office/drawing/2014/main" id="{C2CC9B35-735E-45D9-8CAB-B22E5A0068FC}"/>
              </a:ext>
            </a:extLst>
          </p:cNvPr>
          <p:cNvGrpSpPr>
            <a:grpSpLocks noChangeAspect="1"/>
          </p:cNvGrpSpPr>
          <p:nvPr userDrawn="1">
            <p:custDataLst>
              <p:tags r:id="rId47"/>
            </p:custDataLst>
          </p:nvPr>
        </p:nvGrpSpPr>
        <p:grpSpPr>
          <a:xfrm>
            <a:off x="4167682" y="5871065"/>
            <a:ext cx="396229" cy="396228"/>
            <a:chOff x="1016000" y="1016000"/>
            <a:chExt cx="396228" cy="396228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C3F35EFC-EE0A-4382-9791-14D10893BCE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13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BBF6FF68-86FA-4DB1-BCC5-C916AA763F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8" name="LineArrow" hidden="1">
            <a:extLst>
              <a:ext uri="{FF2B5EF4-FFF2-40B4-BE49-F238E27FC236}">
                <a16:creationId xmlns:a16="http://schemas.microsoft.com/office/drawing/2014/main" id="{683393F0-1C2E-4DF7-BB01-D01E30AF7633}"/>
              </a:ext>
            </a:extLst>
          </p:cNvPr>
          <p:cNvSpPr>
            <a:spLocks noChangeAspect="1"/>
          </p:cNvSpPr>
          <p:nvPr userDrawn="1">
            <p:custDataLst>
              <p:tags r:id="rId48"/>
            </p:custDataLst>
          </p:nvPr>
        </p:nvSpPr>
        <p:spPr>
          <a:xfrm>
            <a:off x="3260100" y="4780426"/>
            <a:ext cx="326774" cy="231556"/>
          </a:xfrm>
          <a:custGeom>
            <a:avLst/>
            <a:gdLst/>
            <a:ahLst/>
            <a:cxnLst/>
            <a:rect l="0" t="0" r="0" b="0"/>
            <a:pathLst>
              <a:path w="270576" h="191733">
                <a:moveTo>
                  <a:pt x="268764" y="99351"/>
                </a:moveTo>
                <a:lnTo>
                  <a:pt x="177792" y="190362"/>
                </a:lnTo>
                <a:lnTo>
                  <a:pt x="176904" y="191249"/>
                </a:lnTo>
                <a:lnTo>
                  <a:pt x="175697" y="191732"/>
                </a:lnTo>
                <a:lnTo>
                  <a:pt x="174528" y="191732"/>
                </a:lnTo>
                <a:lnTo>
                  <a:pt x="173360" y="191732"/>
                </a:lnTo>
                <a:lnTo>
                  <a:pt x="172151" y="191289"/>
                </a:lnTo>
                <a:lnTo>
                  <a:pt x="171264" y="190362"/>
                </a:lnTo>
                <a:lnTo>
                  <a:pt x="169452" y="188549"/>
                </a:lnTo>
                <a:lnTo>
                  <a:pt x="169452" y="185608"/>
                </a:lnTo>
                <a:lnTo>
                  <a:pt x="171264" y="183794"/>
                </a:lnTo>
                <a:lnTo>
                  <a:pt x="254098" y="100923"/>
                </a:lnTo>
                <a:lnTo>
                  <a:pt x="4633" y="100923"/>
                </a:lnTo>
                <a:lnTo>
                  <a:pt x="2053" y="100923"/>
                </a:lnTo>
                <a:lnTo>
                  <a:pt x="0" y="98868"/>
                </a:lnTo>
                <a:lnTo>
                  <a:pt x="0" y="96289"/>
                </a:lnTo>
                <a:lnTo>
                  <a:pt x="0" y="93711"/>
                </a:lnTo>
                <a:lnTo>
                  <a:pt x="2053" y="91656"/>
                </a:lnTo>
                <a:lnTo>
                  <a:pt x="4633" y="91656"/>
                </a:lnTo>
                <a:lnTo>
                  <a:pt x="254502" y="91656"/>
                </a:lnTo>
                <a:lnTo>
                  <a:pt x="171225" y="8381"/>
                </a:lnTo>
                <a:lnTo>
                  <a:pt x="169411" y="6568"/>
                </a:lnTo>
                <a:lnTo>
                  <a:pt x="169411" y="3626"/>
                </a:lnTo>
                <a:lnTo>
                  <a:pt x="171225" y="1812"/>
                </a:lnTo>
                <a:lnTo>
                  <a:pt x="173038" y="0"/>
                </a:lnTo>
                <a:lnTo>
                  <a:pt x="175979" y="0"/>
                </a:lnTo>
                <a:lnTo>
                  <a:pt x="177792" y="1812"/>
                </a:lnTo>
                <a:lnTo>
                  <a:pt x="268764" y="92784"/>
                </a:lnTo>
                <a:lnTo>
                  <a:pt x="270575" y="94638"/>
                </a:lnTo>
                <a:lnTo>
                  <a:pt x="270575" y="97539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9" name="DoubleArrowWhite" hidden="1">
            <a:extLst>
              <a:ext uri="{FF2B5EF4-FFF2-40B4-BE49-F238E27FC236}">
                <a16:creationId xmlns:a16="http://schemas.microsoft.com/office/drawing/2014/main" id="{7CF783B8-282C-43C3-9919-98D894BE6107}"/>
              </a:ext>
            </a:extLst>
          </p:cNvPr>
          <p:cNvGrpSpPr>
            <a:grpSpLocks noChangeAspect="1"/>
          </p:cNvGrpSpPr>
          <p:nvPr userDrawn="1">
            <p:custDataLst>
              <p:tags r:id="rId49"/>
            </p:custDataLst>
          </p:nvPr>
        </p:nvGrpSpPr>
        <p:grpSpPr>
          <a:xfrm>
            <a:off x="4167682" y="1765645"/>
            <a:ext cx="396229" cy="396228"/>
            <a:chOff x="1016000" y="1016000"/>
            <a:chExt cx="396228" cy="396228"/>
          </a:xfrm>
        </p:grpSpPr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EA618A26-166F-470F-BABA-2A570E68E5F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1" name="Graphic 280">
              <a:extLst>
                <a:ext uri="{FF2B5EF4-FFF2-40B4-BE49-F238E27FC236}">
                  <a16:creationId xmlns:a16="http://schemas.microsoft.com/office/drawing/2014/main" id="{E57F8461-4500-4C67-9858-DCFED4763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2" name="DoubleArrowBlue" hidden="1">
            <a:extLst>
              <a:ext uri="{FF2B5EF4-FFF2-40B4-BE49-F238E27FC236}">
                <a16:creationId xmlns:a16="http://schemas.microsoft.com/office/drawing/2014/main" id="{D2F8DAA2-D321-41B1-933B-06C4135F6C42}"/>
              </a:ext>
            </a:extLst>
          </p:cNvPr>
          <p:cNvGrpSpPr>
            <a:grpSpLocks noChangeAspect="1"/>
          </p:cNvGrpSpPr>
          <p:nvPr userDrawn="1">
            <p:custDataLst>
              <p:tags r:id="rId50"/>
            </p:custDataLst>
          </p:nvPr>
        </p:nvGrpSpPr>
        <p:grpSpPr>
          <a:xfrm>
            <a:off x="4167682" y="2352134"/>
            <a:ext cx="396229" cy="396228"/>
            <a:chOff x="1016000" y="1016000"/>
            <a:chExt cx="396228" cy="396228"/>
          </a:xfrm>
        </p:grpSpPr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FDA897A6-3557-4DB8-8C21-06AC7AD54E45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4" name="Graphic 283">
              <a:extLst>
                <a:ext uri="{FF2B5EF4-FFF2-40B4-BE49-F238E27FC236}">
                  <a16:creationId xmlns:a16="http://schemas.microsoft.com/office/drawing/2014/main" id="{D361B91D-CD48-417F-9959-EF45A3EF6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5" name="MinusSignBlue" hidden="1">
            <a:extLst>
              <a:ext uri="{FF2B5EF4-FFF2-40B4-BE49-F238E27FC236}">
                <a16:creationId xmlns:a16="http://schemas.microsoft.com/office/drawing/2014/main" id="{3AF33939-7012-4441-94C8-9FC567D64A86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4111601"/>
            <a:ext cx="396229" cy="396228"/>
            <a:chOff x="5774102" y="5004016"/>
            <a:chExt cx="205180" cy="205180"/>
          </a:xfrm>
        </p:grpSpPr>
        <p:sp>
          <p:nvSpPr>
            <p:cNvPr id="286" name="Oval 43">
              <a:extLst>
                <a:ext uri="{FF2B5EF4-FFF2-40B4-BE49-F238E27FC236}">
                  <a16:creationId xmlns:a16="http://schemas.microsoft.com/office/drawing/2014/main" id="{82D33441-617D-4C6D-AEC1-ABAEEA3D6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72C7068-D98E-48D9-BC86-EDF9B0930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88" name="MinusSign" hidden="1">
            <a:extLst>
              <a:ext uri="{FF2B5EF4-FFF2-40B4-BE49-F238E27FC236}">
                <a16:creationId xmlns:a16="http://schemas.microsoft.com/office/drawing/2014/main" id="{D3C62045-19CB-472C-B904-F75FF95E6E4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083559" y="3136737"/>
            <a:ext cx="159233" cy="0"/>
          </a:xfrm>
          <a:prstGeom prst="line">
            <a:avLst/>
          </a:pr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ru-RU" sz="1271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89" name="EqualSignBlue" hidden="1">
            <a:extLst>
              <a:ext uri="{FF2B5EF4-FFF2-40B4-BE49-F238E27FC236}">
                <a16:creationId xmlns:a16="http://schemas.microsoft.com/office/drawing/2014/main" id="{C251ACB4-3817-4B99-81EF-3319F8D753D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2352134"/>
            <a:ext cx="396229" cy="396228"/>
            <a:chOff x="5628456" y="6080974"/>
            <a:chExt cx="252000" cy="252000"/>
          </a:xfrm>
        </p:grpSpPr>
        <p:sp>
          <p:nvSpPr>
            <p:cNvPr id="290" name="Oval 43">
              <a:extLst>
                <a:ext uri="{FF2B5EF4-FFF2-40B4-BE49-F238E27FC236}">
                  <a16:creationId xmlns:a16="http://schemas.microsoft.com/office/drawing/2014/main" id="{9AA5579B-1DB7-4BD6-8C0E-81625EF19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92406EAB-65AA-4D84-A777-53F398C185FF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92" name="Line 44">
                <a:extLst>
                  <a:ext uri="{FF2B5EF4-FFF2-40B4-BE49-F238E27FC236}">
                    <a16:creationId xmlns:a16="http://schemas.microsoft.com/office/drawing/2014/main" id="{DDEB8513-3D78-4F1B-AD9A-644B4E1529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93" name="Line 44">
                <a:extLst>
                  <a:ext uri="{FF2B5EF4-FFF2-40B4-BE49-F238E27FC236}">
                    <a16:creationId xmlns:a16="http://schemas.microsoft.com/office/drawing/2014/main" id="{BC3D9BDF-0AEA-4D17-BC88-51987C5C28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294" name="EqualSign" hidden="1">
            <a:extLst>
              <a:ext uri="{FF2B5EF4-FFF2-40B4-BE49-F238E27FC236}">
                <a16:creationId xmlns:a16="http://schemas.microsoft.com/office/drawing/2014/main" id="{F9D1581B-944D-4374-A0E8-A0DB5FC42E41}"/>
              </a:ext>
            </a:extLst>
          </p:cNvPr>
          <p:cNvGrpSpPr/>
          <p:nvPr userDrawn="1"/>
        </p:nvGrpSpPr>
        <p:grpSpPr>
          <a:xfrm>
            <a:off x="7083559" y="1390067"/>
            <a:ext cx="159233" cy="66370"/>
            <a:chOff x="7235957" y="2669464"/>
            <a:chExt cx="159233" cy="66370"/>
          </a:xfrm>
        </p:grpSpPr>
        <p:sp>
          <p:nvSpPr>
            <p:cNvPr id="295" name="Line 44">
              <a:extLst>
                <a:ext uri="{FF2B5EF4-FFF2-40B4-BE49-F238E27FC236}">
                  <a16:creationId xmlns:a16="http://schemas.microsoft.com/office/drawing/2014/main" id="{9205093A-0A04-4022-AF99-5B3C7BB5B50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73583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96" name="Line 44">
              <a:extLst>
                <a:ext uri="{FF2B5EF4-FFF2-40B4-BE49-F238E27FC236}">
                  <a16:creationId xmlns:a16="http://schemas.microsoft.com/office/drawing/2014/main" id="{56DFEE37-A213-4E24-A840-D67F24A902D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66946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97" name="DivisionSignWhite" hidden="1">
            <a:extLst>
              <a:ext uri="{FF2B5EF4-FFF2-40B4-BE49-F238E27FC236}">
                <a16:creationId xmlns:a16="http://schemas.microsoft.com/office/drawing/2014/main" id="{342C481E-2771-4037-84DD-5DFA03611397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3547220"/>
            <a:ext cx="396229" cy="396228"/>
            <a:chOff x="5774102" y="5625318"/>
            <a:chExt cx="205180" cy="205180"/>
          </a:xfrm>
        </p:grpSpPr>
        <p:sp>
          <p:nvSpPr>
            <p:cNvPr id="298" name="Oval 43">
              <a:extLst>
                <a:ext uri="{FF2B5EF4-FFF2-40B4-BE49-F238E27FC236}">
                  <a16:creationId xmlns:a16="http://schemas.microsoft.com/office/drawing/2014/main" id="{C7CBA324-6D65-4917-9123-3BFDAE3EF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625318"/>
              <a:ext cx="205180" cy="20518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0E075EA0-546C-49D4-9910-1DCF7A86425C}"/>
                </a:ext>
              </a:extLst>
            </p:cNvPr>
            <p:cNvGrpSpPr/>
            <p:nvPr/>
          </p:nvGrpSpPr>
          <p:grpSpPr>
            <a:xfrm>
              <a:off x="5835464" y="5693540"/>
              <a:ext cx="82456" cy="68736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0" name="Line 44">
                <a:extLst>
                  <a:ext uri="{FF2B5EF4-FFF2-40B4-BE49-F238E27FC236}">
                    <a16:creationId xmlns:a16="http://schemas.microsoft.com/office/drawing/2014/main" id="{5E43A480-7A7B-4771-892C-B92B9BB74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1" name="Line 44">
                <a:extLst>
                  <a:ext uri="{FF2B5EF4-FFF2-40B4-BE49-F238E27FC236}">
                    <a16:creationId xmlns:a16="http://schemas.microsoft.com/office/drawing/2014/main" id="{1902D586-D66B-4A9C-84DA-067501F33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 dirty="0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2" name="Line 44">
                <a:extLst>
                  <a:ext uri="{FF2B5EF4-FFF2-40B4-BE49-F238E27FC236}">
                    <a16:creationId xmlns:a16="http://schemas.microsoft.com/office/drawing/2014/main" id="{D100CDD8-5813-44CC-9144-01079AFE90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3" name="DivisionSignBlue" hidden="1">
            <a:extLst>
              <a:ext uri="{FF2B5EF4-FFF2-40B4-BE49-F238E27FC236}">
                <a16:creationId xmlns:a16="http://schemas.microsoft.com/office/drawing/2014/main" id="{9F91621D-FE96-4B12-BD91-1E7BC85E6913}"/>
              </a:ext>
            </a:extLst>
          </p:cNvPr>
          <p:cNvGrpSpPr/>
          <p:nvPr userDrawn="1"/>
        </p:nvGrpSpPr>
        <p:grpSpPr>
          <a:xfrm>
            <a:off x="6032601" y="4133705"/>
            <a:ext cx="396229" cy="396228"/>
            <a:chOff x="6032601" y="5871065"/>
            <a:chExt cx="396228" cy="396228"/>
          </a:xfrm>
        </p:grpSpPr>
        <p:sp>
          <p:nvSpPr>
            <p:cNvPr id="304" name="Oval 43">
              <a:extLst>
                <a:ext uri="{FF2B5EF4-FFF2-40B4-BE49-F238E27FC236}">
                  <a16:creationId xmlns:a16="http://schemas.microsoft.com/office/drawing/2014/main" id="{767D1444-1A4F-43AC-B6E8-B204EE2CB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601" y="5871065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3283AF53-7299-4A7A-87B1-6F0C95BFE917}"/>
                </a:ext>
              </a:extLst>
            </p:cNvPr>
            <p:cNvGrpSpPr/>
            <p:nvPr/>
          </p:nvGrpSpPr>
          <p:grpSpPr>
            <a:xfrm>
              <a:off x="6151099" y="6002810"/>
              <a:ext cx="159233" cy="132738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6" name="Line 44">
                <a:extLst>
                  <a:ext uri="{FF2B5EF4-FFF2-40B4-BE49-F238E27FC236}">
                    <a16:creationId xmlns:a16="http://schemas.microsoft.com/office/drawing/2014/main" id="{29ED7400-C0F5-4DB4-8DBE-E5FD1C1DF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7" name="Line 44">
                <a:extLst>
                  <a:ext uri="{FF2B5EF4-FFF2-40B4-BE49-F238E27FC236}">
                    <a16:creationId xmlns:a16="http://schemas.microsoft.com/office/drawing/2014/main" id="{3D022D5C-B547-497E-A4E3-58F2B22FD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8" name="Line 44">
                <a:extLst>
                  <a:ext uri="{FF2B5EF4-FFF2-40B4-BE49-F238E27FC236}">
                    <a16:creationId xmlns:a16="http://schemas.microsoft.com/office/drawing/2014/main" id="{8843BE29-0938-40BF-95EC-040F1323B9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9" name="DivisionSign" hidden="1">
            <a:extLst>
              <a:ext uri="{FF2B5EF4-FFF2-40B4-BE49-F238E27FC236}">
                <a16:creationId xmlns:a16="http://schemas.microsoft.com/office/drawing/2014/main" id="{7EDFE250-3D01-4807-BFD2-79CAFE7F021B}"/>
              </a:ext>
            </a:extLst>
          </p:cNvPr>
          <p:cNvGrpSpPr/>
          <p:nvPr userDrawn="1"/>
        </p:nvGrpSpPr>
        <p:grpSpPr>
          <a:xfrm>
            <a:off x="6151100" y="3092475"/>
            <a:ext cx="159233" cy="132738"/>
            <a:chOff x="6703549" y="6002810"/>
            <a:chExt cx="159233" cy="132738"/>
          </a:xfrm>
        </p:grpSpPr>
        <p:sp>
          <p:nvSpPr>
            <p:cNvPr id="310" name="Line 44">
              <a:extLst>
                <a:ext uri="{FF2B5EF4-FFF2-40B4-BE49-F238E27FC236}">
                  <a16:creationId xmlns:a16="http://schemas.microsoft.com/office/drawing/2014/main" id="{1B656512-52DA-4604-BE71-04D238927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3549" y="6069179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1" name="Line 44">
              <a:extLst>
                <a:ext uri="{FF2B5EF4-FFF2-40B4-BE49-F238E27FC236}">
                  <a16:creationId xmlns:a16="http://schemas.microsoft.com/office/drawing/2014/main" id="{E27C268B-104C-40CE-BD84-B8D9B8608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002810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2" name="Line 44">
              <a:extLst>
                <a:ext uri="{FF2B5EF4-FFF2-40B4-BE49-F238E27FC236}">
                  <a16:creationId xmlns:a16="http://schemas.microsoft.com/office/drawing/2014/main" id="{639BECC2-F9BB-4F61-8B10-AC459AEB9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135548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3" name="PlusSignWhite" hidden="1">
            <a:extLst>
              <a:ext uri="{FF2B5EF4-FFF2-40B4-BE49-F238E27FC236}">
                <a16:creationId xmlns:a16="http://schemas.microsoft.com/office/drawing/2014/main" id="{1EB82B89-1DA5-467E-A27B-77F04EA36BFB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1765645"/>
            <a:ext cx="396229" cy="396228"/>
            <a:chOff x="5774102" y="5312478"/>
            <a:chExt cx="205180" cy="205180"/>
          </a:xfrm>
        </p:grpSpPr>
        <p:sp>
          <p:nvSpPr>
            <p:cNvPr id="314" name="Oval 40">
              <a:extLst>
                <a:ext uri="{FF2B5EF4-FFF2-40B4-BE49-F238E27FC236}">
                  <a16:creationId xmlns:a16="http://schemas.microsoft.com/office/drawing/2014/main" id="{4C827BB0-2AEC-4809-B220-A4886CCF9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13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5" name="Line 41">
              <a:extLst>
                <a:ext uri="{FF2B5EF4-FFF2-40B4-BE49-F238E27FC236}">
                  <a16:creationId xmlns:a16="http://schemas.microsoft.com/office/drawing/2014/main" id="{979EDF2F-A554-4F9E-94B1-8EFBAE43F4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6" name="Line 42">
              <a:extLst>
                <a:ext uri="{FF2B5EF4-FFF2-40B4-BE49-F238E27FC236}">
                  <a16:creationId xmlns:a16="http://schemas.microsoft.com/office/drawing/2014/main" id="{B4CF1EFF-207E-4B34-9369-CA5077E82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7" name="PlusSignBlue" hidden="1">
            <a:extLst>
              <a:ext uri="{FF2B5EF4-FFF2-40B4-BE49-F238E27FC236}">
                <a16:creationId xmlns:a16="http://schemas.microsoft.com/office/drawing/2014/main" id="{4E733F3E-AA8E-497B-841C-40ED51984548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2352134"/>
            <a:ext cx="396229" cy="396228"/>
            <a:chOff x="5774102" y="5312478"/>
            <a:chExt cx="205180" cy="205180"/>
          </a:xfrm>
        </p:grpSpPr>
        <p:sp>
          <p:nvSpPr>
            <p:cNvPr id="318" name="Oval 40">
              <a:extLst>
                <a:ext uri="{FF2B5EF4-FFF2-40B4-BE49-F238E27FC236}">
                  <a16:creationId xmlns:a16="http://schemas.microsoft.com/office/drawing/2014/main" id="{840053CE-6498-4349-B264-CD8327D85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9" name="Line 41">
              <a:extLst>
                <a:ext uri="{FF2B5EF4-FFF2-40B4-BE49-F238E27FC236}">
                  <a16:creationId xmlns:a16="http://schemas.microsoft.com/office/drawing/2014/main" id="{2DFBC0C5-EA16-48C1-9C9E-A9F097438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0" name="Line 42">
              <a:extLst>
                <a:ext uri="{FF2B5EF4-FFF2-40B4-BE49-F238E27FC236}">
                  <a16:creationId xmlns:a16="http://schemas.microsoft.com/office/drawing/2014/main" id="{4DE68072-921B-4CD0-AB56-AAD833C3B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21" name="PlusSign" hidden="1">
            <a:extLst>
              <a:ext uri="{FF2B5EF4-FFF2-40B4-BE49-F238E27FC236}">
                <a16:creationId xmlns:a16="http://schemas.microsoft.com/office/drawing/2014/main" id="{6D2B9035-C1A1-4D76-903C-4205636C324C}"/>
              </a:ext>
            </a:extLst>
          </p:cNvPr>
          <p:cNvGrpSpPr/>
          <p:nvPr userDrawn="1"/>
        </p:nvGrpSpPr>
        <p:grpSpPr>
          <a:xfrm>
            <a:off x="6125177" y="1319567"/>
            <a:ext cx="211076" cy="207370"/>
            <a:chOff x="6277577" y="2012475"/>
            <a:chExt cx="211076" cy="207370"/>
          </a:xfrm>
        </p:grpSpPr>
        <p:sp>
          <p:nvSpPr>
            <p:cNvPr id="322" name="Line 41">
              <a:extLst>
                <a:ext uri="{FF2B5EF4-FFF2-40B4-BE49-F238E27FC236}">
                  <a16:creationId xmlns:a16="http://schemas.microsoft.com/office/drawing/2014/main" id="{2D14CD41-A12D-40EA-A6D9-253508413D7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383115" y="2012475"/>
              <a:ext cx="0" cy="20737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3" name="Line 42">
              <a:extLst>
                <a:ext uri="{FF2B5EF4-FFF2-40B4-BE49-F238E27FC236}">
                  <a16:creationId xmlns:a16="http://schemas.microsoft.com/office/drawing/2014/main" id="{ADB2C483-8F4C-4630-8C8C-4694BD01713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277577" y="2116159"/>
              <a:ext cx="21107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24" name="ExclamationMarkWhite" hidden="1">
            <a:extLst>
              <a:ext uri="{FF2B5EF4-FFF2-40B4-BE49-F238E27FC236}">
                <a16:creationId xmlns:a16="http://schemas.microsoft.com/office/drawing/2014/main" id="{BD7591C5-2F5C-4DF2-AE3A-81FD6ECA04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765645"/>
            <a:ext cx="396229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13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13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5" name="ExclamationMarkBlue" hidden="1">
            <a:extLst>
              <a:ext uri="{FF2B5EF4-FFF2-40B4-BE49-F238E27FC236}">
                <a16:creationId xmlns:a16="http://schemas.microsoft.com/office/drawing/2014/main" id="{F3D3EB97-945D-4713-8574-1DEB99720F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2352134"/>
            <a:ext cx="396229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13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6" name="ExclamationMark" hidden="1">
            <a:extLst>
              <a:ext uri="{FF2B5EF4-FFF2-40B4-BE49-F238E27FC236}">
                <a16:creationId xmlns:a16="http://schemas.microsoft.com/office/drawing/2014/main" id="{9E0558B8-8450-41CA-965B-64DD3A2C1E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229864"/>
            <a:ext cx="396229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645732" rtl="0" eaLnBrk="1" latinLnBrk="0" hangingPunct="1"/>
            <a:r>
              <a:rPr lang="en-US" sz="113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13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0" name="QuestionMarkWhite" hidden="1">
            <a:extLst>
              <a:ext uri="{FF2B5EF4-FFF2-40B4-BE49-F238E27FC236}">
                <a16:creationId xmlns:a16="http://schemas.microsoft.com/office/drawing/2014/main" id="{3D3DE55A-EFB5-4A46-855A-CFB36742E0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2" y="3525112"/>
            <a:ext cx="396229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13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13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1" name="QuestionMarkBlue" hidden="1">
            <a:extLst>
              <a:ext uri="{FF2B5EF4-FFF2-40B4-BE49-F238E27FC236}">
                <a16:creationId xmlns:a16="http://schemas.microsoft.com/office/drawing/2014/main" id="{92A4EE15-ABA6-4665-9FB4-616C1B6AA3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2" y="4111601"/>
            <a:ext cx="396229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13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2" name="QuestionMark" hidden="1">
            <a:extLst>
              <a:ext uri="{FF2B5EF4-FFF2-40B4-BE49-F238E27FC236}">
                <a16:creationId xmlns:a16="http://schemas.microsoft.com/office/drawing/2014/main" id="{4E78E58E-5E73-4DAC-91A5-FA395FEE6C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2" y="2938623"/>
            <a:ext cx="396229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645732" rtl="0" eaLnBrk="1" latinLnBrk="0" hangingPunct="1"/>
            <a:r>
              <a:rPr lang="en-US" sz="113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13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353" name="XWhite" hidden="1">
            <a:extLst>
              <a:ext uri="{FF2B5EF4-FFF2-40B4-BE49-F238E27FC236}">
                <a16:creationId xmlns:a16="http://schemas.microsoft.com/office/drawing/2014/main" id="{64A8F67C-2547-40D5-969E-B6BF43205EE4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284580"/>
            <a:ext cx="396229" cy="396228"/>
            <a:chOff x="4846772" y="6015293"/>
            <a:chExt cx="252000" cy="252000"/>
          </a:xfrm>
        </p:grpSpPr>
        <p:sp>
          <p:nvSpPr>
            <p:cNvPr id="354" name="Oval 35">
              <a:extLst>
                <a:ext uri="{FF2B5EF4-FFF2-40B4-BE49-F238E27FC236}">
                  <a16:creationId xmlns:a16="http://schemas.microsoft.com/office/drawing/2014/main" id="{947E4B2F-2AE1-4838-89F1-BDAF16E04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5" name="Line 36">
              <a:extLst>
                <a:ext uri="{FF2B5EF4-FFF2-40B4-BE49-F238E27FC236}">
                  <a16:creationId xmlns:a16="http://schemas.microsoft.com/office/drawing/2014/main" id="{A0EFB238-5946-4CC6-8454-2E5643F16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7118" y="6055639"/>
              <a:ext cx="171307" cy="171307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6" name="Line 37">
              <a:extLst>
                <a:ext uri="{FF2B5EF4-FFF2-40B4-BE49-F238E27FC236}">
                  <a16:creationId xmlns:a16="http://schemas.microsoft.com/office/drawing/2014/main" id="{7269D199-3BC4-494A-831F-7E48B55D8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7293" y="6055812"/>
              <a:ext cx="170964" cy="170964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57" name="XBlue" hidden="1">
            <a:extLst>
              <a:ext uri="{FF2B5EF4-FFF2-40B4-BE49-F238E27FC236}">
                <a16:creationId xmlns:a16="http://schemas.microsoft.com/office/drawing/2014/main" id="{963F1768-3663-4E38-99EB-BEBC2D52621E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871065"/>
            <a:ext cx="396229" cy="396228"/>
            <a:chOff x="4846772" y="6015293"/>
            <a:chExt cx="252000" cy="252000"/>
          </a:xfrm>
        </p:grpSpPr>
        <p:sp>
          <p:nvSpPr>
            <p:cNvPr id="358" name="Oval 35">
              <a:extLst>
                <a:ext uri="{FF2B5EF4-FFF2-40B4-BE49-F238E27FC236}">
                  <a16:creationId xmlns:a16="http://schemas.microsoft.com/office/drawing/2014/main" id="{6BCD81C2-8F8E-46C9-B2F0-949EDB30D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9" name="Line 36">
              <a:extLst>
                <a:ext uri="{FF2B5EF4-FFF2-40B4-BE49-F238E27FC236}">
                  <a16:creationId xmlns:a16="http://schemas.microsoft.com/office/drawing/2014/main" id="{FFEE35B1-A2D3-4910-8E1C-9C137E69A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2264" y="6050785"/>
              <a:ext cx="181016" cy="181016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60" name="Line 37">
              <a:extLst>
                <a:ext uri="{FF2B5EF4-FFF2-40B4-BE49-F238E27FC236}">
                  <a16:creationId xmlns:a16="http://schemas.microsoft.com/office/drawing/2014/main" id="{2BB44F3C-9601-462F-9F01-986092699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3818" y="6052339"/>
              <a:ext cx="177910" cy="17791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67" name="Chevron" hidden="1">
            <a:extLst>
              <a:ext uri="{FF2B5EF4-FFF2-40B4-BE49-F238E27FC236}">
                <a16:creationId xmlns:a16="http://schemas.microsoft.com/office/drawing/2014/main" id="{6CB1977F-395D-4541-A0E1-6416254928B7}"/>
              </a:ext>
            </a:extLst>
          </p:cNvPr>
          <p:cNvSpPr>
            <a:spLocks noChangeAspect="1"/>
          </p:cNvSpPr>
          <p:nvPr userDrawn="1">
            <p:custDataLst>
              <p:tags r:id="rId51"/>
            </p:custDataLst>
          </p:nvPr>
        </p:nvSpPr>
        <p:spPr>
          <a:xfrm>
            <a:off x="3370045" y="3017414"/>
            <a:ext cx="126588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1271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72" name="KeyTakeawayOF" hidden="1">
            <a:extLst>
              <a:ext uri="{FF2B5EF4-FFF2-40B4-BE49-F238E27FC236}">
                <a16:creationId xmlns:a16="http://schemas.microsoft.com/office/drawing/2014/main" id="{1ADFC805-1B70-432B-A2E4-EC1E5DB7B205}"/>
              </a:ext>
            </a:extLst>
          </p:cNvPr>
          <p:cNvSpPr txBox="1"/>
          <p:nvPr userDrawn="1">
            <p:custDataLst>
              <p:tags r:id="rId52"/>
            </p:custDataLst>
          </p:nvPr>
        </p:nvSpPr>
        <p:spPr>
          <a:xfrm>
            <a:off x="7556500" y="1257300"/>
            <a:ext cx="2819400" cy="862966"/>
          </a:xfrm>
          <a:prstGeom prst="snip1Rect">
            <a:avLst/>
          </a:prstGeom>
          <a:solidFill>
            <a:schemeClr val="accent1"/>
          </a:solidFill>
        </p:spPr>
        <p:txBody>
          <a:bodyPr vert="horz" wrap="square" lIns="129157" tIns="129157" rIns="129157" bIns="129157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  <a:lvl2pPr marL="144000" lvl="1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latin typeface="Franklin Gothic Book" panose="020B0503020102020204" pitchFamily="34" charset="0"/>
              </a:defRPr>
            </a:lvl2pPr>
            <a:lvl3pPr marL="288000" lvl="2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latin typeface="Franklin Gothic Book" panose="020B0503020102020204" pitchFamily="34" charset="0"/>
              </a:defRPr>
            </a:lvl3pPr>
            <a:lvl4pPr marL="432000" lvl="3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latin typeface="Franklin Gothic Book" panose="020B0503020102020204" pitchFamily="34" charset="0"/>
              </a:defRPr>
            </a:lvl4pPr>
            <a:lvl5pPr marL="576000" lvl="4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latin typeface="Franklin Gothic Book" panose="020B05030201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988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Key Takeaway</a:t>
            </a:r>
          </a:p>
          <a:p>
            <a:pPr>
              <a:spcBef>
                <a:spcPts val="0"/>
              </a:spcBef>
            </a:pPr>
            <a:r>
              <a:rPr lang="en-US" sz="988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Body paragraph</a:t>
            </a:r>
          </a:p>
          <a:p>
            <a:pPr lvl="1">
              <a:buClr>
                <a:schemeClr val="tx2"/>
              </a:buClr>
            </a:pPr>
            <a:r>
              <a:rPr lang="en-US" sz="988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Bullet level one</a:t>
            </a:r>
          </a:p>
        </p:txBody>
      </p:sp>
      <p:grpSp>
        <p:nvGrpSpPr>
          <p:cNvPr id="373" name="Callout" hidden="1">
            <a:extLst>
              <a:ext uri="{FF2B5EF4-FFF2-40B4-BE49-F238E27FC236}">
                <a16:creationId xmlns:a16="http://schemas.microsoft.com/office/drawing/2014/main" id="{21CB9224-F876-4528-9F19-97359B65E4E5}"/>
              </a:ext>
            </a:extLst>
          </p:cNvPr>
          <p:cNvGrpSpPr/>
          <p:nvPr userDrawn="1">
            <p:custDataLst>
              <p:tags r:id="rId53"/>
            </p:custDataLst>
          </p:nvPr>
        </p:nvGrpSpPr>
        <p:grpSpPr>
          <a:xfrm>
            <a:off x="7556500" y="2814269"/>
            <a:ext cx="3026228" cy="1076257"/>
            <a:chOff x="1016000" y="1016000"/>
            <a:chExt cx="3026228" cy="1076257"/>
          </a:xfrm>
        </p:grpSpPr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8677E9B9-A539-4E0F-9A04-8CEE1655CD88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07625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1130" dirty="0"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988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9989B7A8-CE5E-4D8D-B5F6-18711E66CDF7}"/>
                </a:ext>
              </a:extLst>
            </p:cNvPr>
            <p:cNvCxnSpPr>
              <a:cxnSpLocks/>
              <a:stCxn id="374" idx="3"/>
            </p:cNvCxnSpPr>
            <p:nvPr/>
          </p:nvCxnSpPr>
          <p:spPr>
            <a:xfrm>
              <a:off x="3661228" y="1554129"/>
              <a:ext cx="381000" cy="346729"/>
            </a:xfrm>
            <a:prstGeom prst="straightConnector1">
              <a:avLst/>
            </a:prstGeom>
            <a:ln w="6350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StrongCallout" hidden="1">
            <a:extLst>
              <a:ext uri="{FF2B5EF4-FFF2-40B4-BE49-F238E27FC236}">
                <a16:creationId xmlns:a16="http://schemas.microsoft.com/office/drawing/2014/main" id="{FBFAAB70-F343-4BC7-9809-954862307099}"/>
              </a:ext>
            </a:extLst>
          </p:cNvPr>
          <p:cNvGrpSpPr/>
          <p:nvPr userDrawn="1">
            <p:custDataLst>
              <p:tags r:id="rId54"/>
            </p:custDataLst>
          </p:nvPr>
        </p:nvGrpSpPr>
        <p:grpSpPr>
          <a:xfrm>
            <a:off x="7556500" y="4704344"/>
            <a:ext cx="3026228" cy="1076257"/>
            <a:chOff x="1016000" y="1016000"/>
            <a:chExt cx="3026228" cy="1076257"/>
          </a:xfrm>
        </p:grpSpPr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F4EDB771-524B-4E85-A799-96A9C1C0C33E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0762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113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988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8" name="Straight Arrow Connector 377">
              <a:extLst>
                <a:ext uri="{FF2B5EF4-FFF2-40B4-BE49-F238E27FC236}">
                  <a16:creationId xmlns:a16="http://schemas.microsoft.com/office/drawing/2014/main" id="{7E555C10-ED0D-4742-8F7F-ABCB7750B0FE}"/>
                </a:ext>
              </a:extLst>
            </p:cNvPr>
            <p:cNvCxnSpPr>
              <a:cxnSpLocks/>
              <a:stCxn id="377" idx="3"/>
            </p:cNvCxnSpPr>
            <p:nvPr/>
          </p:nvCxnSpPr>
          <p:spPr>
            <a:xfrm>
              <a:off x="3661228" y="1554129"/>
              <a:ext cx="381000" cy="346729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9" name="SplitFlowOF" hidden="1">
            <a:extLst>
              <a:ext uri="{FF2B5EF4-FFF2-40B4-BE49-F238E27FC236}">
                <a16:creationId xmlns:a16="http://schemas.microsoft.com/office/drawing/2014/main" id="{C6C961D3-A82A-41AF-847D-45C80E658C14}"/>
              </a:ext>
            </a:extLst>
          </p:cNvPr>
          <p:cNvGrpSpPr>
            <a:grpSpLocks/>
          </p:cNvGrpSpPr>
          <p:nvPr userDrawn="1">
            <p:custDataLst>
              <p:tags r:id="rId55"/>
            </p:custDataLst>
          </p:nvPr>
        </p:nvGrpSpPr>
        <p:grpSpPr>
          <a:xfrm>
            <a:off x="11074400" y="1257300"/>
            <a:ext cx="1828801" cy="914400"/>
            <a:chOff x="114299" y="1270000"/>
            <a:chExt cx="1828801" cy="914400"/>
          </a:xfrm>
          <a:solidFill>
            <a:schemeClr val="accent3"/>
          </a:solidFill>
        </p:grpSpPr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629A692C-B796-462A-97D2-5BDE28897A8C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14300" y="1270000"/>
              <a:ext cx="1828800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457200">
                  <a:moveTo>
                    <a:pt x="0" y="0"/>
                  </a:moveTo>
                  <a:lnTo>
                    <a:pt x="1664208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30F8C376-A37C-4AC0-AD8E-FF489C86A2CC}"/>
                </a:ext>
              </a:extLst>
            </p:cNvPr>
            <p:cNvSpPr txBox="1"/>
            <p:nvPr>
              <p:custDataLst>
                <p:tags r:id="rId60"/>
              </p:custDataLst>
            </p:nvPr>
          </p:nvSpPr>
          <p:spPr>
            <a:xfrm>
              <a:off x="177800" y="1327150"/>
              <a:ext cx="1600708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BF53C301-2D55-4813-B4B7-18A5B2B90892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14299" y="1727200"/>
              <a:ext cx="996697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980237 w 1664208"/>
                <a:gd name="connsiteY0" fmla="*/ 0 h 457200"/>
                <a:gd name="connsiteX1" fmla="*/ 1664208 w 1664208"/>
                <a:gd name="connsiteY1" fmla="*/ 457200 h 457200"/>
                <a:gd name="connsiteX2" fmla="*/ 0 w 1664208"/>
                <a:gd name="connsiteY2" fmla="*/ 457200 h 457200"/>
                <a:gd name="connsiteX3" fmla="*/ 0 w 1664208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96696 w 996696"/>
                <a:gd name="connsiteY0" fmla="*/ 0 h 457200"/>
                <a:gd name="connsiteX1" fmla="*/ 84856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6 w 996696"/>
                <a:gd name="connsiteY0" fmla="*/ 0 h 457200"/>
                <a:gd name="connsiteX1" fmla="*/ 83210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7" h="457200">
                  <a:moveTo>
                    <a:pt x="996697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84127477-F4C5-4F43-AD37-D862E044CF48}"/>
                </a:ext>
              </a:extLst>
            </p:cNvPr>
            <p:cNvSpPr txBox="1"/>
            <p:nvPr>
              <p:custDataLst>
                <p:tags r:id="rId62"/>
              </p:custDataLst>
            </p:nvPr>
          </p:nvSpPr>
          <p:spPr>
            <a:xfrm>
              <a:off x="177800" y="1784350"/>
              <a:ext cx="768604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>
                  <a:latin typeface="+mn-lt"/>
                  <a:ea typeface="+mn-ea"/>
                  <a:cs typeface="+mn-cs"/>
                  <a:sym typeface="+mn-lt"/>
                </a:rPr>
                <a:t>Text</a:t>
              </a:r>
              <a:endParaRPr lang="en-US" sz="706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03606657-349E-4EB9-AC07-42D927B48B19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946404" y="1727200"/>
              <a:ext cx="996696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848563 w 1828800"/>
                <a:gd name="connsiteY2" fmla="*/ 457200 h 457200"/>
                <a:gd name="connsiteX3" fmla="*/ 0 w 1828800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15645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48133 w 996696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64592 w 996696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6" h="457200">
                  <a:moveTo>
                    <a:pt x="996696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64592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8D6E177A-752E-410D-B299-80215ACD3436}"/>
                </a:ext>
              </a:extLst>
            </p:cNvPr>
            <p:cNvSpPr txBox="1"/>
            <p:nvPr>
              <p:custDataLst>
                <p:tags r:id="rId64"/>
              </p:custDataLst>
            </p:nvPr>
          </p:nvSpPr>
          <p:spPr>
            <a:xfrm>
              <a:off x="1149096" y="1784350"/>
              <a:ext cx="629412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386" name="Group" hidden="1">
            <a:extLst>
              <a:ext uri="{FF2B5EF4-FFF2-40B4-BE49-F238E27FC236}">
                <a16:creationId xmlns:a16="http://schemas.microsoft.com/office/drawing/2014/main" id="{7D5F9D64-63BA-4A00-A40F-81D44C96A709}"/>
              </a:ext>
            </a:extLst>
          </p:cNvPr>
          <p:cNvGrpSpPr>
            <a:grpSpLocks/>
          </p:cNvGrpSpPr>
          <p:nvPr userDrawn="1">
            <p:custDataLst>
              <p:tags r:id="rId56"/>
            </p:custDataLst>
          </p:nvPr>
        </p:nvGrpSpPr>
        <p:grpSpPr>
          <a:xfrm>
            <a:off x="11074402" y="2814268"/>
            <a:ext cx="1828801" cy="908050"/>
            <a:chOff x="1016000" y="1016000"/>
            <a:chExt cx="2971800" cy="908050"/>
          </a:xfrm>
          <a:solidFill>
            <a:schemeClr val="accent3"/>
          </a:solidFill>
        </p:grpSpPr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4FA4576C-ECF7-457D-AF11-1D6F3595CAB9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016000" y="1016000"/>
              <a:ext cx="2971800" cy="908050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728216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728216" y="0"/>
                  </a:lnTo>
                  <a:lnTo>
                    <a:pt x="1828800" y="457200"/>
                  </a:lnTo>
                  <a:lnTo>
                    <a:pt x="1728216" y="914400"/>
                  </a:lnTo>
                  <a:lnTo>
                    <a:pt x="0" y="9144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E9A047FB-4C45-4EAC-9C1A-9769B09EC910}"/>
                </a:ext>
              </a:extLst>
            </p:cNvPr>
            <p:cNvSpPr txBox="1"/>
            <p:nvPr>
              <p:custDataLst>
                <p:tags r:id="rId58"/>
              </p:custDataLst>
            </p:nvPr>
          </p:nvSpPr>
          <p:spPr>
            <a:xfrm>
              <a:off x="1079500" y="1079059"/>
              <a:ext cx="2744851" cy="781932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445" name="CheckmarkWhite" hidden="1">
            <a:extLst>
              <a:ext uri="{FF2B5EF4-FFF2-40B4-BE49-F238E27FC236}">
                <a16:creationId xmlns:a16="http://schemas.microsoft.com/office/drawing/2014/main" id="{23B8C5E5-4ACA-40F9-A08E-EF887C7F53FD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1765645"/>
            <a:ext cx="396229" cy="396228"/>
            <a:chOff x="5612530" y="5130112"/>
            <a:chExt cx="252000" cy="252000"/>
          </a:xfrm>
        </p:grpSpPr>
        <p:sp>
          <p:nvSpPr>
            <p:cNvPr id="446" name="Oval 38">
              <a:extLst>
                <a:ext uri="{FF2B5EF4-FFF2-40B4-BE49-F238E27FC236}">
                  <a16:creationId xmlns:a16="http://schemas.microsoft.com/office/drawing/2014/main" id="{7E74802F-C333-4CD3-9D21-FA3C70A5B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7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7" name="Freeform 39">
              <a:extLst>
                <a:ext uri="{FF2B5EF4-FFF2-40B4-BE49-F238E27FC236}">
                  <a16:creationId xmlns:a16="http://schemas.microsoft.com/office/drawing/2014/main" id="{673344BF-49BF-4EF1-99FA-30708D581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506" name="QuotationMarks" hidden="1">
            <a:extLst>
              <a:ext uri="{FF2B5EF4-FFF2-40B4-BE49-F238E27FC236}">
                <a16:creationId xmlns:a16="http://schemas.microsoft.com/office/drawing/2014/main" id="{C2F33033-CBF4-496E-804A-0DE82A4D71E7}"/>
              </a:ext>
            </a:extLst>
          </p:cNvPr>
          <p:cNvSpPr>
            <a:spLocks noEditPoints="1"/>
          </p:cNvSpPr>
          <p:nvPr/>
        </p:nvSpPr>
        <p:spPr bwMode="auto">
          <a:xfrm>
            <a:off x="5228492" y="3100182"/>
            <a:ext cx="139529" cy="99518"/>
          </a:xfrm>
          <a:custGeom>
            <a:avLst/>
            <a:gdLst>
              <a:gd name="T0" fmla="*/ 291 w 544"/>
              <a:gd name="T1" fmla="*/ 0 h 388"/>
              <a:gd name="T2" fmla="*/ 544 w 544"/>
              <a:gd name="T3" fmla="*/ 0 h 388"/>
              <a:gd name="T4" fmla="*/ 544 w 544"/>
              <a:gd name="T5" fmla="*/ 224 h 388"/>
              <a:gd name="T6" fmla="*/ 418 w 544"/>
              <a:gd name="T7" fmla="*/ 388 h 388"/>
              <a:gd name="T8" fmla="*/ 418 w 544"/>
              <a:gd name="T9" fmla="*/ 240 h 388"/>
              <a:gd name="T10" fmla="*/ 291 w 544"/>
              <a:gd name="T11" fmla="*/ 240 h 388"/>
              <a:gd name="T12" fmla="*/ 291 w 544"/>
              <a:gd name="T13" fmla="*/ 0 h 388"/>
              <a:gd name="T14" fmla="*/ 291 w 544"/>
              <a:gd name="T15" fmla="*/ 0 h 388"/>
              <a:gd name="T16" fmla="*/ 0 w 544"/>
              <a:gd name="T17" fmla="*/ 0 h 388"/>
              <a:gd name="T18" fmla="*/ 252 w 544"/>
              <a:gd name="T19" fmla="*/ 0 h 388"/>
              <a:gd name="T20" fmla="*/ 252 w 544"/>
              <a:gd name="T21" fmla="*/ 224 h 388"/>
              <a:gd name="T22" fmla="*/ 126 w 544"/>
              <a:gd name="T23" fmla="*/ 388 h 388"/>
              <a:gd name="T24" fmla="*/ 126 w 544"/>
              <a:gd name="T25" fmla="*/ 240 h 388"/>
              <a:gd name="T26" fmla="*/ 0 w 544"/>
              <a:gd name="T27" fmla="*/ 240 h 388"/>
              <a:gd name="T28" fmla="*/ 0 w 544"/>
              <a:gd name="T29" fmla="*/ 0 h 388"/>
              <a:gd name="T30" fmla="*/ 0 w 544"/>
              <a:gd name="T31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44" h="388">
                <a:moveTo>
                  <a:pt x="291" y="0"/>
                </a:moveTo>
                <a:lnTo>
                  <a:pt x="544" y="0"/>
                </a:lnTo>
                <a:lnTo>
                  <a:pt x="544" y="224"/>
                </a:lnTo>
                <a:lnTo>
                  <a:pt x="418" y="388"/>
                </a:lnTo>
                <a:lnTo>
                  <a:pt x="418" y="240"/>
                </a:lnTo>
                <a:lnTo>
                  <a:pt x="291" y="240"/>
                </a:lnTo>
                <a:lnTo>
                  <a:pt x="291" y="0"/>
                </a:lnTo>
                <a:lnTo>
                  <a:pt x="291" y="0"/>
                </a:lnTo>
                <a:close/>
                <a:moveTo>
                  <a:pt x="0" y="0"/>
                </a:moveTo>
                <a:lnTo>
                  <a:pt x="252" y="0"/>
                </a:lnTo>
                <a:lnTo>
                  <a:pt x="252" y="224"/>
                </a:lnTo>
                <a:lnTo>
                  <a:pt x="126" y="388"/>
                </a:lnTo>
                <a:lnTo>
                  <a:pt x="126" y="240"/>
                </a:lnTo>
                <a:lnTo>
                  <a:pt x="0" y="24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2723"/>
          </a:solidFill>
          <a:ln w="3175" cap="sq">
            <a:solidFill>
              <a:schemeClr val="bg1"/>
            </a:solidFill>
            <a:bevel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endParaRPr lang="ru-RU" sz="1271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10" name="Checkmark" hidden="1">
            <a:extLst>
              <a:ext uri="{FF2B5EF4-FFF2-40B4-BE49-F238E27FC236}">
                <a16:creationId xmlns:a16="http://schemas.microsoft.com/office/drawing/2014/main" id="{70DDC772-B4F5-4D65-96F8-611389A23637}"/>
              </a:ext>
            </a:extLst>
          </p:cNvPr>
          <p:cNvSpPr>
            <a:spLocks/>
          </p:cNvSpPr>
          <p:nvPr userDrawn="1"/>
        </p:nvSpPr>
        <p:spPr bwMode="auto">
          <a:xfrm>
            <a:off x="2355654" y="1341107"/>
            <a:ext cx="285578" cy="172963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endParaRPr lang="ru-RU" sz="1271" dirty="0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511" name="QuotationMarksBlue" hidden="1">
            <a:extLst>
              <a:ext uri="{FF2B5EF4-FFF2-40B4-BE49-F238E27FC236}">
                <a16:creationId xmlns:a16="http://schemas.microsoft.com/office/drawing/2014/main" id="{6028CAD6-AB7E-41DC-9A9A-FD8DABD700F6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4111601"/>
            <a:ext cx="396229" cy="396228"/>
            <a:chOff x="5318049" y="5268554"/>
            <a:chExt cx="252000" cy="252000"/>
          </a:xfrm>
        </p:grpSpPr>
        <p:sp>
          <p:nvSpPr>
            <p:cNvPr id="512" name="Oval 43">
              <a:extLst>
                <a:ext uri="{FF2B5EF4-FFF2-40B4-BE49-F238E27FC236}">
                  <a16:creationId xmlns:a16="http://schemas.microsoft.com/office/drawing/2014/main" id="{8FA1D922-A6F2-4778-9BD4-D7C5F06BE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3" name="Freeform 115">
              <a:extLst>
                <a:ext uri="{FF2B5EF4-FFF2-40B4-BE49-F238E27FC236}">
                  <a16:creationId xmlns:a16="http://schemas.microsoft.com/office/drawing/2014/main" id="{B0F2CC7D-D190-43A9-A23F-ACCFCD1D81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3175" cap="sq">
              <a:solidFill>
                <a:schemeClr val="tx2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517" name="CheckmarkBlue" hidden="1">
            <a:extLst>
              <a:ext uri="{FF2B5EF4-FFF2-40B4-BE49-F238E27FC236}">
                <a16:creationId xmlns:a16="http://schemas.microsoft.com/office/drawing/2014/main" id="{BA51177C-B04C-4A43-958A-E2562B91C53B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2352134"/>
            <a:ext cx="396229" cy="396228"/>
            <a:chOff x="5612530" y="5130112"/>
            <a:chExt cx="252000" cy="252000"/>
          </a:xfrm>
        </p:grpSpPr>
        <p:sp>
          <p:nvSpPr>
            <p:cNvPr id="518" name="Oval 38">
              <a:extLst>
                <a:ext uri="{FF2B5EF4-FFF2-40B4-BE49-F238E27FC236}">
                  <a16:creationId xmlns:a16="http://schemas.microsoft.com/office/drawing/2014/main" id="{80D1268F-5008-4D04-8BF3-F734AC9EB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9" name="Freeform 39">
              <a:extLst>
                <a:ext uri="{FF2B5EF4-FFF2-40B4-BE49-F238E27FC236}">
                  <a16:creationId xmlns:a16="http://schemas.microsoft.com/office/drawing/2014/main" id="{D6A11F35-CCB1-4085-8FA8-7B001864B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312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</p:sldLayoutIdLst>
  <p:txStyles>
    <p:titleStyle>
      <a:lvl1pPr algn="l" defTabSz="645732" rtl="0" eaLnBrk="1" latinLnBrk="0" hangingPunct="1">
        <a:lnSpc>
          <a:spcPct val="100000"/>
        </a:lnSpc>
        <a:spcBef>
          <a:spcPct val="0"/>
        </a:spcBef>
        <a:buNone/>
        <a:defRPr lang="ru-RU" sz="1553" b="1" kern="1200" spc="0" baseline="0" dirty="0">
          <a:ln w="6350" cap="flat">
            <a:noFill/>
            <a:miter lim="800000"/>
          </a:ln>
          <a:solidFill>
            <a:schemeClr val="tx2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l" defTabSz="645732" rtl="0" eaLnBrk="1" latinLnBrk="0" hangingPunct="1">
        <a:lnSpc>
          <a:spcPct val="100000"/>
        </a:lnSpc>
        <a:spcBef>
          <a:spcPts val="212"/>
        </a:spcBef>
        <a:spcAft>
          <a:spcPts val="212"/>
        </a:spcAft>
        <a:buFont typeface="Segoe UI" panose="020B0502040204020203" pitchFamily="34" charset="0"/>
        <a:buChar char="​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162701" indent="-160159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312692" indent="-152533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422007" indent="-106773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577082" indent="-104231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1pPr>
      <a:lvl2pPr marL="322866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2pPr>
      <a:lvl3pPr marL="645732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3pPr>
      <a:lvl4pPr marL="968599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4pPr>
      <a:lvl5pPr marL="1291465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5pPr>
      <a:lvl6pPr marL="1614331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6pPr>
      <a:lvl7pPr marL="1937197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7pPr>
      <a:lvl8pPr marL="2260063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8pPr>
      <a:lvl9pPr marL="2582929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34">
          <p15:clr>
            <a:srgbClr val="5ACBF0"/>
          </p15:clr>
        </p15:guide>
        <p15:guide id="3" orient="horz" pos="5531">
          <p15:clr>
            <a:srgbClr val="5ACBF0"/>
          </p15:clr>
        </p15:guide>
        <p15:guide id="4" orient="horz" pos="1520">
          <p15:clr>
            <a:srgbClr val="F26B43"/>
          </p15:clr>
        </p15:guide>
        <p15:guide id="5" pos="8255">
          <p15:clr>
            <a:srgbClr val="F26B43"/>
          </p15:clr>
        </p15:guide>
        <p15:guide id="6" pos="389">
          <p15:clr>
            <a:srgbClr val="F26B43"/>
          </p15:clr>
        </p15:guide>
        <p15:guide id="8" orient="horz" pos="574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231980708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7" name="think-cell Slide" r:id="rId75" imgW="413" imgH="416" progId="TCLayout.ActiveDocument.1">
                  <p:embed/>
                </p:oleObj>
              </mc:Choice>
              <mc:Fallback>
                <p:oleObj name="think-cell Slide" r:id="rId75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9B9B2FF-A42D-488D-B8CB-886FD091F71C}"/>
              </a:ext>
            </a:extLst>
          </p:cNvPr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19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8" y="226624"/>
            <a:ext cx="11082528" cy="677108"/>
          </a:xfrm>
          <a:prstGeom prst="rect">
            <a:avLst/>
          </a:prstGeom>
        </p:spPr>
        <p:txBody>
          <a:bodyPr vert="horz" wrap="square" lIns="0" tIns="0" rIns="792000" bIns="0" rtlCol="0" anchor="b" anchorCtr="0">
            <a:noAutofit/>
          </a:bodyPr>
          <a:lstStyle/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10557265" y="41597"/>
            <a:ext cx="1080000" cy="8694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>
          <a:xfrm>
            <a:off x="3754105" y="2171700"/>
            <a:ext cx="3049254" cy="347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1130" dirty="0">
                <a:latin typeface="+mn-lt"/>
                <a:ea typeface="+mn-ea"/>
                <a:cs typeface="+mn-cs"/>
                <a:sym typeface="+mn-lt"/>
              </a:rPr>
              <a:t>Above Chart Exhibit Title</a:t>
            </a:r>
            <a:br>
              <a:rPr lang="en-US" sz="1130" dirty="0">
                <a:latin typeface="+mn-lt"/>
                <a:ea typeface="+mn-ea"/>
                <a:cs typeface="+mn-cs"/>
                <a:sym typeface="+mn-lt"/>
              </a:rPr>
            </a:br>
            <a:r>
              <a:rPr lang="en-US" sz="1130" b="0" dirty="0">
                <a:latin typeface="+mn-lt"/>
                <a:ea typeface="+mn-ea"/>
                <a:cs typeface="+mn-cs"/>
                <a:sym typeface="+mn-lt"/>
              </a:rPr>
              <a:t>Units of measure</a:t>
            </a:r>
            <a:endParaRPr lang="ru-RU" sz="113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7" y="2170801"/>
            <a:ext cx="2856297" cy="859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2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grpSp>
        <p:nvGrpSpPr>
          <p:cNvPr id="6" name="Grid" hidden="1">
            <a:extLst>
              <a:ext uri="{FF2B5EF4-FFF2-40B4-BE49-F238E27FC236}">
                <a16:creationId xmlns:a16="http://schemas.microsoft.com/office/drawing/2014/main" id="{861F1414-E69A-4B93-B791-A09EC410AACA}"/>
              </a:ext>
            </a:extLst>
          </p:cNvPr>
          <p:cNvGrpSpPr/>
          <p:nvPr userDrawn="1"/>
        </p:nvGrpSpPr>
        <p:grpSpPr>
          <a:xfrm>
            <a:off x="-497642" y="-463534"/>
            <a:ext cx="12134906" cy="6527826"/>
            <a:chOff x="-497642" y="-463534"/>
            <a:chExt cx="12134906" cy="652782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64F6561-1469-4E8F-B8EF-9027513963D5}"/>
                </a:ext>
              </a:extLst>
            </p:cNvPr>
            <p:cNvSpPr>
              <a:spLocks/>
            </p:cNvSpPr>
            <p:nvPr/>
          </p:nvSpPr>
          <p:spPr>
            <a:xfrm>
              <a:off x="554736" y="-463534"/>
              <a:ext cx="1108252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212"/>
                </a:spcBef>
                <a:spcAft>
                  <a:spcPts val="212"/>
                </a:spcAft>
              </a:pPr>
              <a:r>
                <a:rPr lang="en-US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 v.2</a:t>
              </a:r>
              <a:endParaRPr lang="ru-RU" sz="113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7E9DA43-116B-4B2B-8EB5-2A43A4A8B8E2}"/>
                </a:ext>
              </a:extLst>
            </p:cNvPr>
            <p:cNvSpPr>
              <a:spLocks/>
            </p:cNvSpPr>
            <p:nvPr/>
          </p:nvSpPr>
          <p:spPr>
            <a:xfrm>
              <a:off x="3758184" y="-427370"/>
              <a:ext cx="7879080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1/4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D48FD89-D6E0-4A2A-8413-890E0FFF94C9}"/>
                </a:ext>
              </a:extLst>
            </p:cNvPr>
            <p:cNvSpPr>
              <a:spLocks/>
            </p:cNvSpPr>
            <p:nvPr/>
          </p:nvSpPr>
          <p:spPr>
            <a:xfrm>
              <a:off x="4709160" y="-427370"/>
              <a:ext cx="6928104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1/3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02EB4D0-076F-4C43-84BC-7DD02D78A8D9}"/>
                </a:ext>
              </a:extLst>
            </p:cNvPr>
            <p:cNvSpPr>
              <a:spLocks/>
            </p:cNvSpPr>
            <p:nvPr/>
          </p:nvSpPr>
          <p:spPr>
            <a:xfrm>
              <a:off x="6437376" y="-427370"/>
              <a:ext cx="5199888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D152B6B-9FE9-4878-83CF-35C1380ACB0B}"/>
                </a:ext>
              </a:extLst>
            </p:cNvPr>
            <p:cNvSpPr>
              <a:spLocks/>
            </p:cNvSpPr>
            <p:nvPr/>
          </p:nvSpPr>
          <p:spPr>
            <a:xfrm>
              <a:off x="8174736" y="-427370"/>
              <a:ext cx="3462528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2/3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287DF8-521C-4F6A-A39E-232AD36355B6}"/>
                </a:ext>
              </a:extLst>
            </p:cNvPr>
            <p:cNvSpPr>
              <a:spLocks/>
            </p:cNvSpPr>
            <p:nvPr/>
          </p:nvSpPr>
          <p:spPr>
            <a:xfrm>
              <a:off x="9125840" y="-463534"/>
              <a:ext cx="2511424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3/4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C53879D-A9B4-48E4-88DE-6B149C00047B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84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0E362AF-AE68-4195-BB03-567C8E157906}"/>
                </a:ext>
              </a:extLst>
            </p:cNvPr>
            <p:cNvCxnSpPr>
              <a:cxnSpLocks/>
            </p:cNvCxnSpPr>
            <p:nvPr/>
          </p:nvCxnSpPr>
          <p:spPr>
            <a:xfrm>
              <a:off x="470916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E4D6098-4986-48C4-83FD-08CD00E943DD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194799-10B3-4D39-BD33-C1A616ED9D3D}"/>
                </a:ext>
              </a:extLst>
            </p:cNvPr>
            <p:cNvCxnSpPr>
              <a:cxnSpLocks/>
            </p:cNvCxnSpPr>
            <p:nvPr/>
          </p:nvCxnSpPr>
          <p:spPr>
            <a:xfrm>
              <a:off x="817473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2F8D9E-4B15-4CE7-80E0-444A6580B411}"/>
                </a:ext>
              </a:extLst>
            </p:cNvPr>
            <p:cNvCxnSpPr>
              <a:cxnSpLocks/>
            </p:cNvCxnSpPr>
            <p:nvPr/>
          </p:nvCxnSpPr>
          <p:spPr>
            <a:xfrm>
              <a:off x="912584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D03324C-C4D6-4D8E-8CB9-DCCF952BF70C}"/>
                </a:ext>
              </a:extLst>
            </p:cNvPr>
            <p:cNvSpPr>
              <a:spLocks/>
            </p:cNvSpPr>
            <p:nvPr/>
          </p:nvSpPr>
          <p:spPr>
            <a:xfrm>
              <a:off x="-497642" y="1373675"/>
              <a:ext cx="364936" cy="469061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r>
                <a:rPr lang="en-US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</a:t>
              </a:r>
              <a:endParaRPr lang="ru-RU" sz="113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194" name="EqualSignWhite" hidden="1">
            <a:extLst>
              <a:ext uri="{FF2B5EF4-FFF2-40B4-BE49-F238E27FC236}">
                <a16:creationId xmlns:a16="http://schemas.microsoft.com/office/drawing/2014/main" id="{6F134EB7-3345-4CE8-9098-F9AF787DEA8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1765645"/>
            <a:ext cx="396229" cy="396228"/>
            <a:chOff x="5628456" y="6080974"/>
            <a:chExt cx="252000" cy="252000"/>
          </a:xfrm>
        </p:grpSpPr>
        <p:sp>
          <p:nvSpPr>
            <p:cNvPr id="196" name="Oval 43">
              <a:extLst>
                <a:ext uri="{FF2B5EF4-FFF2-40B4-BE49-F238E27FC236}">
                  <a16:creationId xmlns:a16="http://schemas.microsoft.com/office/drawing/2014/main" id="{8DC74F05-815E-4EE8-9CF5-562E9E261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13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A8C6472A-D330-4FE0-BAA2-C4CDC5107D77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00" name="Line 44">
                <a:extLst>
                  <a:ext uri="{FF2B5EF4-FFF2-40B4-BE49-F238E27FC236}">
                    <a16:creationId xmlns:a16="http://schemas.microsoft.com/office/drawing/2014/main" id="{9C6633DB-F8EA-485D-8136-541C19554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01" name="Line 44">
                <a:extLst>
                  <a:ext uri="{FF2B5EF4-FFF2-40B4-BE49-F238E27FC236}">
                    <a16:creationId xmlns:a16="http://schemas.microsoft.com/office/drawing/2014/main" id="{E94EB394-8F51-4841-93DF-B495A96002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438" name="QuotationMarksWhite" hidden="1">
            <a:extLst>
              <a:ext uri="{FF2B5EF4-FFF2-40B4-BE49-F238E27FC236}">
                <a16:creationId xmlns:a16="http://schemas.microsoft.com/office/drawing/2014/main" id="{0AA18171-3664-43C8-85D9-26DC5539AC74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3525112"/>
            <a:ext cx="396229" cy="396228"/>
            <a:chOff x="5318049" y="5268554"/>
            <a:chExt cx="252000" cy="252000"/>
          </a:xfrm>
        </p:grpSpPr>
        <p:sp>
          <p:nvSpPr>
            <p:cNvPr id="439" name="Oval 43">
              <a:extLst>
                <a:ext uri="{FF2B5EF4-FFF2-40B4-BE49-F238E27FC236}">
                  <a16:creationId xmlns:a16="http://schemas.microsoft.com/office/drawing/2014/main" id="{090703B2-4AAB-476A-B640-5AA748B30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0" name="Freeform 115">
              <a:extLst>
                <a:ext uri="{FF2B5EF4-FFF2-40B4-BE49-F238E27FC236}">
                  <a16:creationId xmlns:a16="http://schemas.microsoft.com/office/drawing/2014/main" id="{68CE81C0-7402-4E9C-9662-6AC76BDF03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2723"/>
            </a:solidFill>
            <a:ln w="3175" cap="sq">
              <a:solidFill>
                <a:schemeClr val="bg1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2" name="MinusSignWhite" hidden="1">
            <a:extLst>
              <a:ext uri="{FF2B5EF4-FFF2-40B4-BE49-F238E27FC236}">
                <a16:creationId xmlns:a16="http://schemas.microsoft.com/office/drawing/2014/main" id="{94FC29BD-47DD-4988-84DA-DC8356974149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3525112"/>
            <a:ext cx="396229" cy="396228"/>
            <a:chOff x="5774102" y="5004016"/>
            <a:chExt cx="205180" cy="205180"/>
          </a:xfrm>
        </p:grpSpPr>
        <p:sp>
          <p:nvSpPr>
            <p:cNvPr id="203" name="Oval 43">
              <a:extLst>
                <a:ext uri="{FF2B5EF4-FFF2-40B4-BE49-F238E27FC236}">
                  <a16:creationId xmlns:a16="http://schemas.microsoft.com/office/drawing/2014/main" id="{4395DE7A-3237-456D-A40E-3562CC732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13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4" name="Line 44">
              <a:extLst>
                <a:ext uri="{FF2B5EF4-FFF2-40B4-BE49-F238E27FC236}">
                  <a16:creationId xmlns:a16="http://schemas.microsoft.com/office/drawing/2014/main" id="{8CFD64A5-BD7F-427E-959D-F20EEA0EB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5" name="MoonEmpty" hidden="1">
            <a:extLst>
              <a:ext uri="{FF2B5EF4-FFF2-40B4-BE49-F238E27FC236}">
                <a16:creationId xmlns:a16="http://schemas.microsoft.com/office/drawing/2014/main" id="{EEF7756D-7698-4345-BE5B-09369505E931}"/>
              </a:ext>
            </a:extLst>
          </p:cNvPr>
          <p:cNvGrpSpPr>
            <a:grpSpLocks/>
          </p:cNvGrpSpPr>
          <p:nvPr userDrawn="1">
            <p:custDataLst>
              <p:tags r:id="rId23"/>
            </p:custDataLst>
          </p:nvPr>
        </p:nvGrpSpPr>
        <p:grpSpPr>
          <a:xfrm>
            <a:off x="204702" y="4207156"/>
            <a:ext cx="252001" cy="252000"/>
            <a:chOff x="762000" y="1270000"/>
            <a:chExt cx="254000" cy="25400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4A042EF1-480E-4867-B6CC-C7EC7AF5F6A8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7" name="Arc 206">
              <a:extLst>
                <a:ext uri="{FF2B5EF4-FFF2-40B4-BE49-F238E27FC236}">
                  <a16:creationId xmlns:a16="http://schemas.microsoft.com/office/drawing/2014/main" id="{1EE54E7C-B827-49A9-BD75-5FF308CF073F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8" name="MoonQuater" hidden="1">
            <a:extLst>
              <a:ext uri="{FF2B5EF4-FFF2-40B4-BE49-F238E27FC236}">
                <a16:creationId xmlns:a16="http://schemas.microsoft.com/office/drawing/2014/main" id="{6ECF7A3B-3A86-45CA-B7FE-A42281667D24}"/>
              </a:ext>
            </a:extLst>
          </p:cNvPr>
          <p:cNvGrpSpPr>
            <a:grpSpLocks/>
          </p:cNvGrpSpPr>
          <p:nvPr userDrawn="1">
            <p:custDataLst>
              <p:tags r:id="rId24"/>
            </p:custDataLst>
          </p:nvPr>
        </p:nvGrpSpPr>
        <p:grpSpPr>
          <a:xfrm>
            <a:off x="607132" y="4207156"/>
            <a:ext cx="252001" cy="252000"/>
            <a:chOff x="762000" y="1270000"/>
            <a:chExt cx="254000" cy="254000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EEA095DF-95C6-46F9-9E10-6D3EA37AA350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0" name="Arc 209">
              <a:extLst>
                <a:ext uri="{FF2B5EF4-FFF2-40B4-BE49-F238E27FC236}">
                  <a16:creationId xmlns:a16="http://schemas.microsoft.com/office/drawing/2014/main" id="{AD6E5FBA-23CA-455D-B7A1-E97A79D0BF16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1" name="MoonHalf" hidden="1">
            <a:extLst>
              <a:ext uri="{FF2B5EF4-FFF2-40B4-BE49-F238E27FC236}">
                <a16:creationId xmlns:a16="http://schemas.microsoft.com/office/drawing/2014/main" id="{7E1AEBED-8969-4F7B-8CFF-2512F7CBDDB5}"/>
              </a:ext>
            </a:extLst>
          </p:cNvPr>
          <p:cNvGrpSpPr>
            <a:grpSpLocks/>
          </p:cNvGrpSpPr>
          <p:nvPr userDrawn="1">
            <p:custDataLst>
              <p:tags r:id="rId25"/>
            </p:custDataLst>
          </p:nvPr>
        </p:nvGrpSpPr>
        <p:grpSpPr>
          <a:xfrm>
            <a:off x="1009564" y="4207156"/>
            <a:ext cx="252001" cy="252000"/>
            <a:chOff x="762000" y="1270000"/>
            <a:chExt cx="254000" cy="254000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610DB031-24D8-4A1B-A78D-4208B7B8B538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3" name="Arc 212">
              <a:extLst>
                <a:ext uri="{FF2B5EF4-FFF2-40B4-BE49-F238E27FC236}">
                  <a16:creationId xmlns:a16="http://schemas.microsoft.com/office/drawing/2014/main" id="{A1692404-6522-487B-B0B9-F11787E0686F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4" name="Moon3Quater" hidden="1">
            <a:extLst>
              <a:ext uri="{FF2B5EF4-FFF2-40B4-BE49-F238E27FC236}">
                <a16:creationId xmlns:a16="http://schemas.microsoft.com/office/drawing/2014/main" id="{0DB17D5B-30D9-45A1-8268-1202410D5417}"/>
              </a:ext>
            </a:extLst>
          </p:cNvPr>
          <p:cNvGrpSpPr>
            <a:grpSpLocks/>
          </p:cNvGrpSpPr>
          <p:nvPr userDrawn="1">
            <p:custDataLst>
              <p:tags r:id="rId26"/>
            </p:custDataLst>
          </p:nvPr>
        </p:nvGrpSpPr>
        <p:grpSpPr>
          <a:xfrm>
            <a:off x="1411994" y="4207156"/>
            <a:ext cx="252001" cy="252000"/>
            <a:chOff x="762000" y="1270000"/>
            <a:chExt cx="254000" cy="254000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2946760-653D-4E1E-9D8D-DCA44931B626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6" name="Arc 215">
              <a:extLst>
                <a:ext uri="{FF2B5EF4-FFF2-40B4-BE49-F238E27FC236}">
                  <a16:creationId xmlns:a16="http://schemas.microsoft.com/office/drawing/2014/main" id="{48F45C20-3DC7-4643-AE88-FFC3520AEDCF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7" name="MoonFull" hidden="1">
            <a:extLst>
              <a:ext uri="{FF2B5EF4-FFF2-40B4-BE49-F238E27FC236}">
                <a16:creationId xmlns:a16="http://schemas.microsoft.com/office/drawing/2014/main" id="{C891D058-93C3-44FC-AE50-A19969EC1A87}"/>
              </a:ext>
            </a:extLst>
          </p:cNvPr>
          <p:cNvGrpSpPr>
            <a:grpSpLocks/>
          </p:cNvGrpSpPr>
          <p:nvPr userDrawn="1">
            <p:custDataLst>
              <p:tags r:id="rId27"/>
            </p:custDataLst>
          </p:nvPr>
        </p:nvGrpSpPr>
        <p:grpSpPr>
          <a:xfrm>
            <a:off x="1814426" y="4207157"/>
            <a:ext cx="252001" cy="252001"/>
            <a:chOff x="762000" y="1270000"/>
            <a:chExt cx="254000" cy="254001"/>
          </a:xfrm>
          <a:solidFill>
            <a:schemeClr val="accent5"/>
          </a:solidFill>
        </p:grpSpPr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D40FDCF7-CB9C-4279-86EB-2BE8D562BBB9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9" name="Arc 218">
              <a:extLst>
                <a:ext uri="{FF2B5EF4-FFF2-40B4-BE49-F238E27FC236}">
                  <a16:creationId xmlns:a16="http://schemas.microsoft.com/office/drawing/2014/main" id="{EFCFED24-D2BE-46A5-A61D-C21AD627D43D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762000" y="1270001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0" name="StatusGauge" hidden="1">
            <a:extLst>
              <a:ext uri="{FF2B5EF4-FFF2-40B4-BE49-F238E27FC236}">
                <a16:creationId xmlns:a16="http://schemas.microsoft.com/office/drawing/2014/main" id="{D6C3821B-CB53-414B-946C-9CA1BC9CD29C}"/>
              </a:ext>
            </a:extLst>
          </p:cNvPr>
          <p:cNvGrpSpPr/>
          <p:nvPr userDrawn="1"/>
        </p:nvGrpSpPr>
        <p:grpSpPr>
          <a:xfrm>
            <a:off x="1477696" y="1331087"/>
            <a:ext cx="181450" cy="184330"/>
            <a:chOff x="1105451" y="3317419"/>
            <a:chExt cx="181450" cy="184330"/>
          </a:xfrm>
          <a:noFill/>
        </p:grpSpPr>
        <p:sp>
          <p:nvSpPr>
            <p:cNvPr id="221" name="Freeform 46">
              <a:extLst>
                <a:ext uri="{FF2B5EF4-FFF2-40B4-BE49-F238E27FC236}">
                  <a16:creationId xmlns:a16="http://schemas.microsoft.com/office/drawing/2014/main" id="{0735B865-E6CF-4B03-83CF-7C90321C9C64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 flipV="1">
              <a:off x="1130288" y="3317419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2" name="Line 47">
              <a:extLst>
                <a:ext uri="{FF2B5EF4-FFF2-40B4-BE49-F238E27FC236}">
                  <a16:creationId xmlns:a16="http://schemas.microsoft.com/office/drawing/2014/main" id="{E4E53E59-2F0C-430F-AC54-AFEDF860E5F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8900000" flipH="1">
              <a:off x="1105451" y="3327704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3" name="StatusGaugeWhite" hidden="1">
            <a:extLst>
              <a:ext uri="{FF2B5EF4-FFF2-40B4-BE49-F238E27FC236}">
                <a16:creationId xmlns:a16="http://schemas.microsoft.com/office/drawing/2014/main" id="{4F6F40B4-572D-4300-8535-A9C100147F90}"/>
              </a:ext>
            </a:extLst>
          </p:cNvPr>
          <p:cNvGrpSpPr/>
          <p:nvPr userDrawn="1"/>
        </p:nvGrpSpPr>
        <p:grpSpPr>
          <a:xfrm>
            <a:off x="1370306" y="1765645"/>
            <a:ext cx="396229" cy="396228"/>
            <a:chOff x="1003300" y="3670300"/>
            <a:chExt cx="396228" cy="396228"/>
          </a:xfrm>
        </p:grpSpPr>
        <p:sp>
          <p:nvSpPr>
            <p:cNvPr id="224" name="Oval 45">
              <a:extLst>
                <a:ext uri="{FF2B5EF4-FFF2-40B4-BE49-F238E27FC236}">
                  <a16:creationId xmlns:a16="http://schemas.microsoft.com/office/drawing/2014/main" id="{EA83F7E9-FBB4-4DCF-B297-DF5181FAF9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36703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5" name="Freeform 46">
              <a:extLst>
                <a:ext uri="{FF2B5EF4-FFF2-40B4-BE49-F238E27FC236}">
                  <a16:creationId xmlns:a16="http://schemas.microsoft.com/office/drawing/2014/main" id="{37329834-7E67-4AC0-8682-F913A3238038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3776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6" name="Line 47">
              <a:extLst>
                <a:ext uri="{FF2B5EF4-FFF2-40B4-BE49-F238E27FC236}">
                  <a16:creationId xmlns:a16="http://schemas.microsoft.com/office/drawing/2014/main" id="{D3817716-8417-4E63-9B81-AF65BCFC76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3786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7" name="StatusGaugeBlue" hidden="1">
            <a:extLst>
              <a:ext uri="{FF2B5EF4-FFF2-40B4-BE49-F238E27FC236}">
                <a16:creationId xmlns:a16="http://schemas.microsoft.com/office/drawing/2014/main" id="{CC5AF1AB-6491-4EF4-A9F0-51C53DD47848}"/>
              </a:ext>
            </a:extLst>
          </p:cNvPr>
          <p:cNvGrpSpPr/>
          <p:nvPr userDrawn="1"/>
        </p:nvGrpSpPr>
        <p:grpSpPr>
          <a:xfrm>
            <a:off x="1370306" y="2352134"/>
            <a:ext cx="396229" cy="396228"/>
            <a:chOff x="1003300" y="4305300"/>
            <a:chExt cx="396228" cy="396228"/>
          </a:xfrm>
        </p:grpSpPr>
        <p:sp>
          <p:nvSpPr>
            <p:cNvPr id="228" name="Oval 45">
              <a:extLst>
                <a:ext uri="{FF2B5EF4-FFF2-40B4-BE49-F238E27FC236}">
                  <a16:creationId xmlns:a16="http://schemas.microsoft.com/office/drawing/2014/main" id="{7E9C4886-4B5A-49E8-B0F9-6AF47D9C14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43053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9" name="Freeform 46">
              <a:extLst>
                <a:ext uri="{FF2B5EF4-FFF2-40B4-BE49-F238E27FC236}">
                  <a16:creationId xmlns:a16="http://schemas.microsoft.com/office/drawing/2014/main" id="{495BA935-7FE9-4A15-B62C-7FC14FA7D82E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4411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30" name="Line 47">
              <a:extLst>
                <a:ext uri="{FF2B5EF4-FFF2-40B4-BE49-F238E27FC236}">
                  <a16:creationId xmlns:a16="http://schemas.microsoft.com/office/drawing/2014/main" id="{9DAD3AED-C6D1-4FDB-AD4A-CD46DC5891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4421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31" name="TrackerAlphaWhite" hidden="1">
            <a:extLst>
              <a:ext uri="{FF2B5EF4-FFF2-40B4-BE49-F238E27FC236}">
                <a16:creationId xmlns:a16="http://schemas.microsoft.com/office/drawing/2014/main" id="{6CEE5541-1892-4C27-9395-A8D2B87603D7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5" y="1283582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</a:p>
        </p:txBody>
      </p:sp>
      <p:sp>
        <p:nvSpPr>
          <p:cNvPr id="232" name="TrackerAlphaBlue" hidden="1">
            <a:extLst>
              <a:ext uri="{FF2B5EF4-FFF2-40B4-BE49-F238E27FC236}">
                <a16:creationId xmlns:a16="http://schemas.microsoft.com/office/drawing/2014/main" id="{2822AEFC-7960-41E4-9E9A-D32EA225D8CA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554735" y="1824090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  <a:endParaRPr lang="en-US" sz="988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3" name="TrackerNumWhite" hidden="1">
            <a:extLst>
              <a:ext uri="{FF2B5EF4-FFF2-40B4-BE49-F238E27FC236}">
                <a16:creationId xmlns:a16="http://schemas.microsoft.com/office/drawing/2014/main" id="{43F1F8C1-5E2F-49AB-896D-55AEF295DEEE}"/>
              </a:ext>
            </a:extLst>
          </p:cNvPr>
          <p:cNvSpPr/>
          <p:nvPr userDrawn="1">
            <p:custDataLst>
              <p:tags r:id="rId30"/>
            </p:custDataLst>
          </p:nvPr>
        </p:nvSpPr>
        <p:spPr>
          <a:xfrm>
            <a:off x="554735" y="2352134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988" b="1" dirty="0" err="1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4" name="TrackerNumBlue" hidden="1">
            <a:extLst>
              <a:ext uri="{FF2B5EF4-FFF2-40B4-BE49-F238E27FC236}">
                <a16:creationId xmlns:a16="http://schemas.microsoft.com/office/drawing/2014/main" id="{14748B87-7156-44A6-9000-D2C52291FE74}"/>
              </a:ext>
            </a:extLst>
          </p:cNvPr>
          <p:cNvSpPr/>
          <p:nvPr userDrawn="1">
            <p:custDataLst>
              <p:tags r:id="rId31"/>
            </p:custDataLst>
          </p:nvPr>
        </p:nvSpPr>
        <p:spPr>
          <a:xfrm>
            <a:off x="554735" y="2997067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988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5" name="X" hidden="1">
            <a:extLst>
              <a:ext uri="{FF2B5EF4-FFF2-40B4-BE49-F238E27FC236}">
                <a16:creationId xmlns:a16="http://schemas.microsoft.com/office/drawing/2014/main" id="{6C1E3FEF-BF7E-4B36-B296-C46366C805A4}"/>
              </a:ext>
            </a:extLst>
          </p:cNvPr>
          <p:cNvSpPr>
            <a:spLocks noChangeAspect="1"/>
          </p:cNvSpPr>
          <p:nvPr userDrawn="1">
            <p:custDataLst>
              <p:tags r:id="rId32"/>
            </p:custDataLst>
          </p:nvPr>
        </p:nvSpPr>
        <p:spPr>
          <a:xfrm>
            <a:off x="2408980" y="4804430"/>
            <a:ext cx="183803" cy="183548"/>
          </a:xfrm>
          <a:custGeom>
            <a:avLst/>
            <a:gdLst/>
            <a:ahLst/>
            <a:cxnLst/>
            <a:rect l="0" t="0" r="0" b="0"/>
            <a:pathLst>
              <a:path w="183805" h="183550">
                <a:moveTo>
                  <a:pt x="182094" y="175600"/>
                </a:moveTo>
                <a:lnTo>
                  <a:pt x="182094" y="175600"/>
                </a:lnTo>
                <a:lnTo>
                  <a:pt x="183804" y="177411"/>
                </a:lnTo>
                <a:lnTo>
                  <a:pt x="183804" y="180429"/>
                </a:lnTo>
                <a:lnTo>
                  <a:pt x="182094" y="182240"/>
                </a:lnTo>
                <a:lnTo>
                  <a:pt x="181189" y="183146"/>
                </a:lnTo>
                <a:lnTo>
                  <a:pt x="179982" y="183549"/>
                </a:lnTo>
                <a:lnTo>
                  <a:pt x="178776" y="183549"/>
                </a:lnTo>
                <a:lnTo>
                  <a:pt x="177569" y="183549"/>
                </a:lnTo>
                <a:lnTo>
                  <a:pt x="176362" y="183146"/>
                </a:lnTo>
                <a:lnTo>
                  <a:pt x="175457" y="182240"/>
                </a:lnTo>
                <a:lnTo>
                  <a:pt x="91903" y="98517"/>
                </a:lnTo>
                <a:lnTo>
                  <a:pt x="91903" y="98517"/>
                </a:lnTo>
                <a:lnTo>
                  <a:pt x="91903" y="98517"/>
                </a:lnTo>
                <a:lnTo>
                  <a:pt x="8345" y="182240"/>
                </a:lnTo>
                <a:lnTo>
                  <a:pt x="8345" y="182240"/>
                </a:lnTo>
                <a:lnTo>
                  <a:pt x="8345" y="182240"/>
                </a:lnTo>
                <a:lnTo>
                  <a:pt x="7441" y="183146"/>
                </a:lnTo>
                <a:lnTo>
                  <a:pt x="6235" y="183549"/>
                </a:lnTo>
                <a:lnTo>
                  <a:pt x="5027" y="183549"/>
                </a:lnTo>
                <a:lnTo>
                  <a:pt x="3822" y="183549"/>
                </a:lnTo>
                <a:lnTo>
                  <a:pt x="2614" y="183146"/>
                </a:lnTo>
                <a:lnTo>
                  <a:pt x="1708" y="182240"/>
                </a:lnTo>
                <a:lnTo>
                  <a:pt x="0" y="180429"/>
                </a:lnTo>
                <a:lnTo>
                  <a:pt x="0" y="177411"/>
                </a:lnTo>
                <a:lnTo>
                  <a:pt x="1708" y="175600"/>
                </a:lnTo>
                <a:lnTo>
                  <a:pt x="85366" y="91976"/>
                </a:lnTo>
                <a:lnTo>
                  <a:pt x="85366" y="91976"/>
                </a:lnTo>
                <a:lnTo>
                  <a:pt x="85366" y="91976"/>
                </a:lnTo>
                <a:lnTo>
                  <a:pt x="1708" y="8353"/>
                </a:lnTo>
                <a:lnTo>
                  <a:pt x="1708" y="8353"/>
                </a:lnTo>
                <a:lnTo>
                  <a:pt x="1708" y="8353"/>
                </a:lnTo>
                <a:lnTo>
                  <a:pt x="0" y="6542"/>
                </a:lnTo>
                <a:lnTo>
                  <a:pt x="0" y="3523"/>
                </a:lnTo>
                <a:lnTo>
                  <a:pt x="1708" y="1713"/>
                </a:lnTo>
                <a:lnTo>
                  <a:pt x="3520" y="0"/>
                </a:lnTo>
                <a:lnTo>
                  <a:pt x="6536" y="0"/>
                </a:lnTo>
                <a:lnTo>
                  <a:pt x="8345" y="1713"/>
                </a:lnTo>
                <a:lnTo>
                  <a:pt x="91903" y="85435"/>
                </a:lnTo>
                <a:lnTo>
                  <a:pt x="91903" y="85435"/>
                </a:lnTo>
                <a:lnTo>
                  <a:pt x="91903" y="85435"/>
                </a:lnTo>
                <a:lnTo>
                  <a:pt x="175457" y="1713"/>
                </a:lnTo>
                <a:lnTo>
                  <a:pt x="175457" y="1713"/>
                </a:lnTo>
                <a:lnTo>
                  <a:pt x="175457" y="1713"/>
                </a:lnTo>
                <a:lnTo>
                  <a:pt x="177267" y="0"/>
                </a:lnTo>
                <a:lnTo>
                  <a:pt x="180284" y="0"/>
                </a:lnTo>
                <a:lnTo>
                  <a:pt x="182094" y="1713"/>
                </a:lnTo>
                <a:lnTo>
                  <a:pt x="183804" y="3523"/>
                </a:lnTo>
                <a:lnTo>
                  <a:pt x="183804" y="6542"/>
                </a:lnTo>
                <a:lnTo>
                  <a:pt x="182094" y="8353"/>
                </a:lnTo>
                <a:lnTo>
                  <a:pt x="98437" y="91976"/>
                </a:lnTo>
                <a:lnTo>
                  <a:pt x="98437" y="91976"/>
                </a:lnTo>
                <a:lnTo>
                  <a:pt x="98437" y="91976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243" name="CheckmarkDash" hidden="1">
            <a:extLst>
              <a:ext uri="{FF2B5EF4-FFF2-40B4-BE49-F238E27FC236}">
                <a16:creationId xmlns:a16="http://schemas.microsoft.com/office/drawing/2014/main" id="{6D197BD0-E4F8-43E3-85F0-BDAC6EFBEE38}"/>
              </a:ext>
            </a:extLst>
          </p:cNvPr>
          <p:cNvPicPr>
            <a:picLocks noChangeAspect="1"/>
          </p:cNvPicPr>
          <p:nvPr userDrawn="1">
            <p:custDataLst>
              <p:tags r:id="rId33"/>
            </p:custDataLst>
          </p:nvPr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2310379" y="2946237"/>
            <a:ext cx="381000" cy="381000"/>
          </a:xfrm>
          <a:prstGeom prst="rect">
            <a:avLst/>
          </a:prstGeom>
        </p:spPr>
      </p:pic>
      <p:grpSp>
        <p:nvGrpSpPr>
          <p:cNvPr id="244" name="CheckmarkDashWhite" hidden="1">
            <a:extLst>
              <a:ext uri="{FF2B5EF4-FFF2-40B4-BE49-F238E27FC236}">
                <a16:creationId xmlns:a16="http://schemas.microsoft.com/office/drawing/2014/main" id="{DDD76515-4E98-4C0E-97A3-09077FB620C4}"/>
              </a:ext>
            </a:extLst>
          </p:cNvPr>
          <p:cNvGrpSpPr>
            <a:grpSpLocks noChangeAspect="1"/>
          </p:cNvGrpSpPr>
          <p:nvPr userDrawn="1">
            <p:custDataLst>
              <p:tags r:id="rId34"/>
            </p:custDataLst>
          </p:nvPr>
        </p:nvGrpSpPr>
        <p:grpSpPr>
          <a:xfrm>
            <a:off x="2302765" y="3525112"/>
            <a:ext cx="396229" cy="396228"/>
            <a:chOff x="1016000" y="1016000"/>
            <a:chExt cx="396228" cy="396228"/>
          </a:xfrm>
        </p:grpSpPr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BFE44F03-5DDF-406A-9704-79A91E404649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6" name="Graphic 245">
              <a:extLst>
                <a:ext uri="{FF2B5EF4-FFF2-40B4-BE49-F238E27FC236}">
                  <a16:creationId xmlns:a16="http://schemas.microsoft.com/office/drawing/2014/main" id="{FEBCFA72-4815-4B9B-A22F-5AB2EF789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47" name="CheckmarkDashBlue" hidden="1">
            <a:extLst>
              <a:ext uri="{FF2B5EF4-FFF2-40B4-BE49-F238E27FC236}">
                <a16:creationId xmlns:a16="http://schemas.microsoft.com/office/drawing/2014/main" id="{81F9EE34-1BCC-42F0-90D7-FC9EE70CCE02}"/>
              </a:ext>
            </a:extLst>
          </p:cNvPr>
          <p:cNvGrpSpPr>
            <a:grpSpLocks noChangeAspect="1"/>
          </p:cNvGrpSpPr>
          <p:nvPr userDrawn="1">
            <p:custDataLst>
              <p:tags r:id="rId35"/>
            </p:custDataLst>
          </p:nvPr>
        </p:nvGrpSpPr>
        <p:grpSpPr>
          <a:xfrm>
            <a:off x="2302765" y="4111601"/>
            <a:ext cx="396229" cy="396228"/>
            <a:chOff x="1016000" y="1016000"/>
            <a:chExt cx="396228" cy="396228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4EA313F9-6D48-4D01-830A-3A81EF57563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9" name="Graphic 248">
              <a:extLst>
                <a:ext uri="{FF2B5EF4-FFF2-40B4-BE49-F238E27FC236}">
                  <a16:creationId xmlns:a16="http://schemas.microsoft.com/office/drawing/2014/main" id="{231422F3-779A-4B21-ABE4-39219EAA8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50" name="LineArrowBlue" hidden="1">
            <a:extLst>
              <a:ext uri="{FF2B5EF4-FFF2-40B4-BE49-F238E27FC236}">
                <a16:creationId xmlns:a16="http://schemas.microsoft.com/office/drawing/2014/main" id="{1D863E20-B32C-48FF-949F-E00FD4DB1D94}"/>
              </a:ext>
            </a:extLst>
          </p:cNvPr>
          <p:cNvGrpSpPr>
            <a:grpSpLocks/>
          </p:cNvGrpSpPr>
          <p:nvPr userDrawn="1">
            <p:custDataLst>
              <p:tags r:id="rId36"/>
            </p:custDataLst>
          </p:nvPr>
        </p:nvGrpSpPr>
        <p:grpSpPr>
          <a:xfrm>
            <a:off x="3235224" y="5856331"/>
            <a:ext cx="396229" cy="396228"/>
            <a:chOff x="1016000" y="1016000"/>
            <a:chExt cx="396228" cy="396228"/>
          </a:xfrm>
        </p:grpSpPr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816B6DF1-1FD4-4988-B3B3-84F3DBEED17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13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B9787BF0-88E0-4B6A-92AD-2CD419B312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pic>
        <p:nvPicPr>
          <p:cNvPr id="253" name="DoubleArrow" hidden="1">
            <a:extLst>
              <a:ext uri="{FF2B5EF4-FFF2-40B4-BE49-F238E27FC236}">
                <a16:creationId xmlns:a16="http://schemas.microsoft.com/office/drawing/2014/main" id="{E532A4E3-9D74-496E-AD75-84739A28E59C}"/>
              </a:ext>
            </a:extLst>
          </p:cNvPr>
          <p:cNvPicPr>
            <a:picLocks noChangeAspect="1"/>
          </p:cNvPicPr>
          <p:nvPr userDrawn="1">
            <p:custDataLst>
              <p:tags r:id="rId37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4200697" y="1258152"/>
            <a:ext cx="330200" cy="330200"/>
          </a:xfrm>
          <a:prstGeom prst="rect">
            <a:avLst/>
          </a:prstGeom>
        </p:spPr>
      </p:pic>
      <p:sp>
        <p:nvSpPr>
          <p:cNvPr id="254" name="Filter" hidden="1">
            <a:extLst>
              <a:ext uri="{FF2B5EF4-FFF2-40B4-BE49-F238E27FC236}">
                <a16:creationId xmlns:a16="http://schemas.microsoft.com/office/drawing/2014/main" id="{0EED5966-93D2-41E2-B722-0851E65ABFAF}"/>
              </a:ext>
            </a:extLst>
          </p:cNvPr>
          <p:cNvSpPr>
            <a:spLocks noChangeAspect="1"/>
          </p:cNvSpPr>
          <p:nvPr userDrawn="1">
            <p:custDataLst>
              <p:tags r:id="rId38"/>
            </p:custDataLst>
          </p:nvPr>
        </p:nvSpPr>
        <p:spPr>
          <a:xfrm>
            <a:off x="3310077" y="1290725"/>
            <a:ext cx="246525" cy="265054"/>
          </a:xfrm>
          <a:custGeom>
            <a:avLst/>
            <a:gdLst/>
            <a:ahLst/>
            <a:cxnLst/>
            <a:rect l="0" t="0" r="0" b="0"/>
            <a:pathLst>
              <a:path w="202746" h="217984">
                <a:moveTo>
                  <a:pt x="83954" y="217983"/>
                </a:moveTo>
                <a:lnTo>
                  <a:pt x="83184" y="217983"/>
                </a:lnTo>
                <a:lnTo>
                  <a:pt x="82411" y="217799"/>
                </a:lnTo>
                <a:lnTo>
                  <a:pt x="81705" y="217428"/>
                </a:lnTo>
                <a:lnTo>
                  <a:pt x="80116" y="216592"/>
                </a:lnTo>
                <a:lnTo>
                  <a:pt x="79123" y="214945"/>
                </a:lnTo>
                <a:lnTo>
                  <a:pt x="79123" y="213149"/>
                </a:lnTo>
                <a:lnTo>
                  <a:pt x="79123" y="120879"/>
                </a:lnTo>
                <a:lnTo>
                  <a:pt x="1131" y="7575"/>
                </a:lnTo>
                <a:lnTo>
                  <a:pt x="114" y="6095"/>
                </a:lnTo>
                <a:lnTo>
                  <a:pt x="0" y="4175"/>
                </a:lnTo>
                <a:lnTo>
                  <a:pt x="832" y="2587"/>
                </a:lnTo>
                <a:lnTo>
                  <a:pt x="1665" y="996"/>
                </a:lnTo>
                <a:lnTo>
                  <a:pt x="3317" y="0"/>
                </a:lnTo>
                <a:lnTo>
                  <a:pt x="5112" y="0"/>
                </a:lnTo>
                <a:lnTo>
                  <a:pt x="197645" y="0"/>
                </a:lnTo>
                <a:lnTo>
                  <a:pt x="199424" y="0"/>
                </a:lnTo>
                <a:lnTo>
                  <a:pt x="201058" y="976"/>
                </a:lnTo>
                <a:lnTo>
                  <a:pt x="201899" y="2539"/>
                </a:lnTo>
                <a:lnTo>
                  <a:pt x="202745" y="4103"/>
                </a:lnTo>
                <a:lnTo>
                  <a:pt x="202661" y="6006"/>
                </a:lnTo>
                <a:lnTo>
                  <a:pt x="201680" y="7491"/>
                </a:lnTo>
                <a:lnTo>
                  <a:pt x="127109" y="120826"/>
                </a:lnTo>
                <a:lnTo>
                  <a:pt x="127109" y="186825"/>
                </a:lnTo>
                <a:lnTo>
                  <a:pt x="127109" y="188418"/>
                </a:lnTo>
                <a:lnTo>
                  <a:pt x="126323" y="189906"/>
                </a:lnTo>
                <a:lnTo>
                  <a:pt x="125012" y="190809"/>
                </a:lnTo>
                <a:lnTo>
                  <a:pt x="86690" y="217134"/>
                </a:lnTo>
                <a:lnTo>
                  <a:pt x="85870" y="217698"/>
                </a:lnTo>
                <a:lnTo>
                  <a:pt x="84917" y="217983"/>
                </a:lnTo>
                <a:lnTo>
                  <a:pt x="83954" y="217983"/>
                </a:lnTo>
                <a:lnTo>
                  <a:pt x="14310" y="9669"/>
                </a:lnTo>
                <a:lnTo>
                  <a:pt x="87939" y="116639"/>
                </a:lnTo>
                <a:lnTo>
                  <a:pt x="88494" y="117447"/>
                </a:lnTo>
                <a:lnTo>
                  <a:pt x="88792" y="118400"/>
                </a:lnTo>
                <a:lnTo>
                  <a:pt x="88792" y="119379"/>
                </a:lnTo>
                <a:lnTo>
                  <a:pt x="88792" y="203964"/>
                </a:lnTo>
                <a:lnTo>
                  <a:pt x="117445" y="184281"/>
                </a:lnTo>
                <a:lnTo>
                  <a:pt x="117445" y="119379"/>
                </a:lnTo>
                <a:lnTo>
                  <a:pt x="117445" y="118433"/>
                </a:lnTo>
                <a:lnTo>
                  <a:pt x="117722" y="117512"/>
                </a:lnTo>
                <a:lnTo>
                  <a:pt x="118240" y="116723"/>
                </a:lnTo>
                <a:lnTo>
                  <a:pt x="188678" y="9669"/>
                </a:lnTo>
                <a:lnTo>
                  <a:pt x="14310" y="9669"/>
                </a:lnTo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71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55" name="FilterWhite" hidden="1">
            <a:extLst>
              <a:ext uri="{FF2B5EF4-FFF2-40B4-BE49-F238E27FC236}">
                <a16:creationId xmlns:a16="http://schemas.microsoft.com/office/drawing/2014/main" id="{6D68FF4A-05D9-4B19-B476-2F6C525E0E88}"/>
              </a:ext>
            </a:extLst>
          </p:cNvPr>
          <p:cNvGrpSpPr>
            <a:grpSpLocks noChangeAspect="1"/>
          </p:cNvGrpSpPr>
          <p:nvPr userDrawn="1">
            <p:custDataLst>
              <p:tags r:id="rId39"/>
            </p:custDataLst>
          </p:nvPr>
        </p:nvGrpSpPr>
        <p:grpSpPr>
          <a:xfrm>
            <a:off x="3235224" y="1765645"/>
            <a:ext cx="396229" cy="396228"/>
            <a:chOff x="1016000" y="1016000"/>
            <a:chExt cx="396228" cy="396228"/>
          </a:xfrm>
        </p:grpSpPr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9ADD0F7E-3AF7-46C9-A3E1-F62C41D03D83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88278604-48C5-4C6A-8888-2E3569EE06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58" name="FilterBlue" hidden="1">
            <a:extLst>
              <a:ext uri="{FF2B5EF4-FFF2-40B4-BE49-F238E27FC236}">
                <a16:creationId xmlns:a16="http://schemas.microsoft.com/office/drawing/2014/main" id="{5474AF20-0987-4FD5-979C-1A682194A66D}"/>
              </a:ext>
            </a:extLst>
          </p:cNvPr>
          <p:cNvGrpSpPr>
            <a:grpSpLocks noChangeAspect="1"/>
          </p:cNvGrpSpPr>
          <p:nvPr userDrawn="1">
            <p:custDataLst>
              <p:tags r:id="rId40"/>
            </p:custDataLst>
          </p:nvPr>
        </p:nvGrpSpPr>
        <p:grpSpPr>
          <a:xfrm>
            <a:off x="3235224" y="2352134"/>
            <a:ext cx="396229" cy="396228"/>
            <a:chOff x="1016000" y="1016000"/>
            <a:chExt cx="396228" cy="396228"/>
          </a:xfrm>
        </p:grpSpPr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0F5BA81D-1848-48A6-A26B-B7E5DC3B0E1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CACBB1FC-9DD2-400D-AFAC-8333BC5279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bg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61" name="Chevron" hidden="1">
            <a:extLst>
              <a:ext uri="{FF2B5EF4-FFF2-40B4-BE49-F238E27FC236}">
                <a16:creationId xmlns:a16="http://schemas.microsoft.com/office/drawing/2014/main" id="{DC75E446-1A7C-407A-B89E-82DA8F0E1490}"/>
              </a:ext>
            </a:extLst>
          </p:cNvPr>
          <p:cNvSpPr>
            <a:spLocks noChangeAspect="1"/>
          </p:cNvSpPr>
          <p:nvPr userDrawn="1">
            <p:custDataLst>
              <p:tags r:id="rId41"/>
            </p:custDataLst>
          </p:nvPr>
        </p:nvSpPr>
        <p:spPr>
          <a:xfrm>
            <a:off x="3370045" y="3017414"/>
            <a:ext cx="126588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62" name="ChevronWhite" hidden="1">
            <a:extLst>
              <a:ext uri="{FF2B5EF4-FFF2-40B4-BE49-F238E27FC236}">
                <a16:creationId xmlns:a16="http://schemas.microsoft.com/office/drawing/2014/main" id="{52A0B6F0-DEFB-4E69-9C31-32A377FC0BEC}"/>
              </a:ext>
            </a:extLst>
          </p:cNvPr>
          <p:cNvGrpSpPr>
            <a:grpSpLocks noChangeAspect="1"/>
          </p:cNvGrpSpPr>
          <p:nvPr userDrawn="1">
            <p:custDataLst>
              <p:tags r:id="rId42"/>
            </p:custDataLst>
          </p:nvPr>
        </p:nvGrpSpPr>
        <p:grpSpPr>
          <a:xfrm>
            <a:off x="3235224" y="3563463"/>
            <a:ext cx="396229" cy="396228"/>
            <a:chOff x="1016000" y="1016000"/>
            <a:chExt cx="396228" cy="396228"/>
          </a:xfrm>
        </p:grpSpPr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1A76E20B-0207-48C1-87E7-C87D7609C81E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FEC039-7EAB-4585-8E9B-B03FD77115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chemeClr val="tx2"/>
            </a:solidFill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5" name="ChevronBlue" hidden="1">
            <a:extLst>
              <a:ext uri="{FF2B5EF4-FFF2-40B4-BE49-F238E27FC236}">
                <a16:creationId xmlns:a16="http://schemas.microsoft.com/office/drawing/2014/main" id="{27EA86D3-85EB-486E-924F-CC30C668AD6D}"/>
              </a:ext>
            </a:extLst>
          </p:cNvPr>
          <p:cNvGrpSpPr>
            <a:grpSpLocks noChangeAspect="1"/>
          </p:cNvGrpSpPr>
          <p:nvPr userDrawn="1">
            <p:custDataLst>
              <p:tags r:id="rId43"/>
            </p:custDataLst>
          </p:nvPr>
        </p:nvGrpSpPr>
        <p:grpSpPr>
          <a:xfrm>
            <a:off x="3235224" y="4142333"/>
            <a:ext cx="396229" cy="396228"/>
            <a:chOff x="1016000" y="1016000"/>
            <a:chExt cx="396228" cy="396228"/>
          </a:xfrm>
        </p:grpSpPr>
        <p:sp>
          <p:nvSpPr>
            <p:cNvPr id="266" name="Oval">
              <a:extLst>
                <a:ext uri="{FF2B5EF4-FFF2-40B4-BE49-F238E27FC236}">
                  <a16:creationId xmlns:a16="http://schemas.microsoft.com/office/drawing/2014/main" id="{D5542968-FFCC-4FCD-A7E1-C8B93F7CDD7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7" name="Freeform: Shape">
              <a:extLst>
                <a:ext uri="{FF2B5EF4-FFF2-40B4-BE49-F238E27FC236}">
                  <a16:creationId xmlns:a16="http://schemas.microsoft.com/office/drawing/2014/main" id="{8DB4446B-0FAE-4768-BFD8-6201B5E208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8" name="LineArrowWhite" hidden="1">
            <a:extLst>
              <a:ext uri="{FF2B5EF4-FFF2-40B4-BE49-F238E27FC236}">
                <a16:creationId xmlns:a16="http://schemas.microsoft.com/office/drawing/2014/main" id="{7E4FE895-A694-4CD7-B7FC-D28EA0FAA7B3}"/>
              </a:ext>
            </a:extLst>
          </p:cNvPr>
          <p:cNvGrpSpPr>
            <a:grpSpLocks noChangeAspect="1"/>
          </p:cNvGrpSpPr>
          <p:nvPr userDrawn="1">
            <p:custDataLst>
              <p:tags r:id="rId44"/>
            </p:custDataLst>
          </p:nvPr>
        </p:nvGrpSpPr>
        <p:grpSpPr>
          <a:xfrm>
            <a:off x="3235224" y="5269842"/>
            <a:ext cx="396229" cy="396228"/>
            <a:chOff x="1016000" y="1016000"/>
            <a:chExt cx="396228" cy="396228"/>
          </a:xfrm>
        </p:grpSpPr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CA052EDA-5979-495F-94F8-2F27975E375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3D3C9B4B-20FD-4C22-95B1-554FDC078F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1" name="Asterisk" hidden="1">
            <a:extLst>
              <a:ext uri="{FF2B5EF4-FFF2-40B4-BE49-F238E27FC236}">
                <a16:creationId xmlns:a16="http://schemas.microsoft.com/office/drawing/2014/main" id="{E7A5E89F-7760-4485-8B60-6187E58D3169}"/>
              </a:ext>
            </a:extLst>
          </p:cNvPr>
          <p:cNvSpPr>
            <a:spLocks noChangeAspect="1"/>
          </p:cNvSpPr>
          <p:nvPr userDrawn="1">
            <p:custDataLst>
              <p:tags r:id="rId45"/>
            </p:custDataLst>
          </p:nvPr>
        </p:nvSpPr>
        <p:spPr>
          <a:xfrm>
            <a:off x="4245411" y="4775817"/>
            <a:ext cx="240772" cy="240773"/>
          </a:xfrm>
          <a:custGeom>
            <a:avLst/>
            <a:gdLst/>
            <a:ahLst/>
            <a:cxnLst/>
            <a:rect l="0" t="0" r="0" b="0"/>
            <a:pathLst>
              <a:path w="240773" h="240774">
                <a:moveTo>
                  <a:pt x="236149" y="115764"/>
                </a:moveTo>
                <a:lnTo>
                  <a:pt x="131560" y="115764"/>
                </a:lnTo>
                <a:lnTo>
                  <a:pt x="210505" y="36820"/>
                </a:lnTo>
                <a:lnTo>
                  <a:pt x="212313" y="35010"/>
                </a:lnTo>
                <a:lnTo>
                  <a:pt x="212313" y="32076"/>
                </a:lnTo>
                <a:lnTo>
                  <a:pt x="210505" y="30268"/>
                </a:lnTo>
                <a:lnTo>
                  <a:pt x="208695" y="28458"/>
                </a:lnTo>
                <a:lnTo>
                  <a:pt x="205761" y="28458"/>
                </a:lnTo>
                <a:lnTo>
                  <a:pt x="203951" y="30268"/>
                </a:lnTo>
                <a:lnTo>
                  <a:pt x="125008" y="109212"/>
                </a:lnTo>
                <a:lnTo>
                  <a:pt x="125008" y="4623"/>
                </a:lnTo>
                <a:lnTo>
                  <a:pt x="125008" y="2049"/>
                </a:lnTo>
                <a:lnTo>
                  <a:pt x="122959" y="0"/>
                </a:lnTo>
                <a:lnTo>
                  <a:pt x="120384" y="0"/>
                </a:lnTo>
                <a:lnTo>
                  <a:pt x="117812" y="0"/>
                </a:lnTo>
                <a:lnTo>
                  <a:pt x="115763" y="2049"/>
                </a:lnTo>
                <a:lnTo>
                  <a:pt x="115763" y="4623"/>
                </a:lnTo>
                <a:lnTo>
                  <a:pt x="115763" y="109212"/>
                </a:lnTo>
                <a:lnTo>
                  <a:pt x="36818" y="30268"/>
                </a:lnTo>
                <a:lnTo>
                  <a:pt x="35009" y="28458"/>
                </a:lnTo>
                <a:lnTo>
                  <a:pt x="32075" y="28458"/>
                </a:lnTo>
                <a:lnTo>
                  <a:pt x="30266" y="30268"/>
                </a:lnTo>
                <a:lnTo>
                  <a:pt x="28457" y="32076"/>
                </a:lnTo>
                <a:lnTo>
                  <a:pt x="28457" y="35010"/>
                </a:lnTo>
                <a:lnTo>
                  <a:pt x="30266" y="36820"/>
                </a:lnTo>
                <a:lnTo>
                  <a:pt x="109211" y="115764"/>
                </a:lnTo>
                <a:lnTo>
                  <a:pt x="4621" y="115764"/>
                </a:lnTo>
                <a:lnTo>
                  <a:pt x="2049" y="115764"/>
                </a:lnTo>
                <a:lnTo>
                  <a:pt x="0" y="117814"/>
                </a:lnTo>
                <a:lnTo>
                  <a:pt x="0" y="120385"/>
                </a:lnTo>
                <a:lnTo>
                  <a:pt x="0" y="122959"/>
                </a:lnTo>
                <a:lnTo>
                  <a:pt x="2049" y="125010"/>
                </a:lnTo>
                <a:lnTo>
                  <a:pt x="4621" y="125010"/>
                </a:lnTo>
                <a:lnTo>
                  <a:pt x="109211" y="125010"/>
                </a:lnTo>
                <a:lnTo>
                  <a:pt x="30266" y="203953"/>
                </a:lnTo>
                <a:lnTo>
                  <a:pt x="28457" y="205763"/>
                </a:lnTo>
                <a:lnTo>
                  <a:pt x="28457" y="208696"/>
                </a:lnTo>
                <a:lnTo>
                  <a:pt x="30266" y="210505"/>
                </a:lnTo>
                <a:lnTo>
                  <a:pt x="31150" y="211390"/>
                </a:lnTo>
                <a:lnTo>
                  <a:pt x="32357" y="211872"/>
                </a:lnTo>
                <a:lnTo>
                  <a:pt x="33521" y="211872"/>
                </a:lnTo>
                <a:lnTo>
                  <a:pt x="34689" y="211872"/>
                </a:lnTo>
                <a:lnTo>
                  <a:pt x="35893" y="211430"/>
                </a:lnTo>
                <a:lnTo>
                  <a:pt x="36778" y="210505"/>
                </a:lnTo>
                <a:lnTo>
                  <a:pt x="115722" y="131561"/>
                </a:lnTo>
                <a:lnTo>
                  <a:pt x="115722" y="236150"/>
                </a:lnTo>
                <a:lnTo>
                  <a:pt x="115722" y="238723"/>
                </a:lnTo>
                <a:lnTo>
                  <a:pt x="117772" y="240773"/>
                </a:lnTo>
                <a:lnTo>
                  <a:pt x="120345" y="240773"/>
                </a:lnTo>
                <a:lnTo>
                  <a:pt x="122918" y="240773"/>
                </a:lnTo>
                <a:lnTo>
                  <a:pt x="124967" y="238723"/>
                </a:lnTo>
                <a:lnTo>
                  <a:pt x="124967" y="236150"/>
                </a:lnTo>
                <a:lnTo>
                  <a:pt x="124967" y="131561"/>
                </a:lnTo>
                <a:lnTo>
                  <a:pt x="203912" y="210505"/>
                </a:lnTo>
                <a:lnTo>
                  <a:pt x="204796" y="211390"/>
                </a:lnTo>
                <a:lnTo>
                  <a:pt x="206002" y="211872"/>
                </a:lnTo>
                <a:lnTo>
                  <a:pt x="207168" y="211872"/>
                </a:lnTo>
                <a:lnTo>
                  <a:pt x="208334" y="211872"/>
                </a:lnTo>
                <a:lnTo>
                  <a:pt x="209539" y="211430"/>
                </a:lnTo>
                <a:lnTo>
                  <a:pt x="210424" y="210505"/>
                </a:lnTo>
                <a:lnTo>
                  <a:pt x="212233" y="208696"/>
                </a:lnTo>
                <a:lnTo>
                  <a:pt x="212233" y="205763"/>
                </a:lnTo>
                <a:lnTo>
                  <a:pt x="210424" y="203953"/>
                </a:lnTo>
                <a:lnTo>
                  <a:pt x="131479" y="125010"/>
                </a:lnTo>
                <a:lnTo>
                  <a:pt x="236149" y="125010"/>
                </a:lnTo>
                <a:lnTo>
                  <a:pt x="238721" y="125010"/>
                </a:lnTo>
                <a:lnTo>
                  <a:pt x="240772" y="122959"/>
                </a:lnTo>
                <a:lnTo>
                  <a:pt x="240772" y="120385"/>
                </a:lnTo>
                <a:lnTo>
                  <a:pt x="240772" y="117814"/>
                </a:lnTo>
                <a:lnTo>
                  <a:pt x="238721" y="115764"/>
                </a:lnTo>
                <a:close/>
              </a:path>
            </a:pathLst>
          </a:custGeom>
          <a:solidFill>
            <a:schemeClr val="tx2"/>
          </a:solidFill>
          <a:ln w="12700" cap="sq">
            <a:noFill/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2" name="AsteriskWhite" hidden="1">
            <a:extLst>
              <a:ext uri="{FF2B5EF4-FFF2-40B4-BE49-F238E27FC236}">
                <a16:creationId xmlns:a16="http://schemas.microsoft.com/office/drawing/2014/main" id="{2FA82C04-C2F6-4218-B6FC-3F722BB53643}"/>
              </a:ext>
            </a:extLst>
          </p:cNvPr>
          <p:cNvGrpSpPr>
            <a:grpSpLocks noChangeAspect="1"/>
          </p:cNvGrpSpPr>
          <p:nvPr userDrawn="1">
            <p:custDataLst>
              <p:tags r:id="rId46"/>
            </p:custDataLst>
          </p:nvPr>
        </p:nvGrpSpPr>
        <p:grpSpPr>
          <a:xfrm>
            <a:off x="4167682" y="5284580"/>
            <a:ext cx="396229" cy="396228"/>
            <a:chOff x="1016000" y="1016000"/>
            <a:chExt cx="396228" cy="396228"/>
          </a:xfrm>
        </p:grpSpPr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3EBE5DC4-07AB-405C-A5F0-60B4A13EA44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A8321D18-42DA-4B54-9618-0A81009452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75" name="AsteriskBlue" hidden="1">
            <a:extLst>
              <a:ext uri="{FF2B5EF4-FFF2-40B4-BE49-F238E27FC236}">
                <a16:creationId xmlns:a16="http://schemas.microsoft.com/office/drawing/2014/main" id="{C2CC9B35-735E-45D9-8CAB-B22E5A0068FC}"/>
              </a:ext>
            </a:extLst>
          </p:cNvPr>
          <p:cNvGrpSpPr>
            <a:grpSpLocks noChangeAspect="1"/>
          </p:cNvGrpSpPr>
          <p:nvPr userDrawn="1">
            <p:custDataLst>
              <p:tags r:id="rId47"/>
            </p:custDataLst>
          </p:nvPr>
        </p:nvGrpSpPr>
        <p:grpSpPr>
          <a:xfrm>
            <a:off x="4167682" y="5871065"/>
            <a:ext cx="396229" cy="396228"/>
            <a:chOff x="1016000" y="1016000"/>
            <a:chExt cx="396228" cy="396228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C3F35EFC-EE0A-4382-9791-14D10893BCE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13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BBF6FF68-86FA-4DB1-BCC5-C916AA763F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8" name="LineArrow" hidden="1">
            <a:extLst>
              <a:ext uri="{FF2B5EF4-FFF2-40B4-BE49-F238E27FC236}">
                <a16:creationId xmlns:a16="http://schemas.microsoft.com/office/drawing/2014/main" id="{683393F0-1C2E-4DF7-BB01-D01E30AF7633}"/>
              </a:ext>
            </a:extLst>
          </p:cNvPr>
          <p:cNvSpPr>
            <a:spLocks noChangeAspect="1"/>
          </p:cNvSpPr>
          <p:nvPr userDrawn="1">
            <p:custDataLst>
              <p:tags r:id="rId48"/>
            </p:custDataLst>
          </p:nvPr>
        </p:nvSpPr>
        <p:spPr>
          <a:xfrm>
            <a:off x="3260100" y="4780426"/>
            <a:ext cx="326774" cy="231556"/>
          </a:xfrm>
          <a:custGeom>
            <a:avLst/>
            <a:gdLst/>
            <a:ahLst/>
            <a:cxnLst/>
            <a:rect l="0" t="0" r="0" b="0"/>
            <a:pathLst>
              <a:path w="270576" h="191733">
                <a:moveTo>
                  <a:pt x="268764" y="99351"/>
                </a:moveTo>
                <a:lnTo>
                  <a:pt x="177792" y="190362"/>
                </a:lnTo>
                <a:lnTo>
                  <a:pt x="176904" y="191249"/>
                </a:lnTo>
                <a:lnTo>
                  <a:pt x="175697" y="191732"/>
                </a:lnTo>
                <a:lnTo>
                  <a:pt x="174528" y="191732"/>
                </a:lnTo>
                <a:lnTo>
                  <a:pt x="173360" y="191732"/>
                </a:lnTo>
                <a:lnTo>
                  <a:pt x="172151" y="191289"/>
                </a:lnTo>
                <a:lnTo>
                  <a:pt x="171264" y="190362"/>
                </a:lnTo>
                <a:lnTo>
                  <a:pt x="169452" y="188549"/>
                </a:lnTo>
                <a:lnTo>
                  <a:pt x="169452" y="185608"/>
                </a:lnTo>
                <a:lnTo>
                  <a:pt x="171264" y="183794"/>
                </a:lnTo>
                <a:lnTo>
                  <a:pt x="254098" y="100923"/>
                </a:lnTo>
                <a:lnTo>
                  <a:pt x="4633" y="100923"/>
                </a:lnTo>
                <a:lnTo>
                  <a:pt x="2053" y="100923"/>
                </a:lnTo>
                <a:lnTo>
                  <a:pt x="0" y="98868"/>
                </a:lnTo>
                <a:lnTo>
                  <a:pt x="0" y="96289"/>
                </a:lnTo>
                <a:lnTo>
                  <a:pt x="0" y="93711"/>
                </a:lnTo>
                <a:lnTo>
                  <a:pt x="2053" y="91656"/>
                </a:lnTo>
                <a:lnTo>
                  <a:pt x="4633" y="91656"/>
                </a:lnTo>
                <a:lnTo>
                  <a:pt x="254502" y="91656"/>
                </a:lnTo>
                <a:lnTo>
                  <a:pt x="171225" y="8381"/>
                </a:lnTo>
                <a:lnTo>
                  <a:pt x="169411" y="6568"/>
                </a:lnTo>
                <a:lnTo>
                  <a:pt x="169411" y="3626"/>
                </a:lnTo>
                <a:lnTo>
                  <a:pt x="171225" y="1812"/>
                </a:lnTo>
                <a:lnTo>
                  <a:pt x="173038" y="0"/>
                </a:lnTo>
                <a:lnTo>
                  <a:pt x="175979" y="0"/>
                </a:lnTo>
                <a:lnTo>
                  <a:pt x="177792" y="1812"/>
                </a:lnTo>
                <a:lnTo>
                  <a:pt x="268764" y="92784"/>
                </a:lnTo>
                <a:lnTo>
                  <a:pt x="270575" y="94638"/>
                </a:lnTo>
                <a:lnTo>
                  <a:pt x="270575" y="97539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9" name="DoubleArrowWhite" hidden="1">
            <a:extLst>
              <a:ext uri="{FF2B5EF4-FFF2-40B4-BE49-F238E27FC236}">
                <a16:creationId xmlns:a16="http://schemas.microsoft.com/office/drawing/2014/main" id="{7CF783B8-282C-43C3-9919-98D894BE6107}"/>
              </a:ext>
            </a:extLst>
          </p:cNvPr>
          <p:cNvGrpSpPr>
            <a:grpSpLocks noChangeAspect="1"/>
          </p:cNvGrpSpPr>
          <p:nvPr userDrawn="1">
            <p:custDataLst>
              <p:tags r:id="rId49"/>
            </p:custDataLst>
          </p:nvPr>
        </p:nvGrpSpPr>
        <p:grpSpPr>
          <a:xfrm>
            <a:off x="4167682" y="1765645"/>
            <a:ext cx="396229" cy="396228"/>
            <a:chOff x="1016000" y="1016000"/>
            <a:chExt cx="396228" cy="396228"/>
          </a:xfrm>
        </p:grpSpPr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EA618A26-166F-470F-BABA-2A570E68E5F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1" name="Graphic 280">
              <a:extLst>
                <a:ext uri="{FF2B5EF4-FFF2-40B4-BE49-F238E27FC236}">
                  <a16:creationId xmlns:a16="http://schemas.microsoft.com/office/drawing/2014/main" id="{E57F8461-4500-4C67-9858-DCFED4763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2" name="DoubleArrowBlue" hidden="1">
            <a:extLst>
              <a:ext uri="{FF2B5EF4-FFF2-40B4-BE49-F238E27FC236}">
                <a16:creationId xmlns:a16="http://schemas.microsoft.com/office/drawing/2014/main" id="{D2F8DAA2-D321-41B1-933B-06C4135F6C42}"/>
              </a:ext>
            </a:extLst>
          </p:cNvPr>
          <p:cNvGrpSpPr>
            <a:grpSpLocks noChangeAspect="1"/>
          </p:cNvGrpSpPr>
          <p:nvPr userDrawn="1">
            <p:custDataLst>
              <p:tags r:id="rId50"/>
            </p:custDataLst>
          </p:nvPr>
        </p:nvGrpSpPr>
        <p:grpSpPr>
          <a:xfrm>
            <a:off x="4167682" y="2352134"/>
            <a:ext cx="396229" cy="396228"/>
            <a:chOff x="1016000" y="1016000"/>
            <a:chExt cx="396228" cy="396228"/>
          </a:xfrm>
        </p:grpSpPr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FDA897A6-3557-4DB8-8C21-06AC7AD54E45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4" name="Graphic 283">
              <a:extLst>
                <a:ext uri="{FF2B5EF4-FFF2-40B4-BE49-F238E27FC236}">
                  <a16:creationId xmlns:a16="http://schemas.microsoft.com/office/drawing/2014/main" id="{D361B91D-CD48-417F-9959-EF45A3EF6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5" name="MinusSignBlue" hidden="1">
            <a:extLst>
              <a:ext uri="{FF2B5EF4-FFF2-40B4-BE49-F238E27FC236}">
                <a16:creationId xmlns:a16="http://schemas.microsoft.com/office/drawing/2014/main" id="{3AF33939-7012-4441-94C8-9FC567D64A86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4111601"/>
            <a:ext cx="396229" cy="396228"/>
            <a:chOff x="5774102" y="5004016"/>
            <a:chExt cx="205180" cy="205180"/>
          </a:xfrm>
        </p:grpSpPr>
        <p:sp>
          <p:nvSpPr>
            <p:cNvPr id="286" name="Oval 43">
              <a:extLst>
                <a:ext uri="{FF2B5EF4-FFF2-40B4-BE49-F238E27FC236}">
                  <a16:creationId xmlns:a16="http://schemas.microsoft.com/office/drawing/2014/main" id="{82D33441-617D-4C6D-AEC1-ABAEEA3D6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72C7068-D98E-48D9-BC86-EDF9B0930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88" name="MinusSign" hidden="1">
            <a:extLst>
              <a:ext uri="{FF2B5EF4-FFF2-40B4-BE49-F238E27FC236}">
                <a16:creationId xmlns:a16="http://schemas.microsoft.com/office/drawing/2014/main" id="{D3C62045-19CB-472C-B904-F75FF95E6E4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083559" y="3136737"/>
            <a:ext cx="159233" cy="0"/>
          </a:xfrm>
          <a:prstGeom prst="line">
            <a:avLst/>
          </a:pr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ru-RU" sz="1271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89" name="EqualSignBlue" hidden="1">
            <a:extLst>
              <a:ext uri="{FF2B5EF4-FFF2-40B4-BE49-F238E27FC236}">
                <a16:creationId xmlns:a16="http://schemas.microsoft.com/office/drawing/2014/main" id="{C251ACB4-3817-4B99-81EF-3319F8D753D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2352134"/>
            <a:ext cx="396229" cy="396228"/>
            <a:chOff x="5628456" y="6080974"/>
            <a:chExt cx="252000" cy="252000"/>
          </a:xfrm>
        </p:grpSpPr>
        <p:sp>
          <p:nvSpPr>
            <p:cNvPr id="290" name="Oval 43">
              <a:extLst>
                <a:ext uri="{FF2B5EF4-FFF2-40B4-BE49-F238E27FC236}">
                  <a16:creationId xmlns:a16="http://schemas.microsoft.com/office/drawing/2014/main" id="{9AA5579B-1DB7-4BD6-8C0E-81625EF19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92406EAB-65AA-4D84-A777-53F398C185FF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92" name="Line 44">
                <a:extLst>
                  <a:ext uri="{FF2B5EF4-FFF2-40B4-BE49-F238E27FC236}">
                    <a16:creationId xmlns:a16="http://schemas.microsoft.com/office/drawing/2014/main" id="{DDEB8513-3D78-4F1B-AD9A-644B4E1529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93" name="Line 44">
                <a:extLst>
                  <a:ext uri="{FF2B5EF4-FFF2-40B4-BE49-F238E27FC236}">
                    <a16:creationId xmlns:a16="http://schemas.microsoft.com/office/drawing/2014/main" id="{BC3D9BDF-0AEA-4D17-BC88-51987C5C28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294" name="EqualSign" hidden="1">
            <a:extLst>
              <a:ext uri="{FF2B5EF4-FFF2-40B4-BE49-F238E27FC236}">
                <a16:creationId xmlns:a16="http://schemas.microsoft.com/office/drawing/2014/main" id="{F9D1581B-944D-4374-A0E8-A0DB5FC42E41}"/>
              </a:ext>
            </a:extLst>
          </p:cNvPr>
          <p:cNvGrpSpPr/>
          <p:nvPr userDrawn="1"/>
        </p:nvGrpSpPr>
        <p:grpSpPr>
          <a:xfrm>
            <a:off x="7083559" y="1390067"/>
            <a:ext cx="159233" cy="66370"/>
            <a:chOff x="7235957" y="2669464"/>
            <a:chExt cx="159233" cy="66370"/>
          </a:xfrm>
        </p:grpSpPr>
        <p:sp>
          <p:nvSpPr>
            <p:cNvPr id="295" name="Line 44">
              <a:extLst>
                <a:ext uri="{FF2B5EF4-FFF2-40B4-BE49-F238E27FC236}">
                  <a16:creationId xmlns:a16="http://schemas.microsoft.com/office/drawing/2014/main" id="{9205093A-0A04-4022-AF99-5B3C7BB5B50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73583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96" name="Line 44">
              <a:extLst>
                <a:ext uri="{FF2B5EF4-FFF2-40B4-BE49-F238E27FC236}">
                  <a16:creationId xmlns:a16="http://schemas.microsoft.com/office/drawing/2014/main" id="{56DFEE37-A213-4E24-A840-D67F24A902D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66946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97" name="DivisionSignWhite" hidden="1">
            <a:extLst>
              <a:ext uri="{FF2B5EF4-FFF2-40B4-BE49-F238E27FC236}">
                <a16:creationId xmlns:a16="http://schemas.microsoft.com/office/drawing/2014/main" id="{342C481E-2771-4037-84DD-5DFA03611397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3547220"/>
            <a:ext cx="396229" cy="396228"/>
            <a:chOff x="5774102" y="5625318"/>
            <a:chExt cx="205180" cy="205180"/>
          </a:xfrm>
        </p:grpSpPr>
        <p:sp>
          <p:nvSpPr>
            <p:cNvPr id="298" name="Oval 43">
              <a:extLst>
                <a:ext uri="{FF2B5EF4-FFF2-40B4-BE49-F238E27FC236}">
                  <a16:creationId xmlns:a16="http://schemas.microsoft.com/office/drawing/2014/main" id="{C7CBA324-6D65-4917-9123-3BFDAE3EF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625318"/>
              <a:ext cx="205180" cy="20518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0E075EA0-546C-49D4-9910-1DCF7A86425C}"/>
                </a:ext>
              </a:extLst>
            </p:cNvPr>
            <p:cNvGrpSpPr/>
            <p:nvPr/>
          </p:nvGrpSpPr>
          <p:grpSpPr>
            <a:xfrm>
              <a:off x="5835464" y="5693540"/>
              <a:ext cx="82456" cy="68736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0" name="Line 44">
                <a:extLst>
                  <a:ext uri="{FF2B5EF4-FFF2-40B4-BE49-F238E27FC236}">
                    <a16:creationId xmlns:a16="http://schemas.microsoft.com/office/drawing/2014/main" id="{5E43A480-7A7B-4771-892C-B92B9BB74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1" name="Line 44">
                <a:extLst>
                  <a:ext uri="{FF2B5EF4-FFF2-40B4-BE49-F238E27FC236}">
                    <a16:creationId xmlns:a16="http://schemas.microsoft.com/office/drawing/2014/main" id="{1902D586-D66B-4A9C-84DA-067501F33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 dirty="0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2" name="Line 44">
                <a:extLst>
                  <a:ext uri="{FF2B5EF4-FFF2-40B4-BE49-F238E27FC236}">
                    <a16:creationId xmlns:a16="http://schemas.microsoft.com/office/drawing/2014/main" id="{D100CDD8-5813-44CC-9144-01079AFE90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3" name="DivisionSignBlue" hidden="1">
            <a:extLst>
              <a:ext uri="{FF2B5EF4-FFF2-40B4-BE49-F238E27FC236}">
                <a16:creationId xmlns:a16="http://schemas.microsoft.com/office/drawing/2014/main" id="{9F91621D-FE96-4B12-BD91-1E7BC85E6913}"/>
              </a:ext>
            </a:extLst>
          </p:cNvPr>
          <p:cNvGrpSpPr/>
          <p:nvPr userDrawn="1"/>
        </p:nvGrpSpPr>
        <p:grpSpPr>
          <a:xfrm>
            <a:off x="6032601" y="4133705"/>
            <a:ext cx="396229" cy="396228"/>
            <a:chOff x="6032601" y="5871065"/>
            <a:chExt cx="396228" cy="396228"/>
          </a:xfrm>
        </p:grpSpPr>
        <p:sp>
          <p:nvSpPr>
            <p:cNvPr id="304" name="Oval 43">
              <a:extLst>
                <a:ext uri="{FF2B5EF4-FFF2-40B4-BE49-F238E27FC236}">
                  <a16:creationId xmlns:a16="http://schemas.microsoft.com/office/drawing/2014/main" id="{767D1444-1A4F-43AC-B6E8-B204EE2CB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601" y="5871065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3283AF53-7299-4A7A-87B1-6F0C95BFE917}"/>
                </a:ext>
              </a:extLst>
            </p:cNvPr>
            <p:cNvGrpSpPr/>
            <p:nvPr/>
          </p:nvGrpSpPr>
          <p:grpSpPr>
            <a:xfrm>
              <a:off x="6151099" y="6002810"/>
              <a:ext cx="159233" cy="132738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6" name="Line 44">
                <a:extLst>
                  <a:ext uri="{FF2B5EF4-FFF2-40B4-BE49-F238E27FC236}">
                    <a16:creationId xmlns:a16="http://schemas.microsoft.com/office/drawing/2014/main" id="{29ED7400-C0F5-4DB4-8DBE-E5FD1C1DF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7" name="Line 44">
                <a:extLst>
                  <a:ext uri="{FF2B5EF4-FFF2-40B4-BE49-F238E27FC236}">
                    <a16:creationId xmlns:a16="http://schemas.microsoft.com/office/drawing/2014/main" id="{3D022D5C-B547-497E-A4E3-58F2B22FD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8" name="Line 44">
                <a:extLst>
                  <a:ext uri="{FF2B5EF4-FFF2-40B4-BE49-F238E27FC236}">
                    <a16:creationId xmlns:a16="http://schemas.microsoft.com/office/drawing/2014/main" id="{8843BE29-0938-40BF-95EC-040F1323B9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9" name="DivisionSign" hidden="1">
            <a:extLst>
              <a:ext uri="{FF2B5EF4-FFF2-40B4-BE49-F238E27FC236}">
                <a16:creationId xmlns:a16="http://schemas.microsoft.com/office/drawing/2014/main" id="{7EDFE250-3D01-4807-BFD2-79CAFE7F021B}"/>
              </a:ext>
            </a:extLst>
          </p:cNvPr>
          <p:cNvGrpSpPr/>
          <p:nvPr userDrawn="1"/>
        </p:nvGrpSpPr>
        <p:grpSpPr>
          <a:xfrm>
            <a:off x="6151100" y="3092475"/>
            <a:ext cx="159233" cy="132738"/>
            <a:chOff x="6703549" y="6002810"/>
            <a:chExt cx="159233" cy="132738"/>
          </a:xfrm>
        </p:grpSpPr>
        <p:sp>
          <p:nvSpPr>
            <p:cNvPr id="310" name="Line 44">
              <a:extLst>
                <a:ext uri="{FF2B5EF4-FFF2-40B4-BE49-F238E27FC236}">
                  <a16:creationId xmlns:a16="http://schemas.microsoft.com/office/drawing/2014/main" id="{1B656512-52DA-4604-BE71-04D238927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3549" y="6069179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1" name="Line 44">
              <a:extLst>
                <a:ext uri="{FF2B5EF4-FFF2-40B4-BE49-F238E27FC236}">
                  <a16:creationId xmlns:a16="http://schemas.microsoft.com/office/drawing/2014/main" id="{E27C268B-104C-40CE-BD84-B8D9B8608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002810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2" name="Line 44">
              <a:extLst>
                <a:ext uri="{FF2B5EF4-FFF2-40B4-BE49-F238E27FC236}">
                  <a16:creationId xmlns:a16="http://schemas.microsoft.com/office/drawing/2014/main" id="{639BECC2-F9BB-4F61-8B10-AC459AEB9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135548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3" name="PlusSignWhite" hidden="1">
            <a:extLst>
              <a:ext uri="{FF2B5EF4-FFF2-40B4-BE49-F238E27FC236}">
                <a16:creationId xmlns:a16="http://schemas.microsoft.com/office/drawing/2014/main" id="{1EB82B89-1DA5-467E-A27B-77F04EA36BFB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1765645"/>
            <a:ext cx="396229" cy="396228"/>
            <a:chOff x="5774102" y="5312478"/>
            <a:chExt cx="205180" cy="205180"/>
          </a:xfrm>
        </p:grpSpPr>
        <p:sp>
          <p:nvSpPr>
            <p:cNvPr id="314" name="Oval 40">
              <a:extLst>
                <a:ext uri="{FF2B5EF4-FFF2-40B4-BE49-F238E27FC236}">
                  <a16:creationId xmlns:a16="http://schemas.microsoft.com/office/drawing/2014/main" id="{4C827BB0-2AEC-4809-B220-A4886CCF9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13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5" name="Line 41">
              <a:extLst>
                <a:ext uri="{FF2B5EF4-FFF2-40B4-BE49-F238E27FC236}">
                  <a16:creationId xmlns:a16="http://schemas.microsoft.com/office/drawing/2014/main" id="{979EDF2F-A554-4F9E-94B1-8EFBAE43F4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6" name="Line 42">
              <a:extLst>
                <a:ext uri="{FF2B5EF4-FFF2-40B4-BE49-F238E27FC236}">
                  <a16:creationId xmlns:a16="http://schemas.microsoft.com/office/drawing/2014/main" id="{B4CF1EFF-207E-4B34-9369-CA5077E82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7" name="PlusSignBlue" hidden="1">
            <a:extLst>
              <a:ext uri="{FF2B5EF4-FFF2-40B4-BE49-F238E27FC236}">
                <a16:creationId xmlns:a16="http://schemas.microsoft.com/office/drawing/2014/main" id="{4E733F3E-AA8E-497B-841C-40ED51984548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2352134"/>
            <a:ext cx="396229" cy="396228"/>
            <a:chOff x="5774102" y="5312478"/>
            <a:chExt cx="205180" cy="205180"/>
          </a:xfrm>
        </p:grpSpPr>
        <p:sp>
          <p:nvSpPr>
            <p:cNvPr id="318" name="Oval 40">
              <a:extLst>
                <a:ext uri="{FF2B5EF4-FFF2-40B4-BE49-F238E27FC236}">
                  <a16:creationId xmlns:a16="http://schemas.microsoft.com/office/drawing/2014/main" id="{840053CE-6498-4349-B264-CD8327D85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9" name="Line 41">
              <a:extLst>
                <a:ext uri="{FF2B5EF4-FFF2-40B4-BE49-F238E27FC236}">
                  <a16:creationId xmlns:a16="http://schemas.microsoft.com/office/drawing/2014/main" id="{2DFBC0C5-EA16-48C1-9C9E-A9F097438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0" name="Line 42">
              <a:extLst>
                <a:ext uri="{FF2B5EF4-FFF2-40B4-BE49-F238E27FC236}">
                  <a16:creationId xmlns:a16="http://schemas.microsoft.com/office/drawing/2014/main" id="{4DE68072-921B-4CD0-AB56-AAD833C3B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21" name="PlusSign" hidden="1">
            <a:extLst>
              <a:ext uri="{FF2B5EF4-FFF2-40B4-BE49-F238E27FC236}">
                <a16:creationId xmlns:a16="http://schemas.microsoft.com/office/drawing/2014/main" id="{6D2B9035-C1A1-4D76-903C-4205636C324C}"/>
              </a:ext>
            </a:extLst>
          </p:cNvPr>
          <p:cNvGrpSpPr/>
          <p:nvPr userDrawn="1"/>
        </p:nvGrpSpPr>
        <p:grpSpPr>
          <a:xfrm>
            <a:off x="6125177" y="1319567"/>
            <a:ext cx="211076" cy="207370"/>
            <a:chOff x="6277577" y="2012475"/>
            <a:chExt cx="211076" cy="207370"/>
          </a:xfrm>
        </p:grpSpPr>
        <p:sp>
          <p:nvSpPr>
            <p:cNvPr id="322" name="Line 41">
              <a:extLst>
                <a:ext uri="{FF2B5EF4-FFF2-40B4-BE49-F238E27FC236}">
                  <a16:creationId xmlns:a16="http://schemas.microsoft.com/office/drawing/2014/main" id="{2D14CD41-A12D-40EA-A6D9-253508413D7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383115" y="2012475"/>
              <a:ext cx="0" cy="20737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3" name="Line 42">
              <a:extLst>
                <a:ext uri="{FF2B5EF4-FFF2-40B4-BE49-F238E27FC236}">
                  <a16:creationId xmlns:a16="http://schemas.microsoft.com/office/drawing/2014/main" id="{ADB2C483-8F4C-4630-8C8C-4694BD01713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277577" y="2116159"/>
              <a:ext cx="21107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24" name="ExclamationMarkWhite" hidden="1">
            <a:extLst>
              <a:ext uri="{FF2B5EF4-FFF2-40B4-BE49-F238E27FC236}">
                <a16:creationId xmlns:a16="http://schemas.microsoft.com/office/drawing/2014/main" id="{BD7591C5-2F5C-4DF2-AE3A-81FD6ECA04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765645"/>
            <a:ext cx="396229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13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13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5" name="ExclamationMarkBlue" hidden="1">
            <a:extLst>
              <a:ext uri="{FF2B5EF4-FFF2-40B4-BE49-F238E27FC236}">
                <a16:creationId xmlns:a16="http://schemas.microsoft.com/office/drawing/2014/main" id="{F3D3EB97-945D-4713-8574-1DEB99720F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2352134"/>
            <a:ext cx="396229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13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6" name="ExclamationMark" hidden="1">
            <a:extLst>
              <a:ext uri="{FF2B5EF4-FFF2-40B4-BE49-F238E27FC236}">
                <a16:creationId xmlns:a16="http://schemas.microsoft.com/office/drawing/2014/main" id="{9E0558B8-8450-41CA-965B-64DD3A2C1E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229864"/>
            <a:ext cx="396229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645732" rtl="0" eaLnBrk="1" latinLnBrk="0" hangingPunct="1"/>
            <a:r>
              <a:rPr lang="en-US" sz="113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13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0" name="QuestionMarkWhite" hidden="1">
            <a:extLst>
              <a:ext uri="{FF2B5EF4-FFF2-40B4-BE49-F238E27FC236}">
                <a16:creationId xmlns:a16="http://schemas.microsoft.com/office/drawing/2014/main" id="{3D3DE55A-EFB5-4A46-855A-CFB36742E0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2" y="3525112"/>
            <a:ext cx="396229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13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13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1" name="QuestionMarkBlue" hidden="1">
            <a:extLst>
              <a:ext uri="{FF2B5EF4-FFF2-40B4-BE49-F238E27FC236}">
                <a16:creationId xmlns:a16="http://schemas.microsoft.com/office/drawing/2014/main" id="{92A4EE15-ABA6-4665-9FB4-616C1B6AA3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2" y="4111601"/>
            <a:ext cx="396229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13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2" name="QuestionMark" hidden="1">
            <a:extLst>
              <a:ext uri="{FF2B5EF4-FFF2-40B4-BE49-F238E27FC236}">
                <a16:creationId xmlns:a16="http://schemas.microsoft.com/office/drawing/2014/main" id="{4E78E58E-5E73-4DAC-91A5-FA395FEE6C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2" y="2938623"/>
            <a:ext cx="396229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645732" rtl="0" eaLnBrk="1" latinLnBrk="0" hangingPunct="1"/>
            <a:r>
              <a:rPr lang="en-US" sz="113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13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353" name="XWhite" hidden="1">
            <a:extLst>
              <a:ext uri="{FF2B5EF4-FFF2-40B4-BE49-F238E27FC236}">
                <a16:creationId xmlns:a16="http://schemas.microsoft.com/office/drawing/2014/main" id="{64A8F67C-2547-40D5-969E-B6BF43205EE4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284580"/>
            <a:ext cx="396229" cy="396228"/>
            <a:chOff x="4846772" y="6015293"/>
            <a:chExt cx="252000" cy="252000"/>
          </a:xfrm>
        </p:grpSpPr>
        <p:sp>
          <p:nvSpPr>
            <p:cNvPr id="354" name="Oval 35">
              <a:extLst>
                <a:ext uri="{FF2B5EF4-FFF2-40B4-BE49-F238E27FC236}">
                  <a16:creationId xmlns:a16="http://schemas.microsoft.com/office/drawing/2014/main" id="{947E4B2F-2AE1-4838-89F1-BDAF16E04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5" name="Line 36">
              <a:extLst>
                <a:ext uri="{FF2B5EF4-FFF2-40B4-BE49-F238E27FC236}">
                  <a16:creationId xmlns:a16="http://schemas.microsoft.com/office/drawing/2014/main" id="{A0EFB238-5946-4CC6-8454-2E5643F16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7118" y="6055639"/>
              <a:ext cx="171307" cy="171307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6" name="Line 37">
              <a:extLst>
                <a:ext uri="{FF2B5EF4-FFF2-40B4-BE49-F238E27FC236}">
                  <a16:creationId xmlns:a16="http://schemas.microsoft.com/office/drawing/2014/main" id="{7269D199-3BC4-494A-831F-7E48B55D8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7293" y="6055812"/>
              <a:ext cx="170964" cy="170964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57" name="XBlue" hidden="1">
            <a:extLst>
              <a:ext uri="{FF2B5EF4-FFF2-40B4-BE49-F238E27FC236}">
                <a16:creationId xmlns:a16="http://schemas.microsoft.com/office/drawing/2014/main" id="{963F1768-3663-4E38-99EB-BEBC2D52621E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871065"/>
            <a:ext cx="396229" cy="396228"/>
            <a:chOff x="4846772" y="6015293"/>
            <a:chExt cx="252000" cy="252000"/>
          </a:xfrm>
        </p:grpSpPr>
        <p:sp>
          <p:nvSpPr>
            <p:cNvPr id="358" name="Oval 35">
              <a:extLst>
                <a:ext uri="{FF2B5EF4-FFF2-40B4-BE49-F238E27FC236}">
                  <a16:creationId xmlns:a16="http://schemas.microsoft.com/office/drawing/2014/main" id="{6BCD81C2-8F8E-46C9-B2F0-949EDB30D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9" name="Line 36">
              <a:extLst>
                <a:ext uri="{FF2B5EF4-FFF2-40B4-BE49-F238E27FC236}">
                  <a16:creationId xmlns:a16="http://schemas.microsoft.com/office/drawing/2014/main" id="{FFEE35B1-A2D3-4910-8E1C-9C137E69A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2264" y="6050785"/>
              <a:ext cx="181016" cy="181016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60" name="Line 37">
              <a:extLst>
                <a:ext uri="{FF2B5EF4-FFF2-40B4-BE49-F238E27FC236}">
                  <a16:creationId xmlns:a16="http://schemas.microsoft.com/office/drawing/2014/main" id="{2BB44F3C-9601-462F-9F01-986092699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3818" y="6052339"/>
              <a:ext cx="177910" cy="17791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67" name="Chevron" hidden="1">
            <a:extLst>
              <a:ext uri="{FF2B5EF4-FFF2-40B4-BE49-F238E27FC236}">
                <a16:creationId xmlns:a16="http://schemas.microsoft.com/office/drawing/2014/main" id="{6CB1977F-395D-4541-A0E1-6416254928B7}"/>
              </a:ext>
            </a:extLst>
          </p:cNvPr>
          <p:cNvSpPr>
            <a:spLocks noChangeAspect="1"/>
          </p:cNvSpPr>
          <p:nvPr userDrawn="1">
            <p:custDataLst>
              <p:tags r:id="rId51"/>
            </p:custDataLst>
          </p:nvPr>
        </p:nvSpPr>
        <p:spPr>
          <a:xfrm>
            <a:off x="3370045" y="3017414"/>
            <a:ext cx="126588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1271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72" name="KeyTakeawayOF" hidden="1">
            <a:extLst>
              <a:ext uri="{FF2B5EF4-FFF2-40B4-BE49-F238E27FC236}">
                <a16:creationId xmlns:a16="http://schemas.microsoft.com/office/drawing/2014/main" id="{1ADFC805-1B70-432B-A2E4-EC1E5DB7B205}"/>
              </a:ext>
            </a:extLst>
          </p:cNvPr>
          <p:cNvSpPr txBox="1"/>
          <p:nvPr userDrawn="1">
            <p:custDataLst>
              <p:tags r:id="rId52"/>
            </p:custDataLst>
          </p:nvPr>
        </p:nvSpPr>
        <p:spPr>
          <a:xfrm>
            <a:off x="7556500" y="1257300"/>
            <a:ext cx="2819400" cy="862966"/>
          </a:xfrm>
          <a:prstGeom prst="snip1Rect">
            <a:avLst/>
          </a:prstGeom>
          <a:solidFill>
            <a:schemeClr val="accent1"/>
          </a:solidFill>
        </p:spPr>
        <p:txBody>
          <a:bodyPr vert="horz" wrap="square" lIns="129157" tIns="129157" rIns="129157" bIns="129157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  <a:lvl2pPr marL="144000" lvl="1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latin typeface="Franklin Gothic Book" panose="020B0503020102020204" pitchFamily="34" charset="0"/>
              </a:defRPr>
            </a:lvl2pPr>
            <a:lvl3pPr marL="288000" lvl="2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latin typeface="Franklin Gothic Book" panose="020B0503020102020204" pitchFamily="34" charset="0"/>
              </a:defRPr>
            </a:lvl3pPr>
            <a:lvl4pPr marL="432000" lvl="3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latin typeface="Franklin Gothic Book" panose="020B0503020102020204" pitchFamily="34" charset="0"/>
              </a:defRPr>
            </a:lvl4pPr>
            <a:lvl5pPr marL="576000" lvl="4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latin typeface="Franklin Gothic Book" panose="020B05030201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988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Key Takeaway</a:t>
            </a:r>
          </a:p>
          <a:p>
            <a:pPr>
              <a:spcBef>
                <a:spcPts val="0"/>
              </a:spcBef>
            </a:pPr>
            <a:r>
              <a:rPr lang="en-US" sz="988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Body paragraph</a:t>
            </a:r>
          </a:p>
          <a:p>
            <a:pPr lvl="1">
              <a:buClr>
                <a:schemeClr val="tx2"/>
              </a:buClr>
            </a:pPr>
            <a:r>
              <a:rPr lang="en-US" sz="988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Bullet level one</a:t>
            </a:r>
          </a:p>
        </p:txBody>
      </p:sp>
      <p:grpSp>
        <p:nvGrpSpPr>
          <p:cNvPr id="373" name="Callout" hidden="1">
            <a:extLst>
              <a:ext uri="{FF2B5EF4-FFF2-40B4-BE49-F238E27FC236}">
                <a16:creationId xmlns:a16="http://schemas.microsoft.com/office/drawing/2014/main" id="{21CB9224-F876-4528-9F19-97359B65E4E5}"/>
              </a:ext>
            </a:extLst>
          </p:cNvPr>
          <p:cNvGrpSpPr/>
          <p:nvPr userDrawn="1">
            <p:custDataLst>
              <p:tags r:id="rId53"/>
            </p:custDataLst>
          </p:nvPr>
        </p:nvGrpSpPr>
        <p:grpSpPr>
          <a:xfrm>
            <a:off x="7556500" y="2814269"/>
            <a:ext cx="3026228" cy="1076257"/>
            <a:chOff x="1016000" y="1016000"/>
            <a:chExt cx="3026228" cy="1076257"/>
          </a:xfrm>
        </p:grpSpPr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8677E9B9-A539-4E0F-9A04-8CEE1655CD88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07625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1130" dirty="0"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988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9989B7A8-CE5E-4D8D-B5F6-18711E66CDF7}"/>
                </a:ext>
              </a:extLst>
            </p:cNvPr>
            <p:cNvCxnSpPr>
              <a:cxnSpLocks/>
              <a:stCxn id="374" idx="3"/>
            </p:cNvCxnSpPr>
            <p:nvPr/>
          </p:nvCxnSpPr>
          <p:spPr>
            <a:xfrm>
              <a:off x="3661228" y="1554129"/>
              <a:ext cx="381000" cy="346729"/>
            </a:xfrm>
            <a:prstGeom prst="straightConnector1">
              <a:avLst/>
            </a:prstGeom>
            <a:ln w="6350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StrongCallout" hidden="1">
            <a:extLst>
              <a:ext uri="{FF2B5EF4-FFF2-40B4-BE49-F238E27FC236}">
                <a16:creationId xmlns:a16="http://schemas.microsoft.com/office/drawing/2014/main" id="{FBFAAB70-F343-4BC7-9809-954862307099}"/>
              </a:ext>
            </a:extLst>
          </p:cNvPr>
          <p:cNvGrpSpPr/>
          <p:nvPr userDrawn="1">
            <p:custDataLst>
              <p:tags r:id="rId54"/>
            </p:custDataLst>
          </p:nvPr>
        </p:nvGrpSpPr>
        <p:grpSpPr>
          <a:xfrm>
            <a:off x="7556500" y="4704344"/>
            <a:ext cx="3026228" cy="1076257"/>
            <a:chOff x="1016000" y="1016000"/>
            <a:chExt cx="3026228" cy="1076257"/>
          </a:xfrm>
        </p:grpSpPr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F4EDB771-524B-4E85-A799-96A9C1C0C33E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0762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113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988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8" name="Straight Arrow Connector 377">
              <a:extLst>
                <a:ext uri="{FF2B5EF4-FFF2-40B4-BE49-F238E27FC236}">
                  <a16:creationId xmlns:a16="http://schemas.microsoft.com/office/drawing/2014/main" id="{7E555C10-ED0D-4742-8F7F-ABCB7750B0FE}"/>
                </a:ext>
              </a:extLst>
            </p:cNvPr>
            <p:cNvCxnSpPr>
              <a:cxnSpLocks/>
              <a:stCxn id="377" idx="3"/>
            </p:cNvCxnSpPr>
            <p:nvPr/>
          </p:nvCxnSpPr>
          <p:spPr>
            <a:xfrm>
              <a:off x="3661228" y="1554129"/>
              <a:ext cx="381000" cy="346729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9" name="SplitFlowOF" hidden="1">
            <a:extLst>
              <a:ext uri="{FF2B5EF4-FFF2-40B4-BE49-F238E27FC236}">
                <a16:creationId xmlns:a16="http://schemas.microsoft.com/office/drawing/2014/main" id="{C6C961D3-A82A-41AF-847D-45C80E658C14}"/>
              </a:ext>
            </a:extLst>
          </p:cNvPr>
          <p:cNvGrpSpPr>
            <a:grpSpLocks/>
          </p:cNvGrpSpPr>
          <p:nvPr userDrawn="1">
            <p:custDataLst>
              <p:tags r:id="rId55"/>
            </p:custDataLst>
          </p:nvPr>
        </p:nvGrpSpPr>
        <p:grpSpPr>
          <a:xfrm>
            <a:off x="11074400" y="1257300"/>
            <a:ext cx="1828801" cy="914400"/>
            <a:chOff x="114299" y="1270000"/>
            <a:chExt cx="1828801" cy="914400"/>
          </a:xfrm>
          <a:solidFill>
            <a:schemeClr val="accent3"/>
          </a:solidFill>
        </p:grpSpPr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629A692C-B796-462A-97D2-5BDE28897A8C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14300" y="1270000"/>
              <a:ext cx="1828800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457200">
                  <a:moveTo>
                    <a:pt x="0" y="0"/>
                  </a:moveTo>
                  <a:lnTo>
                    <a:pt x="1664208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30F8C376-A37C-4AC0-AD8E-FF489C86A2CC}"/>
                </a:ext>
              </a:extLst>
            </p:cNvPr>
            <p:cNvSpPr txBox="1"/>
            <p:nvPr>
              <p:custDataLst>
                <p:tags r:id="rId60"/>
              </p:custDataLst>
            </p:nvPr>
          </p:nvSpPr>
          <p:spPr>
            <a:xfrm>
              <a:off x="177800" y="1327150"/>
              <a:ext cx="1600708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BF53C301-2D55-4813-B4B7-18A5B2B90892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14299" y="1727200"/>
              <a:ext cx="996697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980237 w 1664208"/>
                <a:gd name="connsiteY0" fmla="*/ 0 h 457200"/>
                <a:gd name="connsiteX1" fmla="*/ 1664208 w 1664208"/>
                <a:gd name="connsiteY1" fmla="*/ 457200 h 457200"/>
                <a:gd name="connsiteX2" fmla="*/ 0 w 1664208"/>
                <a:gd name="connsiteY2" fmla="*/ 457200 h 457200"/>
                <a:gd name="connsiteX3" fmla="*/ 0 w 1664208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96696 w 996696"/>
                <a:gd name="connsiteY0" fmla="*/ 0 h 457200"/>
                <a:gd name="connsiteX1" fmla="*/ 84856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6 w 996696"/>
                <a:gd name="connsiteY0" fmla="*/ 0 h 457200"/>
                <a:gd name="connsiteX1" fmla="*/ 83210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7" h="457200">
                  <a:moveTo>
                    <a:pt x="996697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84127477-F4C5-4F43-AD37-D862E044CF48}"/>
                </a:ext>
              </a:extLst>
            </p:cNvPr>
            <p:cNvSpPr txBox="1"/>
            <p:nvPr>
              <p:custDataLst>
                <p:tags r:id="rId62"/>
              </p:custDataLst>
            </p:nvPr>
          </p:nvSpPr>
          <p:spPr>
            <a:xfrm>
              <a:off x="177800" y="1784350"/>
              <a:ext cx="768604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>
                  <a:latin typeface="+mn-lt"/>
                  <a:ea typeface="+mn-ea"/>
                  <a:cs typeface="+mn-cs"/>
                  <a:sym typeface="+mn-lt"/>
                </a:rPr>
                <a:t>Text</a:t>
              </a:r>
              <a:endParaRPr lang="en-US" sz="706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03606657-349E-4EB9-AC07-42D927B48B19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946404" y="1727200"/>
              <a:ext cx="996696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848563 w 1828800"/>
                <a:gd name="connsiteY2" fmla="*/ 457200 h 457200"/>
                <a:gd name="connsiteX3" fmla="*/ 0 w 1828800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15645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48133 w 996696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64592 w 996696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6" h="457200">
                  <a:moveTo>
                    <a:pt x="996696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64592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8D6E177A-752E-410D-B299-80215ACD3436}"/>
                </a:ext>
              </a:extLst>
            </p:cNvPr>
            <p:cNvSpPr txBox="1"/>
            <p:nvPr>
              <p:custDataLst>
                <p:tags r:id="rId64"/>
              </p:custDataLst>
            </p:nvPr>
          </p:nvSpPr>
          <p:spPr>
            <a:xfrm>
              <a:off x="1149096" y="1784350"/>
              <a:ext cx="629412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386" name="Group" hidden="1">
            <a:extLst>
              <a:ext uri="{FF2B5EF4-FFF2-40B4-BE49-F238E27FC236}">
                <a16:creationId xmlns:a16="http://schemas.microsoft.com/office/drawing/2014/main" id="{7D5F9D64-63BA-4A00-A40F-81D44C96A709}"/>
              </a:ext>
            </a:extLst>
          </p:cNvPr>
          <p:cNvGrpSpPr>
            <a:grpSpLocks/>
          </p:cNvGrpSpPr>
          <p:nvPr userDrawn="1">
            <p:custDataLst>
              <p:tags r:id="rId56"/>
            </p:custDataLst>
          </p:nvPr>
        </p:nvGrpSpPr>
        <p:grpSpPr>
          <a:xfrm>
            <a:off x="11074402" y="2814268"/>
            <a:ext cx="1828801" cy="908050"/>
            <a:chOff x="1016000" y="1016000"/>
            <a:chExt cx="2971800" cy="908050"/>
          </a:xfrm>
          <a:solidFill>
            <a:schemeClr val="accent3"/>
          </a:solidFill>
        </p:grpSpPr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4FA4576C-ECF7-457D-AF11-1D6F3595CAB9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016000" y="1016000"/>
              <a:ext cx="2971800" cy="908050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728216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728216" y="0"/>
                  </a:lnTo>
                  <a:lnTo>
                    <a:pt x="1828800" y="457200"/>
                  </a:lnTo>
                  <a:lnTo>
                    <a:pt x="1728216" y="914400"/>
                  </a:lnTo>
                  <a:lnTo>
                    <a:pt x="0" y="9144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E9A047FB-4C45-4EAC-9C1A-9769B09EC910}"/>
                </a:ext>
              </a:extLst>
            </p:cNvPr>
            <p:cNvSpPr txBox="1"/>
            <p:nvPr>
              <p:custDataLst>
                <p:tags r:id="rId58"/>
              </p:custDataLst>
            </p:nvPr>
          </p:nvSpPr>
          <p:spPr>
            <a:xfrm>
              <a:off x="1079500" y="1079059"/>
              <a:ext cx="2744851" cy="781932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445" name="CheckmarkWhite" hidden="1">
            <a:extLst>
              <a:ext uri="{FF2B5EF4-FFF2-40B4-BE49-F238E27FC236}">
                <a16:creationId xmlns:a16="http://schemas.microsoft.com/office/drawing/2014/main" id="{23B8C5E5-4ACA-40F9-A08E-EF887C7F53FD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1765645"/>
            <a:ext cx="396229" cy="396228"/>
            <a:chOff x="5612530" y="5130112"/>
            <a:chExt cx="252000" cy="252000"/>
          </a:xfrm>
        </p:grpSpPr>
        <p:sp>
          <p:nvSpPr>
            <p:cNvPr id="446" name="Oval 38">
              <a:extLst>
                <a:ext uri="{FF2B5EF4-FFF2-40B4-BE49-F238E27FC236}">
                  <a16:creationId xmlns:a16="http://schemas.microsoft.com/office/drawing/2014/main" id="{7E74802F-C333-4CD3-9D21-FA3C70A5B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7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7" name="Freeform 39">
              <a:extLst>
                <a:ext uri="{FF2B5EF4-FFF2-40B4-BE49-F238E27FC236}">
                  <a16:creationId xmlns:a16="http://schemas.microsoft.com/office/drawing/2014/main" id="{673344BF-49BF-4EF1-99FA-30708D581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506" name="QuotationMarks" hidden="1">
            <a:extLst>
              <a:ext uri="{FF2B5EF4-FFF2-40B4-BE49-F238E27FC236}">
                <a16:creationId xmlns:a16="http://schemas.microsoft.com/office/drawing/2014/main" id="{C2F33033-CBF4-496E-804A-0DE82A4D71E7}"/>
              </a:ext>
            </a:extLst>
          </p:cNvPr>
          <p:cNvSpPr>
            <a:spLocks noEditPoints="1"/>
          </p:cNvSpPr>
          <p:nvPr/>
        </p:nvSpPr>
        <p:spPr bwMode="auto">
          <a:xfrm>
            <a:off x="5228492" y="3100182"/>
            <a:ext cx="139529" cy="99518"/>
          </a:xfrm>
          <a:custGeom>
            <a:avLst/>
            <a:gdLst>
              <a:gd name="T0" fmla="*/ 291 w 544"/>
              <a:gd name="T1" fmla="*/ 0 h 388"/>
              <a:gd name="T2" fmla="*/ 544 w 544"/>
              <a:gd name="T3" fmla="*/ 0 h 388"/>
              <a:gd name="T4" fmla="*/ 544 w 544"/>
              <a:gd name="T5" fmla="*/ 224 h 388"/>
              <a:gd name="T6" fmla="*/ 418 w 544"/>
              <a:gd name="T7" fmla="*/ 388 h 388"/>
              <a:gd name="T8" fmla="*/ 418 w 544"/>
              <a:gd name="T9" fmla="*/ 240 h 388"/>
              <a:gd name="T10" fmla="*/ 291 w 544"/>
              <a:gd name="T11" fmla="*/ 240 h 388"/>
              <a:gd name="T12" fmla="*/ 291 w 544"/>
              <a:gd name="T13" fmla="*/ 0 h 388"/>
              <a:gd name="T14" fmla="*/ 291 w 544"/>
              <a:gd name="T15" fmla="*/ 0 h 388"/>
              <a:gd name="T16" fmla="*/ 0 w 544"/>
              <a:gd name="T17" fmla="*/ 0 h 388"/>
              <a:gd name="T18" fmla="*/ 252 w 544"/>
              <a:gd name="T19" fmla="*/ 0 h 388"/>
              <a:gd name="T20" fmla="*/ 252 w 544"/>
              <a:gd name="T21" fmla="*/ 224 h 388"/>
              <a:gd name="T22" fmla="*/ 126 w 544"/>
              <a:gd name="T23" fmla="*/ 388 h 388"/>
              <a:gd name="T24" fmla="*/ 126 w 544"/>
              <a:gd name="T25" fmla="*/ 240 h 388"/>
              <a:gd name="T26" fmla="*/ 0 w 544"/>
              <a:gd name="T27" fmla="*/ 240 h 388"/>
              <a:gd name="T28" fmla="*/ 0 w 544"/>
              <a:gd name="T29" fmla="*/ 0 h 388"/>
              <a:gd name="T30" fmla="*/ 0 w 544"/>
              <a:gd name="T31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44" h="388">
                <a:moveTo>
                  <a:pt x="291" y="0"/>
                </a:moveTo>
                <a:lnTo>
                  <a:pt x="544" y="0"/>
                </a:lnTo>
                <a:lnTo>
                  <a:pt x="544" y="224"/>
                </a:lnTo>
                <a:lnTo>
                  <a:pt x="418" y="388"/>
                </a:lnTo>
                <a:lnTo>
                  <a:pt x="418" y="240"/>
                </a:lnTo>
                <a:lnTo>
                  <a:pt x="291" y="240"/>
                </a:lnTo>
                <a:lnTo>
                  <a:pt x="291" y="0"/>
                </a:lnTo>
                <a:lnTo>
                  <a:pt x="291" y="0"/>
                </a:lnTo>
                <a:close/>
                <a:moveTo>
                  <a:pt x="0" y="0"/>
                </a:moveTo>
                <a:lnTo>
                  <a:pt x="252" y="0"/>
                </a:lnTo>
                <a:lnTo>
                  <a:pt x="252" y="224"/>
                </a:lnTo>
                <a:lnTo>
                  <a:pt x="126" y="388"/>
                </a:lnTo>
                <a:lnTo>
                  <a:pt x="126" y="240"/>
                </a:lnTo>
                <a:lnTo>
                  <a:pt x="0" y="24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2723"/>
          </a:solidFill>
          <a:ln w="3175" cap="sq">
            <a:solidFill>
              <a:schemeClr val="bg1"/>
            </a:solidFill>
            <a:bevel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endParaRPr lang="ru-RU" sz="1271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10" name="Checkmark" hidden="1">
            <a:extLst>
              <a:ext uri="{FF2B5EF4-FFF2-40B4-BE49-F238E27FC236}">
                <a16:creationId xmlns:a16="http://schemas.microsoft.com/office/drawing/2014/main" id="{70DDC772-B4F5-4D65-96F8-611389A23637}"/>
              </a:ext>
            </a:extLst>
          </p:cNvPr>
          <p:cNvSpPr>
            <a:spLocks/>
          </p:cNvSpPr>
          <p:nvPr userDrawn="1"/>
        </p:nvSpPr>
        <p:spPr bwMode="auto">
          <a:xfrm>
            <a:off x="2355654" y="1341107"/>
            <a:ext cx="285578" cy="172963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endParaRPr lang="ru-RU" sz="1271" dirty="0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511" name="QuotationMarksBlue" hidden="1">
            <a:extLst>
              <a:ext uri="{FF2B5EF4-FFF2-40B4-BE49-F238E27FC236}">
                <a16:creationId xmlns:a16="http://schemas.microsoft.com/office/drawing/2014/main" id="{6028CAD6-AB7E-41DC-9A9A-FD8DABD700F6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4111601"/>
            <a:ext cx="396229" cy="396228"/>
            <a:chOff x="5318049" y="5268554"/>
            <a:chExt cx="252000" cy="252000"/>
          </a:xfrm>
        </p:grpSpPr>
        <p:sp>
          <p:nvSpPr>
            <p:cNvPr id="512" name="Oval 43">
              <a:extLst>
                <a:ext uri="{FF2B5EF4-FFF2-40B4-BE49-F238E27FC236}">
                  <a16:creationId xmlns:a16="http://schemas.microsoft.com/office/drawing/2014/main" id="{8FA1D922-A6F2-4778-9BD4-D7C5F06BE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3" name="Freeform 115">
              <a:extLst>
                <a:ext uri="{FF2B5EF4-FFF2-40B4-BE49-F238E27FC236}">
                  <a16:creationId xmlns:a16="http://schemas.microsoft.com/office/drawing/2014/main" id="{B0F2CC7D-D190-43A9-A23F-ACCFCD1D81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3175" cap="sq">
              <a:solidFill>
                <a:schemeClr val="tx2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517" name="CheckmarkBlue" hidden="1">
            <a:extLst>
              <a:ext uri="{FF2B5EF4-FFF2-40B4-BE49-F238E27FC236}">
                <a16:creationId xmlns:a16="http://schemas.microsoft.com/office/drawing/2014/main" id="{BA51177C-B04C-4A43-958A-E2562B91C53B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2352134"/>
            <a:ext cx="396229" cy="396228"/>
            <a:chOff x="5612530" y="5130112"/>
            <a:chExt cx="252000" cy="252000"/>
          </a:xfrm>
        </p:grpSpPr>
        <p:sp>
          <p:nvSpPr>
            <p:cNvPr id="518" name="Oval 38">
              <a:extLst>
                <a:ext uri="{FF2B5EF4-FFF2-40B4-BE49-F238E27FC236}">
                  <a16:creationId xmlns:a16="http://schemas.microsoft.com/office/drawing/2014/main" id="{80D1268F-5008-4D04-8BF3-F734AC9EB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9" name="Freeform 39">
              <a:extLst>
                <a:ext uri="{FF2B5EF4-FFF2-40B4-BE49-F238E27FC236}">
                  <a16:creationId xmlns:a16="http://schemas.microsoft.com/office/drawing/2014/main" id="{D6A11F35-CCB1-4085-8FA8-7B001864B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681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</p:sldLayoutIdLst>
  <p:txStyles>
    <p:titleStyle>
      <a:lvl1pPr algn="l" defTabSz="645732" rtl="0" eaLnBrk="1" latinLnBrk="0" hangingPunct="1">
        <a:lnSpc>
          <a:spcPct val="100000"/>
        </a:lnSpc>
        <a:spcBef>
          <a:spcPct val="0"/>
        </a:spcBef>
        <a:buNone/>
        <a:defRPr lang="ru-RU" sz="1553" b="1" kern="1200" spc="0" baseline="0" dirty="0">
          <a:ln w="6350" cap="flat">
            <a:noFill/>
            <a:miter lim="800000"/>
          </a:ln>
          <a:solidFill>
            <a:schemeClr val="tx2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l" defTabSz="645732" rtl="0" eaLnBrk="1" latinLnBrk="0" hangingPunct="1">
        <a:lnSpc>
          <a:spcPct val="100000"/>
        </a:lnSpc>
        <a:spcBef>
          <a:spcPts val="212"/>
        </a:spcBef>
        <a:spcAft>
          <a:spcPts val="212"/>
        </a:spcAft>
        <a:buFont typeface="Segoe UI" panose="020B0502040204020203" pitchFamily="34" charset="0"/>
        <a:buChar char="​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162701" indent="-160159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312692" indent="-152533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422007" indent="-106773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577082" indent="-104231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1pPr>
      <a:lvl2pPr marL="322866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2pPr>
      <a:lvl3pPr marL="645732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3pPr>
      <a:lvl4pPr marL="968599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4pPr>
      <a:lvl5pPr marL="1291465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5pPr>
      <a:lvl6pPr marL="1614331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6pPr>
      <a:lvl7pPr marL="1937197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7pPr>
      <a:lvl8pPr marL="2260063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8pPr>
      <a:lvl9pPr marL="2582929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34">
          <p15:clr>
            <a:srgbClr val="5ACBF0"/>
          </p15:clr>
        </p15:guide>
        <p15:guide id="3" orient="horz" pos="5531">
          <p15:clr>
            <a:srgbClr val="5ACBF0"/>
          </p15:clr>
        </p15:guide>
        <p15:guide id="4" orient="horz" pos="1520">
          <p15:clr>
            <a:srgbClr val="F26B43"/>
          </p15:clr>
        </p15:guide>
        <p15:guide id="5" pos="8255">
          <p15:clr>
            <a:srgbClr val="F26B43"/>
          </p15:clr>
        </p15:guide>
        <p15:guide id="6" pos="389">
          <p15:clr>
            <a:srgbClr val="F26B43"/>
          </p15:clr>
        </p15:guide>
        <p15:guide id="8" orient="horz" pos="57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74.xml"/><Relationship Id="rId7" Type="http://schemas.openxmlformats.org/officeDocument/2006/relationships/image" Target="../media/image19.emf"/><Relationship Id="rId2" Type="http://schemas.openxmlformats.org/officeDocument/2006/relationships/tags" Target="../tags/tag473.xml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46.bin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7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482.xml"/><Relationship Id="rId13" Type="http://schemas.openxmlformats.org/officeDocument/2006/relationships/image" Target="../media/image21.svg"/><Relationship Id="rId3" Type="http://schemas.openxmlformats.org/officeDocument/2006/relationships/tags" Target="../tags/tag477.xml"/><Relationship Id="rId7" Type="http://schemas.openxmlformats.org/officeDocument/2006/relationships/tags" Target="../tags/tag481.xml"/><Relationship Id="rId12" Type="http://schemas.openxmlformats.org/officeDocument/2006/relationships/image" Target="../media/image20.png"/><Relationship Id="rId2" Type="http://schemas.openxmlformats.org/officeDocument/2006/relationships/tags" Target="../tags/tag476.xml"/><Relationship Id="rId1" Type="http://schemas.openxmlformats.org/officeDocument/2006/relationships/vmlDrawing" Target="../drawings/vmlDrawing47.vml"/><Relationship Id="rId6" Type="http://schemas.openxmlformats.org/officeDocument/2006/relationships/tags" Target="../tags/tag480.xml"/><Relationship Id="rId11" Type="http://schemas.openxmlformats.org/officeDocument/2006/relationships/image" Target="../media/image19.emf"/><Relationship Id="rId5" Type="http://schemas.openxmlformats.org/officeDocument/2006/relationships/tags" Target="../tags/tag479.xml"/><Relationship Id="rId10" Type="http://schemas.openxmlformats.org/officeDocument/2006/relationships/oleObject" Target="../embeddings/oleObject47.bin"/><Relationship Id="rId4" Type="http://schemas.openxmlformats.org/officeDocument/2006/relationships/tags" Target="../tags/tag478.xml"/><Relationship Id="rId9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tags" Target="../tags/tag484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483.xml"/><Relationship Id="rId1" Type="http://schemas.openxmlformats.org/officeDocument/2006/relationships/vmlDrawing" Target="../drawings/vmlDrawing48.vml"/><Relationship Id="rId6" Type="http://schemas.openxmlformats.org/officeDocument/2006/relationships/tags" Target="../tags/tag487.xml"/><Relationship Id="rId5" Type="http://schemas.openxmlformats.org/officeDocument/2006/relationships/tags" Target="../tags/tag486.xml"/><Relationship Id="rId4" Type="http://schemas.openxmlformats.org/officeDocument/2006/relationships/tags" Target="../tags/tag485.xml"/><Relationship Id="rId9" Type="http://schemas.openxmlformats.org/officeDocument/2006/relationships/image" Target="../media/image2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94.xml"/><Relationship Id="rId13" Type="http://schemas.openxmlformats.org/officeDocument/2006/relationships/tags" Target="../tags/tag499.xml"/><Relationship Id="rId18" Type="http://schemas.openxmlformats.org/officeDocument/2006/relationships/image" Target="../media/image19.emf"/><Relationship Id="rId3" Type="http://schemas.openxmlformats.org/officeDocument/2006/relationships/tags" Target="../tags/tag489.xml"/><Relationship Id="rId21" Type="http://schemas.openxmlformats.org/officeDocument/2006/relationships/image" Target="../media/image25.png"/><Relationship Id="rId7" Type="http://schemas.openxmlformats.org/officeDocument/2006/relationships/tags" Target="../tags/tag493.xml"/><Relationship Id="rId12" Type="http://schemas.openxmlformats.org/officeDocument/2006/relationships/tags" Target="../tags/tag498.xml"/><Relationship Id="rId17" Type="http://schemas.openxmlformats.org/officeDocument/2006/relationships/oleObject" Target="../embeddings/oleObject49.bin"/><Relationship Id="rId2" Type="http://schemas.openxmlformats.org/officeDocument/2006/relationships/tags" Target="../tags/tag488.xml"/><Relationship Id="rId16" Type="http://schemas.openxmlformats.org/officeDocument/2006/relationships/slideLayout" Target="../slideLayouts/slideLayout5.xml"/><Relationship Id="rId20" Type="http://schemas.openxmlformats.org/officeDocument/2006/relationships/image" Target="../media/image24.svg"/><Relationship Id="rId1" Type="http://schemas.openxmlformats.org/officeDocument/2006/relationships/vmlDrawing" Target="../drawings/vmlDrawing49.vml"/><Relationship Id="rId6" Type="http://schemas.openxmlformats.org/officeDocument/2006/relationships/tags" Target="../tags/tag492.xml"/><Relationship Id="rId11" Type="http://schemas.openxmlformats.org/officeDocument/2006/relationships/tags" Target="../tags/tag497.xml"/><Relationship Id="rId5" Type="http://schemas.openxmlformats.org/officeDocument/2006/relationships/tags" Target="../tags/tag491.xml"/><Relationship Id="rId15" Type="http://schemas.openxmlformats.org/officeDocument/2006/relationships/tags" Target="../tags/tag501.xml"/><Relationship Id="rId10" Type="http://schemas.openxmlformats.org/officeDocument/2006/relationships/tags" Target="../tags/tag496.xml"/><Relationship Id="rId19" Type="http://schemas.openxmlformats.org/officeDocument/2006/relationships/image" Target="../media/image23.png"/><Relationship Id="rId4" Type="http://schemas.openxmlformats.org/officeDocument/2006/relationships/tags" Target="../tags/tag490.xml"/><Relationship Id="rId9" Type="http://schemas.openxmlformats.org/officeDocument/2006/relationships/tags" Target="../tags/tag495.xml"/><Relationship Id="rId14" Type="http://schemas.openxmlformats.org/officeDocument/2006/relationships/tags" Target="../tags/tag500.xml"/><Relationship Id="rId22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08.xml"/><Relationship Id="rId13" Type="http://schemas.openxmlformats.org/officeDocument/2006/relationships/image" Target="../media/image19.emf"/><Relationship Id="rId3" Type="http://schemas.openxmlformats.org/officeDocument/2006/relationships/tags" Target="../tags/tag503.xml"/><Relationship Id="rId7" Type="http://schemas.openxmlformats.org/officeDocument/2006/relationships/tags" Target="../tags/tag507.xml"/><Relationship Id="rId12" Type="http://schemas.openxmlformats.org/officeDocument/2006/relationships/oleObject" Target="../embeddings/oleObject50.bin"/><Relationship Id="rId2" Type="http://schemas.openxmlformats.org/officeDocument/2006/relationships/tags" Target="../tags/tag502.xml"/><Relationship Id="rId1" Type="http://schemas.openxmlformats.org/officeDocument/2006/relationships/vmlDrawing" Target="../drawings/vmlDrawing50.vml"/><Relationship Id="rId6" Type="http://schemas.openxmlformats.org/officeDocument/2006/relationships/tags" Target="../tags/tag506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505.xml"/><Relationship Id="rId15" Type="http://schemas.openxmlformats.org/officeDocument/2006/relationships/image" Target="../media/image28.svg"/><Relationship Id="rId10" Type="http://schemas.openxmlformats.org/officeDocument/2006/relationships/tags" Target="../tags/tag510.xml"/><Relationship Id="rId4" Type="http://schemas.openxmlformats.org/officeDocument/2006/relationships/tags" Target="../tags/tag504.xml"/><Relationship Id="rId9" Type="http://schemas.openxmlformats.org/officeDocument/2006/relationships/tags" Target="../tags/tag509.xml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17.xml"/><Relationship Id="rId3" Type="http://schemas.openxmlformats.org/officeDocument/2006/relationships/tags" Target="../tags/tag512.xml"/><Relationship Id="rId7" Type="http://schemas.openxmlformats.org/officeDocument/2006/relationships/tags" Target="../tags/tag516.xml"/><Relationship Id="rId2" Type="http://schemas.openxmlformats.org/officeDocument/2006/relationships/tags" Target="../tags/tag511.xml"/><Relationship Id="rId1" Type="http://schemas.openxmlformats.org/officeDocument/2006/relationships/vmlDrawing" Target="../drawings/vmlDrawing51.vml"/><Relationship Id="rId6" Type="http://schemas.openxmlformats.org/officeDocument/2006/relationships/tags" Target="../tags/tag515.xml"/><Relationship Id="rId11" Type="http://schemas.openxmlformats.org/officeDocument/2006/relationships/image" Target="../media/image19.emf"/><Relationship Id="rId5" Type="http://schemas.openxmlformats.org/officeDocument/2006/relationships/tags" Target="../tags/tag514.xml"/><Relationship Id="rId10" Type="http://schemas.openxmlformats.org/officeDocument/2006/relationships/oleObject" Target="../embeddings/oleObject51.bin"/><Relationship Id="rId4" Type="http://schemas.openxmlformats.org/officeDocument/2006/relationships/tags" Target="../tags/tag513.xml"/><Relationship Id="rId9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24.xml"/><Relationship Id="rId13" Type="http://schemas.openxmlformats.org/officeDocument/2006/relationships/tags" Target="../tags/tag529.xml"/><Relationship Id="rId18" Type="http://schemas.openxmlformats.org/officeDocument/2006/relationships/tags" Target="../tags/tag534.xml"/><Relationship Id="rId26" Type="http://schemas.openxmlformats.org/officeDocument/2006/relationships/image" Target="../media/image25.png"/><Relationship Id="rId3" Type="http://schemas.openxmlformats.org/officeDocument/2006/relationships/tags" Target="../tags/tag519.xml"/><Relationship Id="rId21" Type="http://schemas.openxmlformats.org/officeDocument/2006/relationships/notesSlide" Target="../notesSlides/notesSlide1.xml"/><Relationship Id="rId7" Type="http://schemas.openxmlformats.org/officeDocument/2006/relationships/tags" Target="../tags/tag523.xml"/><Relationship Id="rId12" Type="http://schemas.openxmlformats.org/officeDocument/2006/relationships/tags" Target="../tags/tag528.xml"/><Relationship Id="rId17" Type="http://schemas.openxmlformats.org/officeDocument/2006/relationships/tags" Target="../tags/tag533.xml"/><Relationship Id="rId25" Type="http://schemas.openxmlformats.org/officeDocument/2006/relationships/image" Target="../media/image24.svg"/><Relationship Id="rId2" Type="http://schemas.openxmlformats.org/officeDocument/2006/relationships/tags" Target="../tags/tag518.xml"/><Relationship Id="rId16" Type="http://schemas.openxmlformats.org/officeDocument/2006/relationships/tags" Target="../tags/tag532.xml"/><Relationship Id="rId20" Type="http://schemas.openxmlformats.org/officeDocument/2006/relationships/slideLayout" Target="../slideLayouts/slideLayout5.xml"/><Relationship Id="rId1" Type="http://schemas.openxmlformats.org/officeDocument/2006/relationships/vmlDrawing" Target="../drawings/vmlDrawing52.vml"/><Relationship Id="rId6" Type="http://schemas.openxmlformats.org/officeDocument/2006/relationships/tags" Target="../tags/tag522.xml"/><Relationship Id="rId11" Type="http://schemas.openxmlformats.org/officeDocument/2006/relationships/tags" Target="../tags/tag527.xml"/><Relationship Id="rId24" Type="http://schemas.openxmlformats.org/officeDocument/2006/relationships/image" Target="../media/image23.png"/><Relationship Id="rId5" Type="http://schemas.openxmlformats.org/officeDocument/2006/relationships/tags" Target="../tags/tag521.xml"/><Relationship Id="rId15" Type="http://schemas.openxmlformats.org/officeDocument/2006/relationships/tags" Target="../tags/tag531.xml"/><Relationship Id="rId23" Type="http://schemas.openxmlformats.org/officeDocument/2006/relationships/image" Target="../media/image19.emf"/><Relationship Id="rId10" Type="http://schemas.openxmlformats.org/officeDocument/2006/relationships/tags" Target="../tags/tag526.xml"/><Relationship Id="rId19" Type="http://schemas.openxmlformats.org/officeDocument/2006/relationships/tags" Target="../tags/tag535.xml"/><Relationship Id="rId4" Type="http://schemas.openxmlformats.org/officeDocument/2006/relationships/tags" Target="../tags/tag520.xml"/><Relationship Id="rId9" Type="http://schemas.openxmlformats.org/officeDocument/2006/relationships/tags" Target="../tags/tag525.xml"/><Relationship Id="rId14" Type="http://schemas.openxmlformats.org/officeDocument/2006/relationships/tags" Target="../tags/tag530.xml"/><Relationship Id="rId22" Type="http://schemas.openxmlformats.org/officeDocument/2006/relationships/oleObject" Target="../embeddings/oleObject52.bin"/><Relationship Id="rId27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42.xml"/><Relationship Id="rId13" Type="http://schemas.openxmlformats.org/officeDocument/2006/relationships/image" Target="../media/image19.emf"/><Relationship Id="rId3" Type="http://schemas.openxmlformats.org/officeDocument/2006/relationships/tags" Target="../tags/tag537.xml"/><Relationship Id="rId7" Type="http://schemas.openxmlformats.org/officeDocument/2006/relationships/tags" Target="../tags/tag541.xml"/><Relationship Id="rId12" Type="http://schemas.openxmlformats.org/officeDocument/2006/relationships/oleObject" Target="../embeddings/oleObject53.bin"/><Relationship Id="rId2" Type="http://schemas.openxmlformats.org/officeDocument/2006/relationships/tags" Target="../tags/tag536.xml"/><Relationship Id="rId1" Type="http://schemas.openxmlformats.org/officeDocument/2006/relationships/vmlDrawing" Target="../drawings/vmlDrawing53.vml"/><Relationship Id="rId6" Type="http://schemas.openxmlformats.org/officeDocument/2006/relationships/tags" Target="../tags/tag540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539.xml"/><Relationship Id="rId15" Type="http://schemas.openxmlformats.org/officeDocument/2006/relationships/image" Target="../media/image28.svg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538.xml"/><Relationship Id="rId9" Type="http://schemas.openxmlformats.org/officeDocument/2006/relationships/tags" Target="../tags/tag543.xml"/><Relationship Id="rId1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50.xml"/><Relationship Id="rId3" Type="http://schemas.openxmlformats.org/officeDocument/2006/relationships/tags" Target="../tags/tag545.xml"/><Relationship Id="rId7" Type="http://schemas.openxmlformats.org/officeDocument/2006/relationships/tags" Target="../tags/tag549.xml"/><Relationship Id="rId12" Type="http://schemas.openxmlformats.org/officeDocument/2006/relationships/image" Target="../media/image19.emf"/><Relationship Id="rId2" Type="http://schemas.openxmlformats.org/officeDocument/2006/relationships/tags" Target="../tags/tag544.xml"/><Relationship Id="rId1" Type="http://schemas.openxmlformats.org/officeDocument/2006/relationships/vmlDrawing" Target="../drawings/vmlDrawing54.vml"/><Relationship Id="rId6" Type="http://schemas.openxmlformats.org/officeDocument/2006/relationships/tags" Target="../tags/tag548.xml"/><Relationship Id="rId11" Type="http://schemas.openxmlformats.org/officeDocument/2006/relationships/oleObject" Target="../embeddings/oleObject54.bin"/><Relationship Id="rId5" Type="http://schemas.openxmlformats.org/officeDocument/2006/relationships/tags" Target="../tags/tag547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546.xml"/><Relationship Id="rId9" Type="http://schemas.openxmlformats.org/officeDocument/2006/relationships/tags" Target="../tags/tag55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tags" Target="../tags/tag553.xml"/><Relationship Id="rId7" Type="http://schemas.openxmlformats.org/officeDocument/2006/relationships/image" Target="../media/image19.emf"/><Relationship Id="rId12" Type="http://schemas.openxmlformats.org/officeDocument/2006/relationships/image" Target="../media/image33.png"/><Relationship Id="rId2" Type="http://schemas.openxmlformats.org/officeDocument/2006/relationships/tags" Target="../tags/tag552.xml"/><Relationship Id="rId1" Type="http://schemas.openxmlformats.org/officeDocument/2006/relationships/vmlDrawing" Target="../drawings/vmlDrawing55.v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3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1.png"/><Relationship Id="rId4" Type="http://schemas.openxmlformats.org/officeDocument/2006/relationships/tags" Target="../tags/tag554.xml"/><Relationship Id="rId9" Type="http://schemas.openxmlformats.org/officeDocument/2006/relationships/image" Target="../media/image3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561.xml"/><Relationship Id="rId3" Type="http://schemas.openxmlformats.org/officeDocument/2006/relationships/tags" Target="../tags/tag556.xml"/><Relationship Id="rId7" Type="http://schemas.openxmlformats.org/officeDocument/2006/relationships/tags" Target="../tags/tag560.xml"/><Relationship Id="rId2" Type="http://schemas.openxmlformats.org/officeDocument/2006/relationships/tags" Target="../tags/tag555.xml"/><Relationship Id="rId1" Type="http://schemas.openxmlformats.org/officeDocument/2006/relationships/vmlDrawing" Target="../drawings/vmlDrawing56.vml"/><Relationship Id="rId6" Type="http://schemas.openxmlformats.org/officeDocument/2006/relationships/tags" Target="../tags/tag559.xml"/><Relationship Id="rId11" Type="http://schemas.openxmlformats.org/officeDocument/2006/relationships/image" Target="../media/image19.emf"/><Relationship Id="rId5" Type="http://schemas.openxmlformats.org/officeDocument/2006/relationships/tags" Target="../tags/tag558.xml"/><Relationship Id="rId10" Type="http://schemas.openxmlformats.org/officeDocument/2006/relationships/oleObject" Target="../embeddings/oleObject56.bin"/><Relationship Id="rId4" Type="http://schemas.openxmlformats.org/officeDocument/2006/relationships/tags" Target="../tags/tag557.xml"/><Relationship Id="rId9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tags" Target="../tags/tag563.xml"/><Relationship Id="rId7" Type="http://schemas.openxmlformats.org/officeDocument/2006/relationships/oleObject" Target="../embeddings/oleObject57.bin"/><Relationship Id="rId2" Type="http://schemas.openxmlformats.org/officeDocument/2006/relationships/tags" Target="../tags/tag562.xml"/><Relationship Id="rId1" Type="http://schemas.openxmlformats.org/officeDocument/2006/relationships/vmlDrawing" Target="../drawings/vmlDrawing57.v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565.xml"/><Relationship Id="rId10" Type="http://schemas.openxmlformats.org/officeDocument/2006/relationships/slide" Target="slide16.xml"/><Relationship Id="rId4" Type="http://schemas.openxmlformats.org/officeDocument/2006/relationships/tags" Target="../tags/tag564.xml"/><Relationship Id="rId9" Type="http://schemas.openxmlformats.org/officeDocument/2006/relationships/slide" Target="slide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567.xml"/><Relationship Id="rId7" Type="http://schemas.openxmlformats.org/officeDocument/2006/relationships/image" Target="../media/image35.emf"/><Relationship Id="rId2" Type="http://schemas.openxmlformats.org/officeDocument/2006/relationships/tags" Target="../tags/tag566.xml"/><Relationship Id="rId1" Type="http://schemas.openxmlformats.org/officeDocument/2006/relationships/vmlDrawing" Target="../drawings/vmlDrawing58.vml"/><Relationship Id="rId6" Type="http://schemas.openxmlformats.org/officeDocument/2006/relationships/oleObject" Target="../embeddings/oleObject58.bin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56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tags" Target="../tags/tag570.xml"/><Relationship Id="rId7" Type="http://schemas.openxmlformats.org/officeDocument/2006/relationships/oleObject" Target="../embeddings/oleObject59.bin"/><Relationship Id="rId2" Type="http://schemas.openxmlformats.org/officeDocument/2006/relationships/tags" Target="../tags/tag569.xml"/><Relationship Id="rId1" Type="http://schemas.openxmlformats.org/officeDocument/2006/relationships/vmlDrawing" Target="../drawings/vmlDrawing59.v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572.xml"/><Relationship Id="rId10" Type="http://schemas.openxmlformats.org/officeDocument/2006/relationships/slide" Target="slide16.xml"/><Relationship Id="rId4" Type="http://schemas.openxmlformats.org/officeDocument/2006/relationships/tags" Target="../tags/tag571.xml"/><Relationship Id="rId9" Type="http://schemas.openxmlformats.org/officeDocument/2006/relationships/slide" Target="slide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13" Type="http://schemas.openxmlformats.org/officeDocument/2006/relationships/image" Target="../media/image38.png"/><Relationship Id="rId3" Type="http://schemas.openxmlformats.org/officeDocument/2006/relationships/tags" Target="../tags/tag574.xml"/><Relationship Id="rId7" Type="http://schemas.openxmlformats.org/officeDocument/2006/relationships/tags" Target="../tags/tag578.xml"/><Relationship Id="rId12" Type="http://schemas.openxmlformats.org/officeDocument/2006/relationships/image" Target="../media/image37.svg"/><Relationship Id="rId2" Type="http://schemas.openxmlformats.org/officeDocument/2006/relationships/tags" Target="../tags/tag573.xml"/><Relationship Id="rId16" Type="http://schemas.openxmlformats.org/officeDocument/2006/relationships/image" Target="../media/image41.svg"/><Relationship Id="rId1" Type="http://schemas.openxmlformats.org/officeDocument/2006/relationships/vmlDrawing" Target="../drawings/vmlDrawing60.vml"/><Relationship Id="rId6" Type="http://schemas.openxmlformats.org/officeDocument/2006/relationships/tags" Target="../tags/tag577.xml"/><Relationship Id="rId11" Type="http://schemas.openxmlformats.org/officeDocument/2006/relationships/image" Target="../media/image36.png"/><Relationship Id="rId5" Type="http://schemas.openxmlformats.org/officeDocument/2006/relationships/tags" Target="../tags/tag576.xml"/><Relationship Id="rId15" Type="http://schemas.openxmlformats.org/officeDocument/2006/relationships/image" Target="../media/image40.png"/><Relationship Id="rId10" Type="http://schemas.openxmlformats.org/officeDocument/2006/relationships/image" Target="../media/image19.emf"/><Relationship Id="rId4" Type="http://schemas.openxmlformats.org/officeDocument/2006/relationships/tags" Target="../tags/tag575.xml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39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tags" Target="../tags/tag580.xml"/><Relationship Id="rId7" Type="http://schemas.openxmlformats.org/officeDocument/2006/relationships/oleObject" Target="../embeddings/oleObject61.bin"/><Relationship Id="rId2" Type="http://schemas.openxmlformats.org/officeDocument/2006/relationships/tags" Target="../tags/tag579.xml"/><Relationship Id="rId1" Type="http://schemas.openxmlformats.org/officeDocument/2006/relationships/vmlDrawing" Target="../drawings/vmlDrawing61.v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582.xml"/><Relationship Id="rId10" Type="http://schemas.openxmlformats.org/officeDocument/2006/relationships/slide" Target="slide14.xml"/><Relationship Id="rId4" Type="http://schemas.openxmlformats.org/officeDocument/2006/relationships/tags" Target="../tags/tag581.xml"/><Relationship Id="rId9" Type="http://schemas.openxmlformats.org/officeDocument/2006/relationships/slide" Target="slide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tags" Target="../tags/tag584.xml"/><Relationship Id="rId7" Type="http://schemas.openxmlformats.org/officeDocument/2006/relationships/oleObject" Target="../embeddings/oleObject62.bin"/><Relationship Id="rId2" Type="http://schemas.openxmlformats.org/officeDocument/2006/relationships/tags" Target="../tags/tag583.xml"/><Relationship Id="rId1" Type="http://schemas.openxmlformats.org/officeDocument/2006/relationships/vmlDrawing" Target="../drawings/vmlDrawing62.v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586.xml"/><Relationship Id="rId4" Type="http://schemas.openxmlformats.org/officeDocument/2006/relationships/tags" Target="../tags/tag585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598.xml"/><Relationship Id="rId18" Type="http://schemas.openxmlformats.org/officeDocument/2006/relationships/tags" Target="../tags/tag603.xml"/><Relationship Id="rId26" Type="http://schemas.openxmlformats.org/officeDocument/2006/relationships/tags" Target="../tags/tag611.xml"/><Relationship Id="rId39" Type="http://schemas.openxmlformats.org/officeDocument/2006/relationships/oleObject" Target="../embeddings/oleObject63.bin"/><Relationship Id="rId21" Type="http://schemas.openxmlformats.org/officeDocument/2006/relationships/tags" Target="../tags/tag606.xml"/><Relationship Id="rId34" Type="http://schemas.openxmlformats.org/officeDocument/2006/relationships/tags" Target="../tags/tag619.xml"/><Relationship Id="rId7" Type="http://schemas.openxmlformats.org/officeDocument/2006/relationships/tags" Target="../tags/tag592.xml"/><Relationship Id="rId2" Type="http://schemas.openxmlformats.org/officeDocument/2006/relationships/tags" Target="../tags/tag587.xml"/><Relationship Id="rId16" Type="http://schemas.openxmlformats.org/officeDocument/2006/relationships/tags" Target="../tags/tag601.xml"/><Relationship Id="rId20" Type="http://schemas.openxmlformats.org/officeDocument/2006/relationships/tags" Target="../tags/tag605.xml"/><Relationship Id="rId29" Type="http://schemas.openxmlformats.org/officeDocument/2006/relationships/tags" Target="../tags/tag614.xml"/><Relationship Id="rId41" Type="http://schemas.openxmlformats.org/officeDocument/2006/relationships/chart" Target="../charts/chart1.xml"/><Relationship Id="rId1" Type="http://schemas.openxmlformats.org/officeDocument/2006/relationships/vmlDrawing" Target="../drawings/vmlDrawing63.vml"/><Relationship Id="rId6" Type="http://schemas.openxmlformats.org/officeDocument/2006/relationships/tags" Target="../tags/tag591.xml"/><Relationship Id="rId11" Type="http://schemas.openxmlformats.org/officeDocument/2006/relationships/tags" Target="../tags/tag596.xml"/><Relationship Id="rId24" Type="http://schemas.openxmlformats.org/officeDocument/2006/relationships/tags" Target="../tags/tag609.xml"/><Relationship Id="rId32" Type="http://schemas.openxmlformats.org/officeDocument/2006/relationships/tags" Target="../tags/tag617.xml"/><Relationship Id="rId37" Type="http://schemas.openxmlformats.org/officeDocument/2006/relationships/tags" Target="../tags/tag622.xml"/><Relationship Id="rId40" Type="http://schemas.openxmlformats.org/officeDocument/2006/relationships/image" Target="../media/image19.emf"/><Relationship Id="rId5" Type="http://schemas.openxmlformats.org/officeDocument/2006/relationships/tags" Target="../tags/tag590.xml"/><Relationship Id="rId15" Type="http://schemas.openxmlformats.org/officeDocument/2006/relationships/tags" Target="../tags/tag600.xml"/><Relationship Id="rId23" Type="http://schemas.openxmlformats.org/officeDocument/2006/relationships/tags" Target="../tags/tag608.xml"/><Relationship Id="rId28" Type="http://schemas.openxmlformats.org/officeDocument/2006/relationships/tags" Target="../tags/tag613.xml"/><Relationship Id="rId36" Type="http://schemas.openxmlformats.org/officeDocument/2006/relationships/tags" Target="../tags/tag621.xml"/><Relationship Id="rId10" Type="http://schemas.openxmlformats.org/officeDocument/2006/relationships/tags" Target="../tags/tag595.xml"/><Relationship Id="rId19" Type="http://schemas.openxmlformats.org/officeDocument/2006/relationships/tags" Target="../tags/tag604.xml"/><Relationship Id="rId31" Type="http://schemas.openxmlformats.org/officeDocument/2006/relationships/tags" Target="../tags/tag616.xml"/><Relationship Id="rId4" Type="http://schemas.openxmlformats.org/officeDocument/2006/relationships/tags" Target="../tags/tag589.xml"/><Relationship Id="rId9" Type="http://schemas.openxmlformats.org/officeDocument/2006/relationships/tags" Target="../tags/tag594.xml"/><Relationship Id="rId14" Type="http://schemas.openxmlformats.org/officeDocument/2006/relationships/tags" Target="../tags/tag599.xml"/><Relationship Id="rId22" Type="http://schemas.openxmlformats.org/officeDocument/2006/relationships/tags" Target="../tags/tag607.xml"/><Relationship Id="rId27" Type="http://schemas.openxmlformats.org/officeDocument/2006/relationships/tags" Target="../tags/tag612.xml"/><Relationship Id="rId30" Type="http://schemas.openxmlformats.org/officeDocument/2006/relationships/tags" Target="../tags/tag615.xml"/><Relationship Id="rId35" Type="http://schemas.openxmlformats.org/officeDocument/2006/relationships/tags" Target="../tags/tag620.xml"/><Relationship Id="rId8" Type="http://schemas.openxmlformats.org/officeDocument/2006/relationships/tags" Target="../tags/tag593.xml"/><Relationship Id="rId3" Type="http://schemas.openxmlformats.org/officeDocument/2006/relationships/tags" Target="../tags/tag588.xml"/><Relationship Id="rId12" Type="http://schemas.openxmlformats.org/officeDocument/2006/relationships/tags" Target="../tags/tag597.xml"/><Relationship Id="rId17" Type="http://schemas.openxmlformats.org/officeDocument/2006/relationships/tags" Target="../tags/tag602.xml"/><Relationship Id="rId25" Type="http://schemas.openxmlformats.org/officeDocument/2006/relationships/tags" Target="../tags/tag610.xml"/><Relationship Id="rId33" Type="http://schemas.openxmlformats.org/officeDocument/2006/relationships/tags" Target="../tags/tag618.xml"/><Relationship Id="rId38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tags" Target="../tags/tag647.xml"/><Relationship Id="rId21" Type="http://schemas.openxmlformats.org/officeDocument/2006/relationships/tags" Target="../tags/tag642.xml"/><Relationship Id="rId42" Type="http://schemas.openxmlformats.org/officeDocument/2006/relationships/tags" Target="../tags/tag663.xml"/><Relationship Id="rId47" Type="http://schemas.openxmlformats.org/officeDocument/2006/relationships/tags" Target="../tags/tag668.xml"/><Relationship Id="rId63" Type="http://schemas.openxmlformats.org/officeDocument/2006/relationships/tags" Target="../tags/tag684.xml"/><Relationship Id="rId68" Type="http://schemas.openxmlformats.org/officeDocument/2006/relationships/tags" Target="../tags/tag689.xml"/><Relationship Id="rId84" Type="http://schemas.openxmlformats.org/officeDocument/2006/relationships/tags" Target="../tags/tag705.xml"/><Relationship Id="rId89" Type="http://schemas.openxmlformats.org/officeDocument/2006/relationships/tags" Target="../tags/tag710.xml"/><Relationship Id="rId16" Type="http://schemas.openxmlformats.org/officeDocument/2006/relationships/tags" Target="../tags/tag637.xml"/><Relationship Id="rId11" Type="http://schemas.openxmlformats.org/officeDocument/2006/relationships/tags" Target="../tags/tag632.xml"/><Relationship Id="rId32" Type="http://schemas.openxmlformats.org/officeDocument/2006/relationships/tags" Target="../tags/tag653.xml"/><Relationship Id="rId37" Type="http://schemas.openxmlformats.org/officeDocument/2006/relationships/tags" Target="../tags/tag658.xml"/><Relationship Id="rId53" Type="http://schemas.openxmlformats.org/officeDocument/2006/relationships/tags" Target="../tags/tag674.xml"/><Relationship Id="rId58" Type="http://schemas.openxmlformats.org/officeDocument/2006/relationships/tags" Target="../tags/tag679.xml"/><Relationship Id="rId74" Type="http://schemas.openxmlformats.org/officeDocument/2006/relationships/tags" Target="../tags/tag695.xml"/><Relationship Id="rId79" Type="http://schemas.openxmlformats.org/officeDocument/2006/relationships/tags" Target="../tags/tag700.xml"/><Relationship Id="rId102" Type="http://schemas.openxmlformats.org/officeDocument/2006/relationships/chart" Target="../charts/chart3.xml"/><Relationship Id="rId5" Type="http://schemas.openxmlformats.org/officeDocument/2006/relationships/tags" Target="../tags/tag626.xml"/><Relationship Id="rId90" Type="http://schemas.openxmlformats.org/officeDocument/2006/relationships/tags" Target="../tags/tag711.xml"/><Relationship Id="rId95" Type="http://schemas.openxmlformats.org/officeDocument/2006/relationships/tags" Target="../tags/tag716.xml"/><Relationship Id="rId22" Type="http://schemas.openxmlformats.org/officeDocument/2006/relationships/tags" Target="../tags/tag643.xml"/><Relationship Id="rId27" Type="http://schemas.openxmlformats.org/officeDocument/2006/relationships/tags" Target="../tags/tag648.xml"/><Relationship Id="rId43" Type="http://schemas.openxmlformats.org/officeDocument/2006/relationships/tags" Target="../tags/tag664.xml"/><Relationship Id="rId48" Type="http://schemas.openxmlformats.org/officeDocument/2006/relationships/tags" Target="../tags/tag669.xml"/><Relationship Id="rId64" Type="http://schemas.openxmlformats.org/officeDocument/2006/relationships/tags" Target="../tags/tag685.xml"/><Relationship Id="rId69" Type="http://schemas.openxmlformats.org/officeDocument/2006/relationships/tags" Target="../tags/tag690.xml"/><Relationship Id="rId80" Type="http://schemas.openxmlformats.org/officeDocument/2006/relationships/tags" Target="../tags/tag701.xml"/><Relationship Id="rId85" Type="http://schemas.openxmlformats.org/officeDocument/2006/relationships/tags" Target="../tags/tag706.xml"/><Relationship Id="rId12" Type="http://schemas.openxmlformats.org/officeDocument/2006/relationships/tags" Target="../tags/tag633.xml"/><Relationship Id="rId17" Type="http://schemas.openxmlformats.org/officeDocument/2006/relationships/tags" Target="../tags/tag638.xml"/><Relationship Id="rId25" Type="http://schemas.openxmlformats.org/officeDocument/2006/relationships/tags" Target="../tags/tag646.xml"/><Relationship Id="rId33" Type="http://schemas.openxmlformats.org/officeDocument/2006/relationships/tags" Target="../tags/tag654.xml"/><Relationship Id="rId38" Type="http://schemas.openxmlformats.org/officeDocument/2006/relationships/tags" Target="../tags/tag659.xml"/><Relationship Id="rId46" Type="http://schemas.openxmlformats.org/officeDocument/2006/relationships/tags" Target="../tags/tag667.xml"/><Relationship Id="rId59" Type="http://schemas.openxmlformats.org/officeDocument/2006/relationships/tags" Target="../tags/tag680.xml"/><Relationship Id="rId67" Type="http://schemas.openxmlformats.org/officeDocument/2006/relationships/tags" Target="../tags/tag688.xml"/><Relationship Id="rId20" Type="http://schemas.openxmlformats.org/officeDocument/2006/relationships/tags" Target="../tags/tag641.xml"/><Relationship Id="rId41" Type="http://schemas.openxmlformats.org/officeDocument/2006/relationships/tags" Target="../tags/tag662.xml"/><Relationship Id="rId54" Type="http://schemas.openxmlformats.org/officeDocument/2006/relationships/tags" Target="../tags/tag675.xml"/><Relationship Id="rId62" Type="http://schemas.openxmlformats.org/officeDocument/2006/relationships/tags" Target="../tags/tag683.xml"/><Relationship Id="rId70" Type="http://schemas.openxmlformats.org/officeDocument/2006/relationships/tags" Target="../tags/tag691.xml"/><Relationship Id="rId75" Type="http://schemas.openxmlformats.org/officeDocument/2006/relationships/tags" Target="../tags/tag696.xml"/><Relationship Id="rId83" Type="http://schemas.openxmlformats.org/officeDocument/2006/relationships/tags" Target="../tags/tag704.xml"/><Relationship Id="rId88" Type="http://schemas.openxmlformats.org/officeDocument/2006/relationships/tags" Target="../tags/tag709.xml"/><Relationship Id="rId91" Type="http://schemas.openxmlformats.org/officeDocument/2006/relationships/tags" Target="../tags/tag712.xml"/><Relationship Id="rId96" Type="http://schemas.openxmlformats.org/officeDocument/2006/relationships/tags" Target="../tags/tag717.xml"/><Relationship Id="rId1" Type="http://schemas.openxmlformats.org/officeDocument/2006/relationships/vmlDrawing" Target="../drawings/vmlDrawing64.vml"/><Relationship Id="rId6" Type="http://schemas.openxmlformats.org/officeDocument/2006/relationships/tags" Target="../tags/tag627.xml"/><Relationship Id="rId15" Type="http://schemas.openxmlformats.org/officeDocument/2006/relationships/tags" Target="../tags/tag636.xml"/><Relationship Id="rId23" Type="http://schemas.openxmlformats.org/officeDocument/2006/relationships/tags" Target="../tags/tag644.xml"/><Relationship Id="rId28" Type="http://schemas.openxmlformats.org/officeDocument/2006/relationships/tags" Target="../tags/tag649.xml"/><Relationship Id="rId36" Type="http://schemas.openxmlformats.org/officeDocument/2006/relationships/tags" Target="../tags/tag657.xml"/><Relationship Id="rId49" Type="http://schemas.openxmlformats.org/officeDocument/2006/relationships/tags" Target="../tags/tag670.xml"/><Relationship Id="rId57" Type="http://schemas.openxmlformats.org/officeDocument/2006/relationships/tags" Target="../tags/tag678.xml"/><Relationship Id="rId10" Type="http://schemas.openxmlformats.org/officeDocument/2006/relationships/tags" Target="../tags/tag631.xml"/><Relationship Id="rId31" Type="http://schemas.openxmlformats.org/officeDocument/2006/relationships/tags" Target="../tags/tag652.xml"/><Relationship Id="rId44" Type="http://schemas.openxmlformats.org/officeDocument/2006/relationships/tags" Target="../tags/tag665.xml"/><Relationship Id="rId52" Type="http://schemas.openxmlformats.org/officeDocument/2006/relationships/tags" Target="../tags/tag673.xml"/><Relationship Id="rId60" Type="http://schemas.openxmlformats.org/officeDocument/2006/relationships/tags" Target="../tags/tag681.xml"/><Relationship Id="rId65" Type="http://schemas.openxmlformats.org/officeDocument/2006/relationships/tags" Target="../tags/tag686.xml"/><Relationship Id="rId73" Type="http://schemas.openxmlformats.org/officeDocument/2006/relationships/tags" Target="../tags/tag694.xml"/><Relationship Id="rId78" Type="http://schemas.openxmlformats.org/officeDocument/2006/relationships/tags" Target="../tags/tag699.xml"/><Relationship Id="rId81" Type="http://schemas.openxmlformats.org/officeDocument/2006/relationships/tags" Target="../tags/tag702.xml"/><Relationship Id="rId86" Type="http://schemas.openxmlformats.org/officeDocument/2006/relationships/tags" Target="../tags/tag707.xml"/><Relationship Id="rId94" Type="http://schemas.openxmlformats.org/officeDocument/2006/relationships/tags" Target="../tags/tag715.xml"/><Relationship Id="rId99" Type="http://schemas.openxmlformats.org/officeDocument/2006/relationships/oleObject" Target="../embeddings/oleObject64.bin"/><Relationship Id="rId101" Type="http://schemas.openxmlformats.org/officeDocument/2006/relationships/chart" Target="../charts/chart2.xml"/><Relationship Id="rId4" Type="http://schemas.openxmlformats.org/officeDocument/2006/relationships/tags" Target="../tags/tag625.xml"/><Relationship Id="rId9" Type="http://schemas.openxmlformats.org/officeDocument/2006/relationships/tags" Target="../tags/tag630.xml"/><Relationship Id="rId13" Type="http://schemas.openxmlformats.org/officeDocument/2006/relationships/tags" Target="../tags/tag634.xml"/><Relationship Id="rId18" Type="http://schemas.openxmlformats.org/officeDocument/2006/relationships/tags" Target="../tags/tag639.xml"/><Relationship Id="rId39" Type="http://schemas.openxmlformats.org/officeDocument/2006/relationships/tags" Target="../tags/tag660.xml"/><Relationship Id="rId34" Type="http://schemas.openxmlformats.org/officeDocument/2006/relationships/tags" Target="../tags/tag655.xml"/><Relationship Id="rId50" Type="http://schemas.openxmlformats.org/officeDocument/2006/relationships/tags" Target="../tags/tag671.xml"/><Relationship Id="rId55" Type="http://schemas.openxmlformats.org/officeDocument/2006/relationships/tags" Target="../tags/tag676.xml"/><Relationship Id="rId76" Type="http://schemas.openxmlformats.org/officeDocument/2006/relationships/tags" Target="../tags/tag697.xml"/><Relationship Id="rId97" Type="http://schemas.openxmlformats.org/officeDocument/2006/relationships/tags" Target="../tags/tag718.xml"/><Relationship Id="rId7" Type="http://schemas.openxmlformats.org/officeDocument/2006/relationships/tags" Target="../tags/tag628.xml"/><Relationship Id="rId71" Type="http://schemas.openxmlformats.org/officeDocument/2006/relationships/tags" Target="../tags/tag692.xml"/><Relationship Id="rId92" Type="http://schemas.openxmlformats.org/officeDocument/2006/relationships/tags" Target="../tags/tag713.xml"/><Relationship Id="rId2" Type="http://schemas.openxmlformats.org/officeDocument/2006/relationships/tags" Target="../tags/tag623.xml"/><Relationship Id="rId29" Type="http://schemas.openxmlformats.org/officeDocument/2006/relationships/tags" Target="../tags/tag650.xml"/><Relationship Id="rId24" Type="http://schemas.openxmlformats.org/officeDocument/2006/relationships/tags" Target="../tags/tag645.xml"/><Relationship Id="rId40" Type="http://schemas.openxmlformats.org/officeDocument/2006/relationships/tags" Target="../tags/tag661.xml"/><Relationship Id="rId45" Type="http://schemas.openxmlformats.org/officeDocument/2006/relationships/tags" Target="../tags/tag666.xml"/><Relationship Id="rId66" Type="http://schemas.openxmlformats.org/officeDocument/2006/relationships/tags" Target="../tags/tag687.xml"/><Relationship Id="rId87" Type="http://schemas.openxmlformats.org/officeDocument/2006/relationships/tags" Target="../tags/tag708.xml"/><Relationship Id="rId61" Type="http://schemas.openxmlformats.org/officeDocument/2006/relationships/tags" Target="../tags/tag682.xml"/><Relationship Id="rId82" Type="http://schemas.openxmlformats.org/officeDocument/2006/relationships/tags" Target="../tags/tag703.xml"/><Relationship Id="rId19" Type="http://schemas.openxmlformats.org/officeDocument/2006/relationships/tags" Target="../tags/tag640.xml"/><Relationship Id="rId14" Type="http://schemas.openxmlformats.org/officeDocument/2006/relationships/tags" Target="../tags/tag635.xml"/><Relationship Id="rId30" Type="http://schemas.openxmlformats.org/officeDocument/2006/relationships/tags" Target="../tags/tag651.xml"/><Relationship Id="rId35" Type="http://schemas.openxmlformats.org/officeDocument/2006/relationships/tags" Target="../tags/tag656.xml"/><Relationship Id="rId56" Type="http://schemas.openxmlformats.org/officeDocument/2006/relationships/tags" Target="../tags/tag677.xml"/><Relationship Id="rId77" Type="http://schemas.openxmlformats.org/officeDocument/2006/relationships/tags" Target="../tags/tag698.xml"/><Relationship Id="rId100" Type="http://schemas.openxmlformats.org/officeDocument/2006/relationships/image" Target="../media/image19.emf"/><Relationship Id="rId8" Type="http://schemas.openxmlformats.org/officeDocument/2006/relationships/tags" Target="../tags/tag629.xml"/><Relationship Id="rId51" Type="http://schemas.openxmlformats.org/officeDocument/2006/relationships/tags" Target="../tags/tag672.xml"/><Relationship Id="rId72" Type="http://schemas.openxmlformats.org/officeDocument/2006/relationships/tags" Target="../tags/tag693.xml"/><Relationship Id="rId93" Type="http://schemas.openxmlformats.org/officeDocument/2006/relationships/tags" Target="../tags/tag714.xml"/><Relationship Id="rId98" Type="http://schemas.openxmlformats.org/officeDocument/2006/relationships/slideLayout" Target="../slideLayouts/slideLayout5.xml"/><Relationship Id="rId3" Type="http://schemas.openxmlformats.org/officeDocument/2006/relationships/tags" Target="../tags/tag6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305EEF1-06BE-4EA1-9AA6-36BFF9EC9DA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89362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07"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cumenttype">
            <a:extLst>
              <a:ext uri="{FF2B5EF4-FFF2-40B4-BE49-F238E27FC236}">
                <a16:creationId xmlns:a16="http://schemas.microsoft.com/office/drawing/2014/main" id="{08C9E88C-5ECE-46B7-849B-435F74532091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ru-RU" dirty="0"/>
              <a:t>Декабрь 2021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B45A560-ED1B-4B1F-A3BE-6E5B18693FE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48828" y="2682501"/>
            <a:ext cx="6493321" cy="1754326"/>
          </a:xfrm>
        </p:spPr>
        <p:txBody>
          <a:bodyPr vert="horz"/>
          <a:lstStyle/>
          <a:p>
            <a:r>
              <a:rPr lang="ru-RU" dirty="0"/>
              <a:t>Концепция Единого центра информирования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81323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Прямоугольник 81">
            <a:extLst>
              <a:ext uri="{FF2B5EF4-FFF2-40B4-BE49-F238E27FC236}">
                <a16:creationId xmlns:a16="http://schemas.microsoft.com/office/drawing/2014/main" id="{315F303C-0A7C-402A-A34E-EC7D16B5FA97}"/>
              </a:ext>
            </a:extLst>
          </p:cNvPr>
          <p:cNvSpPr>
            <a:spLocks/>
          </p:cNvSpPr>
          <p:nvPr/>
        </p:nvSpPr>
        <p:spPr>
          <a:xfrm>
            <a:off x="0" y="1261296"/>
            <a:ext cx="12192001" cy="810036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989" tIns="53494" rIns="106989" bIns="5349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u-RU" sz="800" b="1" dirty="0">
              <a:solidFill>
                <a:schemeClr val="accent3"/>
              </a:solidFill>
            </a:endParaRPr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E80F4C0E-7BC7-4F54-912E-BAF08292F2B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31" name="think-cell Slide" r:id="rId10" imgW="395" imgH="396" progId="TCLayout.ActiveDocument.1">
                  <p:embed/>
                </p:oleObj>
              </mc:Choice>
              <mc:Fallback>
                <p:oleObj name="think-cell Slide" r:id="rId10" imgW="395" imgH="39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E80F4C0E-7BC7-4F54-912E-BAF08292F2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2. Slide Title">
            <a:extLst>
              <a:ext uri="{FF2B5EF4-FFF2-40B4-BE49-F238E27FC236}">
                <a16:creationId xmlns:a16="http://schemas.microsoft.com/office/drawing/2014/main" id="{AF4313D8-1BAC-4D01-A650-6CC9EE391AD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4" y="189153"/>
            <a:ext cx="11082528" cy="1015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Отсутствие информации и эффективного взаимодействия между </a:t>
            </a:r>
            <a:r>
              <a:rPr lang="ru-RU" dirty="0" err="1"/>
              <a:t>ОИВами</a:t>
            </a:r>
            <a:r>
              <a:rPr lang="ru-RU" dirty="0"/>
              <a:t> приводят к негативному клиентскому опыту при обращениях жителей по вопросам ЖКУ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B1EF9920-4D95-458D-85C1-D81125F74EAA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2" name="4. Footnote">
            <a:extLst>
              <a:ext uri="{FF2B5EF4-FFF2-40B4-BE49-F238E27FC236}">
                <a16:creationId xmlns:a16="http://schemas.microsoft.com/office/drawing/2014/main" id="{3C73034E-CFAF-43FC-AD9A-C9A991E86F21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54736" y="6207683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a typeface="+mn-ea"/>
                <a:cs typeface="+mn-cs"/>
                <a:sym typeface="+mn-lt"/>
              </a:rPr>
              <a:t>1.	~900 тыс. из 4-5 млн в год - анализ на основе периода сентябрь 2020 - сентябрь 2021, из общего количества обращений исключены регистрируемые завяки (контакт центр, портал mos.ru, мобильное приложение "Электронный дом"), телефонные консультации по заявкам, а также нецелевые обращения жителей (напр. вопросы по объектам здравоохранения)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F501DC7-D8DB-4A32-977D-3A512D695C86}"/>
              </a:ext>
            </a:extLst>
          </p:cNvPr>
          <p:cNvSpPr>
            <a:spLocks/>
          </p:cNvSpPr>
          <p:nvPr/>
        </p:nvSpPr>
        <p:spPr>
          <a:xfrm>
            <a:off x="4368799" y="1482361"/>
            <a:ext cx="7546975" cy="4606884"/>
          </a:xfrm>
          <a:prstGeom prst="roundRect">
            <a:avLst>
              <a:gd name="adj" fmla="val 3625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36000" rtlCol="0" anchor="b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400" dirty="0">
              <a:solidFill>
                <a:schemeClr val="accent1">
                  <a:lumMod val="75000"/>
                </a:schemeClr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2C7D27-0D63-4D27-AA9E-97E7512B396C}"/>
              </a:ext>
            </a:extLst>
          </p:cNvPr>
          <p:cNvSpPr txBox="1"/>
          <p:nvPr/>
        </p:nvSpPr>
        <p:spPr>
          <a:xfrm>
            <a:off x="554734" y="1250816"/>
            <a:ext cx="3388616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</a:pPr>
            <a:r>
              <a:rPr lang="en-US" sz="5400" b="1" dirty="0">
                <a:solidFill>
                  <a:schemeClr val="bg2"/>
                </a:solidFill>
              </a:rPr>
              <a:t>20%</a:t>
            </a:r>
            <a:endParaRPr lang="en-US" b="1" dirty="0">
              <a:solidFill>
                <a:schemeClr val="bg2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7BB493-B71C-49AF-B654-FE06D18E6E74}"/>
              </a:ext>
            </a:extLst>
          </p:cNvPr>
          <p:cNvSpPr txBox="1">
            <a:spLocks/>
          </p:cNvSpPr>
          <p:nvPr/>
        </p:nvSpPr>
        <p:spPr>
          <a:xfrm>
            <a:off x="4579421" y="1695785"/>
            <a:ext cx="2758082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b="1" dirty="0">
                <a:solidFill>
                  <a:schemeClr val="tx2"/>
                </a:solidFill>
              </a:rPr>
              <a:t>Ключевая проблематика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01A21E-011A-4211-A2D7-3D29CFAF3E09}"/>
              </a:ext>
            </a:extLst>
          </p:cNvPr>
          <p:cNvSpPr txBox="1">
            <a:spLocks/>
          </p:cNvSpPr>
          <p:nvPr/>
        </p:nvSpPr>
        <p:spPr>
          <a:xfrm>
            <a:off x="7897999" y="1695785"/>
            <a:ext cx="3878519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b="1" dirty="0">
                <a:solidFill>
                  <a:schemeClr val="tx2"/>
                </a:solidFill>
              </a:rPr>
              <a:t>Категории обращений</a:t>
            </a:r>
          </a:p>
        </p:txBody>
      </p:sp>
      <p:sp>
        <p:nvSpPr>
          <p:cNvPr id="41" name="TrackerNumWhite">
            <a:extLst>
              <a:ext uri="{FF2B5EF4-FFF2-40B4-BE49-F238E27FC236}">
                <a16:creationId xmlns:a16="http://schemas.microsoft.com/office/drawing/2014/main" id="{CC98CB85-B7C4-493E-A320-51E54AFC583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579421" y="1903798"/>
            <a:ext cx="365485" cy="615553"/>
          </a:xfrm>
          <a:prstGeom prst="rect">
            <a:avLst/>
          </a:prstGeom>
          <a:solidFill>
            <a:schemeClr val="bg1"/>
          </a:solidFill>
          <a:ln w="127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4000" b="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12F7A7-D907-4250-94AD-228BDEDA0E81}"/>
              </a:ext>
            </a:extLst>
          </p:cNvPr>
          <p:cNvSpPr txBox="1">
            <a:spLocks/>
          </p:cNvSpPr>
          <p:nvPr/>
        </p:nvSpPr>
        <p:spPr>
          <a:xfrm>
            <a:off x="5049651" y="2007880"/>
            <a:ext cx="2600829" cy="430887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Отсутствие</a:t>
            </a:r>
            <a:b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</a:b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информации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F90FB-2862-443D-91EE-DA69FAF78088}"/>
              </a:ext>
            </a:extLst>
          </p:cNvPr>
          <p:cNvSpPr txBox="1">
            <a:spLocks/>
          </p:cNvSpPr>
          <p:nvPr/>
        </p:nvSpPr>
        <p:spPr>
          <a:xfrm>
            <a:off x="5049651" y="2500522"/>
            <a:ext cx="2600829" cy="64633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Неактуальные данные, а также отсутствие рычагов у ЕДЦ для их актуализации</a:t>
            </a:r>
          </a:p>
        </p:txBody>
      </p:sp>
      <p:sp>
        <p:nvSpPr>
          <p:cNvPr id="42" name="TrackerNumWhite">
            <a:extLst>
              <a:ext uri="{FF2B5EF4-FFF2-40B4-BE49-F238E27FC236}">
                <a16:creationId xmlns:a16="http://schemas.microsoft.com/office/drawing/2014/main" id="{7480EEFC-135A-4329-B05C-82FC5D1AC05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579421" y="4469553"/>
            <a:ext cx="365485" cy="615553"/>
          </a:xfrm>
          <a:prstGeom prst="rect">
            <a:avLst/>
          </a:prstGeom>
          <a:solidFill>
            <a:schemeClr val="bg1"/>
          </a:solidFill>
          <a:ln w="127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4000" b="1" dirty="0">
                <a:solidFill>
                  <a:schemeClr val="accent3"/>
                </a:solidFill>
                <a:sym typeface="+mn-lt"/>
              </a:rPr>
              <a:t>2</a:t>
            </a:r>
            <a:endParaRPr lang="en-US" sz="4000" b="1" dirty="0" err="1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51BF1D-F87E-4A7D-828B-D8B9F8921428}"/>
              </a:ext>
            </a:extLst>
          </p:cNvPr>
          <p:cNvSpPr txBox="1">
            <a:spLocks/>
          </p:cNvSpPr>
          <p:nvPr/>
        </p:nvSpPr>
        <p:spPr>
          <a:xfrm>
            <a:off x="5049651" y="4566919"/>
            <a:ext cx="2600829" cy="430887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ru-RU" b="1" dirty="0">
                <a:solidFill>
                  <a:schemeClr val="accent3"/>
                </a:solidFill>
                <a:latin typeface="Verdana"/>
              </a:rPr>
              <a:t>Процесс</a:t>
            </a:r>
            <a:br>
              <a:rPr lang="ru-RU" b="1" dirty="0">
                <a:solidFill>
                  <a:schemeClr val="accent3"/>
                </a:solidFill>
                <a:latin typeface="Verdana"/>
              </a:rPr>
            </a:br>
            <a:r>
              <a:rPr lang="ru-RU" b="1" dirty="0">
                <a:solidFill>
                  <a:schemeClr val="accent3"/>
                </a:solidFill>
                <a:latin typeface="Verdana"/>
              </a:rPr>
              <a:t>взаимодействия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Verdana"/>
              <a:ea typeface="+mn-ea"/>
              <a:cs typeface="+mn-cs"/>
              <a:sym typeface="+mn-lt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213152-5A5C-4655-958C-66E9CA4DEC6A}"/>
              </a:ext>
            </a:extLst>
          </p:cNvPr>
          <p:cNvSpPr txBox="1">
            <a:spLocks/>
          </p:cNvSpPr>
          <p:nvPr/>
        </p:nvSpPr>
        <p:spPr>
          <a:xfrm>
            <a:off x="5049651" y="5065484"/>
            <a:ext cx="2600829" cy="86177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Отсутствие эффективного взаимодействия между </a:t>
            </a:r>
            <a:r>
              <a:rPr lang="ru-RU" dirty="0" err="1"/>
              <a:t>ОИВами</a:t>
            </a:r>
            <a:r>
              <a:rPr lang="ru-RU" dirty="0"/>
              <a:t>, а также </a:t>
            </a:r>
            <a:r>
              <a:rPr lang="ru-RU" dirty="0" err="1"/>
              <a:t>коммер-ческими</a:t>
            </a:r>
            <a:r>
              <a:rPr lang="ru-RU" dirty="0"/>
              <a:t> компаниями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78C31E-23E1-429B-9222-1A57FF7AD8AA}"/>
              </a:ext>
            </a:extLst>
          </p:cNvPr>
          <p:cNvSpPr txBox="1">
            <a:spLocks/>
          </p:cNvSpPr>
          <p:nvPr/>
        </p:nvSpPr>
        <p:spPr>
          <a:xfrm>
            <a:off x="8295817" y="2571882"/>
            <a:ext cx="344564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ИПУ воды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2E0D98-5871-4B2B-B8BA-9D62FC3B4858}"/>
              </a:ext>
            </a:extLst>
          </p:cNvPr>
          <p:cNvSpPr txBox="1">
            <a:spLocks/>
          </p:cNvSpPr>
          <p:nvPr/>
        </p:nvSpPr>
        <p:spPr>
          <a:xfrm>
            <a:off x="8295817" y="4108632"/>
            <a:ext cx="344564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Телеантенны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4AC1F7-93AE-46C1-BBAA-6F7FB20C8AC2}"/>
              </a:ext>
            </a:extLst>
          </p:cNvPr>
          <p:cNvSpPr txBox="1">
            <a:spLocks/>
          </p:cNvSpPr>
          <p:nvPr/>
        </p:nvSpPr>
        <p:spPr>
          <a:xfrm>
            <a:off x="8295817" y="3084132"/>
            <a:ext cx="344564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Контакты обслуживающих компаний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594495-E1B7-4FCE-832E-898D1367087E}"/>
              </a:ext>
            </a:extLst>
          </p:cNvPr>
          <p:cNvSpPr txBox="1">
            <a:spLocks/>
          </p:cNvSpPr>
          <p:nvPr/>
        </p:nvSpPr>
        <p:spPr>
          <a:xfrm>
            <a:off x="8295817" y="4620882"/>
            <a:ext cx="344564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Коммерческие услуги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035E40B-9ADE-4E47-8BA9-3BAE6D557BFF}"/>
              </a:ext>
            </a:extLst>
          </p:cNvPr>
          <p:cNvSpPr txBox="1">
            <a:spLocks/>
          </p:cNvSpPr>
          <p:nvPr/>
        </p:nvSpPr>
        <p:spPr>
          <a:xfrm>
            <a:off x="8295817" y="5133132"/>
            <a:ext cx="344564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Обслуживание дома и жалобы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C3637D-39B3-4F61-9838-6645FE7154F0}"/>
              </a:ext>
            </a:extLst>
          </p:cNvPr>
          <p:cNvSpPr txBox="1">
            <a:spLocks/>
          </p:cNvSpPr>
          <p:nvPr/>
        </p:nvSpPr>
        <p:spPr>
          <a:xfrm>
            <a:off x="8295817" y="3596382"/>
            <a:ext cx="344564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Отключение воды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3AE0F73-508C-46F5-8A45-D3FC687F5FE1}"/>
              </a:ext>
            </a:extLst>
          </p:cNvPr>
          <p:cNvCxnSpPr>
            <a:cxnSpLocks/>
          </p:cNvCxnSpPr>
          <p:nvPr/>
        </p:nvCxnSpPr>
        <p:spPr>
          <a:xfrm>
            <a:off x="7897999" y="2423479"/>
            <a:ext cx="387851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3D206C0-42E1-4222-834F-813EC7A3B986}"/>
              </a:ext>
            </a:extLst>
          </p:cNvPr>
          <p:cNvCxnSpPr>
            <a:cxnSpLocks/>
          </p:cNvCxnSpPr>
          <p:nvPr/>
        </p:nvCxnSpPr>
        <p:spPr>
          <a:xfrm>
            <a:off x="7897999" y="2935729"/>
            <a:ext cx="387851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B39BE27-A021-4A21-A350-D24935A1146F}"/>
              </a:ext>
            </a:extLst>
          </p:cNvPr>
          <p:cNvCxnSpPr>
            <a:cxnSpLocks/>
          </p:cNvCxnSpPr>
          <p:nvPr/>
        </p:nvCxnSpPr>
        <p:spPr>
          <a:xfrm>
            <a:off x="7897999" y="3960229"/>
            <a:ext cx="387851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21938DF-8CAE-4DF6-9243-6A0BE379D75D}"/>
              </a:ext>
            </a:extLst>
          </p:cNvPr>
          <p:cNvCxnSpPr>
            <a:cxnSpLocks/>
          </p:cNvCxnSpPr>
          <p:nvPr/>
        </p:nvCxnSpPr>
        <p:spPr>
          <a:xfrm>
            <a:off x="7897999" y="4984729"/>
            <a:ext cx="387851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FC80939-6FF9-4EFC-A499-21964EE37FB4}"/>
              </a:ext>
            </a:extLst>
          </p:cNvPr>
          <p:cNvCxnSpPr>
            <a:cxnSpLocks/>
          </p:cNvCxnSpPr>
          <p:nvPr/>
        </p:nvCxnSpPr>
        <p:spPr>
          <a:xfrm>
            <a:off x="7897999" y="3447979"/>
            <a:ext cx="387851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0DB5255-D7DE-4B71-BE5C-7D75ED0CFD7B}"/>
              </a:ext>
            </a:extLst>
          </p:cNvPr>
          <p:cNvCxnSpPr>
            <a:cxnSpLocks/>
          </p:cNvCxnSpPr>
          <p:nvPr/>
        </p:nvCxnSpPr>
        <p:spPr>
          <a:xfrm>
            <a:off x="7897999" y="5496979"/>
            <a:ext cx="387851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598B848-CB91-42E9-A2C2-6CD37A8B7F2B}"/>
              </a:ext>
            </a:extLst>
          </p:cNvPr>
          <p:cNvSpPr txBox="1">
            <a:spLocks/>
          </p:cNvSpPr>
          <p:nvPr/>
        </p:nvSpPr>
        <p:spPr>
          <a:xfrm>
            <a:off x="8295817" y="5645378"/>
            <a:ext cx="344564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Газоснабжение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23784F-9DAE-4B70-942B-A655D36FA539}"/>
              </a:ext>
            </a:extLst>
          </p:cNvPr>
          <p:cNvSpPr txBox="1">
            <a:spLocks/>
          </p:cNvSpPr>
          <p:nvPr/>
        </p:nvSpPr>
        <p:spPr>
          <a:xfrm>
            <a:off x="554734" y="2354646"/>
            <a:ext cx="3476246" cy="107440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None/>
            </a:pPr>
            <a:r>
              <a:rPr lang="ru-RU" dirty="0"/>
              <a:t>от всех обращений жителей по вопросам ЖКУ в Единый диспетчерский центр (ЕДЦ)</a:t>
            </a:r>
            <a:r>
              <a:rPr lang="ru-RU" baseline="30000" dirty="0"/>
              <a:t>1</a:t>
            </a:r>
            <a:r>
              <a:rPr lang="ru-RU" dirty="0"/>
              <a:t> приводят к негативному клиентскому опыту за счет:</a:t>
            </a:r>
            <a:r>
              <a:rPr lang="ru-RU" b="1" dirty="0"/>
              <a:t> </a:t>
            </a:r>
            <a:endParaRPr lang="en-US" b="1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880C270-9393-4092-8DDB-09C6AAA8EA98}"/>
              </a:ext>
            </a:extLst>
          </p:cNvPr>
          <p:cNvCxnSpPr>
            <a:cxnSpLocks/>
          </p:cNvCxnSpPr>
          <p:nvPr/>
        </p:nvCxnSpPr>
        <p:spPr>
          <a:xfrm>
            <a:off x="4508055" y="4472479"/>
            <a:ext cx="7268463" cy="0"/>
          </a:xfrm>
          <a:prstGeom prst="line">
            <a:avLst/>
          </a:prstGeom>
          <a:ln w="9525" cap="sq">
            <a:solidFill>
              <a:schemeClr val="tx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B185B9E-634B-436E-9BCE-FC0C038081A3}"/>
              </a:ext>
            </a:extLst>
          </p:cNvPr>
          <p:cNvGrpSpPr>
            <a:grpSpLocks/>
          </p:cNvGrpSpPr>
          <p:nvPr/>
        </p:nvGrpSpPr>
        <p:grpSpPr>
          <a:xfrm>
            <a:off x="3147424" y="1261296"/>
            <a:ext cx="1120056" cy="810036"/>
            <a:chOff x="5395913" y="1266825"/>
            <a:chExt cx="974407" cy="613810"/>
          </a:xfrm>
          <a:gradFill flip="none" rotWithShape="1">
            <a:gsLst>
              <a:gs pos="1200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0" scaled="1"/>
            <a:tileRect/>
          </a:gradFill>
        </p:grpSpPr>
        <p:sp>
          <p:nvSpPr>
            <p:cNvPr id="84" name="Arrow: Chevron 83">
              <a:extLst>
                <a:ext uri="{FF2B5EF4-FFF2-40B4-BE49-F238E27FC236}">
                  <a16:creationId xmlns:a16="http://schemas.microsoft.com/office/drawing/2014/main" id="{7A81CE8F-1207-4163-9C8E-05D5AAEB535C}"/>
                </a:ext>
              </a:extLst>
            </p:cNvPr>
            <p:cNvSpPr/>
            <p:nvPr/>
          </p:nvSpPr>
          <p:spPr>
            <a:xfrm>
              <a:off x="5395913" y="1266825"/>
              <a:ext cx="341165" cy="613810"/>
            </a:xfrm>
            <a:prstGeom prst="chevron">
              <a:avLst/>
            </a:pr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85" name="Arrow: Chevron 84">
              <a:extLst>
                <a:ext uri="{FF2B5EF4-FFF2-40B4-BE49-F238E27FC236}">
                  <a16:creationId xmlns:a16="http://schemas.microsoft.com/office/drawing/2014/main" id="{6183B70C-C658-40E7-8E08-EC85300B6C74}"/>
                </a:ext>
              </a:extLst>
            </p:cNvPr>
            <p:cNvSpPr/>
            <p:nvPr/>
          </p:nvSpPr>
          <p:spPr>
            <a:xfrm>
              <a:off x="5712534" y="1266825"/>
              <a:ext cx="341165" cy="613810"/>
            </a:xfrm>
            <a:prstGeom prst="chevron">
              <a:avLst/>
            </a:pr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86" name="Arrow: Chevron 85">
              <a:extLst>
                <a:ext uri="{FF2B5EF4-FFF2-40B4-BE49-F238E27FC236}">
                  <a16:creationId xmlns:a16="http://schemas.microsoft.com/office/drawing/2014/main" id="{183602A3-9189-4516-8183-F38A86F1CC56}"/>
                </a:ext>
              </a:extLst>
            </p:cNvPr>
            <p:cNvSpPr/>
            <p:nvPr/>
          </p:nvSpPr>
          <p:spPr>
            <a:xfrm>
              <a:off x="6029155" y="1266825"/>
              <a:ext cx="341165" cy="613810"/>
            </a:xfrm>
            <a:prstGeom prst="chevron">
              <a:avLst/>
            </a:pr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559AD95-2838-4D3C-995D-12DF855963C4}"/>
              </a:ext>
            </a:extLst>
          </p:cNvPr>
          <p:cNvSpPr txBox="1">
            <a:spLocks/>
          </p:cNvSpPr>
          <p:nvPr/>
        </p:nvSpPr>
        <p:spPr>
          <a:xfrm>
            <a:off x="8295817" y="2059632"/>
            <a:ext cx="3445646" cy="2154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График работы УК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6DE5313-5277-45CF-A201-086FD107E532}"/>
              </a:ext>
            </a:extLst>
          </p:cNvPr>
          <p:cNvGrpSpPr/>
          <p:nvPr/>
        </p:nvGrpSpPr>
        <p:grpSpPr>
          <a:xfrm>
            <a:off x="7882242" y="3550707"/>
            <a:ext cx="304604" cy="306794"/>
            <a:chOff x="8529159" y="5908438"/>
            <a:chExt cx="531836" cy="535661"/>
          </a:xfrm>
        </p:grpSpPr>
        <p:sp>
          <p:nvSpPr>
            <p:cNvPr id="99" name="Freeform 1142">
              <a:extLst>
                <a:ext uri="{FF2B5EF4-FFF2-40B4-BE49-F238E27FC236}">
                  <a16:creationId xmlns:a16="http://schemas.microsoft.com/office/drawing/2014/main" id="{BE6BBD25-2C15-4B6F-9303-684034A68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9159" y="5908438"/>
              <a:ext cx="531836" cy="237221"/>
            </a:xfrm>
            <a:custGeom>
              <a:avLst/>
              <a:gdLst>
                <a:gd name="T0" fmla="*/ 63 w 66"/>
                <a:gd name="T1" fmla="*/ 0 h 29"/>
                <a:gd name="T2" fmla="*/ 3 w 66"/>
                <a:gd name="T3" fmla="*/ 0 h 29"/>
                <a:gd name="T4" fmla="*/ 0 w 66"/>
                <a:gd name="T5" fmla="*/ 14 h 29"/>
                <a:gd name="T6" fmla="*/ 3 w 66"/>
                <a:gd name="T7" fmla="*/ 29 h 29"/>
                <a:gd name="T8" fmla="*/ 27 w 66"/>
                <a:gd name="T9" fmla="*/ 29 h 29"/>
                <a:gd name="T10" fmla="*/ 25 w 66"/>
                <a:gd name="T11" fmla="*/ 23 h 29"/>
                <a:gd name="T12" fmla="*/ 30 w 66"/>
                <a:gd name="T13" fmla="*/ 18 h 29"/>
                <a:gd name="T14" fmla="*/ 29 w 66"/>
                <a:gd name="T15" fmla="*/ 9 h 29"/>
                <a:gd name="T16" fmla="*/ 37 w 66"/>
                <a:gd name="T17" fmla="*/ 18 h 29"/>
                <a:gd name="T18" fmla="*/ 34 w 66"/>
                <a:gd name="T19" fmla="*/ 24 h 29"/>
                <a:gd name="T20" fmla="*/ 38 w 66"/>
                <a:gd name="T21" fmla="*/ 29 h 29"/>
                <a:gd name="T22" fmla="*/ 63 w 66"/>
                <a:gd name="T23" fmla="*/ 29 h 29"/>
                <a:gd name="T24" fmla="*/ 66 w 66"/>
                <a:gd name="T25" fmla="*/ 14 h 29"/>
                <a:gd name="T26" fmla="*/ 63 w 66"/>
                <a:gd name="T2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" h="29">
                  <a:moveTo>
                    <a:pt x="6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4"/>
                    <a:pt x="0" y="9"/>
                    <a:pt x="0" y="14"/>
                  </a:cubicBezTo>
                  <a:cubicBezTo>
                    <a:pt x="0" y="19"/>
                    <a:pt x="1" y="24"/>
                    <a:pt x="3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65" y="24"/>
                    <a:pt x="66" y="19"/>
                    <a:pt x="66" y="14"/>
                  </a:cubicBezTo>
                  <a:cubicBezTo>
                    <a:pt x="66" y="9"/>
                    <a:pt x="65" y="4"/>
                    <a:pt x="63" y="0"/>
                  </a:cubicBez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0" name="Freeform 1143">
              <a:extLst>
                <a:ext uri="{FF2B5EF4-FFF2-40B4-BE49-F238E27FC236}">
                  <a16:creationId xmlns:a16="http://schemas.microsoft.com/office/drawing/2014/main" id="{02FC3965-06F7-42B2-838C-EEDD038DE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7509" y="6183921"/>
              <a:ext cx="187483" cy="260178"/>
            </a:xfrm>
            <a:custGeom>
              <a:avLst/>
              <a:gdLst>
                <a:gd name="T0" fmla="*/ 23 w 23"/>
                <a:gd name="T1" fmla="*/ 21 h 32"/>
                <a:gd name="T2" fmla="*/ 12 w 23"/>
                <a:gd name="T3" fmla="*/ 32 h 32"/>
                <a:gd name="T4" fmla="*/ 0 w 23"/>
                <a:gd name="T5" fmla="*/ 21 h 32"/>
                <a:gd name="T6" fmla="*/ 12 w 23"/>
                <a:gd name="T7" fmla="*/ 0 h 32"/>
                <a:gd name="T8" fmla="*/ 23 w 23"/>
                <a:gd name="T9" fmla="*/ 2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32">
                  <a:moveTo>
                    <a:pt x="23" y="21"/>
                  </a:moveTo>
                  <a:cubicBezTo>
                    <a:pt x="23" y="27"/>
                    <a:pt x="18" y="32"/>
                    <a:pt x="12" y="32"/>
                  </a:cubicBezTo>
                  <a:cubicBezTo>
                    <a:pt x="5" y="32"/>
                    <a:pt x="0" y="27"/>
                    <a:pt x="0" y="21"/>
                  </a:cubicBezTo>
                  <a:cubicBezTo>
                    <a:pt x="0" y="14"/>
                    <a:pt x="12" y="0"/>
                    <a:pt x="12" y="0"/>
                  </a:cubicBezTo>
                  <a:cubicBezTo>
                    <a:pt x="12" y="0"/>
                    <a:pt x="23" y="14"/>
                    <a:pt x="23" y="21"/>
                  </a:cubicBez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1" name="Line 1144">
              <a:extLst>
                <a:ext uri="{FF2B5EF4-FFF2-40B4-BE49-F238E27FC236}">
                  <a16:creationId xmlns:a16="http://schemas.microsoft.com/office/drawing/2014/main" id="{C975E436-9D55-4AC1-A683-0052E25B84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62555" y="6336967"/>
              <a:ext cx="0" cy="2678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36206A5-1A1C-41CA-9475-53B2C5173281}"/>
              </a:ext>
            </a:extLst>
          </p:cNvPr>
          <p:cNvGrpSpPr/>
          <p:nvPr/>
        </p:nvGrpSpPr>
        <p:grpSpPr>
          <a:xfrm>
            <a:off x="7885539" y="5598836"/>
            <a:ext cx="321932" cy="323370"/>
            <a:chOff x="3125788" y="4295776"/>
            <a:chExt cx="711200" cy="714375"/>
          </a:xfrm>
        </p:grpSpPr>
        <p:sp>
          <p:nvSpPr>
            <p:cNvPr id="103" name="Freeform 24">
              <a:extLst>
                <a:ext uri="{FF2B5EF4-FFF2-40B4-BE49-F238E27FC236}">
                  <a16:creationId xmlns:a16="http://schemas.microsoft.com/office/drawing/2014/main" id="{29258E8B-6FCC-4F76-8867-E20B2ED09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788" y="4295776"/>
              <a:ext cx="711200" cy="650875"/>
            </a:xfrm>
            <a:custGeom>
              <a:avLst/>
              <a:gdLst>
                <a:gd name="T0" fmla="*/ 135 w 190"/>
                <a:gd name="T1" fmla="*/ 167 h 174"/>
                <a:gd name="T2" fmla="*/ 142 w 190"/>
                <a:gd name="T3" fmla="*/ 168 h 174"/>
                <a:gd name="T4" fmla="*/ 145 w 190"/>
                <a:gd name="T5" fmla="*/ 172 h 174"/>
                <a:gd name="T6" fmla="*/ 154 w 190"/>
                <a:gd name="T7" fmla="*/ 172 h 174"/>
                <a:gd name="T8" fmla="*/ 171 w 190"/>
                <a:gd name="T9" fmla="*/ 154 h 174"/>
                <a:gd name="T10" fmla="*/ 171 w 190"/>
                <a:gd name="T11" fmla="*/ 145 h 174"/>
                <a:gd name="T12" fmla="*/ 168 w 190"/>
                <a:gd name="T13" fmla="*/ 142 h 174"/>
                <a:gd name="T14" fmla="*/ 167 w 190"/>
                <a:gd name="T15" fmla="*/ 136 h 174"/>
                <a:gd name="T16" fmla="*/ 174 w 190"/>
                <a:gd name="T17" fmla="*/ 118 h 174"/>
                <a:gd name="T18" fmla="*/ 180 w 190"/>
                <a:gd name="T19" fmla="*/ 114 h 174"/>
                <a:gd name="T20" fmla="*/ 184 w 190"/>
                <a:gd name="T21" fmla="*/ 114 h 174"/>
                <a:gd name="T22" fmla="*/ 190 w 190"/>
                <a:gd name="T23" fmla="*/ 108 h 174"/>
                <a:gd name="T24" fmla="*/ 190 w 190"/>
                <a:gd name="T25" fmla="*/ 83 h 174"/>
                <a:gd name="T26" fmla="*/ 184 w 190"/>
                <a:gd name="T27" fmla="*/ 77 h 174"/>
                <a:gd name="T28" fmla="*/ 180 w 190"/>
                <a:gd name="T29" fmla="*/ 77 h 174"/>
                <a:gd name="T30" fmla="*/ 174 w 190"/>
                <a:gd name="T31" fmla="*/ 73 h 174"/>
                <a:gd name="T32" fmla="*/ 167 w 190"/>
                <a:gd name="T33" fmla="*/ 55 h 174"/>
                <a:gd name="T34" fmla="*/ 168 w 190"/>
                <a:gd name="T35" fmla="*/ 48 h 174"/>
                <a:gd name="T36" fmla="*/ 171 w 190"/>
                <a:gd name="T37" fmla="*/ 45 h 174"/>
                <a:gd name="T38" fmla="*/ 171 w 190"/>
                <a:gd name="T39" fmla="*/ 37 h 174"/>
                <a:gd name="T40" fmla="*/ 154 w 190"/>
                <a:gd name="T41" fmla="*/ 19 h 174"/>
                <a:gd name="T42" fmla="*/ 145 w 190"/>
                <a:gd name="T43" fmla="*/ 19 h 174"/>
                <a:gd name="T44" fmla="*/ 142 w 190"/>
                <a:gd name="T45" fmla="*/ 22 h 174"/>
                <a:gd name="T46" fmla="*/ 135 w 190"/>
                <a:gd name="T47" fmla="*/ 24 h 174"/>
                <a:gd name="T48" fmla="*/ 117 w 190"/>
                <a:gd name="T49" fmla="*/ 16 h 174"/>
                <a:gd name="T50" fmla="*/ 113 w 190"/>
                <a:gd name="T51" fmla="*/ 10 h 174"/>
                <a:gd name="T52" fmla="*/ 113 w 190"/>
                <a:gd name="T53" fmla="*/ 6 h 174"/>
                <a:gd name="T54" fmla="*/ 107 w 190"/>
                <a:gd name="T55" fmla="*/ 0 h 174"/>
                <a:gd name="T56" fmla="*/ 83 w 190"/>
                <a:gd name="T57" fmla="*/ 0 h 174"/>
                <a:gd name="T58" fmla="*/ 77 w 190"/>
                <a:gd name="T59" fmla="*/ 6 h 174"/>
                <a:gd name="T60" fmla="*/ 77 w 190"/>
                <a:gd name="T61" fmla="*/ 10 h 174"/>
                <a:gd name="T62" fmla="*/ 73 w 190"/>
                <a:gd name="T63" fmla="*/ 16 h 174"/>
                <a:gd name="T64" fmla="*/ 55 w 190"/>
                <a:gd name="T65" fmla="*/ 24 h 174"/>
                <a:gd name="T66" fmla="*/ 48 w 190"/>
                <a:gd name="T67" fmla="*/ 22 h 174"/>
                <a:gd name="T68" fmla="*/ 45 w 190"/>
                <a:gd name="T69" fmla="*/ 19 h 174"/>
                <a:gd name="T70" fmla="*/ 36 w 190"/>
                <a:gd name="T71" fmla="*/ 19 h 174"/>
                <a:gd name="T72" fmla="*/ 19 w 190"/>
                <a:gd name="T73" fmla="*/ 37 h 174"/>
                <a:gd name="T74" fmla="*/ 19 w 190"/>
                <a:gd name="T75" fmla="*/ 45 h 174"/>
                <a:gd name="T76" fmla="*/ 22 w 190"/>
                <a:gd name="T77" fmla="*/ 48 h 174"/>
                <a:gd name="T78" fmla="*/ 23 w 190"/>
                <a:gd name="T79" fmla="*/ 55 h 174"/>
                <a:gd name="T80" fmla="*/ 16 w 190"/>
                <a:gd name="T81" fmla="*/ 73 h 174"/>
                <a:gd name="T82" fmla="*/ 10 w 190"/>
                <a:gd name="T83" fmla="*/ 77 h 174"/>
                <a:gd name="T84" fmla="*/ 6 w 190"/>
                <a:gd name="T85" fmla="*/ 77 h 174"/>
                <a:gd name="T86" fmla="*/ 0 w 190"/>
                <a:gd name="T87" fmla="*/ 83 h 174"/>
                <a:gd name="T88" fmla="*/ 0 w 190"/>
                <a:gd name="T89" fmla="*/ 108 h 174"/>
                <a:gd name="T90" fmla="*/ 6 w 190"/>
                <a:gd name="T91" fmla="*/ 114 h 174"/>
                <a:gd name="T92" fmla="*/ 10 w 190"/>
                <a:gd name="T93" fmla="*/ 114 h 174"/>
                <a:gd name="T94" fmla="*/ 16 w 190"/>
                <a:gd name="T95" fmla="*/ 118 h 174"/>
                <a:gd name="T96" fmla="*/ 23 w 190"/>
                <a:gd name="T97" fmla="*/ 136 h 174"/>
                <a:gd name="T98" fmla="*/ 22 w 190"/>
                <a:gd name="T99" fmla="*/ 142 h 174"/>
                <a:gd name="T100" fmla="*/ 19 w 190"/>
                <a:gd name="T101" fmla="*/ 145 h 174"/>
                <a:gd name="T102" fmla="*/ 19 w 190"/>
                <a:gd name="T103" fmla="*/ 154 h 174"/>
                <a:gd name="T104" fmla="*/ 36 w 190"/>
                <a:gd name="T105" fmla="*/ 172 h 174"/>
                <a:gd name="T106" fmla="*/ 45 w 190"/>
                <a:gd name="T107" fmla="*/ 172 h 174"/>
                <a:gd name="T108" fmla="*/ 48 w 190"/>
                <a:gd name="T109" fmla="*/ 168 h 174"/>
                <a:gd name="T110" fmla="*/ 55 w 190"/>
                <a:gd name="T111" fmla="*/ 167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0" h="174">
                  <a:moveTo>
                    <a:pt x="135" y="167"/>
                  </a:moveTo>
                  <a:cubicBezTo>
                    <a:pt x="138" y="166"/>
                    <a:pt x="140" y="167"/>
                    <a:pt x="142" y="168"/>
                  </a:cubicBezTo>
                  <a:cubicBezTo>
                    <a:pt x="145" y="172"/>
                    <a:pt x="145" y="172"/>
                    <a:pt x="145" y="172"/>
                  </a:cubicBezTo>
                  <a:cubicBezTo>
                    <a:pt x="147" y="174"/>
                    <a:pt x="151" y="174"/>
                    <a:pt x="154" y="172"/>
                  </a:cubicBezTo>
                  <a:cubicBezTo>
                    <a:pt x="171" y="154"/>
                    <a:pt x="171" y="154"/>
                    <a:pt x="171" y="154"/>
                  </a:cubicBezTo>
                  <a:cubicBezTo>
                    <a:pt x="174" y="152"/>
                    <a:pt x="174" y="148"/>
                    <a:pt x="171" y="145"/>
                  </a:cubicBezTo>
                  <a:cubicBezTo>
                    <a:pt x="168" y="142"/>
                    <a:pt x="168" y="142"/>
                    <a:pt x="168" y="142"/>
                  </a:cubicBezTo>
                  <a:cubicBezTo>
                    <a:pt x="166" y="141"/>
                    <a:pt x="166" y="138"/>
                    <a:pt x="167" y="136"/>
                  </a:cubicBezTo>
                  <a:cubicBezTo>
                    <a:pt x="174" y="118"/>
                    <a:pt x="174" y="118"/>
                    <a:pt x="174" y="118"/>
                  </a:cubicBezTo>
                  <a:cubicBezTo>
                    <a:pt x="175" y="115"/>
                    <a:pt x="177" y="114"/>
                    <a:pt x="180" y="114"/>
                  </a:cubicBezTo>
                  <a:cubicBezTo>
                    <a:pt x="184" y="114"/>
                    <a:pt x="184" y="114"/>
                    <a:pt x="184" y="114"/>
                  </a:cubicBezTo>
                  <a:cubicBezTo>
                    <a:pt x="188" y="114"/>
                    <a:pt x="190" y="111"/>
                    <a:pt x="190" y="108"/>
                  </a:cubicBezTo>
                  <a:cubicBezTo>
                    <a:pt x="190" y="83"/>
                    <a:pt x="190" y="83"/>
                    <a:pt x="190" y="83"/>
                  </a:cubicBezTo>
                  <a:cubicBezTo>
                    <a:pt x="190" y="80"/>
                    <a:pt x="188" y="77"/>
                    <a:pt x="184" y="77"/>
                  </a:cubicBezTo>
                  <a:cubicBezTo>
                    <a:pt x="180" y="77"/>
                    <a:pt x="180" y="77"/>
                    <a:pt x="180" y="77"/>
                  </a:cubicBezTo>
                  <a:cubicBezTo>
                    <a:pt x="177" y="77"/>
                    <a:pt x="175" y="75"/>
                    <a:pt x="174" y="73"/>
                  </a:cubicBezTo>
                  <a:cubicBezTo>
                    <a:pt x="167" y="55"/>
                    <a:pt x="167" y="55"/>
                    <a:pt x="167" y="55"/>
                  </a:cubicBezTo>
                  <a:cubicBezTo>
                    <a:pt x="166" y="53"/>
                    <a:pt x="166" y="50"/>
                    <a:pt x="168" y="48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74" y="43"/>
                    <a:pt x="174" y="39"/>
                    <a:pt x="171" y="37"/>
                  </a:cubicBezTo>
                  <a:cubicBezTo>
                    <a:pt x="154" y="19"/>
                    <a:pt x="154" y="19"/>
                    <a:pt x="154" y="19"/>
                  </a:cubicBezTo>
                  <a:cubicBezTo>
                    <a:pt x="151" y="17"/>
                    <a:pt x="147" y="17"/>
                    <a:pt x="145" y="19"/>
                  </a:cubicBezTo>
                  <a:cubicBezTo>
                    <a:pt x="142" y="22"/>
                    <a:pt x="142" y="22"/>
                    <a:pt x="142" y="22"/>
                  </a:cubicBezTo>
                  <a:cubicBezTo>
                    <a:pt x="140" y="24"/>
                    <a:pt x="138" y="25"/>
                    <a:pt x="135" y="24"/>
                  </a:cubicBezTo>
                  <a:cubicBezTo>
                    <a:pt x="117" y="16"/>
                    <a:pt x="117" y="16"/>
                    <a:pt x="117" y="16"/>
                  </a:cubicBezTo>
                  <a:cubicBezTo>
                    <a:pt x="115" y="15"/>
                    <a:pt x="113" y="13"/>
                    <a:pt x="113" y="10"/>
                  </a:cubicBezTo>
                  <a:cubicBezTo>
                    <a:pt x="113" y="6"/>
                    <a:pt x="113" y="6"/>
                    <a:pt x="113" y="6"/>
                  </a:cubicBezTo>
                  <a:cubicBezTo>
                    <a:pt x="113" y="3"/>
                    <a:pt x="111" y="0"/>
                    <a:pt x="10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79" y="0"/>
                    <a:pt x="77" y="3"/>
                    <a:pt x="77" y="6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3"/>
                    <a:pt x="75" y="15"/>
                    <a:pt x="73" y="16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2" y="25"/>
                    <a:pt x="50" y="24"/>
                    <a:pt x="48" y="22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3" y="17"/>
                    <a:pt x="39" y="17"/>
                    <a:pt x="36" y="19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6" y="39"/>
                    <a:pt x="16" y="43"/>
                    <a:pt x="19" y="45"/>
                  </a:cubicBezTo>
                  <a:cubicBezTo>
                    <a:pt x="22" y="48"/>
                    <a:pt x="22" y="48"/>
                    <a:pt x="22" y="48"/>
                  </a:cubicBezTo>
                  <a:cubicBezTo>
                    <a:pt x="24" y="50"/>
                    <a:pt x="24" y="53"/>
                    <a:pt x="23" y="55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15" y="75"/>
                    <a:pt x="13" y="77"/>
                    <a:pt x="10" y="77"/>
                  </a:cubicBezTo>
                  <a:cubicBezTo>
                    <a:pt x="6" y="77"/>
                    <a:pt x="6" y="77"/>
                    <a:pt x="6" y="77"/>
                  </a:cubicBezTo>
                  <a:cubicBezTo>
                    <a:pt x="2" y="77"/>
                    <a:pt x="0" y="80"/>
                    <a:pt x="0" y="83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2" y="114"/>
                    <a:pt x="6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3" y="114"/>
                    <a:pt x="15" y="115"/>
                    <a:pt x="16" y="118"/>
                  </a:cubicBezTo>
                  <a:cubicBezTo>
                    <a:pt x="23" y="136"/>
                    <a:pt x="23" y="136"/>
                    <a:pt x="23" y="136"/>
                  </a:cubicBezTo>
                  <a:cubicBezTo>
                    <a:pt x="24" y="138"/>
                    <a:pt x="24" y="141"/>
                    <a:pt x="22" y="142"/>
                  </a:cubicBezTo>
                  <a:cubicBezTo>
                    <a:pt x="19" y="145"/>
                    <a:pt x="19" y="145"/>
                    <a:pt x="19" y="145"/>
                  </a:cubicBezTo>
                  <a:cubicBezTo>
                    <a:pt x="16" y="148"/>
                    <a:pt x="16" y="152"/>
                    <a:pt x="19" y="154"/>
                  </a:cubicBezTo>
                  <a:cubicBezTo>
                    <a:pt x="36" y="172"/>
                    <a:pt x="36" y="172"/>
                    <a:pt x="36" y="172"/>
                  </a:cubicBezTo>
                  <a:cubicBezTo>
                    <a:pt x="39" y="174"/>
                    <a:pt x="43" y="174"/>
                    <a:pt x="45" y="172"/>
                  </a:cubicBezTo>
                  <a:cubicBezTo>
                    <a:pt x="48" y="168"/>
                    <a:pt x="48" y="168"/>
                    <a:pt x="48" y="168"/>
                  </a:cubicBezTo>
                  <a:cubicBezTo>
                    <a:pt x="50" y="167"/>
                    <a:pt x="52" y="166"/>
                    <a:pt x="55" y="167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" name="Freeform 25">
              <a:extLst>
                <a:ext uri="{FF2B5EF4-FFF2-40B4-BE49-F238E27FC236}">
                  <a16:creationId xmlns:a16="http://schemas.microsoft.com/office/drawing/2014/main" id="{223BD79B-5283-4099-A305-350879D82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013" y="4445001"/>
              <a:ext cx="412750" cy="363538"/>
            </a:xfrm>
            <a:custGeom>
              <a:avLst/>
              <a:gdLst>
                <a:gd name="T0" fmla="*/ 18 w 110"/>
                <a:gd name="T1" fmla="*/ 97 h 97"/>
                <a:gd name="T2" fmla="*/ 0 w 110"/>
                <a:gd name="T3" fmla="*/ 55 h 97"/>
                <a:gd name="T4" fmla="*/ 55 w 110"/>
                <a:gd name="T5" fmla="*/ 0 h 97"/>
                <a:gd name="T6" fmla="*/ 110 w 110"/>
                <a:gd name="T7" fmla="*/ 55 h 97"/>
                <a:gd name="T8" fmla="*/ 92 w 110"/>
                <a:gd name="T9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97">
                  <a:moveTo>
                    <a:pt x="18" y="97"/>
                  </a:moveTo>
                  <a:cubicBezTo>
                    <a:pt x="7" y="87"/>
                    <a:pt x="0" y="72"/>
                    <a:pt x="0" y="55"/>
                  </a:cubicBezTo>
                  <a:cubicBezTo>
                    <a:pt x="0" y="25"/>
                    <a:pt x="24" y="0"/>
                    <a:pt x="55" y="0"/>
                  </a:cubicBezTo>
                  <a:cubicBezTo>
                    <a:pt x="86" y="0"/>
                    <a:pt x="110" y="25"/>
                    <a:pt x="110" y="55"/>
                  </a:cubicBezTo>
                  <a:cubicBezTo>
                    <a:pt x="110" y="72"/>
                    <a:pt x="103" y="87"/>
                    <a:pt x="92" y="97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" name="Freeform 26">
              <a:extLst>
                <a:ext uri="{FF2B5EF4-FFF2-40B4-BE49-F238E27FC236}">
                  <a16:creationId xmlns:a16="http://schemas.microsoft.com/office/drawing/2014/main" id="{3797FAD1-27A8-48F3-9A3C-77CE95CAE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9938" y="4676776"/>
              <a:ext cx="127000" cy="333375"/>
            </a:xfrm>
            <a:custGeom>
              <a:avLst/>
              <a:gdLst>
                <a:gd name="T0" fmla="*/ 0 w 80"/>
                <a:gd name="T1" fmla="*/ 210 h 210"/>
                <a:gd name="T2" fmla="*/ 56 w 80"/>
                <a:gd name="T3" fmla="*/ 210 h 210"/>
                <a:gd name="T4" fmla="*/ 80 w 80"/>
                <a:gd name="T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0" h="210">
                  <a:moveTo>
                    <a:pt x="0" y="210"/>
                  </a:moveTo>
                  <a:lnTo>
                    <a:pt x="56" y="210"/>
                  </a:lnTo>
                  <a:lnTo>
                    <a:pt x="80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" name="Freeform 27">
              <a:extLst>
                <a:ext uri="{FF2B5EF4-FFF2-40B4-BE49-F238E27FC236}">
                  <a16:creationId xmlns:a16="http://schemas.microsoft.com/office/drawing/2014/main" id="{9BED80FB-A185-4366-BFCF-9103B97D3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838" y="4676776"/>
              <a:ext cx="128588" cy="333375"/>
            </a:xfrm>
            <a:custGeom>
              <a:avLst/>
              <a:gdLst>
                <a:gd name="T0" fmla="*/ 81 w 81"/>
                <a:gd name="T1" fmla="*/ 210 h 210"/>
                <a:gd name="T2" fmla="*/ 24 w 81"/>
                <a:gd name="T3" fmla="*/ 210 h 210"/>
                <a:gd name="T4" fmla="*/ 0 w 81"/>
                <a:gd name="T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" h="210">
                  <a:moveTo>
                    <a:pt x="81" y="210"/>
                  </a:moveTo>
                  <a:lnTo>
                    <a:pt x="24" y="210"/>
                  </a:lnTo>
                  <a:lnTo>
                    <a:pt x="0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" name="Freeform 28">
              <a:extLst>
                <a:ext uri="{FF2B5EF4-FFF2-40B4-BE49-F238E27FC236}">
                  <a16:creationId xmlns:a16="http://schemas.microsoft.com/office/drawing/2014/main" id="{C714ADFF-378C-43A3-B2D8-B0833F697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826" y="4756151"/>
              <a:ext cx="138113" cy="254000"/>
            </a:xfrm>
            <a:custGeom>
              <a:avLst/>
              <a:gdLst>
                <a:gd name="T0" fmla="*/ 87 w 87"/>
                <a:gd name="T1" fmla="*/ 160 h 160"/>
                <a:gd name="T2" fmla="*/ 0 w 87"/>
                <a:gd name="T3" fmla="*/ 66 h 160"/>
                <a:gd name="T4" fmla="*/ 63 w 87"/>
                <a:gd name="T5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7" h="160">
                  <a:moveTo>
                    <a:pt x="87" y="160"/>
                  </a:moveTo>
                  <a:lnTo>
                    <a:pt x="0" y="66"/>
                  </a:lnTo>
                  <a:lnTo>
                    <a:pt x="63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" name="Freeform 29">
              <a:extLst>
                <a:ext uri="{FF2B5EF4-FFF2-40B4-BE49-F238E27FC236}">
                  <a16:creationId xmlns:a16="http://schemas.microsoft.com/office/drawing/2014/main" id="{09BC0798-1E2F-4757-9CD6-D18138E79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113" y="4538663"/>
              <a:ext cx="82550" cy="90488"/>
            </a:xfrm>
            <a:custGeom>
              <a:avLst/>
              <a:gdLst>
                <a:gd name="T0" fmla="*/ 3 w 22"/>
                <a:gd name="T1" fmla="*/ 24 h 24"/>
                <a:gd name="T2" fmla="*/ 0 w 22"/>
                <a:gd name="T3" fmla="*/ 17 h 24"/>
                <a:gd name="T4" fmla="*/ 11 w 22"/>
                <a:gd name="T5" fmla="*/ 0 h 24"/>
                <a:gd name="T6" fmla="*/ 22 w 22"/>
                <a:gd name="T7" fmla="*/ 17 h 24"/>
                <a:gd name="T8" fmla="*/ 19 w 22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4">
                  <a:moveTo>
                    <a:pt x="3" y="24"/>
                  </a:moveTo>
                  <a:cubicBezTo>
                    <a:pt x="1" y="22"/>
                    <a:pt x="0" y="20"/>
                    <a:pt x="0" y="17"/>
                  </a:cubicBezTo>
                  <a:cubicBezTo>
                    <a:pt x="0" y="11"/>
                    <a:pt x="11" y="0"/>
                    <a:pt x="11" y="0"/>
                  </a:cubicBezTo>
                  <a:cubicBezTo>
                    <a:pt x="11" y="0"/>
                    <a:pt x="22" y="11"/>
                    <a:pt x="22" y="17"/>
                  </a:cubicBezTo>
                  <a:cubicBezTo>
                    <a:pt x="22" y="20"/>
                    <a:pt x="21" y="22"/>
                    <a:pt x="19" y="24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9" name="Line 30">
              <a:extLst>
                <a:ext uri="{FF2B5EF4-FFF2-40B4-BE49-F238E27FC236}">
                  <a16:creationId xmlns:a16="http://schemas.microsoft.com/office/drawing/2014/main" id="{7FB314B0-E408-45A2-8119-A7025547FE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8838" y="4676776"/>
              <a:ext cx="165100" cy="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23EF6B5-0A4D-49B8-BC10-10D4B3D6F11A}"/>
              </a:ext>
            </a:extLst>
          </p:cNvPr>
          <p:cNvGrpSpPr/>
          <p:nvPr/>
        </p:nvGrpSpPr>
        <p:grpSpPr>
          <a:xfrm>
            <a:off x="7893119" y="4064322"/>
            <a:ext cx="282850" cy="304064"/>
            <a:chOff x="88900" y="4332288"/>
            <a:chExt cx="571501" cy="614363"/>
          </a:xfrm>
        </p:grpSpPr>
        <p:sp>
          <p:nvSpPr>
            <p:cNvPr id="111" name="Freeform 151">
              <a:extLst>
                <a:ext uri="{FF2B5EF4-FFF2-40B4-BE49-F238E27FC236}">
                  <a16:creationId xmlns:a16="http://schemas.microsoft.com/office/drawing/2014/main" id="{7E5B2896-66FC-4BD5-9652-B94F7A993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00" y="4545013"/>
              <a:ext cx="188913" cy="401638"/>
            </a:xfrm>
            <a:custGeom>
              <a:avLst/>
              <a:gdLst>
                <a:gd name="T0" fmla="*/ 66 w 68"/>
                <a:gd name="T1" fmla="*/ 0 h 145"/>
                <a:gd name="T2" fmla="*/ 0 w 68"/>
                <a:gd name="T3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" h="145">
                  <a:moveTo>
                    <a:pt x="66" y="0"/>
                  </a:moveTo>
                  <a:cubicBezTo>
                    <a:pt x="66" y="0"/>
                    <a:pt x="68" y="67"/>
                    <a:pt x="0" y="145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2" name="Freeform 152">
              <a:extLst>
                <a:ext uri="{FF2B5EF4-FFF2-40B4-BE49-F238E27FC236}">
                  <a16:creationId xmlns:a16="http://schemas.microsoft.com/office/drawing/2014/main" id="{CEAE114E-6E66-4384-A4F2-194EC8428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88" y="4545013"/>
              <a:ext cx="188913" cy="401638"/>
            </a:xfrm>
            <a:custGeom>
              <a:avLst/>
              <a:gdLst>
                <a:gd name="T0" fmla="*/ 1 w 68"/>
                <a:gd name="T1" fmla="*/ 0 h 145"/>
                <a:gd name="T2" fmla="*/ 68 w 68"/>
                <a:gd name="T3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" h="145">
                  <a:moveTo>
                    <a:pt x="1" y="0"/>
                  </a:moveTo>
                  <a:cubicBezTo>
                    <a:pt x="1" y="0"/>
                    <a:pt x="0" y="67"/>
                    <a:pt x="68" y="145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" name="Line 153">
              <a:extLst>
                <a:ext uri="{FF2B5EF4-FFF2-40B4-BE49-F238E27FC236}">
                  <a16:creationId xmlns:a16="http://schemas.microsoft.com/office/drawing/2014/main" id="{5AB7DF9F-C26B-47AB-BF98-1F8EA67098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388" y="4783138"/>
              <a:ext cx="136525" cy="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" name="Line 154">
              <a:extLst>
                <a:ext uri="{FF2B5EF4-FFF2-40B4-BE49-F238E27FC236}">
                  <a16:creationId xmlns:a16="http://schemas.microsoft.com/office/drawing/2014/main" id="{FD5FC5B2-7C77-4C45-8D2C-C7AC4ED0CC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238" y="4873625"/>
              <a:ext cx="249238" cy="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" name="Freeform 155">
              <a:extLst>
                <a:ext uri="{FF2B5EF4-FFF2-40B4-BE49-F238E27FC236}">
                  <a16:creationId xmlns:a16="http://schemas.microsoft.com/office/drawing/2014/main" id="{E76A4068-DBDC-4A7E-94E0-D11AE939F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738" y="4332288"/>
              <a:ext cx="93663" cy="412750"/>
            </a:xfrm>
            <a:custGeom>
              <a:avLst/>
              <a:gdLst>
                <a:gd name="T0" fmla="*/ 0 w 34"/>
                <a:gd name="T1" fmla="*/ 0 h 149"/>
                <a:gd name="T2" fmla="*/ 34 w 34"/>
                <a:gd name="T3" fmla="*/ 76 h 149"/>
                <a:gd name="T4" fmla="*/ 4 w 34"/>
                <a:gd name="T5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149">
                  <a:moveTo>
                    <a:pt x="0" y="0"/>
                  </a:moveTo>
                  <a:cubicBezTo>
                    <a:pt x="21" y="19"/>
                    <a:pt x="34" y="46"/>
                    <a:pt x="34" y="76"/>
                  </a:cubicBezTo>
                  <a:cubicBezTo>
                    <a:pt x="34" y="105"/>
                    <a:pt x="23" y="130"/>
                    <a:pt x="4" y="149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" name="Freeform 156">
              <a:extLst>
                <a:ext uri="{FF2B5EF4-FFF2-40B4-BE49-F238E27FC236}">
                  <a16:creationId xmlns:a16="http://schemas.microsoft.com/office/drawing/2014/main" id="{4AA4846E-4DE3-461E-8A87-758F04A41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25" y="4395788"/>
              <a:ext cx="63500" cy="290513"/>
            </a:xfrm>
            <a:custGeom>
              <a:avLst/>
              <a:gdLst>
                <a:gd name="T0" fmla="*/ 1 w 23"/>
                <a:gd name="T1" fmla="*/ 105 h 105"/>
                <a:gd name="T2" fmla="*/ 23 w 23"/>
                <a:gd name="T3" fmla="*/ 53 h 105"/>
                <a:gd name="T4" fmla="*/ 0 w 23"/>
                <a:gd name="T5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105">
                  <a:moveTo>
                    <a:pt x="1" y="105"/>
                  </a:moveTo>
                  <a:cubicBezTo>
                    <a:pt x="15" y="92"/>
                    <a:pt x="23" y="74"/>
                    <a:pt x="23" y="53"/>
                  </a:cubicBezTo>
                  <a:cubicBezTo>
                    <a:pt x="23" y="32"/>
                    <a:pt x="14" y="14"/>
                    <a:pt x="0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" name="Freeform 157">
              <a:extLst>
                <a:ext uri="{FF2B5EF4-FFF2-40B4-BE49-F238E27FC236}">
                  <a16:creationId xmlns:a16="http://schemas.microsoft.com/office/drawing/2014/main" id="{0EA42D5D-B34F-462D-A32B-C6AF6D9F1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38" y="4459288"/>
              <a:ext cx="34925" cy="171450"/>
            </a:xfrm>
            <a:custGeom>
              <a:avLst/>
              <a:gdLst>
                <a:gd name="T0" fmla="*/ 1 w 13"/>
                <a:gd name="T1" fmla="*/ 0 h 62"/>
                <a:gd name="T2" fmla="*/ 13 w 13"/>
                <a:gd name="T3" fmla="*/ 30 h 62"/>
                <a:gd name="T4" fmla="*/ 0 w 13"/>
                <a:gd name="T5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62">
                  <a:moveTo>
                    <a:pt x="1" y="0"/>
                  </a:moveTo>
                  <a:cubicBezTo>
                    <a:pt x="9" y="8"/>
                    <a:pt x="13" y="19"/>
                    <a:pt x="13" y="30"/>
                  </a:cubicBezTo>
                  <a:cubicBezTo>
                    <a:pt x="13" y="43"/>
                    <a:pt x="8" y="54"/>
                    <a:pt x="0" y="62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" name="Freeform 158">
              <a:extLst>
                <a:ext uri="{FF2B5EF4-FFF2-40B4-BE49-F238E27FC236}">
                  <a16:creationId xmlns:a16="http://schemas.microsoft.com/office/drawing/2014/main" id="{A42D55F0-7E68-41FE-A07E-16DBA628C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00" y="4332288"/>
              <a:ext cx="93663" cy="412750"/>
            </a:xfrm>
            <a:custGeom>
              <a:avLst/>
              <a:gdLst>
                <a:gd name="T0" fmla="*/ 34 w 34"/>
                <a:gd name="T1" fmla="*/ 0 h 149"/>
                <a:gd name="T2" fmla="*/ 0 w 34"/>
                <a:gd name="T3" fmla="*/ 76 h 149"/>
                <a:gd name="T4" fmla="*/ 30 w 34"/>
                <a:gd name="T5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149">
                  <a:moveTo>
                    <a:pt x="34" y="0"/>
                  </a:moveTo>
                  <a:cubicBezTo>
                    <a:pt x="13" y="19"/>
                    <a:pt x="0" y="46"/>
                    <a:pt x="0" y="76"/>
                  </a:cubicBezTo>
                  <a:cubicBezTo>
                    <a:pt x="0" y="105"/>
                    <a:pt x="11" y="130"/>
                    <a:pt x="30" y="149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" name="Freeform 159">
              <a:extLst>
                <a:ext uri="{FF2B5EF4-FFF2-40B4-BE49-F238E27FC236}">
                  <a16:creationId xmlns:a16="http://schemas.microsoft.com/office/drawing/2014/main" id="{0CAD5BE8-4B72-4663-B102-CDB2E611C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75" y="4395788"/>
              <a:ext cx="63500" cy="290513"/>
            </a:xfrm>
            <a:custGeom>
              <a:avLst/>
              <a:gdLst>
                <a:gd name="T0" fmla="*/ 21 w 23"/>
                <a:gd name="T1" fmla="*/ 105 h 105"/>
                <a:gd name="T2" fmla="*/ 0 w 23"/>
                <a:gd name="T3" fmla="*/ 53 h 105"/>
                <a:gd name="T4" fmla="*/ 23 w 23"/>
                <a:gd name="T5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105">
                  <a:moveTo>
                    <a:pt x="21" y="105"/>
                  </a:moveTo>
                  <a:cubicBezTo>
                    <a:pt x="8" y="92"/>
                    <a:pt x="0" y="74"/>
                    <a:pt x="0" y="53"/>
                  </a:cubicBezTo>
                  <a:cubicBezTo>
                    <a:pt x="0" y="32"/>
                    <a:pt x="9" y="14"/>
                    <a:pt x="23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" name="Freeform 160">
              <a:extLst>
                <a:ext uri="{FF2B5EF4-FFF2-40B4-BE49-F238E27FC236}">
                  <a16:creationId xmlns:a16="http://schemas.microsoft.com/office/drawing/2014/main" id="{8B936B11-971B-4334-8F87-AD481C571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8" y="4459288"/>
              <a:ext cx="34925" cy="171450"/>
            </a:xfrm>
            <a:custGeom>
              <a:avLst/>
              <a:gdLst>
                <a:gd name="T0" fmla="*/ 12 w 13"/>
                <a:gd name="T1" fmla="*/ 0 h 62"/>
                <a:gd name="T2" fmla="*/ 0 w 13"/>
                <a:gd name="T3" fmla="*/ 30 h 62"/>
                <a:gd name="T4" fmla="*/ 13 w 13"/>
                <a:gd name="T5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62">
                  <a:moveTo>
                    <a:pt x="12" y="0"/>
                  </a:moveTo>
                  <a:cubicBezTo>
                    <a:pt x="4" y="8"/>
                    <a:pt x="0" y="19"/>
                    <a:pt x="0" y="30"/>
                  </a:cubicBezTo>
                  <a:cubicBezTo>
                    <a:pt x="0" y="43"/>
                    <a:pt x="5" y="54"/>
                    <a:pt x="13" y="62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" name="Oval 161">
              <a:extLst>
                <a:ext uri="{FF2B5EF4-FFF2-40B4-BE49-F238E27FC236}">
                  <a16:creationId xmlns:a16="http://schemas.microsoft.com/office/drawing/2014/main" id="{2D84D2B5-3401-425C-9925-67F4C896F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075" y="4510088"/>
              <a:ext cx="57150" cy="57150"/>
            </a:xfrm>
            <a:prstGeom prst="ellips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33" name="Graphic 131">
            <a:extLst>
              <a:ext uri="{FF2B5EF4-FFF2-40B4-BE49-F238E27FC236}">
                <a16:creationId xmlns:a16="http://schemas.microsoft.com/office/drawing/2014/main" id="{44EA9F2B-73AC-4CE8-889B-E215506A3DCA}"/>
              </a:ext>
            </a:extLst>
          </p:cNvPr>
          <p:cNvGrpSpPr>
            <a:grpSpLocks/>
          </p:cNvGrpSpPr>
          <p:nvPr/>
        </p:nvGrpSpPr>
        <p:grpSpPr>
          <a:xfrm>
            <a:off x="7880275" y="5086590"/>
            <a:ext cx="308538" cy="308528"/>
            <a:chOff x="5800725" y="3133746"/>
            <a:chExt cx="590550" cy="590528"/>
          </a:xfrm>
          <a:noFill/>
        </p:grpSpPr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3617881D-F18D-433E-A3AA-D3AAF506A209}"/>
                </a:ext>
              </a:extLst>
            </p:cNvPr>
            <p:cNvSpPr/>
            <p:nvPr/>
          </p:nvSpPr>
          <p:spPr>
            <a:xfrm>
              <a:off x="5800725" y="3133746"/>
              <a:ext cx="590550" cy="590528"/>
            </a:xfrm>
            <a:custGeom>
              <a:avLst/>
              <a:gdLst>
                <a:gd name="connsiteX0" fmla="*/ 352132 w 590550"/>
                <a:gd name="connsiteY0" fmla="*/ 447539 h 590528"/>
                <a:gd name="connsiteX1" fmla="*/ 352132 w 590550"/>
                <a:gd name="connsiteY1" fmla="*/ 590414 h 590528"/>
                <a:gd name="connsiteX2" fmla="*/ 533107 w 590550"/>
                <a:gd name="connsiteY2" fmla="*/ 590414 h 590528"/>
                <a:gd name="connsiteX3" fmla="*/ 552157 w 590550"/>
                <a:gd name="connsiteY3" fmla="*/ 571364 h 590528"/>
                <a:gd name="connsiteX4" fmla="*/ 552157 w 590550"/>
                <a:gd name="connsiteY4" fmla="*/ 285614 h 590528"/>
                <a:gd name="connsiteX5" fmla="*/ 590257 w 590550"/>
                <a:gd name="connsiteY5" fmla="*/ 285614 h 590528"/>
                <a:gd name="connsiteX6" fmla="*/ 590257 w 590550"/>
                <a:gd name="connsiteY6" fmla="*/ 218939 h 590528"/>
                <a:gd name="connsiteX7" fmla="*/ 310889 w 590550"/>
                <a:gd name="connsiteY7" fmla="*/ 4721 h 590528"/>
                <a:gd name="connsiteX8" fmla="*/ 279075 w 590550"/>
                <a:gd name="connsiteY8" fmla="*/ 4721 h 590528"/>
                <a:gd name="connsiteX9" fmla="*/ -293 w 590550"/>
                <a:gd name="connsiteY9" fmla="*/ 218939 h 590528"/>
                <a:gd name="connsiteX10" fmla="*/ -293 w 590550"/>
                <a:gd name="connsiteY10" fmla="*/ 285614 h 590528"/>
                <a:gd name="connsiteX11" fmla="*/ 37807 w 590550"/>
                <a:gd name="connsiteY11" fmla="*/ 285614 h 590528"/>
                <a:gd name="connsiteX12" fmla="*/ 37807 w 590550"/>
                <a:gd name="connsiteY12" fmla="*/ 571364 h 590528"/>
                <a:gd name="connsiteX13" fmla="*/ 56857 w 590550"/>
                <a:gd name="connsiteY13" fmla="*/ 590414 h 590528"/>
                <a:gd name="connsiteX14" fmla="*/ 237832 w 590550"/>
                <a:gd name="connsiteY14" fmla="*/ 590414 h 590528"/>
                <a:gd name="connsiteX15" fmla="*/ 237832 w 590550"/>
                <a:gd name="connsiteY15" fmla="*/ 447539 h 590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0550" h="590528">
                  <a:moveTo>
                    <a:pt x="352132" y="447539"/>
                  </a:moveTo>
                  <a:lnTo>
                    <a:pt x="352132" y="590414"/>
                  </a:lnTo>
                  <a:lnTo>
                    <a:pt x="533107" y="590414"/>
                  </a:lnTo>
                  <a:cubicBezTo>
                    <a:pt x="543632" y="590414"/>
                    <a:pt x="552157" y="581889"/>
                    <a:pt x="552157" y="571364"/>
                  </a:cubicBezTo>
                  <a:lnTo>
                    <a:pt x="552157" y="285614"/>
                  </a:lnTo>
                  <a:lnTo>
                    <a:pt x="590257" y="285614"/>
                  </a:lnTo>
                  <a:lnTo>
                    <a:pt x="590257" y="218939"/>
                  </a:lnTo>
                  <a:lnTo>
                    <a:pt x="310889" y="4721"/>
                  </a:lnTo>
                  <a:cubicBezTo>
                    <a:pt x="301269" y="-1727"/>
                    <a:pt x="288695" y="-1727"/>
                    <a:pt x="279075" y="4721"/>
                  </a:cubicBezTo>
                  <a:lnTo>
                    <a:pt x="-293" y="218939"/>
                  </a:lnTo>
                  <a:lnTo>
                    <a:pt x="-293" y="285614"/>
                  </a:lnTo>
                  <a:lnTo>
                    <a:pt x="37807" y="285614"/>
                  </a:lnTo>
                  <a:lnTo>
                    <a:pt x="37807" y="571364"/>
                  </a:lnTo>
                  <a:cubicBezTo>
                    <a:pt x="37807" y="581889"/>
                    <a:pt x="46332" y="590414"/>
                    <a:pt x="56857" y="590414"/>
                  </a:cubicBezTo>
                  <a:lnTo>
                    <a:pt x="237832" y="590414"/>
                  </a:lnTo>
                  <a:lnTo>
                    <a:pt x="237832" y="447539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A99C296-12C7-4C6E-9273-A5DAF391CDD6}"/>
                </a:ext>
              </a:extLst>
            </p:cNvPr>
            <p:cNvSpPr/>
            <p:nvPr/>
          </p:nvSpPr>
          <p:spPr>
            <a:xfrm>
              <a:off x="6238875" y="3143250"/>
              <a:ext cx="114300" cy="114300"/>
            </a:xfrm>
            <a:custGeom>
              <a:avLst/>
              <a:gdLst>
                <a:gd name="connsiteX0" fmla="*/ 0 w 114300"/>
                <a:gd name="connsiteY0" fmla="*/ 38100 h 114300"/>
                <a:gd name="connsiteX1" fmla="*/ 0 w 114300"/>
                <a:gd name="connsiteY1" fmla="*/ 0 h 114300"/>
                <a:gd name="connsiteX2" fmla="*/ 114300 w 114300"/>
                <a:gd name="connsiteY2" fmla="*/ 0 h 114300"/>
                <a:gd name="connsiteX3" fmla="*/ 114300 w 114300"/>
                <a:gd name="connsiteY3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" h="114300">
                  <a:moveTo>
                    <a:pt x="0" y="38100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11430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EB26654-E091-4C7C-8A5A-593A6021B711}"/>
                </a:ext>
              </a:extLst>
            </p:cNvPr>
            <p:cNvSpPr/>
            <p:nvPr/>
          </p:nvSpPr>
          <p:spPr>
            <a:xfrm>
              <a:off x="5972171" y="3357276"/>
              <a:ext cx="247665" cy="227647"/>
            </a:xfrm>
            <a:custGeom>
              <a:avLst/>
              <a:gdLst>
                <a:gd name="connsiteX0" fmla="*/ 161636 w 247665"/>
                <a:gd name="connsiteY0" fmla="*/ 227532 h 227647"/>
                <a:gd name="connsiteX1" fmla="*/ 241322 w 247665"/>
                <a:gd name="connsiteY1" fmla="*/ 71599 h 227647"/>
                <a:gd name="connsiteX2" fmla="*/ 180686 w 247665"/>
                <a:gd name="connsiteY2" fmla="*/ -115 h 227647"/>
                <a:gd name="connsiteX3" fmla="*/ 180686 w 247665"/>
                <a:gd name="connsiteY3" fmla="*/ 100183 h 227647"/>
                <a:gd name="connsiteX4" fmla="*/ 152111 w 247665"/>
                <a:gd name="connsiteY4" fmla="*/ 128758 h 227647"/>
                <a:gd name="connsiteX5" fmla="*/ 94961 w 247665"/>
                <a:gd name="connsiteY5" fmla="*/ 128758 h 227647"/>
                <a:gd name="connsiteX6" fmla="*/ 66386 w 247665"/>
                <a:gd name="connsiteY6" fmla="*/ 100183 h 227647"/>
                <a:gd name="connsiteX7" fmla="*/ 66386 w 247665"/>
                <a:gd name="connsiteY7" fmla="*/ -115 h 227647"/>
                <a:gd name="connsiteX8" fmla="*/ 13722 w 247665"/>
                <a:gd name="connsiteY8" fmla="*/ 166896 h 227647"/>
                <a:gd name="connsiteX9" fmla="*/ 85436 w 247665"/>
                <a:gd name="connsiteY9" fmla="*/ 227532 h 22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7665" h="227647">
                  <a:moveTo>
                    <a:pt x="161636" y="227532"/>
                  </a:moveTo>
                  <a:cubicBezTo>
                    <a:pt x="226701" y="206482"/>
                    <a:pt x="262382" y="136664"/>
                    <a:pt x="241322" y="71599"/>
                  </a:cubicBezTo>
                  <a:cubicBezTo>
                    <a:pt x="231311" y="40662"/>
                    <a:pt x="209528" y="14896"/>
                    <a:pt x="180686" y="-115"/>
                  </a:cubicBezTo>
                  <a:lnTo>
                    <a:pt x="180686" y="100183"/>
                  </a:lnTo>
                  <a:lnTo>
                    <a:pt x="152111" y="128758"/>
                  </a:lnTo>
                  <a:lnTo>
                    <a:pt x="94961" y="128758"/>
                  </a:lnTo>
                  <a:lnTo>
                    <a:pt x="66386" y="100183"/>
                  </a:lnTo>
                  <a:lnTo>
                    <a:pt x="66386" y="-115"/>
                  </a:lnTo>
                  <a:cubicBezTo>
                    <a:pt x="5721" y="31460"/>
                    <a:pt x="-17853" y="106232"/>
                    <a:pt x="13722" y="166896"/>
                  </a:cubicBezTo>
                  <a:cubicBezTo>
                    <a:pt x="28733" y="195738"/>
                    <a:pt x="54499" y="217522"/>
                    <a:pt x="85436" y="227532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39" name="Graphic 137">
            <a:extLst>
              <a:ext uri="{FF2B5EF4-FFF2-40B4-BE49-F238E27FC236}">
                <a16:creationId xmlns:a16="http://schemas.microsoft.com/office/drawing/2014/main" id="{672A9BCE-1EE3-475D-9CFD-0EE4E9A0F8BD}"/>
              </a:ext>
            </a:extLst>
          </p:cNvPr>
          <p:cNvGrpSpPr>
            <a:grpSpLocks/>
          </p:cNvGrpSpPr>
          <p:nvPr/>
        </p:nvGrpSpPr>
        <p:grpSpPr>
          <a:xfrm>
            <a:off x="7878392" y="2007880"/>
            <a:ext cx="312304" cy="318948"/>
            <a:chOff x="5872162" y="3200400"/>
            <a:chExt cx="447675" cy="457200"/>
          </a:xfrm>
        </p:grpSpPr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07C9F35C-BC5E-4790-91A5-8039BDEF2483}"/>
                </a:ext>
              </a:extLst>
            </p:cNvPr>
            <p:cNvSpPr/>
            <p:nvPr/>
          </p:nvSpPr>
          <p:spPr>
            <a:xfrm>
              <a:off x="5881687" y="3257550"/>
              <a:ext cx="342900" cy="390525"/>
            </a:xfrm>
            <a:custGeom>
              <a:avLst/>
              <a:gdLst>
                <a:gd name="connsiteX0" fmla="*/ 342852 w 342900"/>
                <a:gd name="connsiteY0" fmla="*/ 333167 h 390525"/>
                <a:gd name="connsiteX1" fmla="*/ 342852 w 342900"/>
                <a:gd name="connsiteY1" fmla="*/ 371267 h 390525"/>
                <a:gd name="connsiteX2" fmla="*/ 323802 w 342900"/>
                <a:gd name="connsiteY2" fmla="*/ 390317 h 390525"/>
                <a:gd name="connsiteX3" fmla="*/ 19002 w 342900"/>
                <a:gd name="connsiteY3" fmla="*/ 390317 h 390525"/>
                <a:gd name="connsiteX4" fmla="*/ -48 w 342900"/>
                <a:gd name="connsiteY4" fmla="*/ 371267 h 390525"/>
                <a:gd name="connsiteX5" fmla="*/ -48 w 342900"/>
                <a:gd name="connsiteY5" fmla="*/ 18842 h 390525"/>
                <a:gd name="connsiteX6" fmla="*/ 19002 w 342900"/>
                <a:gd name="connsiteY6" fmla="*/ -208 h 390525"/>
                <a:gd name="connsiteX7" fmla="*/ 57102 w 342900"/>
                <a:gd name="connsiteY7" fmla="*/ -20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00" h="390525">
                  <a:moveTo>
                    <a:pt x="342852" y="333167"/>
                  </a:moveTo>
                  <a:lnTo>
                    <a:pt x="342852" y="371267"/>
                  </a:lnTo>
                  <a:cubicBezTo>
                    <a:pt x="342852" y="381792"/>
                    <a:pt x="334323" y="390317"/>
                    <a:pt x="323802" y="390317"/>
                  </a:cubicBezTo>
                  <a:lnTo>
                    <a:pt x="19002" y="390317"/>
                  </a:lnTo>
                  <a:cubicBezTo>
                    <a:pt x="8481" y="390317"/>
                    <a:pt x="-48" y="381792"/>
                    <a:pt x="-48" y="371267"/>
                  </a:cubicBezTo>
                  <a:lnTo>
                    <a:pt x="-48" y="18842"/>
                  </a:lnTo>
                  <a:cubicBezTo>
                    <a:pt x="-48" y="8317"/>
                    <a:pt x="8481" y="-208"/>
                    <a:pt x="19002" y="-208"/>
                  </a:cubicBezTo>
                  <a:lnTo>
                    <a:pt x="57102" y="-208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5D32BF74-454A-46CE-8FA5-9D7DF62046CF}"/>
                </a:ext>
              </a:extLst>
            </p:cNvPr>
            <p:cNvSpPr/>
            <p:nvPr/>
          </p:nvSpPr>
          <p:spPr>
            <a:xfrm>
              <a:off x="6167437" y="3257550"/>
              <a:ext cx="57150" cy="66675"/>
            </a:xfrm>
            <a:custGeom>
              <a:avLst/>
              <a:gdLst>
                <a:gd name="connsiteX0" fmla="*/ -48 w 57150"/>
                <a:gd name="connsiteY0" fmla="*/ -208 h 66675"/>
                <a:gd name="connsiteX1" fmla="*/ 38052 w 57150"/>
                <a:gd name="connsiteY1" fmla="*/ -208 h 66675"/>
                <a:gd name="connsiteX2" fmla="*/ 57102 w 57150"/>
                <a:gd name="connsiteY2" fmla="*/ 18842 h 66675"/>
                <a:gd name="connsiteX3" fmla="*/ 57102 w 57150"/>
                <a:gd name="connsiteY3" fmla="*/ 66467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66675">
                  <a:moveTo>
                    <a:pt x="-48" y="-208"/>
                  </a:moveTo>
                  <a:lnTo>
                    <a:pt x="38052" y="-208"/>
                  </a:lnTo>
                  <a:cubicBezTo>
                    <a:pt x="48573" y="-208"/>
                    <a:pt x="57102" y="8317"/>
                    <a:pt x="57102" y="18842"/>
                  </a:cubicBezTo>
                  <a:lnTo>
                    <a:pt x="57102" y="66467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782C9AF-65D1-4B31-B650-9E1E817B25C3}"/>
                </a:ext>
              </a:extLst>
            </p:cNvPr>
            <p:cNvSpPr/>
            <p:nvPr/>
          </p:nvSpPr>
          <p:spPr>
            <a:xfrm>
              <a:off x="5919787" y="3295650"/>
              <a:ext cx="266700" cy="314325"/>
            </a:xfrm>
            <a:custGeom>
              <a:avLst/>
              <a:gdLst>
                <a:gd name="connsiteX0" fmla="*/ 266700 w 266700"/>
                <a:gd name="connsiteY0" fmla="*/ 295275 h 314325"/>
                <a:gd name="connsiteX1" fmla="*/ 266700 w 266700"/>
                <a:gd name="connsiteY1" fmla="*/ 314325 h 314325"/>
                <a:gd name="connsiteX2" fmla="*/ 0 w 266700"/>
                <a:gd name="connsiteY2" fmla="*/ 314325 h 314325"/>
                <a:gd name="connsiteX3" fmla="*/ 0 w 266700"/>
                <a:gd name="connsiteY3" fmla="*/ 0 h 314325"/>
                <a:gd name="connsiteX4" fmla="*/ 19050 w 266700"/>
                <a:gd name="connsiteY4" fmla="*/ 0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700" h="314325">
                  <a:moveTo>
                    <a:pt x="266700" y="295275"/>
                  </a:moveTo>
                  <a:lnTo>
                    <a:pt x="266700" y="314325"/>
                  </a:lnTo>
                  <a:lnTo>
                    <a:pt x="0" y="314325"/>
                  </a:lnTo>
                  <a:lnTo>
                    <a:pt x="0" y="0"/>
                  </a:lnTo>
                  <a:lnTo>
                    <a:pt x="19050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6534357D-672C-4DA0-A7AE-3ECD491E7B4A}"/>
                </a:ext>
              </a:extLst>
            </p:cNvPr>
            <p:cNvSpPr/>
            <p:nvPr/>
          </p:nvSpPr>
          <p:spPr>
            <a:xfrm>
              <a:off x="6167437" y="3295650"/>
              <a:ext cx="19050" cy="28575"/>
            </a:xfrm>
            <a:custGeom>
              <a:avLst/>
              <a:gdLst>
                <a:gd name="connsiteX0" fmla="*/ 0 w 19050"/>
                <a:gd name="connsiteY0" fmla="*/ 0 h 28575"/>
                <a:gd name="connsiteX1" fmla="*/ 19050 w 19050"/>
                <a:gd name="connsiteY1" fmla="*/ 0 h 28575"/>
                <a:gd name="connsiteX2" fmla="*/ 19050 w 19050"/>
                <a:gd name="connsiteY2" fmla="*/ 2857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" h="28575">
                  <a:moveTo>
                    <a:pt x="0" y="0"/>
                  </a:moveTo>
                  <a:lnTo>
                    <a:pt x="19050" y="0"/>
                  </a:lnTo>
                  <a:lnTo>
                    <a:pt x="19050" y="28575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4887948-0215-4632-A37A-E0090ECDF338}"/>
                </a:ext>
              </a:extLst>
            </p:cNvPr>
            <p:cNvSpPr/>
            <p:nvPr/>
          </p:nvSpPr>
          <p:spPr>
            <a:xfrm>
              <a:off x="5957887" y="3209925"/>
              <a:ext cx="190500" cy="95250"/>
            </a:xfrm>
            <a:custGeom>
              <a:avLst/>
              <a:gdLst>
                <a:gd name="connsiteX0" fmla="*/ 161877 w 190500"/>
                <a:gd name="connsiteY0" fmla="*/ 37892 h 95250"/>
                <a:gd name="connsiteX1" fmla="*/ 133302 w 190500"/>
                <a:gd name="connsiteY1" fmla="*/ 37892 h 95250"/>
                <a:gd name="connsiteX2" fmla="*/ 95202 w 190500"/>
                <a:gd name="connsiteY2" fmla="*/ -208 h 95250"/>
                <a:gd name="connsiteX3" fmla="*/ 57102 w 190500"/>
                <a:gd name="connsiteY3" fmla="*/ 37892 h 95250"/>
                <a:gd name="connsiteX4" fmla="*/ 28527 w 190500"/>
                <a:gd name="connsiteY4" fmla="*/ 37892 h 95250"/>
                <a:gd name="connsiteX5" fmla="*/ -48 w 190500"/>
                <a:gd name="connsiteY5" fmla="*/ 66467 h 95250"/>
                <a:gd name="connsiteX6" fmla="*/ -48 w 190500"/>
                <a:gd name="connsiteY6" fmla="*/ 95042 h 95250"/>
                <a:gd name="connsiteX7" fmla="*/ 190452 w 190500"/>
                <a:gd name="connsiteY7" fmla="*/ 95042 h 95250"/>
                <a:gd name="connsiteX8" fmla="*/ 190452 w 190500"/>
                <a:gd name="connsiteY8" fmla="*/ 66467 h 95250"/>
                <a:gd name="connsiteX9" fmla="*/ 161877 w 190500"/>
                <a:gd name="connsiteY9" fmla="*/ 3789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0500" h="95250">
                  <a:moveTo>
                    <a:pt x="161877" y="37892"/>
                  </a:moveTo>
                  <a:lnTo>
                    <a:pt x="133302" y="37892"/>
                  </a:lnTo>
                  <a:cubicBezTo>
                    <a:pt x="133302" y="16851"/>
                    <a:pt x="116244" y="-208"/>
                    <a:pt x="95202" y="-208"/>
                  </a:cubicBezTo>
                  <a:cubicBezTo>
                    <a:pt x="74160" y="-208"/>
                    <a:pt x="57102" y="16851"/>
                    <a:pt x="57102" y="37892"/>
                  </a:cubicBezTo>
                  <a:lnTo>
                    <a:pt x="28527" y="37892"/>
                  </a:lnTo>
                  <a:cubicBezTo>
                    <a:pt x="12745" y="37892"/>
                    <a:pt x="-48" y="50684"/>
                    <a:pt x="-48" y="66467"/>
                  </a:cubicBezTo>
                  <a:lnTo>
                    <a:pt x="-48" y="95042"/>
                  </a:lnTo>
                  <a:lnTo>
                    <a:pt x="190452" y="95042"/>
                  </a:lnTo>
                  <a:lnTo>
                    <a:pt x="190452" y="66467"/>
                  </a:lnTo>
                  <a:cubicBezTo>
                    <a:pt x="190452" y="50684"/>
                    <a:pt x="177659" y="37892"/>
                    <a:pt x="161877" y="37892"/>
                  </a:cubicBez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B6D84A3C-1406-4F76-A89E-84601591CBC6}"/>
                </a:ext>
              </a:extLst>
            </p:cNvPr>
            <p:cNvSpPr/>
            <p:nvPr/>
          </p:nvSpPr>
          <p:spPr>
            <a:xfrm>
              <a:off x="6053137" y="3238500"/>
              <a:ext cx="9525" cy="19050"/>
            </a:xfrm>
            <a:custGeom>
              <a:avLst/>
              <a:gdLst>
                <a:gd name="connsiteX0" fmla="*/ 0 w 9525"/>
                <a:gd name="connsiteY0" fmla="*/ 0 h 19050"/>
                <a:gd name="connsiteX1" fmla="*/ 0 w 9525"/>
                <a:gd name="connsiteY1" fmla="*/ 1905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9050">
                  <a:moveTo>
                    <a:pt x="0" y="0"/>
                  </a:moveTo>
                  <a:lnTo>
                    <a:pt x="0" y="1905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A0BEB68-BC1C-4A20-8205-C77FC0D43722}"/>
                </a:ext>
              </a:extLst>
            </p:cNvPr>
            <p:cNvSpPr/>
            <p:nvPr/>
          </p:nvSpPr>
          <p:spPr>
            <a:xfrm>
              <a:off x="6081712" y="3343275"/>
              <a:ext cx="228600" cy="228600"/>
            </a:xfrm>
            <a:custGeom>
              <a:avLst/>
              <a:gdLst>
                <a:gd name="connsiteX0" fmla="*/ 228600 w 228600"/>
                <a:gd name="connsiteY0" fmla="*/ 114300 h 228600"/>
                <a:gd name="connsiteX1" fmla="*/ 114300 w 228600"/>
                <a:gd name="connsiteY1" fmla="*/ 228600 h 228600"/>
                <a:gd name="connsiteX2" fmla="*/ 0 w 228600"/>
                <a:gd name="connsiteY2" fmla="*/ 114300 h 228600"/>
                <a:gd name="connsiteX3" fmla="*/ 114300 w 228600"/>
                <a:gd name="connsiteY3" fmla="*/ 0 h 228600"/>
                <a:gd name="connsiteX4" fmla="*/ 228600 w 228600"/>
                <a:gd name="connsiteY4" fmla="*/ 1143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" h="228600">
                  <a:moveTo>
                    <a:pt x="228600" y="114300"/>
                  </a:move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ubicBezTo>
                    <a:pt x="177426" y="0"/>
                    <a:pt x="228600" y="51174"/>
                    <a:pt x="228600" y="114300"/>
                  </a:cubicBez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BE56468C-7FDB-441C-9854-599B29495DA9}"/>
                </a:ext>
              </a:extLst>
            </p:cNvPr>
            <p:cNvSpPr/>
            <p:nvPr/>
          </p:nvSpPr>
          <p:spPr>
            <a:xfrm>
              <a:off x="6196012" y="3371850"/>
              <a:ext cx="38100" cy="133350"/>
            </a:xfrm>
            <a:custGeom>
              <a:avLst/>
              <a:gdLst>
                <a:gd name="connsiteX0" fmla="*/ 0 w 38100"/>
                <a:gd name="connsiteY0" fmla="*/ 0 h 133350"/>
                <a:gd name="connsiteX1" fmla="*/ 0 w 38100"/>
                <a:gd name="connsiteY1" fmla="*/ 85725 h 133350"/>
                <a:gd name="connsiteX2" fmla="*/ 38100 w 38100"/>
                <a:gd name="connsiteY2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" h="133350">
                  <a:moveTo>
                    <a:pt x="0" y="0"/>
                  </a:moveTo>
                  <a:lnTo>
                    <a:pt x="0" y="85725"/>
                  </a:lnTo>
                  <a:lnTo>
                    <a:pt x="38100" y="13335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4C6B174-4FEC-46F7-9497-9F086EED765C}"/>
                </a:ext>
              </a:extLst>
            </p:cNvPr>
            <p:cNvSpPr/>
            <p:nvPr/>
          </p:nvSpPr>
          <p:spPr>
            <a:xfrm>
              <a:off x="5967412" y="3362325"/>
              <a:ext cx="57150" cy="47625"/>
            </a:xfrm>
            <a:custGeom>
              <a:avLst/>
              <a:gdLst>
                <a:gd name="connsiteX0" fmla="*/ 0 w 57150"/>
                <a:gd name="connsiteY0" fmla="*/ 28575 h 47625"/>
                <a:gd name="connsiteX1" fmla="*/ 19050 w 57150"/>
                <a:gd name="connsiteY1" fmla="*/ 47625 h 47625"/>
                <a:gd name="connsiteX2" fmla="*/ 57150 w 57150"/>
                <a:gd name="connsiteY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0" h="47625">
                  <a:moveTo>
                    <a:pt x="0" y="28575"/>
                  </a:moveTo>
                  <a:lnTo>
                    <a:pt x="19050" y="47625"/>
                  </a:lnTo>
                  <a:lnTo>
                    <a:pt x="57150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3AD796EC-AEC7-4E68-B51D-46ACA82675D4}"/>
                </a:ext>
              </a:extLst>
            </p:cNvPr>
            <p:cNvSpPr/>
            <p:nvPr/>
          </p:nvSpPr>
          <p:spPr>
            <a:xfrm>
              <a:off x="5967412" y="3438525"/>
              <a:ext cx="57150" cy="47625"/>
            </a:xfrm>
            <a:custGeom>
              <a:avLst/>
              <a:gdLst>
                <a:gd name="connsiteX0" fmla="*/ 0 w 57150"/>
                <a:gd name="connsiteY0" fmla="*/ 28575 h 47625"/>
                <a:gd name="connsiteX1" fmla="*/ 19050 w 57150"/>
                <a:gd name="connsiteY1" fmla="*/ 47625 h 47625"/>
                <a:gd name="connsiteX2" fmla="*/ 57150 w 57150"/>
                <a:gd name="connsiteY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0" h="47625">
                  <a:moveTo>
                    <a:pt x="0" y="28575"/>
                  </a:moveTo>
                  <a:lnTo>
                    <a:pt x="19050" y="47625"/>
                  </a:lnTo>
                  <a:lnTo>
                    <a:pt x="57150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98A8174E-A8B3-4FC7-9D78-5FBA1CF2659E}"/>
                </a:ext>
              </a:extLst>
            </p:cNvPr>
            <p:cNvSpPr/>
            <p:nvPr/>
          </p:nvSpPr>
          <p:spPr>
            <a:xfrm>
              <a:off x="5967412" y="3514725"/>
              <a:ext cx="57150" cy="47625"/>
            </a:xfrm>
            <a:custGeom>
              <a:avLst/>
              <a:gdLst>
                <a:gd name="connsiteX0" fmla="*/ 0 w 57150"/>
                <a:gd name="connsiteY0" fmla="*/ 28575 h 47625"/>
                <a:gd name="connsiteX1" fmla="*/ 19050 w 57150"/>
                <a:gd name="connsiteY1" fmla="*/ 47625 h 47625"/>
                <a:gd name="connsiteX2" fmla="*/ 57150 w 57150"/>
                <a:gd name="connsiteY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0" h="47625">
                  <a:moveTo>
                    <a:pt x="0" y="28575"/>
                  </a:moveTo>
                  <a:lnTo>
                    <a:pt x="19050" y="47625"/>
                  </a:lnTo>
                  <a:lnTo>
                    <a:pt x="57150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3" name="Graphic 151">
            <a:extLst>
              <a:ext uri="{FF2B5EF4-FFF2-40B4-BE49-F238E27FC236}">
                <a16:creationId xmlns:a16="http://schemas.microsoft.com/office/drawing/2014/main" id="{1081F9A7-8436-4482-9190-AC3C5636F1FA}"/>
              </a:ext>
            </a:extLst>
          </p:cNvPr>
          <p:cNvGrpSpPr/>
          <p:nvPr/>
        </p:nvGrpSpPr>
        <p:grpSpPr>
          <a:xfrm>
            <a:off x="7879067" y="3036118"/>
            <a:ext cx="310954" cy="311472"/>
            <a:chOff x="5991129" y="3324224"/>
            <a:chExt cx="212618" cy="212972"/>
          </a:xfrm>
          <a:noFill/>
        </p:grpSpPr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5F352810-579C-4402-AAF4-51879FABE61E}"/>
                </a:ext>
              </a:extLst>
            </p:cNvPr>
            <p:cNvSpPr/>
            <p:nvPr/>
          </p:nvSpPr>
          <p:spPr>
            <a:xfrm>
              <a:off x="5991129" y="3324943"/>
              <a:ext cx="212618" cy="212253"/>
            </a:xfrm>
            <a:custGeom>
              <a:avLst/>
              <a:gdLst>
                <a:gd name="connsiteX0" fmla="*/ 1475 w 212618"/>
                <a:gd name="connsiteY0" fmla="*/ 10686 h 212253"/>
                <a:gd name="connsiteX1" fmla="*/ 522 w 212618"/>
                <a:gd name="connsiteY1" fmla="*/ 23354 h 212253"/>
                <a:gd name="connsiteX2" fmla="*/ 65102 w 212618"/>
                <a:gd name="connsiteY2" fmla="*/ 147179 h 212253"/>
                <a:gd name="connsiteX3" fmla="*/ 188927 w 212618"/>
                <a:gd name="connsiteY3" fmla="*/ 211377 h 212253"/>
                <a:gd name="connsiteX4" fmla="*/ 201595 w 212618"/>
                <a:gd name="connsiteY4" fmla="*/ 210520 h 212253"/>
                <a:gd name="connsiteX5" fmla="*/ 204643 w 212618"/>
                <a:gd name="connsiteY5" fmla="*/ 206615 h 212253"/>
                <a:gd name="connsiteX6" fmla="*/ 212358 w 212618"/>
                <a:gd name="connsiteY6" fmla="*/ 172420 h 212253"/>
                <a:gd name="connsiteX7" fmla="*/ 209406 w 212618"/>
                <a:gd name="connsiteY7" fmla="*/ 163943 h 212253"/>
                <a:gd name="connsiteX8" fmla="*/ 170067 w 212618"/>
                <a:gd name="connsiteY8" fmla="*/ 147465 h 212253"/>
                <a:gd name="connsiteX9" fmla="*/ 156637 w 212618"/>
                <a:gd name="connsiteY9" fmla="*/ 150513 h 212253"/>
                <a:gd name="connsiteX10" fmla="*/ 151875 w 212618"/>
                <a:gd name="connsiteY10" fmla="*/ 158704 h 212253"/>
                <a:gd name="connsiteX11" fmla="*/ 144350 w 212618"/>
                <a:gd name="connsiteY11" fmla="*/ 164324 h 212253"/>
                <a:gd name="connsiteX12" fmla="*/ 87200 w 212618"/>
                <a:gd name="connsiteY12" fmla="*/ 125081 h 212253"/>
                <a:gd name="connsiteX13" fmla="*/ 46528 w 212618"/>
                <a:gd name="connsiteY13" fmla="*/ 66597 h 212253"/>
                <a:gd name="connsiteX14" fmla="*/ 52148 w 212618"/>
                <a:gd name="connsiteY14" fmla="*/ 59168 h 212253"/>
                <a:gd name="connsiteX15" fmla="*/ 60339 w 212618"/>
                <a:gd name="connsiteY15" fmla="*/ 54405 h 212253"/>
                <a:gd name="connsiteX16" fmla="*/ 63483 w 212618"/>
                <a:gd name="connsiteY16" fmla="*/ 40975 h 212253"/>
                <a:gd name="connsiteX17" fmla="*/ 51481 w 212618"/>
                <a:gd name="connsiteY17" fmla="*/ 8019 h 212253"/>
                <a:gd name="connsiteX18" fmla="*/ 40051 w 212618"/>
                <a:gd name="connsiteY18" fmla="*/ -173 h 212253"/>
                <a:gd name="connsiteX19" fmla="*/ 5571 w 212618"/>
                <a:gd name="connsiteY19" fmla="*/ 7542 h 212253"/>
                <a:gd name="connsiteX20" fmla="*/ 1475 w 212618"/>
                <a:gd name="connsiteY20" fmla="*/ 10686 h 212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12618" h="212253">
                  <a:moveTo>
                    <a:pt x="1475" y="10686"/>
                  </a:moveTo>
                  <a:cubicBezTo>
                    <a:pt x="-287" y="14677"/>
                    <a:pt x="-621" y="19144"/>
                    <a:pt x="522" y="23354"/>
                  </a:cubicBezTo>
                  <a:cubicBezTo>
                    <a:pt x="8885" y="70265"/>
                    <a:pt x="31421" y="113480"/>
                    <a:pt x="65102" y="147179"/>
                  </a:cubicBezTo>
                  <a:cubicBezTo>
                    <a:pt x="98601" y="181069"/>
                    <a:pt x="141931" y="203538"/>
                    <a:pt x="188927" y="211377"/>
                  </a:cubicBezTo>
                  <a:cubicBezTo>
                    <a:pt x="193127" y="212492"/>
                    <a:pt x="197585" y="212187"/>
                    <a:pt x="201595" y="210520"/>
                  </a:cubicBezTo>
                  <a:cubicBezTo>
                    <a:pt x="203138" y="209730"/>
                    <a:pt x="204253" y="208301"/>
                    <a:pt x="204643" y="206615"/>
                  </a:cubicBezTo>
                  <a:lnTo>
                    <a:pt x="212358" y="172420"/>
                  </a:lnTo>
                  <a:cubicBezTo>
                    <a:pt x="212854" y="169277"/>
                    <a:pt x="211739" y="166096"/>
                    <a:pt x="209406" y="163943"/>
                  </a:cubicBezTo>
                  <a:cubicBezTo>
                    <a:pt x="208263" y="162800"/>
                    <a:pt x="182355" y="153465"/>
                    <a:pt x="170067" y="147465"/>
                  </a:cubicBezTo>
                  <a:cubicBezTo>
                    <a:pt x="165467" y="144941"/>
                    <a:pt x="159695" y="146245"/>
                    <a:pt x="156637" y="150513"/>
                  </a:cubicBezTo>
                  <a:lnTo>
                    <a:pt x="151875" y="158704"/>
                  </a:lnTo>
                  <a:cubicBezTo>
                    <a:pt x="150217" y="161505"/>
                    <a:pt x="147512" y="163533"/>
                    <a:pt x="144350" y="164324"/>
                  </a:cubicBezTo>
                  <a:cubicBezTo>
                    <a:pt x="132348" y="167372"/>
                    <a:pt x="95201" y="133177"/>
                    <a:pt x="87200" y="125081"/>
                  </a:cubicBezTo>
                  <a:cubicBezTo>
                    <a:pt x="79199" y="116985"/>
                    <a:pt x="43480" y="78599"/>
                    <a:pt x="46528" y="66597"/>
                  </a:cubicBezTo>
                  <a:cubicBezTo>
                    <a:pt x="47328" y="63464"/>
                    <a:pt x="49348" y="60787"/>
                    <a:pt x="52148" y="59168"/>
                  </a:cubicBezTo>
                  <a:lnTo>
                    <a:pt x="60339" y="54405"/>
                  </a:lnTo>
                  <a:cubicBezTo>
                    <a:pt x="64635" y="51376"/>
                    <a:pt x="65988" y="45604"/>
                    <a:pt x="63483" y="40975"/>
                  </a:cubicBezTo>
                  <a:cubicBezTo>
                    <a:pt x="58530" y="30364"/>
                    <a:pt x="54510" y="19334"/>
                    <a:pt x="51481" y="8019"/>
                  </a:cubicBezTo>
                  <a:cubicBezTo>
                    <a:pt x="50224" y="2837"/>
                    <a:pt x="45366" y="-649"/>
                    <a:pt x="40051" y="-173"/>
                  </a:cubicBezTo>
                  <a:lnTo>
                    <a:pt x="5571" y="7542"/>
                  </a:lnTo>
                  <a:cubicBezTo>
                    <a:pt x="3808" y="7933"/>
                    <a:pt x="2304" y="9085"/>
                    <a:pt x="1475" y="10686"/>
                  </a:cubicBez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52DC901D-AD86-49F5-ACD4-B6D25A7B30CE}"/>
                </a:ext>
              </a:extLst>
            </p:cNvPr>
            <p:cNvSpPr/>
            <p:nvPr/>
          </p:nvSpPr>
          <p:spPr>
            <a:xfrm>
              <a:off x="6097237" y="3352894"/>
              <a:ext cx="67722" cy="67722"/>
            </a:xfrm>
            <a:custGeom>
              <a:avLst/>
              <a:gdLst>
                <a:gd name="connsiteX0" fmla="*/ -144 w 67722"/>
                <a:gd name="connsiteY0" fmla="*/ -216 h 67722"/>
                <a:gd name="connsiteX1" fmla="*/ 67579 w 67722"/>
                <a:gd name="connsiteY1" fmla="*/ 67506 h 67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722" h="67722">
                  <a:moveTo>
                    <a:pt x="-144" y="-216"/>
                  </a:moveTo>
                  <a:cubicBezTo>
                    <a:pt x="37261" y="-216"/>
                    <a:pt x="67579" y="30102"/>
                    <a:pt x="67579" y="67506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DC3706C-7A55-4F1B-A260-4B7159509606}"/>
                </a:ext>
              </a:extLst>
            </p:cNvPr>
            <p:cNvSpPr/>
            <p:nvPr/>
          </p:nvSpPr>
          <p:spPr>
            <a:xfrm>
              <a:off x="6097237" y="3324224"/>
              <a:ext cx="96392" cy="96392"/>
            </a:xfrm>
            <a:custGeom>
              <a:avLst/>
              <a:gdLst>
                <a:gd name="connsiteX0" fmla="*/ -144 w 96392"/>
                <a:gd name="connsiteY0" fmla="*/ -216 h 96392"/>
                <a:gd name="connsiteX1" fmla="*/ 96249 w 96392"/>
                <a:gd name="connsiteY1" fmla="*/ 96177 h 96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392" h="96392">
                  <a:moveTo>
                    <a:pt x="-144" y="-216"/>
                  </a:moveTo>
                  <a:cubicBezTo>
                    <a:pt x="53091" y="-216"/>
                    <a:pt x="96249" y="42942"/>
                    <a:pt x="96249" y="96177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AA52D223-1CDF-4220-92F0-D79ED7B977D9}"/>
              </a:ext>
            </a:extLst>
          </p:cNvPr>
          <p:cNvGrpSpPr>
            <a:grpSpLocks/>
          </p:cNvGrpSpPr>
          <p:nvPr/>
        </p:nvGrpSpPr>
        <p:grpSpPr>
          <a:xfrm>
            <a:off x="7860270" y="2520130"/>
            <a:ext cx="312304" cy="318948"/>
            <a:chOff x="1811339" y="1963738"/>
            <a:chExt cx="822325" cy="822325"/>
          </a:xfrm>
        </p:grpSpPr>
        <p:sp>
          <p:nvSpPr>
            <p:cNvPr id="158" name="Oval 327">
              <a:extLst>
                <a:ext uri="{FF2B5EF4-FFF2-40B4-BE49-F238E27FC236}">
                  <a16:creationId xmlns:a16="http://schemas.microsoft.com/office/drawing/2014/main" id="{62B8854E-4140-4ACF-972D-DEAC990F0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1339" y="1963738"/>
              <a:ext cx="822325" cy="822325"/>
            </a:xfrm>
            <a:prstGeom prst="ellips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9" name="Oval 328">
              <a:extLst>
                <a:ext uri="{FF2B5EF4-FFF2-40B4-BE49-F238E27FC236}">
                  <a16:creationId xmlns:a16="http://schemas.microsoft.com/office/drawing/2014/main" id="{7AD51327-0635-499A-9042-109018D9C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076" y="2022476"/>
              <a:ext cx="704850" cy="703263"/>
            </a:xfrm>
            <a:prstGeom prst="ellips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0" name="Rectangle 329">
              <a:extLst>
                <a:ext uri="{FF2B5EF4-FFF2-40B4-BE49-F238E27FC236}">
                  <a16:creationId xmlns:a16="http://schemas.microsoft.com/office/drawing/2014/main" id="{0E000916-00BF-4AD2-9C60-E61A45AA3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289" y="2232026"/>
              <a:ext cx="352425" cy="112713"/>
            </a:xfrm>
            <a:prstGeom prst="rect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1" name="Line 330">
              <a:extLst>
                <a:ext uri="{FF2B5EF4-FFF2-40B4-BE49-F238E27FC236}">
                  <a16:creationId xmlns:a16="http://schemas.microsoft.com/office/drawing/2014/main" id="{9846B75A-7782-436A-BB23-70322A78D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0451" y="2232026"/>
              <a:ext cx="0" cy="11271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2" name="Line 331">
              <a:extLst>
                <a:ext uri="{FF2B5EF4-FFF2-40B4-BE49-F238E27FC236}">
                  <a16:creationId xmlns:a16="http://schemas.microsoft.com/office/drawing/2014/main" id="{D64ECC52-E18F-4AFB-ABD4-DEDE8BC1F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0601" y="2232026"/>
              <a:ext cx="0" cy="11271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3" name="Line 332">
              <a:extLst>
                <a:ext uri="{FF2B5EF4-FFF2-40B4-BE49-F238E27FC236}">
                  <a16:creationId xmlns:a16="http://schemas.microsoft.com/office/drawing/2014/main" id="{50B4E45D-1898-4C0F-9BCF-9BAD67D566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4401" y="2232026"/>
              <a:ext cx="0" cy="11271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4" name="Line 333">
              <a:extLst>
                <a:ext uri="{FF2B5EF4-FFF2-40B4-BE49-F238E27FC236}">
                  <a16:creationId xmlns:a16="http://schemas.microsoft.com/office/drawing/2014/main" id="{7FC1EA4D-476D-480B-8F27-CBCAA4E5D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551" y="2232026"/>
              <a:ext cx="0" cy="11271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5" name="Rectangle 334">
              <a:extLst>
                <a:ext uri="{FF2B5EF4-FFF2-40B4-BE49-F238E27FC236}">
                  <a16:creationId xmlns:a16="http://schemas.microsoft.com/office/drawing/2014/main" id="{10E43A86-36CF-48CB-A69D-7D3207F7B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289" y="2509838"/>
              <a:ext cx="352425" cy="52388"/>
            </a:xfrm>
            <a:prstGeom prst="rect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6" name="Line 335">
              <a:extLst>
                <a:ext uri="{FF2B5EF4-FFF2-40B4-BE49-F238E27FC236}">
                  <a16:creationId xmlns:a16="http://schemas.microsoft.com/office/drawing/2014/main" id="{92837ED8-ADFE-4C0A-B54D-445932620A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0451" y="2509838"/>
              <a:ext cx="0" cy="52388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7" name="Line 336">
              <a:extLst>
                <a:ext uri="{FF2B5EF4-FFF2-40B4-BE49-F238E27FC236}">
                  <a16:creationId xmlns:a16="http://schemas.microsoft.com/office/drawing/2014/main" id="{B0FF420D-149A-4DE0-8C8F-ABBEDF279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0601" y="2509838"/>
              <a:ext cx="0" cy="52388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8" name="Line 337">
              <a:extLst>
                <a:ext uri="{FF2B5EF4-FFF2-40B4-BE49-F238E27FC236}">
                  <a16:creationId xmlns:a16="http://schemas.microsoft.com/office/drawing/2014/main" id="{343901F8-6D1E-41EB-8BAC-47BF0484D5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4401" y="2509838"/>
              <a:ext cx="0" cy="52388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9" name="Line 338">
              <a:extLst>
                <a:ext uri="{FF2B5EF4-FFF2-40B4-BE49-F238E27FC236}">
                  <a16:creationId xmlns:a16="http://schemas.microsoft.com/office/drawing/2014/main" id="{30364BD1-7638-4EC3-8A1A-6740F550A2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551" y="2509838"/>
              <a:ext cx="0" cy="52388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0" name="Line 339">
              <a:extLst>
                <a:ext uri="{FF2B5EF4-FFF2-40B4-BE49-F238E27FC236}">
                  <a16:creationId xmlns:a16="http://schemas.microsoft.com/office/drawing/2014/main" id="{E12B1BAF-DDD5-400F-A9D6-D0F1447CE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6164" y="2620963"/>
              <a:ext cx="0" cy="3810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1" name="Line 340">
              <a:extLst>
                <a:ext uri="{FF2B5EF4-FFF2-40B4-BE49-F238E27FC236}">
                  <a16:creationId xmlns:a16="http://schemas.microsoft.com/office/drawing/2014/main" id="{6F0500A6-8206-4DAC-A718-781F6C956B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8064" y="2620963"/>
              <a:ext cx="0" cy="3810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2" name="Line 341">
              <a:extLst>
                <a:ext uri="{FF2B5EF4-FFF2-40B4-BE49-F238E27FC236}">
                  <a16:creationId xmlns:a16="http://schemas.microsoft.com/office/drawing/2014/main" id="{048C116C-F608-4066-BFD2-A2E9A11C4F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1551" y="2620963"/>
              <a:ext cx="0" cy="3810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3" name="Line 342">
              <a:extLst>
                <a:ext uri="{FF2B5EF4-FFF2-40B4-BE49-F238E27FC236}">
                  <a16:creationId xmlns:a16="http://schemas.microsoft.com/office/drawing/2014/main" id="{15E6F75E-9AEB-4DDE-A475-F3EC080D1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3451" y="2620963"/>
              <a:ext cx="0" cy="3810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4" name="Line 343">
              <a:extLst>
                <a:ext uri="{FF2B5EF4-FFF2-40B4-BE49-F238E27FC236}">
                  <a16:creationId xmlns:a16="http://schemas.microsoft.com/office/drawing/2014/main" id="{B2E36386-536D-4928-8F9B-ACF3053026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6939" y="2620963"/>
              <a:ext cx="0" cy="3810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5" name="Line 344">
              <a:extLst>
                <a:ext uri="{FF2B5EF4-FFF2-40B4-BE49-F238E27FC236}">
                  <a16:creationId xmlns:a16="http://schemas.microsoft.com/office/drawing/2014/main" id="{5A3E6A89-897E-497E-8CA1-0823E069A9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8839" y="2620963"/>
              <a:ext cx="0" cy="3810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6" name="Line 345">
              <a:extLst>
                <a:ext uri="{FF2B5EF4-FFF2-40B4-BE49-F238E27FC236}">
                  <a16:creationId xmlns:a16="http://schemas.microsoft.com/office/drawing/2014/main" id="{CA2F7E31-7C19-4343-B60E-523C2614ED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1064" y="2119313"/>
              <a:ext cx="142875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7" name="Line 346">
              <a:extLst>
                <a:ext uri="{FF2B5EF4-FFF2-40B4-BE49-F238E27FC236}">
                  <a16:creationId xmlns:a16="http://schemas.microsoft.com/office/drawing/2014/main" id="{3157AD58-6233-4789-80A0-F141FF013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1676" y="2419351"/>
              <a:ext cx="501650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pic>
        <p:nvPicPr>
          <p:cNvPr id="47" name="CustomIcon">
            <a:extLst>
              <a:ext uri="{FF2B5EF4-FFF2-40B4-BE49-F238E27FC236}">
                <a16:creationId xmlns:a16="http://schemas.microsoft.com/office/drawing/2014/main" id="{BBFDBB28-AFC6-4B1C-B9A8-414042151318}"/>
              </a:ext>
            </a:extLst>
          </p:cNvPr>
          <p:cNvPicPr>
            <a:picLocks/>
          </p:cNvPicPr>
          <p:nvPr>
            <p:custDataLst>
              <p:tags r:id="rId8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880607" y="4566919"/>
            <a:ext cx="308538" cy="308528"/>
          </a:xfrm>
          <a:prstGeom prst="rect">
            <a:avLst/>
          </a:prstGeom>
        </p:spPr>
      </p:pic>
      <p:sp>
        <p:nvSpPr>
          <p:cNvPr id="194" name="TextBox 193">
            <a:extLst>
              <a:ext uri="{FF2B5EF4-FFF2-40B4-BE49-F238E27FC236}">
                <a16:creationId xmlns:a16="http://schemas.microsoft.com/office/drawing/2014/main" id="{9693EF1C-FD86-42CE-8710-0E248AF7E912}"/>
              </a:ext>
            </a:extLst>
          </p:cNvPr>
          <p:cNvSpPr txBox="1">
            <a:spLocks/>
          </p:cNvSpPr>
          <p:nvPr/>
        </p:nvSpPr>
        <p:spPr>
          <a:xfrm>
            <a:off x="1615440" y="3860332"/>
            <a:ext cx="2415540" cy="43088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dirty="0"/>
              <a:t>Отсутствия решения проблемы жителя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735A216-E389-4C39-9820-1E7759376361}"/>
              </a:ext>
            </a:extLst>
          </p:cNvPr>
          <p:cNvSpPr txBox="1">
            <a:spLocks/>
          </p:cNvSpPr>
          <p:nvPr/>
        </p:nvSpPr>
        <p:spPr>
          <a:xfrm>
            <a:off x="1615440" y="4919512"/>
            <a:ext cx="2415540" cy="43088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dirty="0"/>
              <a:t>Неудовлетворенности оказанной консультацией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B70FA17A-5B1F-423F-A734-CBFCD5D3F984}"/>
              </a:ext>
            </a:extLst>
          </p:cNvPr>
          <p:cNvSpPr>
            <a:spLocks noChangeAspect="1"/>
          </p:cNvSpPr>
          <p:nvPr/>
        </p:nvSpPr>
        <p:spPr>
          <a:xfrm>
            <a:off x="554734" y="3626639"/>
            <a:ext cx="898272" cy="898272"/>
          </a:xfrm>
          <a:prstGeom prst="ellipse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E129AAEA-DF4C-4E59-BED0-59C4B24D501B}"/>
              </a:ext>
            </a:extLst>
          </p:cNvPr>
          <p:cNvSpPr>
            <a:spLocks noChangeAspect="1"/>
          </p:cNvSpPr>
          <p:nvPr/>
        </p:nvSpPr>
        <p:spPr>
          <a:xfrm>
            <a:off x="554734" y="4685819"/>
            <a:ext cx="898272" cy="898272"/>
          </a:xfrm>
          <a:prstGeom prst="ellipse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2" name="CustomIcon">
            <a:extLst>
              <a:ext uri="{FF2B5EF4-FFF2-40B4-BE49-F238E27FC236}">
                <a16:creationId xmlns:a16="http://schemas.microsoft.com/office/drawing/2014/main" id="{A993CEBB-76CF-4D6D-A99E-1CD616124E4F}"/>
              </a:ext>
            </a:extLst>
          </p:cNvPr>
          <p:cNvGrpSpPr/>
          <p:nvPr/>
        </p:nvGrpSpPr>
        <p:grpSpPr>
          <a:xfrm>
            <a:off x="658486" y="3730391"/>
            <a:ext cx="690769" cy="690769"/>
            <a:chOff x="-1315609" y="4556570"/>
            <a:chExt cx="789829" cy="789829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59BD5C69-E33B-4818-8863-249F543C879D}"/>
                </a:ext>
              </a:extLst>
            </p:cNvPr>
            <p:cNvSpPr/>
            <p:nvPr/>
          </p:nvSpPr>
          <p:spPr>
            <a:xfrm>
              <a:off x="-1303267" y="4568911"/>
              <a:ext cx="765146" cy="765146"/>
            </a:xfrm>
            <a:custGeom>
              <a:avLst/>
              <a:gdLst>
                <a:gd name="connsiteX0" fmla="*/ 765147 w 765146"/>
                <a:gd name="connsiteY0" fmla="*/ 382573 h 765146"/>
                <a:gd name="connsiteX1" fmla="*/ 382573 w 765146"/>
                <a:gd name="connsiteY1" fmla="*/ 765147 h 765146"/>
                <a:gd name="connsiteX2" fmla="*/ 0 w 765146"/>
                <a:gd name="connsiteY2" fmla="*/ 382573 h 765146"/>
                <a:gd name="connsiteX3" fmla="*/ 382573 w 765146"/>
                <a:gd name="connsiteY3" fmla="*/ 0 h 765146"/>
                <a:gd name="connsiteX4" fmla="*/ 765147 w 765146"/>
                <a:gd name="connsiteY4" fmla="*/ 382573 h 765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5146" h="765146">
                  <a:moveTo>
                    <a:pt x="765147" y="382573"/>
                  </a:moveTo>
                  <a:cubicBezTo>
                    <a:pt x="765147" y="593863"/>
                    <a:pt x="593863" y="765147"/>
                    <a:pt x="382573" y="765147"/>
                  </a:cubicBezTo>
                  <a:cubicBezTo>
                    <a:pt x="171284" y="765147"/>
                    <a:pt x="0" y="593863"/>
                    <a:pt x="0" y="382573"/>
                  </a:cubicBezTo>
                  <a:cubicBezTo>
                    <a:pt x="0" y="171284"/>
                    <a:pt x="171284" y="0"/>
                    <a:pt x="382573" y="0"/>
                  </a:cubicBezTo>
                  <a:cubicBezTo>
                    <a:pt x="593863" y="0"/>
                    <a:pt x="765147" y="171284"/>
                    <a:pt x="765147" y="382573"/>
                  </a:cubicBezTo>
                  <a:close/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78275BE-B620-4F21-9F06-ECCD27504E03}"/>
                </a:ext>
              </a:extLst>
            </p:cNvPr>
            <p:cNvSpPr/>
            <p:nvPr/>
          </p:nvSpPr>
          <p:spPr>
            <a:xfrm>
              <a:off x="-1050275" y="4708365"/>
              <a:ext cx="259162" cy="376402"/>
            </a:xfrm>
            <a:custGeom>
              <a:avLst/>
              <a:gdLst>
                <a:gd name="connsiteX0" fmla="*/ 0 w 259162"/>
                <a:gd name="connsiteY0" fmla="*/ 129581 h 376402"/>
                <a:gd name="connsiteX1" fmla="*/ 129581 w 259162"/>
                <a:gd name="connsiteY1" fmla="*/ 0 h 376402"/>
                <a:gd name="connsiteX2" fmla="*/ 259163 w 259162"/>
                <a:gd name="connsiteY2" fmla="*/ 129581 h 376402"/>
                <a:gd name="connsiteX3" fmla="*/ 220905 w 259162"/>
                <a:gd name="connsiteY3" fmla="*/ 220905 h 376402"/>
                <a:gd name="connsiteX4" fmla="*/ 150561 w 259162"/>
                <a:gd name="connsiteY4" fmla="*/ 280142 h 376402"/>
                <a:gd name="connsiteX5" fmla="*/ 129581 w 259162"/>
                <a:gd name="connsiteY5" fmla="*/ 376403 h 376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162" h="376402">
                  <a:moveTo>
                    <a:pt x="0" y="129581"/>
                  </a:moveTo>
                  <a:cubicBezTo>
                    <a:pt x="0" y="58003"/>
                    <a:pt x="58003" y="0"/>
                    <a:pt x="129581" y="0"/>
                  </a:cubicBezTo>
                  <a:cubicBezTo>
                    <a:pt x="201160" y="0"/>
                    <a:pt x="259163" y="58003"/>
                    <a:pt x="259163" y="129581"/>
                  </a:cubicBezTo>
                  <a:cubicBezTo>
                    <a:pt x="259163" y="164136"/>
                    <a:pt x="245587" y="196223"/>
                    <a:pt x="220905" y="220905"/>
                  </a:cubicBezTo>
                  <a:cubicBezTo>
                    <a:pt x="204862" y="236949"/>
                    <a:pt x="174009" y="241885"/>
                    <a:pt x="150561" y="280142"/>
                  </a:cubicBezTo>
                  <a:cubicBezTo>
                    <a:pt x="124645" y="322102"/>
                    <a:pt x="129581" y="355423"/>
                    <a:pt x="129581" y="376403"/>
                  </a:cubicBezTo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70675CD-0426-485C-A61F-2B45CF0DB9CA}"/>
                </a:ext>
              </a:extLst>
            </p:cNvPr>
            <p:cNvSpPr/>
            <p:nvPr/>
          </p:nvSpPr>
          <p:spPr>
            <a:xfrm>
              <a:off x="-952781" y="5129196"/>
              <a:ext cx="64173" cy="64173"/>
            </a:xfrm>
            <a:custGeom>
              <a:avLst/>
              <a:gdLst>
                <a:gd name="connsiteX0" fmla="*/ 64174 w 64173"/>
                <a:gd name="connsiteY0" fmla="*/ 32087 h 64173"/>
                <a:gd name="connsiteX1" fmla="*/ 32087 w 64173"/>
                <a:gd name="connsiteY1" fmla="*/ 64174 h 64173"/>
                <a:gd name="connsiteX2" fmla="*/ 0 w 64173"/>
                <a:gd name="connsiteY2" fmla="*/ 32087 h 64173"/>
                <a:gd name="connsiteX3" fmla="*/ 32087 w 64173"/>
                <a:gd name="connsiteY3" fmla="*/ 0 h 64173"/>
                <a:gd name="connsiteX4" fmla="*/ 64174 w 64173"/>
                <a:gd name="connsiteY4" fmla="*/ 32087 h 64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173" h="64173">
                  <a:moveTo>
                    <a:pt x="64174" y="32087"/>
                  </a:moveTo>
                  <a:cubicBezTo>
                    <a:pt x="64174" y="49808"/>
                    <a:pt x="49808" y="64174"/>
                    <a:pt x="32087" y="64174"/>
                  </a:cubicBezTo>
                  <a:cubicBezTo>
                    <a:pt x="14366" y="64174"/>
                    <a:pt x="0" y="49808"/>
                    <a:pt x="0" y="32087"/>
                  </a:cubicBezTo>
                  <a:cubicBezTo>
                    <a:pt x="0" y="14366"/>
                    <a:pt x="14366" y="0"/>
                    <a:pt x="32087" y="0"/>
                  </a:cubicBezTo>
                  <a:cubicBezTo>
                    <a:pt x="49808" y="0"/>
                    <a:pt x="64174" y="14366"/>
                    <a:pt x="64174" y="32087"/>
                  </a:cubicBezTo>
                  <a:close/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" name="CustomIcon">
            <a:extLst>
              <a:ext uri="{FF2B5EF4-FFF2-40B4-BE49-F238E27FC236}">
                <a16:creationId xmlns:a16="http://schemas.microsoft.com/office/drawing/2014/main" id="{95EF3111-4F1E-4036-9B6F-D0EFB3ABD16A}"/>
              </a:ext>
            </a:extLst>
          </p:cNvPr>
          <p:cNvGrpSpPr/>
          <p:nvPr/>
        </p:nvGrpSpPr>
        <p:grpSpPr>
          <a:xfrm>
            <a:off x="720973" y="4893968"/>
            <a:ext cx="565794" cy="565794"/>
            <a:chOff x="-1315609" y="5601682"/>
            <a:chExt cx="789829" cy="789829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EDF737D-86C9-4EED-9853-2D2C401408F2}"/>
                </a:ext>
              </a:extLst>
            </p:cNvPr>
            <p:cNvSpPr/>
            <p:nvPr/>
          </p:nvSpPr>
          <p:spPr>
            <a:xfrm>
              <a:off x="-1121854" y="5615942"/>
              <a:ext cx="508452" cy="110384"/>
            </a:xfrm>
            <a:custGeom>
              <a:avLst/>
              <a:gdLst>
                <a:gd name="connsiteX0" fmla="*/ 0 w 508452"/>
                <a:gd name="connsiteY0" fmla="*/ 30167 h 110384"/>
                <a:gd name="connsiteX1" fmla="*/ 62939 w 508452"/>
                <a:gd name="connsiteY1" fmla="*/ 23997 h 110384"/>
                <a:gd name="connsiteX2" fmla="*/ 187584 w 508452"/>
                <a:gd name="connsiteY2" fmla="*/ 548 h 110384"/>
                <a:gd name="connsiteX3" fmla="*/ 392446 w 508452"/>
                <a:gd name="connsiteY3" fmla="*/ 548 h 110384"/>
                <a:gd name="connsiteX4" fmla="*/ 462790 w 508452"/>
                <a:gd name="connsiteY4" fmla="*/ 548 h 110384"/>
                <a:gd name="connsiteX5" fmla="*/ 508452 w 508452"/>
                <a:gd name="connsiteY5" fmla="*/ 47445 h 110384"/>
                <a:gd name="connsiteX6" fmla="*/ 508452 w 508452"/>
                <a:gd name="connsiteY6" fmla="*/ 63488 h 110384"/>
                <a:gd name="connsiteX7" fmla="*/ 462790 w 508452"/>
                <a:gd name="connsiteY7" fmla="*/ 110384 h 110384"/>
                <a:gd name="connsiteX8" fmla="*/ 392446 w 508452"/>
                <a:gd name="connsiteY8" fmla="*/ 110384 h 110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8452" h="110384">
                  <a:moveTo>
                    <a:pt x="0" y="30167"/>
                  </a:moveTo>
                  <a:cubicBezTo>
                    <a:pt x="0" y="30167"/>
                    <a:pt x="28384" y="28933"/>
                    <a:pt x="62939" y="23997"/>
                  </a:cubicBezTo>
                  <a:cubicBezTo>
                    <a:pt x="76515" y="21528"/>
                    <a:pt x="157966" y="1783"/>
                    <a:pt x="187584" y="548"/>
                  </a:cubicBezTo>
                  <a:cubicBezTo>
                    <a:pt x="212267" y="-686"/>
                    <a:pt x="392446" y="548"/>
                    <a:pt x="392446" y="548"/>
                  </a:cubicBezTo>
                  <a:lnTo>
                    <a:pt x="462790" y="548"/>
                  </a:lnTo>
                  <a:cubicBezTo>
                    <a:pt x="487473" y="1783"/>
                    <a:pt x="508452" y="21528"/>
                    <a:pt x="508452" y="47445"/>
                  </a:cubicBezTo>
                  <a:lnTo>
                    <a:pt x="508452" y="63488"/>
                  </a:lnTo>
                  <a:cubicBezTo>
                    <a:pt x="508452" y="89404"/>
                    <a:pt x="488707" y="110384"/>
                    <a:pt x="462790" y="110384"/>
                  </a:cubicBezTo>
                  <a:lnTo>
                    <a:pt x="392446" y="110384"/>
                  </a:lnTo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B67E561-0DE2-45BB-B642-DA1115F3070E}"/>
                </a:ext>
              </a:extLst>
            </p:cNvPr>
            <p:cNvSpPr/>
            <p:nvPr/>
          </p:nvSpPr>
          <p:spPr>
            <a:xfrm>
              <a:off x="-696086" y="5726326"/>
              <a:ext cx="117240" cy="109835"/>
            </a:xfrm>
            <a:custGeom>
              <a:avLst/>
              <a:gdLst>
                <a:gd name="connsiteX0" fmla="*/ 0 w 117240"/>
                <a:gd name="connsiteY0" fmla="*/ 109836 h 109835"/>
                <a:gd name="connsiteX1" fmla="*/ 70344 w 117240"/>
                <a:gd name="connsiteY1" fmla="*/ 109836 h 109835"/>
                <a:gd name="connsiteX2" fmla="*/ 117240 w 117240"/>
                <a:gd name="connsiteY2" fmla="*/ 62939 h 109835"/>
                <a:gd name="connsiteX3" fmla="*/ 117240 w 117240"/>
                <a:gd name="connsiteY3" fmla="*/ 46896 h 109835"/>
                <a:gd name="connsiteX4" fmla="*/ 70344 w 117240"/>
                <a:gd name="connsiteY4" fmla="*/ 0 h 109835"/>
                <a:gd name="connsiteX5" fmla="*/ 39491 w 117240"/>
                <a:gd name="connsiteY5" fmla="*/ 0 h 109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7240" h="109835">
                  <a:moveTo>
                    <a:pt x="0" y="109836"/>
                  </a:moveTo>
                  <a:lnTo>
                    <a:pt x="70344" y="109836"/>
                  </a:lnTo>
                  <a:cubicBezTo>
                    <a:pt x="96260" y="109836"/>
                    <a:pt x="117240" y="88856"/>
                    <a:pt x="117240" y="62939"/>
                  </a:cubicBezTo>
                  <a:lnTo>
                    <a:pt x="117240" y="46896"/>
                  </a:lnTo>
                  <a:cubicBezTo>
                    <a:pt x="117240" y="20980"/>
                    <a:pt x="96260" y="0"/>
                    <a:pt x="70344" y="0"/>
                  </a:cubicBezTo>
                  <a:lnTo>
                    <a:pt x="39491" y="0"/>
                  </a:lnTo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9D2F828-FD6A-4A95-800E-A0D338832296}"/>
                </a:ext>
              </a:extLst>
            </p:cNvPr>
            <p:cNvSpPr/>
            <p:nvPr/>
          </p:nvSpPr>
          <p:spPr>
            <a:xfrm>
              <a:off x="-623274" y="5835991"/>
              <a:ext cx="67875" cy="121113"/>
            </a:xfrm>
            <a:custGeom>
              <a:avLst/>
              <a:gdLst>
                <a:gd name="connsiteX0" fmla="*/ 19746 w 67875"/>
                <a:gd name="connsiteY0" fmla="*/ 121113 h 121113"/>
                <a:gd name="connsiteX1" fmla="*/ 67876 w 67875"/>
                <a:gd name="connsiteY1" fmla="*/ 72983 h 121113"/>
                <a:gd name="connsiteX2" fmla="*/ 67876 w 67875"/>
                <a:gd name="connsiteY2" fmla="*/ 48301 h 121113"/>
                <a:gd name="connsiteX3" fmla="*/ 0 w 67875"/>
                <a:gd name="connsiteY3" fmla="*/ 171 h 121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875" h="121113">
                  <a:moveTo>
                    <a:pt x="19746" y="121113"/>
                  </a:moveTo>
                  <a:cubicBezTo>
                    <a:pt x="45662" y="121113"/>
                    <a:pt x="67876" y="100134"/>
                    <a:pt x="67876" y="72983"/>
                  </a:cubicBezTo>
                  <a:lnTo>
                    <a:pt x="67876" y="48301"/>
                  </a:lnTo>
                  <a:cubicBezTo>
                    <a:pt x="67876" y="22385"/>
                    <a:pt x="41960" y="-2297"/>
                    <a:pt x="0" y="171"/>
                  </a:cubicBezTo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0AEE2FB-1256-4230-8888-ACE194883A95}"/>
                </a:ext>
              </a:extLst>
            </p:cNvPr>
            <p:cNvSpPr/>
            <p:nvPr/>
          </p:nvSpPr>
          <p:spPr>
            <a:xfrm>
              <a:off x="-1298331" y="5612788"/>
              <a:ext cx="177711" cy="450449"/>
            </a:xfrm>
            <a:custGeom>
              <a:avLst/>
              <a:gdLst>
                <a:gd name="connsiteX0" fmla="*/ 0 w 177711"/>
                <a:gd name="connsiteY0" fmla="*/ 450449 h 450449"/>
                <a:gd name="connsiteX1" fmla="*/ 177712 w 177711"/>
                <a:gd name="connsiteY1" fmla="*/ 450449 h 450449"/>
                <a:gd name="connsiteX2" fmla="*/ 177712 w 177711"/>
                <a:gd name="connsiteY2" fmla="*/ 0 h 450449"/>
                <a:gd name="connsiteX3" fmla="*/ 0 w 177711"/>
                <a:gd name="connsiteY3" fmla="*/ 0 h 45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711" h="450449">
                  <a:moveTo>
                    <a:pt x="0" y="450449"/>
                  </a:moveTo>
                  <a:lnTo>
                    <a:pt x="177712" y="450449"/>
                  </a:lnTo>
                  <a:lnTo>
                    <a:pt x="17771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DFDEA1-7ED6-4621-802C-6E29EE436FA7}"/>
                </a:ext>
              </a:extLst>
            </p:cNvPr>
            <p:cNvSpPr/>
            <p:nvPr/>
          </p:nvSpPr>
          <p:spPr>
            <a:xfrm>
              <a:off x="-1120619" y="5957105"/>
              <a:ext cx="577562" cy="422109"/>
            </a:xfrm>
            <a:custGeom>
              <a:avLst/>
              <a:gdLst>
                <a:gd name="connsiteX0" fmla="*/ 462790 w 577562"/>
                <a:gd name="connsiteY0" fmla="*/ 0 h 422109"/>
                <a:gd name="connsiteX1" fmla="*/ 529432 w 577562"/>
                <a:gd name="connsiteY1" fmla="*/ 0 h 422109"/>
                <a:gd name="connsiteX2" fmla="*/ 577562 w 577562"/>
                <a:gd name="connsiteY2" fmla="*/ 48130 h 422109"/>
                <a:gd name="connsiteX3" fmla="*/ 577562 w 577562"/>
                <a:gd name="connsiteY3" fmla="*/ 74046 h 422109"/>
                <a:gd name="connsiteX4" fmla="*/ 529432 w 577562"/>
                <a:gd name="connsiteY4" fmla="*/ 122177 h 422109"/>
                <a:gd name="connsiteX5" fmla="*/ 259163 w 577562"/>
                <a:gd name="connsiteY5" fmla="*/ 122177 h 422109"/>
                <a:gd name="connsiteX6" fmla="*/ 298654 w 577562"/>
                <a:gd name="connsiteY6" fmla="*/ 291249 h 422109"/>
                <a:gd name="connsiteX7" fmla="*/ 307293 w 577562"/>
                <a:gd name="connsiteY7" fmla="*/ 361594 h 422109"/>
                <a:gd name="connsiteX8" fmla="*/ 307293 w 577562"/>
                <a:gd name="connsiteY8" fmla="*/ 366530 h 422109"/>
                <a:gd name="connsiteX9" fmla="*/ 245587 w 577562"/>
                <a:gd name="connsiteY9" fmla="*/ 422065 h 422109"/>
                <a:gd name="connsiteX10" fmla="*/ 190053 w 577562"/>
                <a:gd name="connsiteY10" fmla="*/ 360360 h 422109"/>
                <a:gd name="connsiteX11" fmla="*/ 190053 w 577562"/>
                <a:gd name="connsiteY11" fmla="*/ 360360 h 422109"/>
                <a:gd name="connsiteX12" fmla="*/ 190053 w 577562"/>
                <a:gd name="connsiteY12" fmla="*/ 360360 h 422109"/>
                <a:gd name="connsiteX13" fmla="*/ 119708 w 577562"/>
                <a:gd name="connsiteY13" fmla="*/ 199925 h 422109"/>
                <a:gd name="connsiteX14" fmla="*/ 0 w 577562"/>
                <a:gd name="connsiteY14" fmla="*/ 66642 h 42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7562" h="422109">
                  <a:moveTo>
                    <a:pt x="462790" y="0"/>
                  </a:moveTo>
                  <a:lnTo>
                    <a:pt x="529432" y="0"/>
                  </a:lnTo>
                  <a:cubicBezTo>
                    <a:pt x="555349" y="0"/>
                    <a:pt x="577562" y="20980"/>
                    <a:pt x="577562" y="48130"/>
                  </a:cubicBezTo>
                  <a:lnTo>
                    <a:pt x="577562" y="74046"/>
                  </a:lnTo>
                  <a:cubicBezTo>
                    <a:pt x="576328" y="101197"/>
                    <a:pt x="555349" y="122177"/>
                    <a:pt x="529432" y="122177"/>
                  </a:cubicBezTo>
                  <a:lnTo>
                    <a:pt x="259163" y="122177"/>
                  </a:lnTo>
                  <a:cubicBezTo>
                    <a:pt x="256694" y="122177"/>
                    <a:pt x="287547" y="218437"/>
                    <a:pt x="298654" y="291249"/>
                  </a:cubicBezTo>
                  <a:lnTo>
                    <a:pt x="307293" y="361594"/>
                  </a:lnTo>
                  <a:cubicBezTo>
                    <a:pt x="307293" y="362828"/>
                    <a:pt x="307293" y="365296"/>
                    <a:pt x="307293" y="366530"/>
                  </a:cubicBezTo>
                  <a:cubicBezTo>
                    <a:pt x="306059" y="398617"/>
                    <a:pt x="277674" y="423299"/>
                    <a:pt x="245587" y="422065"/>
                  </a:cubicBezTo>
                  <a:cubicBezTo>
                    <a:pt x="213501" y="420831"/>
                    <a:pt x="188819" y="392446"/>
                    <a:pt x="190053" y="360360"/>
                  </a:cubicBezTo>
                  <a:lnTo>
                    <a:pt x="190053" y="360360"/>
                  </a:lnTo>
                  <a:lnTo>
                    <a:pt x="190053" y="360360"/>
                  </a:lnTo>
                  <a:cubicBezTo>
                    <a:pt x="190053" y="360360"/>
                    <a:pt x="190053" y="296186"/>
                    <a:pt x="119708" y="199925"/>
                  </a:cubicBezTo>
                  <a:lnTo>
                    <a:pt x="0" y="66642"/>
                  </a:lnTo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499259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EA959548-6F02-4F01-8578-BACDC442DB5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56" name="think-cell Slide" r:id="rId8" imgW="410" imgH="409" progId="TCLayout.ActiveDocument.1">
                  <p:embed/>
                </p:oleObj>
              </mc:Choice>
              <mc:Fallback>
                <p:oleObj name="think-cell Slide" r:id="rId8" imgW="410" imgH="409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EA959548-6F02-4F01-8578-BACDC442DB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" name="Rectangle 319">
            <a:extLst>
              <a:ext uri="{FF2B5EF4-FFF2-40B4-BE49-F238E27FC236}">
                <a16:creationId xmlns:a16="http://schemas.microsoft.com/office/drawing/2014/main" id="{A8B45929-E694-42A1-9ADF-D4397FC156FF}"/>
              </a:ext>
            </a:extLst>
          </p:cNvPr>
          <p:cNvSpPr/>
          <p:nvPr/>
        </p:nvSpPr>
        <p:spPr>
          <a:xfrm>
            <a:off x="551051" y="2569525"/>
            <a:ext cx="4685109" cy="307501"/>
          </a:xfrm>
          <a:prstGeom prst="rect">
            <a:avLst/>
          </a:prstGeom>
          <a:solidFill>
            <a:schemeClr val="accent1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DB3D72-8F54-4679-BEF8-33702B23E97D}"/>
              </a:ext>
            </a:extLst>
          </p:cNvPr>
          <p:cNvSpPr/>
          <p:nvPr/>
        </p:nvSpPr>
        <p:spPr>
          <a:xfrm>
            <a:off x="554734" y="1948385"/>
            <a:ext cx="4685109" cy="307501"/>
          </a:xfrm>
          <a:prstGeom prst="rect">
            <a:avLst/>
          </a:prstGeom>
          <a:solidFill>
            <a:schemeClr val="accent1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124B4B2-BA63-43BE-A331-DEC5C6C1250A}"/>
              </a:ext>
            </a:extLst>
          </p:cNvPr>
          <p:cNvSpPr txBox="1">
            <a:spLocks/>
          </p:cNvSpPr>
          <p:nvPr/>
        </p:nvSpPr>
        <p:spPr>
          <a:xfrm>
            <a:off x="0" y="5793400"/>
            <a:ext cx="12192000" cy="348320"/>
          </a:xfrm>
          <a:prstGeom prst="round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76200" tIns="76200" rIns="76200" bIns="7620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endParaRPr lang="ru-RU" sz="1800" b="1" dirty="0">
              <a:solidFill>
                <a:srgbClr val="FFFFFF"/>
              </a:solidFill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8923FE82-BDD0-49BE-83B1-B72880F0EFC4}"/>
              </a:ext>
            </a:extLst>
          </p:cNvPr>
          <p:cNvSpPr txBox="1">
            <a:spLocks/>
          </p:cNvSpPr>
          <p:nvPr/>
        </p:nvSpPr>
        <p:spPr>
          <a:xfrm>
            <a:off x="0" y="1358537"/>
            <a:ext cx="12192000" cy="589845"/>
          </a:xfrm>
          <a:prstGeom prst="round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76200" tIns="76200" rIns="76200" bIns="7620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endParaRPr lang="ru-RU" sz="1800" b="1" dirty="0">
              <a:solidFill>
                <a:srgbClr val="FFFFFF"/>
              </a:solidFill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F4129833-9DDD-422C-A475-4BE54B78DFBD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7" y="226624"/>
            <a:ext cx="11082528" cy="677108"/>
          </a:xfrm>
        </p:spPr>
        <p:txBody>
          <a:bodyPr vert="horz"/>
          <a:lstStyle/>
          <a:p>
            <a:r>
              <a:rPr lang="ru-RU" dirty="0"/>
              <a:t>Наиболее проблемными категориями являются вопросы, связанные с работой УК и сторонних организаций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655152-E673-44B9-8DF3-56EB58BBB4D8}"/>
              </a:ext>
            </a:extLst>
          </p:cNvPr>
          <p:cNvSpPr txBox="1">
            <a:spLocks/>
          </p:cNvSpPr>
          <p:nvPr/>
        </p:nvSpPr>
        <p:spPr>
          <a:xfrm>
            <a:off x="554734" y="1762109"/>
            <a:ext cx="2470406" cy="138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Clr>
                <a:srgbClr val="FFFFFF"/>
              </a:buClr>
              <a:buNone/>
            </a:pPr>
            <a:r>
              <a:rPr lang="ru-RU" sz="900" b="1" dirty="0">
                <a:solidFill>
                  <a:srgbClr val="FFFFFF"/>
                </a:solidFill>
                <a:sym typeface="+mn-lt"/>
              </a:rPr>
              <a:t>Категория обращений в ЕДЦ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E14A082-DCC2-4DB5-B497-3D8781F8F0AA}"/>
              </a:ext>
            </a:extLst>
          </p:cNvPr>
          <p:cNvSpPr txBox="1">
            <a:spLocks/>
          </p:cNvSpPr>
          <p:nvPr/>
        </p:nvSpPr>
        <p:spPr>
          <a:xfrm>
            <a:off x="885393" y="5890616"/>
            <a:ext cx="2575560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Clr>
                <a:srgbClr val="FFFFFF"/>
              </a:buClr>
              <a:buNone/>
            </a:pPr>
            <a:r>
              <a:rPr lang="ru-RU" sz="1000" b="1" dirty="0">
                <a:solidFill>
                  <a:srgbClr val="FFFFFF"/>
                </a:solidFill>
                <a:sym typeface="+mn-lt"/>
              </a:rPr>
              <a:t>ИТОГО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CA51400-E403-49AA-ACB3-FB0952435E76}"/>
              </a:ext>
            </a:extLst>
          </p:cNvPr>
          <p:cNvSpPr txBox="1">
            <a:spLocks/>
          </p:cNvSpPr>
          <p:nvPr/>
        </p:nvSpPr>
        <p:spPr>
          <a:xfrm>
            <a:off x="3640492" y="5890616"/>
            <a:ext cx="1599353" cy="1538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r">
              <a:buClr>
                <a:srgbClr val="FFFFFF"/>
              </a:buClr>
              <a:buNone/>
            </a:pPr>
            <a:r>
              <a:rPr lang="ru-RU" sz="1000" b="1" dirty="0">
                <a:solidFill>
                  <a:srgbClr val="FFFFFF"/>
                </a:solidFill>
                <a:sym typeface="+mn-lt"/>
              </a:rPr>
              <a:t> 918 700 </a:t>
            </a:r>
          </a:p>
        </p:txBody>
      </p:sp>
      <p:sp>
        <p:nvSpPr>
          <p:cNvPr id="271" name="Rectangle: Rounded Corners 270">
            <a:extLst>
              <a:ext uri="{FF2B5EF4-FFF2-40B4-BE49-F238E27FC236}">
                <a16:creationId xmlns:a16="http://schemas.microsoft.com/office/drawing/2014/main" id="{7EA5DFEE-8DA2-4930-A253-469D2F66A5A3}"/>
              </a:ext>
            </a:extLst>
          </p:cNvPr>
          <p:cNvSpPr>
            <a:spLocks/>
          </p:cNvSpPr>
          <p:nvPr/>
        </p:nvSpPr>
        <p:spPr>
          <a:xfrm>
            <a:off x="5419384" y="1306286"/>
            <a:ext cx="2360711" cy="4666459"/>
          </a:xfrm>
          <a:prstGeom prst="roundRect">
            <a:avLst>
              <a:gd name="adj" fmla="val 3791"/>
            </a:avLst>
          </a:prstGeom>
          <a:solidFill>
            <a:schemeClr val="bg1"/>
          </a:solidFill>
          <a:effectLst>
            <a:outerShdw blurRad="1016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36000" tIns="180000" rIns="36000" bIns="1188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100" b="1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6448BF-67BA-4CE8-B07E-4F61806C63A6}"/>
              </a:ext>
            </a:extLst>
          </p:cNvPr>
          <p:cNvSpPr txBox="1">
            <a:spLocks/>
          </p:cNvSpPr>
          <p:nvPr/>
        </p:nvSpPr>
        <p:spPr>
          <a:xfrm>
            <a:off x="5477224" y="1623609"/>
            <a:ext cx="1093374" cy="2769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ru-RU" sz="900" b="1" dirty="0">
                <a:sym typeface="+mn-lt"/>
              </a:rPr>
              <a:t>Отсутствие информации </a:t>
            </a:r>
            <a:endParaRPr lang="ru-RU" sz="900" dirty="0">
              <a:sym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710AAE-A449-4076-BDD1-76968401878B}"/>
              </a:ext>
            </a:extLst>
          </p:cNvPr>
          <p:cNvSpPr txBox="1">
            <a:spLocks/>
          </p:cNvSpPr>
          <p:nvPr/>
        </p:nvSpPr>
        <p:spPr>
          <a:xfrm>
            <a:off x="6628438" y="1623609"/>
            <a:ext cx="1093374" cy="2769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ru-RU" sz="900" b="1" dirty="0">
                <a:sym typeface="+mn-lt"/>
              </a:rPr>
              <a:t>Процесс</a:t>
            </a:r>
            <a:r>
              <a:rPr lang="en-US" sz="900" b="1" dirty="0">
                <a:sym typeface="+mn-lt"/>
              </a:rPr>
              <a:t> </a:t>
            </a:r>
            <a:r>
              <a:rPr lang="ru-RU" sz="900" b="1" dirty="0" err="1">
                <a:sym typeface="+mn-lt"/>
              </a:rPr>
              <a:t>взаи</a:t>
            </a:r>
            <a:r>
              <a:rPr lang="en-US" sz="900" b="1" dirty="0">
                <a:sym typeface="+mn-lt"/>
              </a:rPr>
              <a:t>-</a:t>
            </a:r>
            <a:r>
              <a:rPr lang="ru-RU" sz="900" b="1" dirty="0" err="1">
                <a:sym typeface="+mn-lt"/>
              </a:rPr>
              <a:t>модействия</a:t>
            </a:r>
            <a:endParaRPr lang="ru-RU" sz="900" dirty="0">
              <a:sym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A87D46-70A3-46A1-9A09-663F3509F6AA}"/>
              </a:ext>
            </a:extLst>
          </p:cNvPr>
          <p:cNvSpPr txBox="1">
            <a:spLocks/>
          </p:cNvSpPr>
          <p:nvPr/>
        </p:nvSpPr>
        <p:spPr>
          <a:xfrm>
            <a:off x="5477224" y="1405841"/>
            <a:ext cx="2244588" cy="1384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ru-RU" sz="900" b="1" dirty="0">
                <a:sym typeface="+mn-lt"/>
              </a:rPr>
              <a:t>Ключевая проблематика</a:t>
            </a:r>
            <a:endParaRPr lang="ru-RU" sz="900" dirty="0">
              <a:sym typeface="+mn-lt"/>
            </a:endParaRP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BE8653C2-646C-402C-B40B-BFF36CE3BAA3}"/>
              </a:ext>
            </a:extLst>
          </p:cNvPr>
          <p:cNvCxnSpPr>
            <a:cxnSpLocks/>
          </p:cNvCxnSpPr>
          <p:nvPr/>
        </p:nvCxnSpPr>
        <p:spPr>
          <a:xfrm>
            <a:off x="5477224" y="1587864"/>
            <a:ext cx="224458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4E42DAA-9D5D-4AD9-BDC1-9972B690B624}"/>
              </a:ext>
            </a:extLst>
          </p:cNvPr>
          <p:cNvCxnSpPr>
            <a:cxnSpLocks/>
          </p:cNvCxnSpPr>
          <p:nvPr/>
        </p:nvCxnSpPr>
        <p:spPr>
          <a:xfrm>
            <a:off x="554736" y="2256761"/>
            <a:ext cx="468510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DF8CBFE3-A934-48E5-835B-79859164FD3B}"/>
              </a:ext>
            </a:extLst>
          </p:cNvPr>
          <p:cNvCxnSpPr>
            <a:cxnSpLocks/>
          </p:cNvCxnSpPr>
          <p:nvPr/>
        </p:nvCxnSpPr>
        <p:spPr>
          <a:xfrm>
            <a:off x="7959634" y="2256761"/>
            <a:ext cx="3677631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713E42CB-D20D-4788-8D52-3C5061313ABD}"/>
              </a:ext>
            </a:extLst>
          </p:cNvPr>
          <p:cNvCxnSpPr>
            <a:cxnSpLocks/>
          </p:cNvCxnSpPr>
          <p:nvPr/>
        </p:nvCxnSpPr>
        <p:spPr>
          <a:xfrm>
            <a:off x="5477224" y="2256761"/>
            <a:ext cx="2244588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AAAA744-5318-47D4-9D19-509276C027FE}"/>
              </a:ext>
            </a:extLst>
          </p:cNvPr>
          <p:cNvCxnSpPr>
            <a:cxnSpLocks/>
          </p:cNvCxnSpPr>
          <p:nvPr/>
        </p:nvCxnSpPr>
        <p:spPr>
          <a:xfrm>
            <a:off x="554736" y="2565140"/>
            <a:ext cx="468510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54FDDDB3-1D99-42BB-BEF0-F27192690D76}"/>
              </a:ext>
            </a:extLst>
          </p:cNvPr>
          <p:cNvCxnSpPr>
            <a:cxnSpLocks/>
          </p:cNvCxnSpPr>
          <p:nvPr/>
        </p:nvCxnSpPr>
        <p:spPr>
          <a:xfrm>
            <a:off x="7959634" y="2565140"/>
            <a:ext cx="3677631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B57861E8-34EE-4971-AF64-F49F4CAC3FAC}"/>
              </a:ext>
            </a:extLst>
          </p:cNvPr>
          <p:cNvCxnSpPr>
            <a:cxnSpLocks/>
          </p:cNvCxnSpPr>
          <p:nvPr/>
        </p:nvCxnSpPr>
        <p:spPr>
          <a:xfrm>
            <a:off x="5477224" y="2565140"/>
            <a:ext cx="2244588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EFD6A01-2E3A-4277-AC37-611ED69886E7}"/>
              </a:ext>
            </a:extLst>
          </p:cNvPr>
          <p:cNvCxnSpPr>
            <a:cxnSpLocks/>
          </p:cNvCxnSpPr>
          <p:nvPr/>
        </p:nvCxnSpPr>
        <p:spPr>
          <a:xfrm>
            <a:off x="554736" y="2879308"/>
            <a:ext cx="468510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806238A6-174B-4600-952D-77F04758E7AE}"/>
              </a:ext>
            </a:extLst>
          </p:cNvPr>
          <p:cNvCxnSpPr>
            <a:cxnSpLocks/>
          </p:cNvCxnSpPr>
          <p:nvPr/>
        </p:nvCxnSpPr>
        <p:spPr>
          <a:xfrm>
            <a:off x="7959634" y="2879308"/>
            <a:ext cx="3677631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A86AE78C-1E85-42B9-B80B-5D457C3F5D57}"/>
              </a:ext>
            </a:extLst>
          </p:cNvPr>
          <p:cNvCxnSpPr>
            <a:cxnSpLocks/>
          </p:cNvCxnSpPr>
          <p:nvPr/>
        </p:nvCxnSpPr>
        <p:spPr>
          <a:xfrm>
            <a:off x="5477224" y="2879308"/>
            <a:ext cx="2244588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A8F8CD5-74B6-4356-9825-14C3DD7E7CC3}"/>
              </a:ext>
            </a:extLst>
          </p:cNvPr>
          <p:cNvCxnSpPr>
            <a:cxnSpLocks/>
          </p:cNvCxnSpPr>
          <p:nvPr/>
        </p:nvCxnSpPr>
        <p:spPr>
          <a:xfrm>
            <a:off x="554736" y="3187687"/>
            <a:ext cx="468510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FE2D5650-3DF6-40BF-8940-D9E28C38D275}"/>
              </a:ext>
            </a:extLst>
          </p:cNvPr>
          <p:cNvCxnSpPr>
            <a:cxnSpLocks/>
          </p:cNvCxnSpPr>
          <p:nvPr/>
        </p:nvCxnSpPr>
        <p:spPr>
          <a:xfrm>
            <a:off x="7959634" y="3187687"/>
            <a:ext cx="3677631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F96157B6-19C8-4AEF-B65A-FBF47D0B90D7}"/>
              </a:ext>
            </a:extLst>
          </p:cNvPr>
          <p:cNvCxnSpPr>
            <a:cxnSpLocks/>
          </p:cNvCxnSpPr>
          <p:nvPr/>
        </p:nvCxnSpPr>
        <p:spPr>
          <a:xfrm>
            <a:off x="5477224" y="3187687"/>
            <a:ext cx="2244588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D14A380-1B8B-433A-B0FF-18D204A5C20F}"/>
              </a:ext>
            </a:extLst>
          </p:cNvPr>
          <p:cNvCxnSpPr>
            <a:cxnSpLocks/>
          </p:cNvCxnSpPr>
          <p:nvPr/>
        </p:nvCxnSpPr>
        <p:spPr>
          <a:xfrm>
            <a:off x="554736" y="3496066"/>
            <a:ext cx="468510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D25CF481-CA7D-412C-82C0-2D255F206AA8}"/>
              </a:ext>
            </a:extLst>
          </p:cNvPr>
          <p:cNvCxnSpPr>
            <a:cxnSpLocks/>
          </p:cNvCxnSpPr>
          <p:nvPr/>
        </p:nvCxnSpPr>
        <p:spPr>
          <a:xfrm>
            <a:off x="7959634" y="3496066"/>
            <a:ext cx="3677631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D24DD58C-2A14-4ABD-B6AA-DCB844D35A29}"/>
              </a:ext>
            </a:extLst>
          </p:cNvPr>
          <p:cNvCxnSpPr>
            <a:cxnSpLocks/>
          </p:cNvCxnSpPr>
          <p:nvPr/>
        </p:nvCxnSpPr>
        <p:spPr>
          <a:xfrm>
            <a:off x="5477224" y="3496066"/>
            <a:ext cx="2244588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F867DBD-A6B6-4626-8A0A-CA6F63573773}"/>
              </a:ext>
            </a:extLst>
          </p:cNvPr>
          <p:cNvCxnSpPr>
            <a:cxnSpLocks/>
          </p:cNvCxnSpPr>
          <p:nvPr/>
        </p:nvCxnSpPr>
        <p:spPr>
          <a:xfrm>
            <a:off x="554736" y="3804445"/>
            <a:ext cx="468510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E6A77F80-F9A0-45F3-8CBF-871CCD5B24BB}"/>
              </a:ext>
            </a:extLst>
          </p:cNvPr>
          <p:cNvCxnSpPr>
            <a:cxnSpLocks/>
          </p:cNvCxnSpPr>
          <p:nvPr/>
        </p:nvCxnSpPr>
        <p:spPr>
          <a:xfrm>
            <a:off x="7959634" y="3804445"/>
            <a:ext cx="3677631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7B341699-FC36-4A77-BAEC-1878E0C7CF28}"/>
              </a:ext>
            </a:extLst>
          </p:cNvPr>
          <p:cNvCxnSpPr>
            <a:cxnSpLocks/>
          </p:cNvCxnSpPr>
          <p:nvPr/>
        </p:nvCxnSpPr>
        <p:spPr>
          <a:xfrm>
            <a:off x="5477224" y="3804445"/>
            <a:ext cx="2244588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62CC1D2-1C78-4142-895D-2F9E40CC31A2}"/>
              </a:ext>
            </a:extLst>
          </p:cNvPr>
          <p:cNvCxnSpPr>
            <a:cxnSpLocks/>
          </p:cNvCxnSpPr>
          <p:nvPr/>
        </p:nvCxnSpPr>
        <p:spPr>
          <a:xfrm>
            <a:off x="554736" y="4112824"/>
            <a:ext cx="468510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254F5E33-1836-4031-AE6F-8C305A39DD34}"/>
              </a:ext>
            </a:extLst>
          </p:cNvPr>
          <p:cNvCxnSpPr>
            <a:cxnSpLocks/>
          </p:cNvCxnSpPr>
          <p:nvPr/>
        </p:nvCxnSpPr>
        <p:spPr>
          <a:xfrm>
            <a:off x="7959634" y="4112824"/>
            <a:ext cx="3677631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ED7A5253-D381-40EF-AAC7-6279FD592864}"/>
              </a:ext>
            </a:extLst>
          </p:cNvPr>
          <p:cNvCxnSpPr>
            <a:cxnSpLocks/>
          </p:cNvCxnSpPr>
          <p:nvPr/>
        </p:nvCxnSpPr>
        <p:spPr>
          <a:xfrm>
            <a:off x="5477224" y="4112824"/>
            <a:ext cx="2244588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0813072-1A0D-4048-823C-08F891DEE9EC}"/>
              </a:ext>
            </a:extLst>
          </p:cNvPr>
          <p:cNvCxnSpPr>
            <a:cxnSpLocks/>
          </p:cNvCxnSpPr>
          <p:nvPr/>
        </p:nvCxnSpPr>
        <p:spPr>
          <a:xfrm>
            <a:off x="554736" y="4421203"/>
            <a:ext cx="468510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79C5A4DD-749F-4CC9-B46D-86BE7C7F4967}"/>
              </a:ext>
            </a:extLst>
          </p:cNvPr>
          <p:cNvCxnSpPr>
            <a:cxnSpLocks/>
          </p:cNvCxnSpPr>
          <p:nvPr/>
        </p:nvCxnSpPr>
        <p:spPr>
          <a:xfrm>
            <a:off x="7959634" y="4421203"/>
            <a:ext cx="3677631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E47CA153-A858-4995-AB03-03FBD1EA4431}"/>
              </a:ext>
            </a:extLst>
          </p:cNvPr>
          <p:cNvCxnSpPr>
            <a:cxnSpLocks/>
          </p:cNvCxnSpPr>
          <p:nvPr/>
        </p:nvCxnSpPr>
        <p:spPr>
          <a:xfrm>
            <a:off x="5477224" y="4421203"/>
            <a:ext cx="2244588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6AA83A66-2BB2-4AF1-AA4B-BFC084B34896}"/>
              </a:ext>
            </a:extLst>
          </p:cNvPr>
          <p:cNvCxnSpPr>
            <a:cxnSpLocks/>
          </p:cNvCxnSpPr>
          <p:nvPr/>
        </p:nvCxnSpPr>
        <p:spPr>
          <a:xfrm>
            <a:off x="554736" y="4729582"/>
            <a:ext cx="468510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E2687A92-E592-48BB-A6B5-5D461957CB02}"/>
              </a:ext>
            </a:extLst>
          </p:cNvPr>
          <p:cNvCxnSpPr>
            <a:cxnSpLocks/>
          </p:cNvCxnSpPr>
          <p:nvPr/>
        </p:nvCxnSpPr>
        <p:spPr>
          <a:xfrm>
            <a:off x="7959634" y="4729582"/>
            <a:ext cx="3677631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A6F2238A-DB73-4722-9CD9-9E03CFEEFDB3}"/>
              </a:ext>
            </a:extLst>
          </p:cNvPr>
          <p:cNvCxnSpPr>
            <a:cxnSpLocks/>
          </p:cNvCxnSpPr>
          <p:nvPr/>
        </p:nvCxnSpPr>
        <p:spPr>
          <a:xfrm>
            <a:off x="5477224" y="4729582"/>
            <a:ext cx="2244588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756E567-4612-4B38-BD82-50898B44AE3A}"/>
              </a:ext>
            </a:extLst>
          </p:cNvPr>
          <p:cNvCxnSpPr>
            <a:cxnSpLocks/>
          </p:cNvCxnSpPr>
          <p:nvPr/>
        </p:nvCxnSpPr>
        <p:spPr>
          <a:xfrm>
            <a:off x="554736" y="5051976"/>
            <a:ext cx="468510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62DA3765-3047-4E17-8C98-DB88ADBA1E13}"/>
              </a:ext>
            </a:extLst>
          </p:cNvPr>
          <p:cNvCxnSpPr>
            <a:cxnSpLocks/>
          </p:cNvCxnSpPr>
          <p:nvPr/>
        </p:nvCxnSpPr>
        <p:spPr>
          <a:xfrm>
            <a:off x="7959634" y="5051976"/>
            <a:ext cx="3677631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6849C445-CF99-48C8-9926-BD67B05038E1}"/>
              </a:ext>
            </a:extLst>
          </p:cNvPr>
          <p:cNvCxnSpPr>
            <a:cxnSpLocks/>
          </p:cNvCxnSpPr>
          <p:nvPr/>
        </p:nvCxnSpPr>
        <p:spPr>
          <a:xfrm>
            <a:off x="5477224" y="5051976"/>
            <a:ext cx="2244588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54FC7350-DF3B-46BE-B8AB-047ADE529233}"/>
              </a:ext>
            </a:extLst>
          </p:cNvPr>
          <p:cNvCxnSpPr>
            <a:cxnSpLocks/>
          </p:cNvCxnSpPr>
          <p:nvPr/>
        </p:nvCxnSpPr>
        <p:spPr>
          <a:xfrm>
            <a:off x="554736" y="5361899"/>
            <a:ext cx="468510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1DFF57AB-E646-4B43-AAC9-0E6B598BAF0D}"/>
              </a:ext>
            </a:extLst>
          </p:cNvPr>
          <p:cNvCxnSpPr>
            <a:cxnSpLocks/>
          </p:cNvCxnSpPr>
          <p:nvPr/>
        </p:nvCxnSpPr>
        <p:spPr>
          <a:xfrm>
            <a:off x="7959634" y="5361899"/>
            <a:ext cx="3677631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8C741963-F7FF-4CCB-89AC-BBBDD4A34E8A}"/>
              </a:ext>
            </a:extLst>
          </p:cNvPr>
          <p:cNvCxnSpPr>
            <a:cxnSpLocks/>
          </p:cNvCxnSpPr>
          <p:nvPr/>
        </p:nvCxnSpPr>
        <p:spPr>
          <a:xfrm>
            <a:off x="5477224" y="5361899"/>
            <a:ext cx="2244588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4A23E62-4AA6-48B4-AECE-3C426A58A434}"/>
              </a:ext>
            </a:extLst>
          </p:cNvPr>
          <p:cNvSpPr txBox="1">
            <a:spLocks/>
          </p:cNvSpPr>
          <p:nvPr/>
        </p:nvSpPr>
        <p:spPr>
          <a:xfrm>
            <a:off x="885393" y="1979461"/>
            <a:ext cx="2575560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b="1" dirty="0">
                <a:sym typeface="+mn-lt"/>
              </a:rPr>
              <a:t>График работы ОДС/УК </a:t>
            </a:r>
            <a:br>
              <a:rPr lang="ru-RU" sz="800" dirty="0">
                <a:sym typeface="+mn-lt"/>
              </a:rPr>
            </a:br>
            <a:r>
              <a:rPr lang="ru-RU" sz="800" dirty="0">
                <a:sym typeface="+mn-lt"/>
              </a:rPr>
              <a:t>(в т. ч. работа в выходные)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9CC4EF-CF06-4A65-B1B6-0BA9786CE092}"/>
              </a:ext>
            </a:extLst>
          </p:cNvPr>
          <p:cNvSpPr txBox="1">
            <a:spLocks/>
          </p:cNvSpPr>
          <p:nvPr/>
        </p:nvSpPr>
        <p:spPr>
          <a:xfrm>
            <a:off x="3640492" y="2025627"/>
            <a:ext cx="1599353" cy="1538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r">
              <a:buNone/>
            </a:pPr>
            <a:r>
              <a:rPr lang="ru-RU" sz="1000" b="1" dirty="0">
                <a:solidFill>
                  <a:schemeClr val="accent3"/>
                </a:solidFill>
                <a:sym typeface="+mn-lt"/>
              </a:rPr>
              <a:t> 210 084 </a:t>
            </a:r>
            <a:r>
              <a:rPr lang="en-US" sz="1000" dirty="0">
                <a:sym typeface="+mn-lt"/>
              </a:rPr>
              <a:t>(23%)</a:t>
            </a:r>
            <a:endParaRPr lang="ru-RU" sz="1000" dirty="0">
              <a:sym typeface="+mn-lt"/>
            </a:endParaRP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4AF8E422-2914-459A-86C5-58E458AD4A98}"/>
              </a:ext>
            </a:extLst>
          </p:cNvPr>
          <p:cNvGrpSpPr/>
          <p:nvPr/>
        </p:nvGrpSpPr>
        <p:grpSpPr>
          <a:xfrm>
            <a:off x="563862" y="2003949"/>
            <a:ext cx="240822" cy="197245"/>
            <a:chOff x="2760853" y="1360655"/>
            <a:chExt cx="400337" cy="327895"/>
          </a:xfrm>
        </p:grpSpPr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54F50F1F-B308-42BA-8576-1CCB5BB9DFBB}"/>
                </a:ext>
              </a:extLst>
            </p:cNvPr>
            <p:cNvSpPr/>
            <p:nvPr/>
          </p:nvSpPr>
          <p:spPr>
            <a:xfrm>
              <a:off x="2760853" y="1459786"/>
              <a:ext cx="400337" cy="228764"/>
            </a:xfrm>
            <a:custGeom>
              <a:avLst/>
              <a:gdLst>
                <a:gd name="connsiteX0" fmla="*/ 203785 w 200025"/>
                <a:gd name="connsiteY0" fmla="*/ 3760 h 114300"/>
                <a:gd name="connsiteX1" fmla="*/ 203785 w 200025"/>
                <a:gd name="connsiteY1" fmla="*/ 107582 h 114300"/>
                <a:gd name="connsiteX2" fmla="*/ 194260 w 200025"/>
                <a:gd name="connsiteY2" fmla="*/ 117107 h 114300"/>
                <a:gd name="connsiteX3" fmla="*/ 13285 w 200025"/>
                <a:gd name="connsiteY3" fmla="*/ 117107 h 114300"/>
                <a:gd name="connsiteX4" fmla="*/ 3760 w 200025"/>
                <a:gd name="connsiteY4" fmla="*/ 107582 h 114300"/>
                <a:gd name="connsiteX5" fmla="*/ 3760 w 200025"/>
                <a:gd name="connsiteY5" fmla="*/ 376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0025" h="114300">
                  <a:moveTo>
                    <a:pt x="203785" y="3760"/>
                  </a:moveTo>
                  <a:lnTo>
                    <a:pt x="203785" y="107582"/>
                  </a:lnTo>
                  <a:cubicBezTo>
                    <a:pt x="203785" y="113297"/>
                    <a:pt x="199022" y="117107"/>
                    <a:pt x="194260" y="117107"/>
                  </a:cubicBezTo>
                  <a:lnTo>
                    <a:pt x="13285" y="117107"/>
                  </a:lnTo>
                  <a:cubicBezTo>
                    <a:pt x="7570" y="117107"/>
                    <a:pt x="3760" y="112345"/>
                    <a:pt x="3760" y="107582"/>
                  </a:cubicBezTo>
                  <a:lnTo>
                    <a:pt x="3760" y="376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DDD8B238-3012-48A4-B29A-7D6C7BAFAB6B}"/>
                </a:ext>
              </a:extLst>
            </p:cNvPr>
            <p:cNvSpPr/>
            <p:nvPr/>
          </p:nvSpPr>
          <p:spPr>
            <a:xfrm>
              <a:off x="2827575" y="1396877"/>
              <a:ext cx="38127" cy="38127"/>
            </a:xfrm>
            <a:custGeom>
              <a:avLst/>
              <a:gdLst>
                <a:gd name="connsiteX0" fmla="*/ 4712 w 19050"/>
                <a:gd name="connsiteY0" fmla="*/ 3760 h 19050"/>
                <a:gd name="connsiteX1" fmla="*/ 3760 w 19050"/>
                <a:gd name="connsiteY1" fmla="*/ 7570 h 19050"/>
                <a:gd name="connsiteX2" fmla="*/ 13285 w 19050"/>
                <a:gd name="connsiteY2" fmla="*/ 17095 h 19050"/>
                <a:gd name="connsiteX3" fmla="*/ 22810 w 19050"/>
                <a:gd name="connsiteY3" fmla="*/ 7570 h 19050"/>
                <a:gd name="connsiteX4" fmla="*/ 21857 w 19050"/>
                <a:gd name="connsiteY4" fmla="*/ 37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4712" y="3760"/>
                  </a:moveTo>
                  <a:cubicBezTo>
                    <a:pt x="4712" y="4712"/>
                    <a:pt x="3760" y="5665"/>
                    <a:pt x="3760" y="7570"/>
                  </a:cubicBezTo>
                  <a:cubicBezTo>
                    <a:pt x="3760" y="12332"/>
                    <a:pt x="7570" y="17095"/>
                    <a:pt x="13285" y="17095"/>
                  </a:cubicBezTo>
                  <a:cubicBezTo>
                    <a:pt x="19000" y="17095"/>
                    <a:pt x="22810" y="13285"/>
                    <a:pt x="22810" y="7570"/>
                  </a:cubicBezTo>
                  <a:cubicBezTo>
                    <a:pt x="22810" y="6617"/>
                    <a:pt x="22810" y="4712"/>
                    <a:pt x="21857" y="376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7770C2E-3A9E-4849-9E1D-7283E6F4B8DB}"/>
                </a:ext>
              </a:extLst>
            </p:cNvPr>
            <p:cNvSpPr/>
            <p:nvPr/>
          </p:nvSpPr>
          <p:spPr>
            <a:xfrm>
              <a:off x="2846638" y="1360655"/>
              <a:ext cx="19064" cy="57191"/>
            </a:xfrm>
            <a:custGeom>
              <a:avLst/>
              <a:gdLst>
                <a:gd name="connsiteX0" fmla="*/ 3760 w 0"/>
                <a:gd name="connsiteY0" fmla="*/ 25667 h 28575"/>
                <a:gd name="connsiteX1" fmla="*/ 3760 w 0"/>
                <a:gd name="connsiteY1" fmla="*/ 376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8575">
                  <a:moveTo>
                    <a:pt x="3760" y="25667"/>
                  </a:moveTo>
                  <a:lnTo>
                    <a:pt x="3760" y="3760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7CC31606-A488-4693-A59F-B7900D8BD3CE}"/>
                </a:ext>
              </a:extLst>
            </p:cNvPr>
            <p:cNvSpPr/>
            <p:nvPr/>
          </p:nvSpPr>
          <p:spPr>
            <a:xfrm>
              <a:off x="3056339" y="1396877"/>
              <a:ext cx="38127" cy="38127"/>
            </a:xfrm>
            <a:custGeom>
              <a:avLst/>
              <a:gdLst>
                <a:gd name="connsiteX0" fmla="*/ 21857 w 19050"/>
                <a:gd name="connsiteY0" fmla="*/ 3760 h 19050"/>
                <a:gd name="connsiteX1" fmla="*/ 22810 w 19050"/>
                <a:gd name="connsiteY1" fmla="*/ 7570 h 19050"/>
                <a:gd name="connsiteX2" fmla="*/ 13285 w 19050"/>
                <a:gd name="connsiteY2" fmla="*/ 17095 h 19050"/>
                <a:gd name="connsiteX3" fmla="*/ 3760 w 19050"/>
                <a:gd name="connsiteY3" fmla="*/ 7570 h 19050"/>
                <a:gd name="connsiteX4" fmla="*/ 4712 w 19050"/>
                <a:gd name="connsiteY4" fmla="*/ 37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1857" y="3760"/>
                  </a:moveTo>
                  <a:cubicBezTo>
                    <a:pt x="21857" y="4712"/>
                    <a:pt x="22810" y="5665"/>
                    <a:pt x="22810" y="7570"/>
                  </a:cubicBezTo>
                  <a:cubicBezTo>
                    <a:pt x="22810" y="12332"/>
                    <a:pt x="19000" y="17095"/>
                    <a:pt x="13285" y="17095"/>
                  </a:cubicBezTo>
                  <a:cubicBezTo>
                    <a:pt x="8522" y="17095"/>
                    <a:pt x="3760" y="13285"/>
                    <a:pt x="3760" y="7570"/>
                  </a:cubicBezTo>
                  <a:cubicBezTo>
                    <a:pt x="3760" y="6617"/>
                    <a:pt x="3760" y="4712"/>
                    <a:pt x="4712" y="376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58833F9-057A-45D1-BD7B-E405420D3F9B}"/>
                </a:ext>
              </a:extLst>
            </p:cNvPr>
            <p:cNvSpPr/>
            <p:nvPr/>
          </p:nvSpPr>
          <p:spPr>
            <a:xfrm>
              <a:off x="3075403" y="1360655"/>
              <a:ext cx="19064" cy="57191"/>
            </a:xfrm>
            <a:custGeom>
              <a:avLst/>
              <a:gdLst>
                <a:gd name="connsiteX0" fmla="*/ 3760 w 0"/>
                <a:gd name="connsiteY0" fmla="*/ 25667 h 28575"/>
                <a:gd name="connsiteX1" fmla="*/ 3760 w 0"/>
                <a:gd name="connsiteY1" fmla="*/ 376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8575">
                  <a:moveTo>
                    <a:pt x="3760" y="25667"/>
                  </a:moveTo>
                  <a:lnTo>
                    <a:pt x="3760" y="3760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12178D7-3990-4CAD-883D-A7EF831C5E53}"/>
                </a:ext>
              </a:extLst>
            </p:cNvPr>
            <p:cNvSpPr/>
            <p:nvPr/>
          </p:nvSpPr>
          <p:spPr>
            <a:xfrm>
              <a:off x="2865702" y="1372093"/>
              <a:ext cx="190637" cy="19064"/>
            </a:xfrm>
            <a:custGeom>
              <a:avLst/>
              <a:gdLst>
                <a:gd name="connsiteX0" fmla="*/ 98057 w 95250"/>
                <a:gd name="connsiteY0" fmla="*/ 3760 h 0"/>
                <a:gd name="connsiteX1" fmla="*/ 3760 w 95250"/>
                <a:gd name="connsiteY1" fmla="*/ 37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0">
                  <a:moveTo>
                    <a:pt x="98057" y="3760"/>
                  </a:moveTo>
                  <a:lnTo>
                    <a:pt x="3760" y="3760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A72C12A-37BA-4BD5-8C61-4834E71A016A}"/>
                </a:ext>
              </a:extLst>
            </p:cNvPr>
            <p:cNvSpPr/>
            <p:nvPr/>
          </p:nvSpPr>
          <p:spPr>
            <a:xfrm>
              <a:off x="2760853" y="1372093"/>
              <a:ext cx="400337" cy="95318"/>
            </a:xfrm>
            <a:custGeom>
              <a:avLst/>
              <a:gdLst>
                <a:gd name="connsiteX0" fmla="*/ 36145 w 200025"/>
                <a:gd name="connsiteY0" fmla="*/ 3760 h 47625"/>
                <a:gd name="connsiteX1" fmla="*/ 13285 w 200025"/>
                <a:gd name="connsiteY1" fmla="*/ 3760 h 47625"/>
                <a:gd name="connsiteX2" fmla="*/ 3760 w 200025"/>
                <a:gd name="connsiteY2" fmla="*/ 13285 h 47625"/>
                <a:gd name="connsiteX3" fmla="*/ 3760 w 200025"/>
                <a:gd name="connsiteY3" fmla="*/ 46622 h 47625"/>
                <a:gd name="connsiteX4" fmla="*/ 203785 w 200025"/>
                <a:gd name="connsiteY4" fmla="*/ 46622 h 47625"/>
                <a:gd name="connsiteX5" fmla="*/ 203785 w 200025"/>
                <a:gd name="connsiteY5" fmla="*/ 13285 h 47625"/>
                <a:gd name="connsiteX6" fmla="*/ 194260 w 200025"/>
                <a:gd name="connsiteY6" fmla="*/ 3760 h 47625"/>
                <a:gd name="connsiteX7" fmla="*/ 171400 w 200025"/>
                <a:gd name="connsiteY7" fmla="*/ 376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025" h="47625">
                  <a:moveTo>
                    <a:pt x="36145" y="3760"/>
                  </a:moveTo>
                  <a:lnTo>
                    <a:pt x="13285" y="3760"/>
                  </a:lnTo>
                  <a:cubicBezTo>
                    <a:pt x="7570" y="3760"/>
                    <a:pt x="3760" y="8522"/>
                    <a:pt x="3760" y="13285"/>
                  </a:cubicBezTo>
                  <a:lnTo>
                    <a:pt x="3760" y="46622"/>
                  </a:lnTo>
                  <a:lnTo>
                    <a:pt x="203785" y="46622"/>
                  </a:lnTo>
                  <a:lnTo>
                    <a:pt x="203785" y="13285"/>
                  </a:lnTo>
                  <a:cubicBezTo>
                    <a:pt x="203785" y="7570"/>
                    <a:pt x="199022" y="3760"/>
                    <a:pt x="194260" y="3760"/>
                  </a:cubicBezTo>
                  <a:lnTo>
                    <a:pt x="171400" y="376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6A12C6D-EE00-488D-9148-477CF8394C82}"/>
                </a:ext>
              </a:extLst>
            </p:cNvPr>
            <p:cNvSpPr/>
            <p:nvPr/>
          </p:nvSpPr>
          <p:spPr>
            <a:xfrm>
              <a:off x="2873327" y="1501726"/>
              <a:ext cx="19064" cy="38127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471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4715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A650FA5-A4F1-46D9-8212-22A81C620B5C}"/>
                </a:ext>
              </a:extLst>
            </p:cNvPr>
            <p:cNvSpPr/>
            <p:nvPr/>
          </p:nvSpPr>
          <p:spPr>
            <a:xfrm>
              <a:off x="2932426" y="1501726"/>
              <a:ext cx="19064" cy="38127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471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4715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B7BEA0C-9D95-4879-A89B-F304D5A6B331}"/>
                </a:ext>
              </a:extLst>
            </p:cNvPr>
            <p:cNvSpPr/>
            <p:nvPr/>
          </p:nvSpPr>
          <p:spPr>
            <a:xfrm>
              <a:off x="2989617" y="1501726"/>
              <a:ext cx="19064" cy="38127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471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4715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D46F01E1-5318-412F-BB61-222A088B97D6}"/>
                </a:ext>
              </a:extLst>
            </p:cNvPr>
            <p:cNvSpPr/>
            <p:nvPr/>
          </p:nvSpPr>
          <p:spPr>
            <a:xfrm>
              <a:off x="3046808" y="1501726"/>
              <a:ext cx="19064" cy="38127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471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4715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602CBB0-4458-4A1C-A570-B7590DEC94ED}"/>
                </a:ext>
              </a:extLst>
            </p:cNvPr>
            <p:cNvSpPr/>
            <p:nvPr/>
          </p:nvSpPr>
          <p:spPr>
            <a:xfrm>
              <a:off x="2873327" y="1602765"/>
              <a:ext cx="19064" cy="38127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376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3762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AB8B65F-D3FB-4891-98CA-ED38827F2DEF}"/>
                </a:ext>
              </a:extLst>
            </p:cNvPr>
            <p:cNvSpPr/>
            <p:nvPr/>
          </p:nvSpPr>
          <p:spPr>
            <a:xfrm>
              <a:off x="2932426" y="1602765"/>
              <a:ext cx="19064" cy="38127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376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3762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A14A1470-BD6A-47E2-93BB-AF710F97BEDA}"/>
                </a:ext>
              </a:extLst>
            </p:cNvPr>
            <p:cNvSpPr/>
            <p:nvPr/>
          </p:nvSpPr>
          <p:spPr>
            <a:xfrm>
              <a:off x="2989617" y="1602765"/>
              <a:ext cx="19064" cy="38127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376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3762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1F57D5D3-97CE-446E-8D57-242331D70D36}"/>
                </a:ext>
              </a:extLst>
            </p:cNvPr>
            <p:cNvSpPr/>
            <p:nvPr/>
          </p:nvSpPr>
          <p:spPr>
            <a:xfrm>
              <a:off x="3046808" y="1602765"/>
              <a:ext cx="19064" cy="38127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376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3762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CAA3AC1-9478-4FB5-BE45-2E1D3051B490}"/>
                </a:ext>
              </a:extLst>
            </p:cNvPr>
            <p:cNvSpPr/>
            <p:nvPr/>
          </p:nvSpPr>
          <p:spPr>
            <a:xfrm>
              <a:off x="2840920" y="1572263"/>
              <a:ext cx="247828" cy="19064"/>
            </a:xfrm>
            <a:custGeom>
              <a:avLst/>
              <a:gdLst>
                <a:gd name="connsiteX0" fmla="*/ 3760 w 123825"/>
                <a:gd name="connsiteY0" fmla="*/ 3760 h 0"/>
                <a:gd name="connsiteX1" fmla="*/ 122822 w 123825"/>
                <a:gd name="connsiteY1" fmla="*/ 37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825">
                  <a:moveTo>
                    <a:pt x="3760" y="3760"/>
                  </a:moveTo>
                  <a:lnTo>
                    <a:pt x="122822" y="3760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9D8B4639-794C-4980-8847-D01B2B51F033}"/>
                </a:ext>
              </a:extLst>
            </p:cNvPr>
            <p:cNvSpPr/>
            <p:nvPr/>
          </p:nvSpPr>
          <p:spPr>
            <a:xfrm>
              <a:off x="2892391" y="1406408"/>
              <a:ext cx="133446" cy="19064"/>
            </a:xfrm>
            <a:custGeom>
              <a:avLst/>
              <a:gdLst>
                <a:gd name="connsiteX0" fmla="*/ 72340 w 66675"/>
                <a:gd name="connsiteY0" fmla="*/ 3760 h 0"/>
                <a:gd name="connsiteX1" fmla="*/ 3760 w 66675"/>
                <a:gd name="connsiteY1" fmla="*/ 37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675">
                  <a:moveTo>
                    <a:pt x="72340" y="3760"/>
                  </a:moveTo>
                  <a:lnTo>
                    <a:pt x="3760" y="3760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66F7F8D-7382-47C0-90D0-A78477C7C910}"/>
              </a:ext>
            </a:extLst>
          </p:cNvPr>
          <p:cNvSpPr txBox="1">
            <a:spLocks/>
          </p:cNvSpPr>
          <p:nvPr/>
        </p:nvSpPr>
        <p:spPr>
          <a:xfrm>
            <a:off x="7959634" y="1979461"/>
            <a:ext cx="36776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dirty="0">
                <a:sym typeface="+mn-lt"/>
              </a:rPr>
              <a:t>Отсутствует актуальная информация о графике работы УК, в т.ч. в выходные и праздничные дни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1853367-73F8-4AF5-AA95-33D3F298F1F4}"/>
              </a:ext>
            </a:extLst>
          </p:cNvPr>
          <p:cNvGrpSpPr/>
          <p:nvPr/>
        </p:nvGrpSpPr>
        <p:grpSpPr>
          <a:xfrm>
            <a:off x="5901511" y="1980171"/>
            <a:ext cx="244800" cy="244800"/>
            <a:chOff x="-611536" y="5064162"/>
            <a:chExt cx="396228" cy="396228"/>
          </a:xfrm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2B656B68-1C35-4AAD-9E99-E3B06B7DD796}"/>
                </a:ext>
              </a:extLst>
            </p:cNvPr>
            <p:cNvSpPr/>
            <p:nvPr/>
          </p:nvSpPr>
          <p:spPr>
            <a:xfrm>
              <a:off x="-611536" y="506416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7" name="Graphic 377">
              <a:extLst>
                <a:ext uri="{FF2B5EF4-FFF2-40B4-BE49-F238E27FC236}">
                  <a16:creationId xmlns:a16="http://schemas.microsoft.com/office/drawing/2014/main" id="{E7536901-84D7-4A3A-AD61-C4F0AA361537}"/>
                </a:ext>
              </a:extLst>
            </p:cNvPr>
            <p:cNvSpPr/>
            <p:nvPr/>
          </p:nvSpPr>
          <p:spPr>
            <a:xfrm>
              <a:off x="-522818" y="5167664"/>
              <a:ext cx="218792" cy="189225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12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426F78F-E109-417F-A138-E97885B8B34F}"/>
              </a:ext>
            </a:extLst>
          </p:cNvPr>
          <p:cNvSpPr txBox="1">
            <a:spLocks/>
          </p:cNvSpPr>
          <p:nvPr/>
        </p:nvSpPr>
        <p:spPr>
          <a:xfrm>
            <a:off x="885393" y="2349395"/>
            <a:ext cx="2575560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b="1" dirty="0">
                <a:sym typeface="+mn-lt"/>
              </a:rPr>
              <a:t>ИПУ воды </a:t>
            </a:r>
            <a:r>
              <a:rPr lang="ru-RU" sz="800" dirty="0">
                <a:sym typeface="+mn-lt"/>
              </a:rPr>
              <a:t>(установка, замена, поверка)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A22ACD-EE86-4190-8432-24FBF79BF99F}"/>
              </a:ext>
            </a:extLst>
          </p:cNvPr>
          <p:cNvSpPr txBox="1">
            <a:spLocks/>
          </p:cNvSpPr>
          <p:nvPr/>
        </p:nvSpPr>
        <p:spPr>
          <a:xfrm>
            <a:off x="3640492" y="2334006"/>
            <a:ext cx="1599353" cy="1538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r">
              <a:buNone/>
            </a:pPr>
            <a:r>
              <a:rPr lang="ru-RU" sz="1000" b="1" dirty="0">
                <a:solidFill>
                  <a:schemeClr val="accent3"/>
                </a:solidFill>
                <a:sym typeface="+mn-lt"/>
              </a:rPr>
              <a:t> 168 525 </a:t>
            </a:r>
            <a:r>
              <a:rPr lang="en-US" sz="1000" dirty="0">
                <a:sym typeface="+mn-lt"/>
              </a:rPr>
              <a:t>(18%)</a:t>
            </a:r>
            <a:endParaRPr lang="ru-RU" sz="1000" dirty="0">
              <a:sym typeface="+mn-lt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0450A685-4AE6-4EA7-A265-157907EAFA0B}"/>
              </a:ext>
            </a:extLst>
          </p:cNvPr>
          <p:cNvGrpSpPr/>
          <p:nvPr/>
        </p:nvGrpSpPr>
        <p:grpSpPr>
          <a:xfrm>
            <a:off x="570362" y="2297039"/>
            <a:ext cx="227823" cy="227823"/>
            <a:chOff x="1811339" y="1963738"/>
            <a:chExt cx="822325" cy="822325"/>
          </a:xfrm>
        </p:grpSpPr>
        <p:sp>
          <p:nvSpPr>
            <p:cNvPr id="194" name="Oval 327">
              <a:extLst>
                <a:ext uri="{FF2B5EF4-FFF2-40B4-BE49-F238E27FC236}">
                  <a16:creationId xmlns:a16="http://schemas.microsoft.com/office/drawing/2014/main" id="{26F45796-E210-4B83-8A14-ECCBC95E9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1339" y="1963738"/>
              <a:ext cx="822325" cy="822325"/>
            </a:xfrm>
            <a:prstGeom prst="ellips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5" name="Oval 328">
              <a:extLst>
                <a:ext uri="{FF2B5EF4-FFF2-40B4-BE49-F238E27FC236}">
                  <a16:creationId xmlns:a16="http://schemas.microsoft.com/office/drawing/2014/main" id="{37D4C728-7758-4D86-89F1-0886AE6BD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076" y="2022476"/>
              <a:ext cx="704850" cy="703263"/>
            </a:xfrm>
            <a:prstGeom prst="ellips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6" name="Rectangle 329">
              <a:extLst>
                <a:ext uri="{FF2B5EF4-FFF2-40B4-BE49-F238E27FC236}">
                  <a16:creationId xmlns:a16="http://schemas.microsoft.com/office/drawing/2014/main" id="{04B61151-079E-4A1D-9887-26DE0EE23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289" y="2232026"/>
              <a:ext cx="352425" cy="112713"/>
            </a:xfrm>
            <a:prstGeom prst="rect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7" name="Line 330">
              <a:extLst>
                <a:ext uri="{FF2B5EF4-FFF2-40B4-BE49-F238E27FC236}">
                  <a16:creationId xmlns:a16="http://schemas.microsoft.com/office/drawing/2014/main" id="{D29F8935-93CB-418B-8996-50C65A1802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0451" y="2232026"/>
              <a:ext cx="0" cy="11271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8" name="Line 331">
              <a:extLst>
                <a:ext uri="{FF2B5EF4-FFF2-40B4-BE49-F238E27FC236}">
                  <a16:creationId xmlns:a16="http://schemas.microsoft.com/office/drawing/2014/main" id="{D875BA78-58E2-4D26-A1EC-4DEEE8BC41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0601" y="2232026"/>
              <a:ext cx="0" cy="11271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9" name="Line 332">
              <a:extLst>
                <a:ext uri="{FF2B5EF4-FFF2-40B4-BE49-F238E27FC236}">
                  <a16:creationId xmlns:a16="http://schemas.microsoft.com/office/drawing/2014/main" id="{59A1E2BD-648A-4A92-BE8D-4CE674F23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4401" y="2232026"/>
              <a:ext cx="0" cy="11271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0" name="Line 333">
              <a:extLst>
                <a:ext uri="{FF2B5EF4-FFF2-40B4-BE49-F238E27FC236}">
                  <a16:creationId xmlns:a16="http://schemas.microsoft.com/office/drawing/2014/main" id="{F4F88CDA-E016-4BF9-96A8-38C8246E9E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551" y="2232026"/>
              <a:ext cx="0" cy="11271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1" name="Rectangle 334">
              <a:extLst>
                <a:ext uri="{FF2B5EF4-FFF2-40B4-BE49-F238E27FC236}">
                  <a16:creationId xmlns:a16="http://schemas.microsoft.com/office/drawing/2014/main" id="{DD8E7B3D-2FBD-4419-A9AC-2270A64F1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289" y="2509838"/>
              <a:ext cx="352425" cy="52388"/>
            </a:xfrm>
            <a:prstGeom prst="rect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2" name="Line 335">
              <a:extLst>
                <a:ext uri="{FF2B5EF4-FFF2-40B4-BE49-F238E27FC236}">
                  <a16:creationId xmlns:a16="http://schemas.microsoft.com/office/drawing/2014/main" id="{3B294C60-B155-4649-8C02-393616F26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0451" y="2509838"/>
              <a:ext cx="0" cy="52388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3" name="Line 336">
              <a:extLst>
                <a:ext uri="{FF2B5EF4-FFF2-40B4-BE49-F238E27FC236}">
                  <a16:creationId xmlns:a16="http://schemas.microsoft.com/office/drawing/2014/main" id="{C9E5FD7D-817B-4E73-BAF7-93774CB47E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0601" y="2509838"/>
              <a:ext cx="0" cy="52388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4" name="Line 337">
              <a:extLst>
                <a:ext uri="{FF2B5EF4-FFF2-40B4-BE49-F238E27FC236}">
                  <a16:creationId xmlns:a16="http://schemas.microsoft.com/office/drawing/2014/main" id="{3990301C-BA67-43E1-8668-7176E124CD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4401" y="2509838"/>
              <a:ext cx="0" cy="52388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5" name="Line 338">
              <a:extLst>
                <a:ext uri="{FF2B5EF4-FFF2-40B4-BE49-F238E27FC236}">
                  <a16:creationId xmlns:a16="http://schemas.microsoft.com/office/drawing/2014/main" id="{F0E787D9-D61A-499D-AC1A-89AB534178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551" y="2509838"/>
              <a:ext cx="0" cy="52388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6" name="Line 339">
              <a:extLst>
                <a:ext uri="{FF2B5EF4-FFF2-40B4-BE49-F238E27FC236}">
                  <a16:creationId xmlns:a16="http://schemas.microsoft.com/office/drawing/2014/main" id="{6425DFDD-6B23-4AA7-B49C-DF603117C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6164" y="2620963"/>
              <a:ext cx="0" cy="3810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7" name="Line 340">
              <a:extLst>
                <a:ext uri="{FF2B5EF4-FFF2-40B4-BE49-F238E27FC236}">
                  <a16:creationId xmlns:a16="http://schemas.microsoft.com/office/drawing/2014/main" id="{E169847A-9583-467A-875E-DF3BDBBF5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8064" y="2620963"/>
              <a:ext cx="0" cy="3810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8" name="Line 341">
              <a:extLst>
                <a:ext uri="{FF2B5EF4-FFF2-40B4-BE49-F238E27FC236}">
                  <a16:creationId xmlns:a16="http://schemas.microsoft.com/office/drawing/2014/main" id="{B81E78F6-8482-4BA4-810A-4CB7CD1C04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1551" y="2620963"/>
              <a:ext cx="0" cy="3810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9" name="Line 342">
              <a:extLst>
                <a:ext uri="{FF2B5EF4-FFF2-40B4-BE49-F238E27FC236}">
                  <a16:creationId xmlns:a16="http://schemas.microsoft.com/office/drawing/2014/main" id="{64CDA111-5BDB-49DF-93DA-20B31881F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3451" y="2620963"/>
              <a:ext cx="0" cy="3810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0" name="Line 343">
              <a:extLst>
                <a:ext uri="{FF2B5EF4-FFF2-40B4-BE49-F238E27FC236}">
                  <a16:creationId xmlns:a16="http://schemas.microsoft.com/office/drawing/2014/main" id="{414C3877-1B16-48C7-AAE4-F5BE9B8DB6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6939" y="2620963"/>
              <a:ext cx="0" cy="3810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1" name="Line 344">
              <a:extLst>
                <a:ext uri="{FF2B5EF4-FFF2-40B4-BE49-F238E27FC236}">
                  <a16:creationId xmlns:a16="http://schemas.microsoft.com/office/drawing/2014/main" id="{491D1BCC-E53A-46F6-87D6-181255352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8839" y="2620963"/>
              <a:ext cx="0" cy="3810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2" name="Line 345">
              <a:extLst>
                <a:ext uri="{FF2B5EF4-FFF2-40B4-BE49-F238E27FC236}">
                  <a16:creationId xmlns:a16="http://schemas.microsoft.com/office/drawing/2014/main" id="{3CBA9E7B-C70D-408E-ADC9-7D6467DCE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1064" y="2119313"/>
              <a:ext cx="142875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3" name="Line 346">
              <a:extLst>
                <a:ext uri="{FF2B5EF4-FFF2-40B4-BE49-F238E27FC236}">
                  <a16:creationId xmlns:a16="http://schemas.microsoft.com/office/drawing/2014/main" id="{FB823BCF-AB58-4EE4-8D6F-879075CF19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1676" y="2419351"/>
              <a:ext cx="501650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4A2D77B-3FC8-47FC-870B-32272A422B69}"/>
              </a:ext>
            </a:extLst>
          </p:cNvPr>
          <p:cNvSpPr txBox="1">
            <a:spLocks/>
          </p:cNvSpPr>
          <p:nvPr/>
        </p:nvSpPr>
        <p:spPr>
          <a:xfrm>
            <a:off x="7959634" y="2287840"/>
            <a:ext cx="36776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dirty="0">
                <a:sym typeface="+mn-lt"/>
              </a:rPr>
              <a:t>Большинство УК (~90%) не занимаются обслуживанием счетчиков, житель направляется в сторонние организации</a:t>
            </a:r>
          </a:p>
        </p:txBody>
      </p: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B41C3CAA-061E-4CD0-9752-5F155A89E8A2}"/>
              </a:ext>
            </a:extLst>
          </p:cNvPr>
          <p:cNvGrpSpPr/>
          <p:nvPr/>
        </p:nvGrpSpPr>
        <p:grpSpPr>
          <a:xfrm>
            <a:off x="5901511" y="2288550"/>
            <a:ext cx="244800" cy="244800"/>
            <a:chOff x="-611536" y="5064162"/>
            <a:chExt cx="396228" cy="396228"/>
          </a:xfrm>
        </p:grpSpPr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D0393F57-78E2-4BF7-872E-62E979AC29FE}"/>
                </a:ext>
              </a:extLst>
            </p:cNvPr>
            <p:cNvSpPr/>
            <p:nvPr/>
          </p:nvSpPr>
          <p:spPr>
            <a:xfrm>
              <a:off x="-611536" y="506416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1" name="Graphic 377">
              <a:extLst>
                <a:ext uri="{FF2B5EF4-FFF2-40B4-BE49-F238E27FC236}">
                  <a16:creationId xmlns:a16="http://schemas.microsoft.com/office/drawing/2014/main" id="{87F9A12B-A31A-4208-980F-DA56FC0FE1BA}"/>
                </a:ext>
              </a:extLst>
            </p:cNvPr>
            <p:cNvSpPr/>
            <p:nvPr/>
          </p:nvSpPr>
          <p:spPr>
            <a:xfrm>
              <a:off x="-522818" y="5167664"/>
              <a:ext cx="218792" cy="189225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12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73F3EF56-E650-4902-9CF8-8BCA2CFA0FBD}"/>
              </a:ext>
            </a:extLst>
          </p:cNvPr>
          <p:cNvSpPr txBox="1">
            <a:spLocks/>
          </p:cNvSpPr>
          <p:nvPr/>
        </p:nvSpPr>
        <p:spPr>
          <a:xfrm>
            <a:off x="885393" y="2910387"/>
            <a:ext cx="2575560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b="1" dirty="0">
                <a:sym typeface="+mn-lt"/>
              </a:rPr>
              <a:t>Контакты организаций </a:t>
            </a:r>
            <a:br>
              <a:rPr lang="ru-RU" sz="800" dirty="0">
                <a:sym typeface="+mn-lt"/>
              </a:rPr>
            </a:br>
            <a:r>
              <a:rPr lang="ru-RU" sz="800" dirty="0">
                <a:sym typeface="+mn-lt"/>
              </a:rPr>
              <a:t>(МОЭК, Мосгаз, ДЖКХ, </a:t>
            </a:r>
            <a:r>
              <a:rPr lang="ru-RU" sz="800" dirty="0" err="1">
                <a:sym typeface="+mn-lt"/>
              </a:rPr>
              <a:t>ОИВы</a:t>
            </a:r>
            <a:r>
              <a:rPr lang="ru-RU" sz="800" dirty="0">
                <a:sym typeface="+mn-lt"/>
              </a:rPr>
              <a:t>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F01394-32B8-4E97-8542-A598EDF1AEC4}"/>
              </a:ext>
            </a:extLst>
          </p:cNvPr>
          <p:cNvSpPr txBox="1">
            <a:spLocks/>
          </p:cNvSpPr>
          <p:nvPr/>
        </p:nvSpPr>
        <p:spPr>
          <a:xfrm>
            <a:off x="3640492" y="2956553"/>
            <a:ext cx="1599353" cy="1538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r">
              <a:buNone/>
            </a:pPr>
            <a:r>
              <a:rPr lang="ru-RU" sz="1000" b="1" dirty="0">
                <a:solidFill>
                  <a:schemeClr val="accent3"/>
                </a:solidFill>
                <a:sym typeface="+mn-lt"/>
              </a:rPr>
              <a:t> 75 800 </a:t>
            </a:r>
            <a:r>
              <a:rPr lang="en-US" sz="1000" dirty="0">
                <a:sym typeface="+mn-lt"/>
              </a:rPr>
              <a:t>(8%)</a:t>
            </a:r>
            <a:endParaRPr lang="ru-RU" sz="1000" dirty="0">
              <a:sym typeface="+mn-lt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2F2D221C-8F05-4F10-9D9C-6820472C5EA2}"/>
              </a:ext>
            </a:extLst>
          </p:cNvPr>
          <p:cNvGrpSpPr/>
          <p:nvPr/>
        </p:nvGrpSpPr>
        <p:grpSpPr>
          <a:xfrm>
            <a:off x="570809" y="2917875"/>
            <a:ext cx="226929" cy="231245"/>
            <a:chOff x="3117850" y="896938"/>
            <a:chExt cx="711200" cy="717550"/>
          </a:xfrm>
        </p:grpSpPr>
        <p:sp>
          <p:nvSpPr>
            <p:cNvPr id="253" name="Freeform 157">
              <a:extLst>
                <a:ext uri="{FF2B5EF4-FFF2-40B4-BE49-F238E27FC236}">
                  <a16:creationId xmlns:a16="http://schemas.microsoft.com/office/drawing/2014/main" id="{5DF58654-126B-4307-80EC-9FC9AD053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850" y="1117600"/>
              <a:ext cx="711200" cy="496888"/>
            </a:xfrm>
            <a:custGeom>
              <a:avLst/>
              <a:gdLst>
                <a:gd name="T0" fmla="*/ 190 w 190"/>
                <a:gd name="T1" fmla="*/ 0 h 133"/>
                <a:gd name="T2" fmla="*/ 190 w 190"/>
                <a:gd name="T3" fmla="*/ 120 h 133"/>
                <a:gd name="T4" fmla="*/ 178 w 190"/>
                <a:gd name="T5" fmla="*/ 133 h 133"/>
                <a:gd name="T6" fmla="*/ 12 w 190"/>
                <a:gd name="T7" fmla="*/ 133 h 133"/>
                <a:gd name="T8" fmla="*/ 0 w 190"/>
                <a:gd name="T9" fmla="*/ 120 h 133"/>
                <a:gd name="T10" fmla="*/ 0 w 190"/>
                <a:gd name="T1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0" h="133">
                  <a:moveTo>
                    <a:pt x="190" y="0"/>
                  </a:moveTo>
                  <a:cubicBezTo>
                    <a:pt x="190" y="120"/>
                    <a:pt x="190" y="120"/>
                    <a:pt x="190" y="120"/>
                  </a:cubicBezTo>
                  <a:cubicBezTo>
                    <a:pt x="190" y="127"/>
                    <a:pt x="185" y="133"/>
                    <a:pt x="178" y="133"/>
                  </a:cubicBezTo>
                  <a:cubicBezTo>
                    <a:pt x="12" y="133"/>
                    <a:pt x="12" y="133"/>
                    <a:pt x="12" y="133"/>
                  </a:cubicBezTo>
                  <a:cubicBezTo>
                    <a:pt x="5" y="133"/>
                    <a:pt x="0" y="127"/>
                    <a:pt x="0" y="12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4" name="Line 158">
              <a:extLst>
                <a:ext uri="{FF2B5EF4-FFF2-40B4-BE49-F238E27FC236}">
                  <a16:creationId xmlns:a16="http://schemas.microsoft.com/office/drawing/2014/main" id="{3F294D35-A345-45DE-AAAF-772580D390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7850" y="1076325"/>
              <a:ext cx="66675" cy="41275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5" name="Freeform 159">
              <a:extLst>
                <a:ext uri="{FF2B5EF4-FFF2-40B4-BE49-F238E27FC236}">
                  <a16:creationId xmlns:a16="http://schemas.microsoft.com/office/drawing/2014/main" id="{19EB5857-E753-43A0-AE8B-D363AEE97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9625" y="896938"/>
              <a:ext cx="242887" cy="69850"/>
            </a:xfrm>
            <a:custGeom>
              <a:avLst/>
              <a:gdLst>
                <a:gd name="T0" fmla="*/ 65 w 65"/>
                <a:gd name="T1" fmla="*/ 19 h 19"/>
                <a:gd name="T2" fmla="*/ 39 w 65"/>
                <a:gd name="T3" fmla="*/ 3 h 19"/>
                <a:gd name="T4" fmla="*/ 26 w 65"/>
                <a:gd name="T5" fmla="*/ 3 h 19"/>
                <a:gd name="T6" fmla="*/ 0 w 65"/>
                <a:gd name="T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9">
                  <a:moveTo>
                    <a:pt x="65" y="19"/>
                  </a:moveTo>
                  <a:cubicBezTo>
                    <a:pt x="39" y="3"/>
                    <a:pt x="39" y="3"/>
                    <a:pt x="39" y="3"/>
                  </a:cubicBezTo>
                  <a:cubicBezTo>
                    <a:pt x="35" y="0"/>
                    <a:pt x="30" y="0"/>
                    <a:pt x="26" y="3"/>
                  </a:cubicBezTo>
                  <a:cubicBezTo>
                    <a:pt x="0" y="19"/>
                    <a:pt x="0" y="19"/>
                    <a:pt x="0" y="19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6" name="Line 160">
              <a:extLst>
                <a:ext uri="{FF2B5EF4-FFF2-40B4-BE49-F238E27FC236}">
                  <a16:creationId xmlns:a16="http://schemas.microsoft.com/office/drawing/2014/main" id="{14AAF135-4570-4CF1-8178-517FD4D0DD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0788" y="1076325"/>
              <a:ext cx="68262" cy="41275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7" name="Freeform 161">
              <a:extLst>
                <a:ext uri="{FF2B5EF4-FFF2-40B4-BE49-F238E27FC236}">
                  <a16:creationId xmlns:a16="http://schemas.microsoft.com/office/drawing/2014/main" id="{2335AD79-207E-4E47-8384-B09FDA5F4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850" y="1270000"/>
              <a:ext cx="711200" cy="222250"/>
            </a:xfrm>
            <a:custGeom>
              <a:avLst/>
              <a:gdLst>
                <a:gd name="T0" fmla="*/ 190 w 190"/>
                <a:gd name="T1" fmla="*/ 0 h 59"/>
                <a:gd name="T2" fmla="*/ 101 w 190"/>
                <a:gd name="T3" fmla="*/ 56 h 59"/>
                <a:gd name="T4" fmla="*/ 88 w 190"/>
                <a:gd name="T5" fmla="*/ 56 h 59"/>
                <a:gd name="T6" fmla="*/ 0 w 190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0" h="59">
                  <a:moveTo>
                    <a:pt x="190" y="0"/>
                  </a:moveTo>
                  <a:cubicBezTo>
                    <a:pt x="101" y="56"/>
                    <a:pt x="101" y="56"/>
                    <a:pt x="101" y="56"/>
                  </a:cubicBezTo>
                  <a:cubicBezTo>
                    <a:pt x="97" y="58"/>
                    <a:pt x="92" y="59"/>
                    <a:pt x="88" y="5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" name="Freeform 162">
              <a:extLst>
                <a:ext uri="{FF2B5EF4-FFF2-40B4-BE49-F238E27FC236}">
                  <a16:creationId xmlns:a16="http://schemas.microsoft.com/office/drawing/2014/main" id="{DE7EE560-52C3-4054-816C-178EE33C9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4525" y="966788"/>
              <a:ext cx="576262" cy="277813"/>
            </a:xfrm>
            <a:custGeom>
              <a:avLst/>
              <a:gdLst>
                <a:gd name="T0" fmla="*/ 0 w 154"/>
                <a:gd name="T1" fmla="*/ 74 h 74"/>
                <a:gd name="T2" fmla="*/ 0 w 154"/>
                <a:gd name="T3" fmla="*/ 13 h 74"/>
                <a:gd name="T4" fmla="*/ 12 w 154"/>
                <a:gd name="T5" fmla="*/ 0 h 74"/>
                <a:gd name="T6" fmla="*/ 142 w 154"/>
                <a:gd name="T7" fmla="*/ 0 h 74"/>
                <a:gd name="T8" fmla="*/ 154 w 154"/>
                <a:gd name="T9" fmla="*/ 13 h 74"/>
                <a:gd name="T10" fmla="*/ 154 w 154"/>
                <a:gd name="T1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4" h="74">
                  <a:moveTo>
                    <a:pt x="0" y="74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48" y="0"/>
                    <a:pt x="154" y="6"/>
                    <a:pt x="154" y="13"/>
                  </a:cubicBezTo>
                  <a:cubicBezTo>
                    <a:pt x="154" y="74"/>
                    <a:pt x="154" y="74"/>
                    <a:pt x="154" y="74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9" name="Freeform 163">
              <a:extLst>
                <a:ext uri="{FF2B5EF4-FFF2-40B4-BE49-F238E27FC236}">
                  <a16:creationId xmlns:a16="http://schemas.microsoft.com/office/drawing/2014/main" id="{276D815C-156F-4EC1-9B53-A9AB0A9FD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525" y="1046163"/>
              <a:ext cx="311150" cy="317500"/>
            </a:xfrm>
            <a:custGeom>
              <a:avLst/>
              <a:gdLst>
                <a:gd name="T0" fmla="*/ 51 w 83"/>
                <a:gd name="T1" fmla="*/ 85 h 85"/>
                <a:gd name="T2" fmla="*/ 19 w 83"/>
                <a:gd name="T3" fmla="*/ 76 h 85"/>
                <a:gd name="T4" fmla="*/ 9 w 83"/>
                <a:gd name="T5" fmla="*/ 23 h 85"/>
                <a:gd name="T6" fmla="*/ 53 w 83"/>
                <a:gd name="T7" fmla="*/ 4 h 85"/>
                <a:gd name="T8" fmla="*/ 83 w 83"/>
                <a:gd name="T9" fmla="*/ 38 h 85"/>
                <a:gd name="T10" fmla="*/ 83 w 83"/>
                <a:gd name="T11" fmla="*/ 39 h 85"/>
                <a:gd name="T12" fmla="*/ 55 w 83"/>
                <a:gd name="T13" fmla="*/ 53 h 85"/>
                <a:gd name="T14" fmla="*/ 55 w 83"/>
                <a:gd name="T15" fmla="*/ 2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" h="85">
                  <a:moveTo>
                    <a:pt x="51" y="85"/>
                  </a:moveTo>
                  <a:cubicBezTo>
                    <a:pt x="40" y="85"/>
                    <a:pt x="28" y="83"/>
                    <a:pt x="19" y="76"/>
                  </a:cubicBezTo>
                  <a:cubicBezTo>
                    <a:pt x="3" y="64"/>
                    <a:pt x="0" y="41"/>
                    <a:pt x="9" y="23"/>
                  </a:cubicBezTo>
                  <a:cubicBezTo>
                    <a:pt x="17" y="8"/>
                    <a:pt x="36" y="0"/>
                    <a:pt x="53" y="4"/>
                  </a:cubicBezTo>
                  <a:cubicBezTo>
                    <a:pt x="70" y="7"/>
                    <a:pt x="82" y="22"/>
                    <a:pt x="83" y="38"/>
                  </a:cubicBezTo>
                  <a:cubicBezTo>
                    <a:pt x="83" y="38"/>
                    <a:pt x="83" y="39"/>
                    <a:pt x="83" y="39"/>
                  </a:cubicBezTo>
                  <a:cubicBezTo>
                    <a:pt x="83" y="75"/>
                    <a:pt x="55" y="62"/>
                    <a:pt x="55" y="53"/>
                  </a:cubicBezTo>
                  <a:cubicBezTo>
                    <a:pt x="55" y="22"/>
                    <a:pt x="55" y="22"/>
                    <a:pt x="55" y="22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0" name="Freeform 164">
              <a:extLst>
                <a:ext uri="{FF2B5EF4-FFF2-40B4-BE49-F238E27FC236}">
                  <a16:creationId xmlns:a16="http://schemas.microsoft.com/office/drawing/2014/main" id="{4B77E03C-DF25-4A95-8618-6FAAB31AD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013" y="1131888"/>
              <a:ext cx="112712" cy="153988"/>
            </a:xfrm>
            <a:custGeom>
              <a:avLst/>
              <a:gdLst>
                <a:gd name="T0" fmla="*/ 28 w 30"/>
                <a:gd name="T1" fmla="*/ 2 h 41"/>
                <a:gd name="T2" fmla="*/ 13 w 30"/>
                <a:gd name="T3" fmla="*/ 2 h 41"/>
                <a:gd name="T4" fmla="*/ 2 w 30"/>
                <a:gd name="T5" fmla="*/ 28 h 41"/>
                <a:gd name="T6" fmla="*/ 12 w 30"/>
                <a:gd name="T7" fmla="*/ 38 h 41"/>
                <a:gd name="T8" fmla="*/ 30 w 30"/>
                <a:gd name="T9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41">
                  <a:moveTo>
                    <a:pt x="28" y="2"/>
                  </a:moveTo>
                  <a:cubicBezTo>
                    <a:pt x="23" y="1"/>
                    <a:pt x="18" y="0"/>
                    <a:pt x="13" y="2"/>
                  </a:cubicBezTo>
                  <a:cubicBezTo>
                    <a:pt x="3" y="7"/>
                    <a:pt x="0" y="19"/>
                    <a:pt x="2" y="28"/>
                  </a:cubicBezTo>
                  <a:cubicBezTo>
                    <a:pt x="4" y="33"/>
                    <a:pt x="7" y="37"/>
                    <a:pt x="12" y="38"/>
                  </a:cubicBezTo>
                  <a:cubicBezTo>
                    <a:pt x="22" y="41"/>
                    <a:pt x="28" y="36"/>
                    <a:pt x="30" y="29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74C4A21F-239B-474C-B3F6-CA36F72453DC}"/>
              </a:ext>
            </a:extLst>
          </p:cNvPr>
          <p:cNvSpPr txBox="1">
            <a:spLocks/>
          </p:cNvSpPr>
          <p:nvPr/>
        </p:nvSpPr>
        <p:spPr>
          <a:xfrm>
            <a:off x="7959634" y="2910387"/>
            <a:ext cx="3677631" cy="25510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dirty="0">
                <a:sym typeface="+mn-lt"/>
              </a:rPr>
              <a:t>Отсутствуют актуальные контактные данные</a:t>
            </a:r>
            <a:r>
              <a:rPr lang="en-US" sz="800" dirty="0">
                <a:sym typeface="+mn-lt"/>
              </a:rPr>
              <a:t>, </a:t>
            </a:r>
            <a:r>
              <a:rPr lang="ru-RU" sz="800" dirty="0">
                <a:sym typeface="+mn-lt"/>
              </a:rPr>
              <a:t>в т.ч. нет возможности связаться в выходные/праздничные дни</a:t>
            </a:r>
          </a:p>
        </p:txBody>
      </p: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137B3A1E-1173-490C-830C-D48FED33C7AB}"/>
              </a:ext>
            </a:extLst>
          </p:cNvPr>
          <p:cNvGrpSpPr/>
          <p:nvPr/>
        </p:nvGrpSpPr>
        <p:grpSpPr>
          <a:xfrm>
            <a:off x="5901511" y="2911097"/>
            <a:ext cx="244800" cy="244800"/>
            <a:chOff x="-611536" y="5064162"/>
            <a:chExt cx="396228" cy="396228"/>
          </a:xfrm>
        </p:grpSpPr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0DE7D709-743C-4641-9830-B1584C0ED4EF}"/>
                </a:ext>
              </a:extLst>
            </p:cNvPr>
            <p:cNvSpPr/>
            <p:nvPr/>
          </p:nvSpPr>
          <p:spPr>
            <a:xfrm>
              <a:off x="-611536" y="506416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7" name="Graphic 377">
              <a:extLst>
                <a:ext uri="{FF2B5EF4-FFF2-40B4-BE49-F238E27FC236}">
                  <a16:creationId xmlns:a16="http://schemas.microsoft.com/office/drawing/2014/main" id="{69F25C56-ACE8-49D3-8FFB-27607C934C74}"/>
                </a:ext>
              </a:extLst>
            </p:cNvPr>
            <p:cNvSpPr/>
            <p:nvPr/>
          </p:nvSpPr>
          <p:spPr>
            <a:xfrm>
              <a:off x="-522818" y="5167664"/>
              <a:ext cx="218792" cy="189225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12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F1315715-0237-41E8-BB7B-28A83A57604E}"/>
              </a:ext>
            </a:extLst>
          </p:cNvPr>
          <p:cNvSpPr txBox="1">
            <a:spLocks/>
          </p:cNvSpPr>
          <p:nvPr/>
        </p:nvSpPr>
        <p:spPr>
          <a:xfrm>
            <a:off x="885393" y="3527145"/>
            <a:ext cx="2575560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b="1" dirty="0">
                <a:sym typeface="+mn-lt"/>
              </a:rPr>
              <a:t>Оплата коммунальных услуг </a:t>
            </a:r>
            <a:br>
              <a:rPr lang="ru-RU" sz="800" dirty="0">
                <a:sym typeface="+mn-lt"/>
              </a:rPr>
            </a:br>
            <a:r>
              <a:rPr lang="ru-RU" sz="800" dirty="0">
                <a:sym typeface="+mn-lt"/>
              </a:rPr>
              <a:t>(в т. ч. задолженность)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8094D20-D57B-4FDA-9B78-A2A2DF655458}"/>
              </a:ext>
            </a:extLst>
          </p:cNvPr>
          <p:cNvSpPr txBox="1">
            <a:spLocks/>
          </p:cNvSpPr>
          <p:nvPr/>
        </p:nvSpPr>
        <p:spPr>
          <a:xfrm>
            <a:off x="3640492" y="3573311"/>
            <a:ext cx="1599353" cy="1538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r">
              <a:buNone/>
            </a:pPr>
            <a:r>
              <a:rPr lang="ru-RU" sz="1000" b="1" dirty="0">
                <a:solidFill>
                  <a:schemeClr val="accent3"/>
                </a:solidFill>
                <a:sym typeface="+mn-lt"/>
              </a:rPr>
              <a:t> 52 884 </a:t>
            </a:r>
            <a:r>
              <a:rPr lang="en-US" sz="1000" dirty="0">
                <a:sym typeface="+mn-lt"/>
              </a:rPr>
              <a:t>(6%)</a:t>
            </a:r>
            <a:endParaRPr lang="ru-RU" sz="1000" dirty="0">
              <a:sym typeface="+mn-lt"/>
            </a:endParaRPr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97B7556-6F9A-4274-B188-46A0D42D27E6}"/>
              </a:ext>
            </a:extLst>
          </p:cNvPr>
          <p:cNvGrpSpPr/>
          <p:nvPr/>
        </p:nvGrpSpPr>
        <p:grpSpPr>
          <a:xfrm>
            <a:off x="573296" y="3540993"/>
            <a:ext cx="221954" cy="218524"/>
            <a:chOff x="6637338" y="4491038"/>
            <a:chExt cx="719137" cy="708025"/>
          </a:xfrm>
        </p:grpSpPr>
        <p:sp>
          <p:nvSpPr>
            <p:cNvPr id="224" name="Freeform 204">
              <a:extLst>
                <a:ext uri="{FF2B5EF4-FFF2-40B4-BE49-F238E27FC236}">
                  <a16:creationId xmlns:a16="http://schemas.microsoft.com/office/drawing/2014/main" id="{C59230EF-C7B8-4CE1-8FAD-1D4CC4A4B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300" y="4491038"/>
              <a:ext cx="339725" cy="122238"/>
            </a:xfrm>
            <a:custGeom>
              <a:avLst/>
              <a:gdLst>
                <a:gd name="T0" fmla="*/ 0 w 214"/>
                <a:gd name="T1" fmla="*/ 77 h 77"/>
                <a:gd name="T2" fmla="*/ 181 w 214"/>
                <a:gd name="T3" fmla="*/ 0 h 77"/>
                <a:gd name="T4" fmla="*/ 214 w 214"/>
                <a:gd name="T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" h="77">
                  <a:moveTo>
                    <a:pt x="0" y="77"/>
                  </a:moveTo>
                  <a:lnTo>
                    <a:pt x="181" y="0"/>
                  </a:lnTo>
                  <a:lnTo>
                    <a:pt x="214" y="77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5" name="Freeform 205">
              <a:extLst>
                <a:ext uri="{FF2B5EF4-FFF2-40B4-BE49-F238E27FC236}">
                  <a16:creationId xmlns:a16="http://schemas.microsoft.com/office/drawing/2014/main" id="{950C60C4-EA17-4309-8238-68684BB67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7338" y="4675188"/>
              <a:ext cx="663575" cy="523875"/>
            </a:xfrm>
            <a:custGeom>
              <a:avLst/>
              <a:gdLst>
                <a:gd name="T0" fmla="*/ 201 w 201"/>
                <a:gd name="T1" fmla="*/ 113 h 159"/>
                <a:gd name="T2" fmla="*/ 201 w 201"/>
                <a:gd name="T3" fmla="*/ 139 h 159"/>
                <a:gd name="T4" fmla="*/ 181 w 201"/>
                <a:gd name="T5" fmla="*/ 159 h 159"/>
                <a:gd name="T6" fmla="*/ 20 w 201"/>
                <a:gd name="T7" fmla="*/ 159 h 159"/>
                <a:gd name="T8" fmla="*/ 0 w 201"/>
                <a:gd name="T9" fmla="*/ 139 h 159"/>
                <a:gd name="T10" fmla="*/ 0 w 201"/>
                <a:gd name="T11" fmla="*/ 20 h 159"/>
                <a:gd name="T12" fmla="*/ 20 w 201"/>
                <a:gd name="T13" fmla="*/ 0 h 159"/>
                <a:gd name="T14" fmla="*/ 181 w 201"/>
                <a:gd name="T15" fmla="*/ 0 h 159"/>
                <a:gd name="T16" fmla="*/ 201 w 201"/>
                <a:gd name="T17" fmla="*/ 20 h 159"/>
                <a:gd name="T18" fmla="*/ 201 w 201"/>
                <a:gd name="T19" fmla="*/ 4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" h="159">
                  <a:moveTo>
                    <a:pt x="201" y="113"/>
                  </a:moveTo>
                  <a:cubicBezTo>
                    <a:pt x="201" y="139"/>
                    <a:pt x="201" y="139"/>
                    <a:pt x="201" y="139"/>
                  </a:cubicBezTo>
                  <a:cubicBezTo>
                    <a:pt x="201" y="150"/>
                    <a:pt x="192" y="159"/>
                    <a:pt x="181" y="159"/>
                  </a:cubicBezTo>
                  <a:cubicBezTo>
                    <a:pt x="20" y="159"/>
                    <a:pt x="20" y="159"/>
                    <a:pt x="20" y="159"/>
                  </a:cubicBezTo>
                  <a:cubicBezTo>
                    <a:pt x="9" y="159"/>
                    <a:pt x="0" y="150"/>
                    <a:pt x="0" y="13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2" y="0"/>
                    <a:pt x="201" y="9"/>
                    <a:pt x="201" y="20"/>
                  </a:cubicBezTo>
                  <a:cubicBezTo>
                    <a:pt x="201" y="45"/>
                    <a:pt x="201" y="45"/>
                    <a:pt x="201" y="45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6" name="Oval 206">
              <a:extLst>
                <a:ext uri="{FF2B5EF4-FFF2-40B4-BE49-F238E27FC236}">
                  <a16:creationId xmlns:a16="http://schemas.microsoft.com/office/drawing/2014/main" id="{48A20FD0-A4F6-4C40-882F-21BCFC5EC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4926013"/>
              <a:ext cx="22225" cy="22225"/>
            </a:xfrm>
            <a:prstGeom prst="ellips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7" name="Freeform 207">
              <a:extLst>
                <a:ext uri="{FF2B5EF4-FFF2-40B4-BE49-F238E27FC236}">
                  <a16:creationId xmlns:a16="http://schemas.microsoft.com/office/drawing/2014/main" id="{2B3B9FB3-DD75-4518-B838-56B47389F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875" y="4830763"/>
              <a:ext cx="355600" cy="214313"/>
            </a:xfrm>
            <a:custGeom>
              <a:avLst/>
              <a:gdLst>
                <a:gd name="T0" fmla="*/ 20 w 108"/>
                <a:gd name="T1" fmla="*/ 65 h 65"/>
                <a:gd name="T2" fmla="*/ 0 w 108"/>
                <a:gd name="T3" fmla="*/ 45 h 65"/>
                <a:gd name="T4" fmla="*/ 0 w 108"/>
                <a:gd name="T5" fmla="*/ 20 h 65"/>
                <a:gd name="T6" fmla="*/ 20 w 108"/>
                <a:gd name="T7" fmla="*/ 0 h 65"/>
                <a:gd name="T8" fmla="*/ 108 w 108"/>
                <a:gd name="T9" fmla="*/ 0 h 65"/>
                <a:gd name="T10" fmla="*/ 108 w 108"/>
                <a:gd name="T11" fmla="*/ 65 h 65"/>
                <a:gd name="T12" fmla="*/ 20 w 108"/>
                <a:gd name="T1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" h="65">
                  <a:moveTo>
                    <a:pt x="20" y="65"/>
                  </a:moveTo>
                  <a:cubicBezTo>
                    <a:pt x="9" y="65"/>
                    <a:pt x="0" y="56"/>
                    <a:pt x="0" y="4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08" y="65"/>
                    <a:pt x="108" y="65"/>
                    <a:pt x="108" y="65"/>
                  </a:cubicBezTo>
                  <a:lnTo>
                    <a:pt x="20" y="65"/>
                  </a:ln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1939778-0B8A-4CEF-8829-F2B21352560E}"/>
              </a:ext>
            </a:extLst>
          </p:cNvPr>
          <p:cNvSpPr txBox="1">
            <a:spLocks/>
          </p:cNvSpPr>
          <p:nvPr/>
        </p:nvSpPr>
        <p:spPr>
          <a:xfrm>
            <a:off x="7959634" y="3588700"/>
            <a:ext cx="3677631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dirty="0">
                <a:sym typeface="+mn-lt"/>
              </a:rPr>
              <a:t>Житель перенаправляется в Единую справочную Мэрии Москвы</a:t>
            </a:r>
          </a:p>
        </p:txBody>
      </p: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C6EFC123-2433-4FD1-ABD4-29E36443DBA8}"/>
              </a:ext>
            </a:extLst>
          </p:cNvPr>
          <p:cNvGrpSpPr/>
          <p:nvPr/>
        </p:nvGrpSpPr>
        <p:grpSpPr>
          <a:xfrm>
            <a:off x="5901511" y="3527855"/>
            <a:ext cx="244800" cy="244800"/>
            <a:chOff x="-611536" y="5064162"/>
            <a:chExt cx="396228" cy="396228"/>
          </a:xfrm>
        </p:grpSpPr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4B3FC944-BC7D-4737-AADC-0B5908FBDA43}"/>
                </a:ext>
              </a:extLst>
            </p:cNvPr>
            <p:cNvSpPr/>
            <p:nvPr/>
          </p:nvSpPr>
          <p:spPr>
            <a:xfrm>
              <a:off x="-611536" y="506416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0" name="Graphic 377">
              <a:extLst>
                <a:ext uri="{FF2B5EF4-FFF2-40B4-BE49-F238E27FC236}">
                  <a16:creationId xmlns:a16="http://schemas.microsoft.com/office/drawing/2014/main" id="{EA47D425-AE17-4D7A-A5E8-53C21635F05B}"/>
                </a:ext>
              </a:extLst>
            </p:cNvPr>
            <p:cNvSpPr/>
            <p:nvPr/>
          </p:nvSpPr>
          <p:spPr>
            <a:xfrm>
              <a:off x="-522818" y="5167664"/>
              <a:ext cx="218792" cy="189225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12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3E38F06C-05F2-4A07-817D-56FFAED903CF}"/>
              </a:ext>
            </a:extLst>
          </p:cNvPr>
          <p:cNvSpPr txBox="1">
            <a:spLocks/>
          </p:cNvSpPr>
          <p:nvPr/>
        </p:nvSpPr>
        <p:spPr>
          <a:xfrm>
            <a:off x="885393" y="4205458"/>
            <a:ext cx="2575560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b="1" dirty="0">
                <a:sym typeface="+mn-lt"/>
              </a:rPr>
              <a:t>График отключения воды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CB6FA2-AA23-4904-A749-4F0F159CA095}"/>
              </a:ext>
            </a:extLst>
          </p:cNvPr>
          <p:cNvSpPr txBox="1">
            <a:spLocks/>
          </p:cNvSpPr>
          <p:nvPr/>
        </p:nvSpPr>
        <p:spPr>
          <a:xfrm>
            <a:off x="3640492" y="4190069"/>
            <a:ext cx="1599353" cy="1538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r">
              <a:buNone/>
            </a:pPr>
            <a:r>
              <a:rPr lang="ru-RU" sz="1000" b="1" dirty="0">
                <a:solidFill>
                  <a:schemeClr val="accent3"/>
                </a:solidFill>
                <a:sym typeface="+mn-lt"/>
              </a:rPr>
              <a:t> 28 092</a:t>
            </a:r>
            <a:r>
              <a:rPr lang="en-US" sz="1000" b="1" dirty="0">
                <a:solidFill>
                  <a:schemeClr val="accent3"/>
                </a:solidFill>
                <a:sym typeface="+mn-lt"/>
              </a:rPr>
              <a:t> </a:t>
            </a:r>
            <a:r>
              <a:rPr lang="en-US" sz="1000" dirty="0">
                <a:sym typeface="+mn-lt"/>
              </a:rPr>
              <a:t>(3%)</a:t>
            </a:r>
            <a:r>
              <a:rPr lang="ru-RU" sz="1000" dirty="0">
                <a:sym typeface="+mn-lt"/>
              </a:rPr>
              <a:t> </a:t>
            </a: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B672F1A-4005-414B-944A-31A5BC01FF36}"/>
              </a:ext>
            </a:extLst>
          </p:cNvPr>
          <p:cNvGrpSpPr/>
          <p:nvPr/>
        </p:nvGrpSpPr>
        <p:grpSpPr>
          <a:xfrm>
            <a:off x="598405" y="4161319"/>
            <a:ext cx="171737" cy="211389"/>
            <a:chOff x="325438" y="1930400"/>
            <a:chExt cx="557212" cy="685866"/>
          </a:xfrm>
        </p:grpSpPr>
        <p:sp>
          <p:nvSpPr>
            <p:cNvPr id="156" name="Freeform 20">
              <a:extLst>
                <a:ext uri="{FF2B5EF4-FFF2-40B4-BE49-F238E27FC236}">
                  <a16:creationId xmlns:a16="http://schemas.microsoft.com/office/drawing/2014/main" id="{9A9C0C44-12CB-409E-8D36-967267BBD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013" y="2459103"/>
              <a:ext cx="146051" cy="157163"/>
            </a:xfrm>
            <a:custGeom>
              <a:avLst/>
              <a:gdLst>
                <a:gd name="T0" fmla="*/ 40 w 54"/>
                <a:gd name="T1" fmla="*/ 20 h 58"/>
                <a:gd name="T2" fmla="*/ 27 w 54"/>
                <a:gd name="T3" fmla="*/ 0 h 58"/>
                <a:gd name="T4" fmla="*/ 27 w 54"/>
                <a:gd name="T5" fmla="*/ 0 h 58"/>
                <a:gd name="T6" fmla="*/ 14 w 54"/>
                <a:gd name="T7" fmla="*/ 20 h 58"/>
                <a:gd name="T8" fmla="*/ 27 w 54"/>
                <a:gd name="T9" fmla="*/ 58 h 58"/>
                <a:gd name="T10" fmla="*/ 27 w 54"/>
                <a:gd name="T11" fmla="*/ 58 h 58"/>
                <a:gd name="T12" fmla="*/ 40 w 54"/>
                <a:gd name="T13" fmla="*/ 2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58">
                  <a:moveTo>
                    <a:pt x="40" y="20"/>
                  </a:moveTo>
                  <a:cubicBezTo>
                    <a:pt x="28" y="5"/>
                    <a:pt x="27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6" y="5"/>
                    <a:pt x="14" y="20"/>
                  </a:cubicBezTo>
                  <a:cubicBezTo>
                    <a:pt x="0" y="36"/>
                    <a:pt x="8" y="58"/>
                    <a:pt x="27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46" y="58"/>
                    <a:pt x="54" y="36"/>
                    <a:pt x="40" y="20"/>
                  </a:cubicBez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7" name="Freeform 21">
              <a:extLst>
                <a:ext uri="{FF2B5EF4-FFF2-40B4-BE49-F238E27FC236}">
                  <a16:creationId xmlns:a16="http://schemas.microsoft.com/office/drawing/2014/main" id="{0288E5E2-7C52-438D-9111-9B87E3B8D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38" y="2365375"/>
              <a:ext cx="422275" cy="68263"/>
            </a:xfrm>
            <a:custGeom>
              <a:avLst/>
              <a:gdLst>
                <a:gd name="T0" fmla="*/ 0 w 156"/>
                <a:gd name="T1" fmla="*/ 1 h 25"/>
                <a:gd name="T2" fmla="*/ 59 w 156"/>
                <a:gd name="T3" fmla="*/ 1 h 25"/>
                <a:gd name="T4" fmla="*/ 94 w 156"/>
                <a:gd name="T5" fmla="*/ 19 h 25"/>
                <a:gd name="T6" fmla="*/ 129 w 156"/>
                <a:gd name="T7" fmla="*/ 1 h 25"/>
                <a:gd name="T8" fmla="*/ 137 w 156"/>
                <a:gd name="T9" fmla="*/ 1 h 25"/>
                <a:gd name="T10" fmla="*/ 156 w 156"/>
                <a:gd name="T1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" h="25">
                  <a:moveTo>
                    <a:pt x="0" y="1"/>
                  </a:moveTo>
                  <a:cubicBezTo>
                    <a:pt x="59" y="1"/>
                    <a:pt x="59" y="1"/>
                    <a:pt x="59" y="1"/>
                  </a:cubicBezTo>
                  <a:cubicBezTo>
                    <a:pt x="67" y="12"/>
                    <a:pt x="80" y="19"/>
                    <a:pt x="94" y="19"/>
                  </a:cubicBezTo>
                  <a:cubicBezTo>
                    <a:pt x="108" y="19"/>
                    <a:pt x="121" y="12"/>
                    <a:pt x="129" y="1"/>
                  </a:cubicBezTo>
                  <a:cubicBezTo>
                    <a:pt x="137" y="1"/>
                    <a:pt x="137" y="1"/>
                    <a:pt x="137" y="1"/>
                  </a:cubicBezTo>
                  <a:cubicBezTo>
                    <a:pt x="137" y="1"/>
                    <a:pt x="156" y="0"/>
                    <a:pt x="156" y="25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8" name="Freeform 22">
              <a:extLst>
                <a:ext uri="{FF2B5EF4-FFF2-40B4-BE49-F238E27FC236}">
                  <a16:creationId xmlns:a16="http://schemas.microsoft.com/office/drawing/2014/main" id="{F0900000-73DA-4128-BF07-9CE048BE0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38" y="2149475"/>
              <a:ext cx="501650" cy="284163"/>
            </a:xfrm>
            <a:custGeom>
              <a:avLst/>
              <a:gdLst>
                <a:gd name="T0" fmla="*/ 178 w 185"/>
                <a:gd name="T1" fmla="*/ 105 h 105"/>
                <a:gd name="T2" fmla="*/ 109 w 185"/>
                <a:gd name="T3" fmla="*/ 33 h 105"/>
                <a:gd name="T4" fmla="*/ 109 w 185"/>
                <a:gd name="T5" fmla="*/ 33 h 105"/>
                <a:gd name="T6" fmla="*/ 109 w 185"/>
                <a:gd name="T7" fmla="*/ 0 h 105"/>
                <a:gd name="T8" fmla="*/ 46 w 185"/>
                <a:gd name="T9" fmla="*/ 0 h 105"/>
                <a:gd name="T10" fmla="*/ 46 w 185"/>
                <a:gd name="T11" fmla="*/ 32 h 105"/>
                <a:gd name="T12" fmla="*/ 0 w 185"/>
                <a:gd name="T13" fmla="*/ 32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5" h="105">
                  <a:moveTo>
                    <a:pt x="178" y="105"/>
                  </a:moveTo>
                  <a:cubicBezTo>
                    <a:pt x="178" y="105"/>
                    <a:pt x="185" y="41"/>
                    <a:pt x="109" y="33"/>
                  </a:cubicBezTo>
                  <a:cubicBezTo>
                    <a:pt x="109" y="33"/>
                    <a:pt x="109" y="33"/>
                    <a:pt x="109" y="33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32"/>
                    <a:pt x="46" y="32"/>
                    <a:pt x="46" y="32"/>
                  </a:cubicBezTo>
                  <a:cubicBezTo>
                    <a:pt x="0" y="32"/>
                    <a:pt x="0" y="32"/>
                    <a:pt x="0" y="32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9" name="Freeform 23">
              <a:extLst>
                <a:ext uri="{FF2B5EF4-FFF2-40B4-BE49-F238E27FC236}">
                  <a16:creationId xmlns:a16="http://schemas.microsoft.com/office/drawing/2014/main" id="{611DD4BB-787F-422A-9024-00E3F93CF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25" y="2084388"/>
              <a:ext cx="109537" cy="61913"/>
            </a:xfrm>
            <a:custGeom>
              <a:avLst/>
              <a:gdLst>
                <a:gd name="T0" fmla="*/ 0 w 69"/>
                <a:gd name="T1" fmla="*/ 0 h 39"/>
                <a:gd name="T2" fmla="*/ 69 w 69"/>
                <a:gd name="T3" fmla="*/ 0 h 39"/>
                <a:gd name="T4" fmla="*/ 69 w 6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39">
                  <a:moveTo>
                    <a:pt x="0" y="0"/>
                  </a:moveTo>
                  <a:lnTo>
                    <a:pt x="69" y="0"/>
                  </a:lnTo>
                  <a:lnTo>
                    <a:pt x="69" y="39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0" name="Freeform 24">
              <a:extLst>
                <a:ext uri="{FF2B5EF4-FFF2-40B4-BE49-F238E27FC236}">
                  <a16:creationId xmlns:a16="http://schemas.microsoft.com/office/drawing/2014/main" id="{7ECF060D-3D41-41FC-952A-6E3D5740F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88" y="1933575"/>
              <a:ext cx="158750" cy="85725"/>
            </a:xfrm>
            <a:custGeom>
              <a:avLst/>
              <a:gdLst>
                <a:gd name="T0" fmla="*/ 0 w 59"/>
                <a:gd name="T1" fmla="*/ 26 h 32"/>
                <a:gd name="T2" fmla="*/ 44 w 59"/>
                <a:gd name="T3" fmla="*/ 31 h 32"/>
                <a:gd name="T4" fmla="*/ 59 w 59"/>
                <a:gd name="T5" fmla="*/ 18 h 32"/>
                <a:gd name="T6" fmla="*/ 59 w 59"/>
                <a:gd name="T7" fmla="*/ 15 h 32"/>
                <a:gd name="T8" fmla="*/ 44 w 59"/>
                <a:gd name="T9" fmla="*/ 1 h 32"/>
                <a:gd name="T10" fmla="*/ 0 w 59"/>
                <a:gd name="T11" fmla="*/ 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" h="32">
                  <a:moveTo>
                    <a:pt x="0" y="26"/>
                  </a:moveTo>
                  <a:cubicBezTo>
                    <a:pt x="44" y="31"/>
                    <a:pt x="44" y="31"/>
                    <a:pt x="44" y="31"/>
                  </a:cubicBezTo>
                  <a:cubicBezTo>
                    <a:pt x="52" y="32"/>
                    <a:pt x="59" y="26"/>
                    <a:pt x="59" y="18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9" y="7"/>
                    <a:pt x="52" y="0"/>
                    <a:pt x="44" y="1"/>
                  </a:cubicBezTo>
                  <a:cubicBezTo>
                    <a:pt x="0" y="6"/>
                    <a:pt x="0" y="6"/>
                    <a:pt x="0" y="6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1" name="Freeform 25">
              <a:extLst>
                <a:ext uri="{FF2B5EF4-FFF2-40B4-BE49-F238E27FC236}">
                  <a16:creationId xmlns:a16="http://schemas.microsoft.com/office/drawing/2014/main" id="{F9D2BFEA-5341-45D5-9C98-68C810E7F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25" y="1933575"/>
              <a:ext cx="158750" cy="85725"/>
            </a:xfrm>
            <a:custGeom>
              <a:avLst/>
              <a:gdLst>
                <a:gd name="T0" fmla="*/ 59 w 59"/>
                <a:gd name="T1" fmla="*/ 6 h 32"/>
                <a:gd name="T2" fmla="*/ 15 w 59"/>
                <a:gd name="T3" fmla="*/ 1 h 32"/>
                <a:gd name="T4" fmla="*/ 0 w 59"/>
                <a:gd name="T5" fmla="*/ 15 h 32"/>
                <a:gd name="T6" fmla="*/ 0 w 59"/>
                <a:gd name="T7" fmla="*/ 18 h 32"/>
                <a:gd name="T8" fmla="*/ 15 w 59"/>
                <a:gd name="T9" fmla="*/ 31 h 32"/>
                <a:gd name="T10" fmla="*/ 59 w 59"/>
                <a:gd name="T11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" h="32">
                  <a:moveTo>
                    <a:pt x="59" y="6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26"/>
                    <a:pt x="7" y="32"/>
                    <a:pt x="15" y="31"/>
                  </a:cubicBezTo>
                  <a:cubicBezTo>
                    <a:pt x="59" y="26"/>
                    <a:pt x="59" y="26"/>
                    <a:pt x="59" y="26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2" name="Line 26">
              <a:extLst>
                <a:ext uri="{FF2B5EF4-FFF2-40B4-BE49-F238E27FC236}">
                  <a16:creationId xmlns:a16="http://schemas.microsoft.com/office/drawing/2014/main" id="{04158D4F-F95B-4334-BD34-5291875A9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488" y="2436813"/>
              <a:ext cx="157162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3" name="Line 27">
              <a:extLst>
                <a:ext uri="{FF2B5EF4-FFF2-40B4-BE49-F238E27FC236}">
                  <a16:creationId xmlns:a16="http://schemas.microsoft.com/office/drawing/2014/main" id="{135B3EBF-446C-4E41-A8EA-B13C18E4EE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788" y="2022475"/>
              <a:ext cx="0" cy="60325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4" name="Oval 28">
              <a:extLst>
                <a:ext uri="{FF2B5EF4-FFF2-40B4-BE49-F238E27FC236}">
                  <a16:creationId xmlns:a16="http://schemas.microsoft.com/office/drawing/2014/main" id="{84282DD1-78B6-4EFD-AD80-F8EC34F82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338" y="1930400"/>
              <a:ext cx="90487" cy="92075"/>
            </a:xfrm>
            <a:prstGeom prst="ellips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5" name="Line 29">
              <a:extLst>
                <a:ext uri="{FF2B5EF4-FFF2-40B4-BE49-F238E27FC236}">
                  <a16:creationId xmlns:a16="http://schemas.microsoft.com/office/drawing/2014/main" id="{A1825CC0-5210-4EA3-AD98-36CE39D25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38" y="2211388"/>
              <a:ext cx="0" cy="187325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3BAABAE5-0E40-49DD-ABC9-D5EFDC267EFC}"/>
              </a:ext>
            </a:extLst>
          </p:cNvPr>
          <p:cNvSpPr txBox="1">
            <a:spLocks/>
          </p:cNvSpPr>
          <p:nvPr/>
        </p:nvSpPr>
        <p:spPr>
          <a:xfrm>
            <a:off x="7959634" y="4143903"/>
            <a:ext cx="36776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dirty="0">
                <a:sym typeface="+mn-lt"/>
              </a:rPr>
              <a:t>Информацией владеет большое количество структур, </a:t>
            </a:r>
            <a:br>
              <a:rPr lang="ru-RU" sz="800" dirty="0">
                <a:sym typeface="+mn-lt"/>
              </a:rPr>
            </a:br>
            <a:r>
              <a:rPr lang="ru-RU" sz="800" dirty="0">
                <a:sym typeface="+mn-lt"/>
              </a:rPr>
              <a:t>но она не обновляется своевременно</a:t>
            </a:r>
          </a:p>
        </p:txBody>
      </p: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40C12EAF-5C87-4467-BCC2-EB0C81D67C68}"/>
              </a:ext>
            </a:extLst>
          </p:cNvPr>
          <p:cNvGrpSpPr/>
          <p:nvPr/>
        </p:nvGrpSpPr>
        <p:grpSpPr>
          <a:xfrm>
            <a:off x="5901511" y="4144613"/>
            <a:ext cx="244800" cy="244800"/>
            <a:chOff x="-611536" y="5064162"/>
            <a:chExt cx="396228" cy="396228"/>
          </a:xfrm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DA272E71-B47B-4492-93B5-9C5EEA23D519}"/>
                </a:ext>
              </a:extLst>
            </p:cNvPr>
            <p:cNvSpPr/>
            <p:nvPr/>
          </p:nvSpPr>
          <p:spPr>
            <a:xfrm>
              <a:off x="-611536" y="506416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6" name="Graphic 377">
              <a:extLst>
                <a:ext uri="{FF2B5EF4-FFF2-40B4-BE49-F238E27FC236}">
                  <a16:creationId xmlns:a16="http://schemas.microsoft.com/office/drawing/2014/main" id="{21C6172B-AA84-408E-99BE-1F7814EC3EC4}"/>
                </a:ext>
              </a:extLst>
            </p:cNvPr>
            <p:cNvSpPr/>
            <p:nvPr/>
          </p:nvSpPr>
          <p:spPr>
            <a:xfrm>
              <a:off x="-522818" y="5167664"/>
              <a:ext cx="218792" cy="189225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12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58400D72-CAA8-4C3D-962C-E6B7474B1432}"/>
              </a:ext>
            </a:extLst>
          </p:cNvPr>
          <p:cNvSpPr txBox="1">
            <a:spLocks/>
          </p:cNvSpPr>
          <p:nvPr/>
        </p:nvSpPr>
        <p:spPr>
          <a:xfrm>
            <a:off x="885393" y="4452282"/>
            <a:ext cx="2575560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b="1" dirty="0">
                <a:sym typeface="+mn-lt"/>
              </a:rPr>
              <a:t>Услуги коммерческих организаций </a:t>
            </a:r>
            <a:br>
              <a:rPr lang="ru-RU" sz="800" dirty="0">
                <a:sym typeface="+mn-lt"/>
              </a:rPr>
            </a:br>
            <a:r>
              <a:rPr lang="ru-RU" sz="800" dirty="0">
                <a:sym typeface="+mn-lt"/>
              </a:rPr>
              <a:t>(в т. ч. проверка стоимости работ)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3741DE4-BD26-490C-94B8-6213C8E4EB51}"/>
              </a:ext>
            </a:extLst>
          </p:cNvPr>
          <p:cNvSpPr txBox="1">
            <a:spLocks/>
          </p:cNvSpPr>
          <p:nvPr/>
        </p:nvSpPr>
        <p:spPr>
          <a:xfrm>
            <a:off x="3640492" y="4498448"/>
            <a:ext cx="1599353" cy="1538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r">
              <a:buNone/>
            </a:pPr>
            <a:r>
              <a:rPr lang="ru-RU" sz="1000" b="1" dirty="0">
                <a:solidFill>
                  <a:schemeClr val="accent3"/>
                </a:solidFill>
                <a:sym typeface="+mn-lt"/>
              </a:rPr>
              <a:t> 26 348</a:t>
            </a:r>
            <a:r>
              <a:rPr lang="en-US" sz="1000" b="1" dirty="0">
                <a:solidFill>
                  <a:schemeClr val="accent3"/>
                </a:solidFill>
                <a:sym typeface="+mn-lt"/>
              </a:rPr>
              <a:t> </a:t>
            </a:r>
            <a:r>
              <a:rPr lang="en-US" sz="1000" dirty="0">
                <a:sym typeface="+mn-lt"/>
              </a:rPr>
              <a:t>(3%)</a:t>
            </a:r>
            <a:r>
              <a:rPr lang="ru-RU" sz="1000" dirty="0">
                <a:sym typeface="+mn-lt"/>
              </a:rPr>
              <a:t> </a:t>
            </a:r>
          </a:p>
        </p:txBody>
      </p: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43BEBDB9-C001-4391-8371-0287E2854FE5}"/>
              </a:ext>
            </a:extLst>
          </p:cNvPr>
          <p:cNvGrpSpPr/>
          <p:nvPr/>
        </p:nvGrpSpPr>
        <p:grpSpPr>
          <a:xfrm>
            <a:off x="576588" y="4476341"/>
            <a:ext cx="215371" cy="198103"/>
            <a:chOff x="554736" y="4886547"/>
            <a:chExt cx="272799" cy="250927"/>
          </a:xfrm>
        </p:grpSpPr>
        <p:sp>
          <p:nvSpPr>
            <p:cNvPr id="262" name="Freeform 157">
              <a:extLst>
                <a:ext uri="{FF2B5EF4-FFF2-40B4-BE49-F238E27FC236}">
                  <a16:creationId xmlns:a16="http://schemas.microsoft.com/office/drawing/2014/main" id="{43C7D3D2-B42F-42E9-8F16-B60EF7309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736" y="4944973"/>
              <a:ext cx="272799" cy="192501"/>
            </a:xfrm>
            <a:custGeom>
              <a:avLst/>
              <a:gdLst>
                <a:gd name="T0" fmla="*/ 190 w 190"/>
                <a:gd name="T1" fmla="*/ 0 h 133"/>
                <a:gd name="T2" fmla="*/ 190 w 190"/>
                <a:gd name="T3" fmla="*/ 120 h 133"/>
                <a:gd name="T4" fmla="*/ 178 w 190"/>
                <a:gd name="T5" fmla="*/ 133 h 133"/>
                <a:gd name="T6" fmla="*/ 12 w 190"/>
                <a:gd name="T7" fmla="*/ 133 h 133"/>
                <a:gd name="T8" fmla="*/ 0 w 190"/>
                <a:gd name="T9" fmla="*/ 120 h 133"/>
                <a:gd name="T10" fmla="*/ 0 w 190"/>
                <a:gd name="T1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0" h="133">
                  <a:moveTo>
                    <a:pt x="190" y="0"/>
                  </a:moveTo>
                  <a:cubicBezTo>
                    <a:pt x="190" y="120"/>
                    <a:pt x="190" y="120"/>
                    <a:pt x="190" y="120"/>
                  </a:cubicBezTo>
                  <a:cubicBezTo>
                    <a:pt x="190" y="127"/>
                    <a:pt x="185" y="133"/>
                    <a:pt x="178" y="133"/>
                  </a:cubicBezTo>
                  <a:cubicBezTo>
                    <a:pt x="12" y="133"/>
                    <a:pt x="12" y="133"/>
                    <a:pt x="12" y="133"/>
                  </a:cubicBezTo>
                  <a:cubicBezTo>
                    <a:pt x="5" y="133"/>
                    <a:pt x="0" y="127"/>
                    <a:pt x="0" y="12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3" name="Line 158">
              <a:extLst>
                <a:ext uri="{FF2B5EF4-FFF2-40B4-BE49-F238E27FC236}">
                  <a16:creationId xmlns:a16="http://schemas.microsoft.com/office/drawing/2014/main" id="{7FAED905-AE84-4BE7-B7EA-71CC9E7384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4736" y="4928983"/>
              <a:ext cx="25575" cy="1599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5" name="Line 160">
              <a:extLst>
                <a:ext uri="{FF2B5EF4-FFF2-40B4-BE49-F238E27FC236}">
                  <a16:creationId xmlns:a16="http://schemas.microsoft.com/office/drawing/2014/main" id="{2A5DE068-D9F7-4FCB-AF8F-E462F3B293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01351" y="4928983"/>
              <a:ext cx="26184" cy="1599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6" name="Freeform 161">
              <a:extLst>
                <a:ext uri="{FF2B5EF4-FFF2-40B4-BE49-F238E27FC236}">
                  <a16:creationId xmlns:a16="http://schemas.microsoft.com/office/drawing/2014/main" id="{048B93AB-2819-47A8-89B0-43E37B52F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736" y="5004015"/>
              <a:ext cx="272799" cy="86102"/>
            </a:xfrm>
            <a:custGeom>
              <a:avLst/>
              <a:gdLst>
                <a:gd name="T0" fmla="*/ 190 w 190"/>
                <a:gd name="T1" fmla="*/ 0 h 59"/>
                <a:gd name="T2" fmla="*/ 101 w 190"/>
                <a:gd name="T3" fmla="*/ 56 h 59"/>
                <a:gd name="T4" fmla="*/ 88 w 190"/>
                <a:gd name="T5" fmla="*/ 56 h 59"/>
                <a:gd name="T6" fmla="*/ 0 w 190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0" h="59">
                  <a:moveTo>
                    <a:pt x="190" y="0"/>
                  </a:moveTo>
                  <a:cubicBezTo>
                    <a:pt x="101" y="56"/>
                    <a:pt x="101" y="56"/>
                    <a:pt x="101" y="56"/>
                  </a:cubicBezTo>
                  <a:cubicBezTo>
                    <a:pt x="97" y="58"/>
                    <a:pt x="92" y="59"/>
                    <a:pt x="88" y="5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7" name="Freeform 162">
              <a:extLst>
                <a:ext uri="{FF2B5EF4-FFF2-40B4-BE49-F238E27FC236}">
                  <a16:creationId xmlns:a16="http://schemas.microsoft.com/office/drawing/2014/main" id="{09915110-22C8-49B2-9E29-31BED987B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311" y="4886547"/>
              <a:ext cx="221040" cy="107628"/>
            </a:xfrm>
            <a:custGeom>
              <a:avLst/>
              <a:gdLst>
                <a:gd name="T0" fmla="*/ 0 w 154"/>
                <a:gd name="T1" fmla="*/ 74 h 74"/>
                <a:gd name="T2" fmla="*/ 0 w 154"/>
                <a:gd name="T3" fmla="*/ 13 h 74"/>
                <a:gd name="T4" fmla="*/ 12 w 154"/>
                <a:gd name="T5" fmla="*/ 0 h 74"/>
                <a:gd name="T6" fmla="*/ 142 w 154"/>
                <a:gd name="T7" fmla="*/ 0 h 74"/>
                <a:gd name="T8" fmla="*/ 154 w 154"/>
                <a:gd name="T9" fmla="*/ 13 h 74"/>
                <a:gd name="T10" fmla="*/ 154 w 154"/>
                <a:gd name="T1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4" h="74">
                  <a:moveTo>
                    <a:pt x="0" y="74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48" y="0"/>
                    <a:pt x="154" y="6"/>
                    <a:pt x="154" y="13"/>
                  </a:cubicBezTo>
                  <a:cubicBezTo>
                    <a:pt x="154" y="74"/>
                    <a:pt x="154" y="74"/>
                    <a:pt x="154" y="74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ABF702EB-491F-460B-890A-3A4BB7119E76}"/>
                </a:ext>
              </a:extLst>
            </p:cNvPr>
            <p:cNvGrpSpPr/>
            <p:nvPr/>
          </p:nvGrpSpPr>
          <p:grpSpPr>
            <a:xfrm>
              <a:off x="650293" y="4921086"/>
              <a:ext cx="81077" cy="112950"/>
              <a:chOff x="3943845" y="1244359"/>
              <a:chExt cx="142533" cy="198566"/>
            </a:xfrm>
          </p:grpSpPr>
          <p:sp>
            <p:nvSpPr>
              <p:cNvPr id="274" name="Line 1085">
                <a:extLst>
                  <a:ext uri="{FF2B5EF4-FFF2-40B4-BE49-F238E27FC236}">
                    <a16:creationId xmlns:a16="http://schemas.microsoft.com/office/drawing/2014/main" id="{72FF5083-902F-41AF-82D7-2FB372D6CB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43845" y="1388523"/>
                <a:ext cx="106084" cy="0"/>
              </a:xfrm>
              <a:prstGeom prst="line">
                <a:avLst/>
              </a:prstGeom>
              <a:no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75" name="Freeform 1086">
                <a:extLst>
                  <a:ext uri="{FF2B5EF4-FFF2-40B4-BE49-F238E27FC236}">
                    <a16:creationId xmlns:a16="http://schemas.microsoft.com/office/drawing/2014/main" id="{524FB124-3BEB-46CB-8938-D1B5C17241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3845" y="1244359"/>
                <a:ext cx="142533" cy="198566"/>
              </a:xfrm>
              <a:custGeom>
                <a:avLst/>
                <a:gdLst>
                  <a:gd name="T0" fmla="*/ 25 w 109"/>
                  <a:gd name="T1" fmla="*/ 153 h 153"/>
                  <a:gd name="T2" fmla="*/ 25 w 109"/>
                  <a:gd name="T3" fmla="*/ 0 h 153"/>
                  <a:gd name="T4" fmla="*/ 73 w 109"/>
                  <a:gd name="T5" fmla="*/ 0 h 153"/>
                  <a:gd name="T6" fmla="*/ 109 w 109"/>
                  <a:gd name="T7" fmla="*/ 36 h 153"/>
                  <a:gd name="T8" fmla="*/ 109 w 109"/>
                  <a:gd name="T9" fmla="*/ 40 h 153"/>
                  <a:gd name="T10" fmla="*/ 73 w 109"/>
                  <a:gd name="T11" fmla="*/ 76 h 153"/>
                  <a:gd name="T12" fmla="*/ 0 w 109"/>
                  <a:gd name="T13" fmla="*/ 76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9" h="153">
                    <a:moveTo>
                      <a:pt x="25" y="153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93" y="0"/>
                      <a:pt x="109" y="16"/>
                      <a:pt x="109" y="36"/>
                    </a:cubicBezTo>
                    <a:cubicBezTo>
                      <a:pt x="109" y="40"/>
                      <a:pt x="109" y="40"/>
                      <a:pt x="109" y="40"/>
                    </a:cubicBezTo>
                    <a:cubicBezTo>
                      <a:pt x="109" y="60"/>
                      <a:pt x="93" y="76"/>
                      <a:pt x="73" y="76"/>
                    </a:cubicBezTo>
                    <a:cubicBezTo>
                      <a:pt x="0" y="76"/>
                      <a:pt x="0" y="76"/>
                      <a:pt x="0" y="76"/>
                    </a:cubicBezTo>
                  </a:path>
                </a:pathLst>
              </a:custGeom>
              <a:no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A92BAB13-71B7-42D2-AAE4-90E24EAD0F56}"/>
              </a:ext>
            </a:extLst>
          </p:cNvPr>
          <p:cNvSpPr txBox="1">
            <a:spLocks/>
          </p:cNvSpPr>
          <p:nvPr/>
        </p:nvSpPr>
        <p:spPr>
          <a:xfrm>
            <a:off x="7959634" y="4452282"/>
            <a:ext cx="36776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dirty="0">
                <a:sym typeface="+mn-lt"/>
              </a:rPr>
              <a:t>Нет возможности принимать заявки на услуги коммерческих компаний</a:t>
            </a:r>
          </a:p>
        </p:txBody>
      </p: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104B9039-27DD-468A-B109-C532C88531BA}"/>
              </a:ext>
            </a:extLst>
          </p:cNvPr>
          <p:cNvGrpSpPr/>
          <p:nvPr/>
        </p:nvGrpSpPr>
        <p:grpSpPr>
          <a:xfrm>
            <a:off x="7052725" y="4452992"/>
            <a:ext cx="244800" cy="244800"/>
            <a:chOff x="-611536" y="5064162"/>
            <a:chExt cx="396228" cy="396228"/>
          </a:xfrm>
        </p:grpSpPr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38A5BF7F-197A-4424-8626-809AFFC502B6}"/>
                </a:ext>
              </a:extLst>
            </p:cNvPr>
            <p:cNvSpPr/>
            <p:nvPr/>
          </p:nvSpPr>
          <p:spPr>
            <a:xfrm>
              <a:off x="-611536" y="506416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9" name="Graphic 377">
              <a:extLst>
                <a:ext uri="{FF2B5EF4-FFF2-40B4-BE49-F238E27FC236}">
                  <a16:creationId xmlns:a16="http://schemas.microsoft.com/office/drawing/2014/main" id="{2155C2EC-534E-4849-925F-18746A88F889}"/>
                </a:ext>
              </a:extLst>
            </p:cNvPr>
            <p:cNvSpPr/>
            <p:nvPr/>
          </p:nvSpPr>
          <p:spPr>
            <a:xfrm>
              <a:off x="-522818" y="5167664"/>
              <a:ext cx="218792" cy="189225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12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46B9A04A-9AF2-43E4-8D28-AE880BD02F69}"/>
              </a:ext>
            </a:extLst>
          </p:cNvPr>
          <p:cNvGrpSpPr/>
          <p:nvPr/>
        </p:nvGrpSpPr>
        <p:grpSpPr>
          <a:xfrm>
            <a:off x="580372" y="3238215"/>
            <a:ext cx="207802" cy="207322"/>
            <a:chOff x="9937627" y="4364396"/>
            <a:chExt cx="732256" cy="730565"/>
          </a:xfrm>
        </p:grpSpPr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F444D8A9-2E17-4B9F-92EB-6E0A6A4C8737}"/>
                </a:ext>
              </a:extLst>
            </p:cNvPr>
            <p:cNvSpPr/>
            <p:nvPr/>
          </p:nvSpPr>
          <p:spPr>
            <a:xfrm>
              <a:off x="9937627" y="4440863"/>
              <a:ext cx="654098" cy="654098"/>
            </a:xfrm>
            <a:custGeom>
              <a:avLst/>
              <a:gdLst>
                <a:gd name="connsiteX0" fmla="*/ 634764 w 654098"/>
                <a:gd name="connsiteY0" fmla="*/ 518139 h 654098"/>
                <a:gd name="connsiteX1" fmla="*/ 531355 w 654098"/>
                <a:gd name="connsiteY1" fmla="*/ 414729 h 654098"/>
                <a:gd name="connsiteX2" fmla="*/ 479027 w 654098"/>
                <a:gd name="connsiteY2" fmla="*/ 414729 h 654098"/>
                <a:gd name="connsiteX3" fmla="*/ 427321 w 654098"/>
                <a:gd name="connsiteY3" fmla="*/ 466434 h 654098"/>
                <a:gd name="connsiteX4" fmla="*/ 378732 w 654098"/>
                <a:gd name="connsiteY4" fmla="*/ 472041 h 654098"/>
                <a:gd name="connsiteX5" fmla="*/ 187485 w 654098"/>
                <a:gd name="connsiteY5" fmla="*/ 281418 h 654098"/>
                <a:gd name="connsiteX6" fmla="*/ 193092 w 654098"/>
                <a:gd name="connsiteY6" fmla="*/ 232828 h 654098"/>
                <a:gd name="connsiteX7" fmla="*/ 245420 w 654098"/>
                <a:gd name="connsiteY7" fmla="*/ 180500 h 654098"/>
                <a:gd name="connsiteX8" fmla="*/ 245420 w 654098"/>
                <a:gd name="connsiteY8" fmla="*/ 128172 h 654098"/>
                <a:gd name="connsiteX9" fmla="*/ 142010 w 654098"/>
                <a:gd name="connsiteY9" fmla="*/ 24762 h 654098"/>
                <a:gd name="connsiteX10" fmla="*/ 89682 w 654098"/>
                <a:gd name="connsiteY10" fmla="*/ 24762 h 654098"/>
                <a:gd name="connsiteX11" fmla="*/ 28633 w 654098"/>
                <a:gd name="connsiteY11" fmla="*/ 85811 h 654098"/>
                <a:gd name="connsiteX12" fmla="*/ 16797 w 654098"/>
                <a:gd name="connsiteY12" fmla="*/ 138139 h 654098"/>
                <a:gd name="connsiteX13" fmla="*/ 520764 w 654098"/>
                <a:gd name="connsiteY13" fmla="*/ 642106 h 654098"/>
                <a:gd name="connsiteX14" fmla="*/ 573092 w 654098"/>
                <a:gd name="connsiteY14" fmla="*/ 630270 h 654098"/>
                <a:gd name="connsiteX15" fmla="*/ 634141 w 654098"/>
                <a:gd name="connsiteY15" fmla="*/ 569221 h 654098"/>
                <a:gd name="connsiteX16" fmla="*/ 634764 w 654098"/>
                <a:gd name="connsiteY16" fmla="*/ 518139 h 654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54098" h="654098">
                  <a:moveTo>
                    <a:pt x="634764" y="518139"/>
                  </a:moveTo>
                  <a:lnTo>
                    <a:pt x="531355" y="414729"/>
                  </a:lnTo>
                  <a:cubicBezTo>
                    <a:pt x="517026" y="400401"/>
                    <a:pt x="493355" y="400401"/>
                    <a:pt x="479027" y="414729"/>
                  </a:cubicBezTo>
                  <a:lnTo>
                    <a:pt x="427321" y="466434"/>
                  </a:lnTo>
                  <a:cubicBezTo>
                    <a:pt x="414240" y="479516"/>
                    <a:pt x="393683" y="482008"/>
                    <a:pt x="378732" y="472041"/>
                  </a:cubicBezTo>
                  <a:cubicBezTo>
                    <a:pt x="301486" y="422828"/>
                    <a:pt x="236076" y="358041"/>
                    <a:pt x="187485" y="281418"/>
                  </a:cubicBezTo>
                  <a:cubicBezTo>
                    <a:pt x="177518" y="265844"/>
                    <a:pt x="180010" y="245910"/>
                    <a:pt x="193092" y="232828"/>
                  </a:cubicBezTo>
                  <a:lnTo>
                    <a:pt x="245420" y="180500"/>
                  </a:lnTo>
                  <a:cubicBezTo>
                    <a:pt x="259748" y="166172"/>
                    <a:pt x="259748" y="142500"/>
                    <a:pt x="245420" y="128172"/>
                  </a:cubicBezTo>
                  <a:lnTo>
                    <a:pt x="142010" y="24762"/>
                  </a:lnTo>
                  <a:cubicBezTo>
                    <a:pt x="127682" y="10434"/>
                    <a:pt x="104010" y="10434"/>
                    <a:pt x="89682" y="24762"/>
                  </a:cubicBezTo>
                  <a:lnTo>
                    <a:pt x="28633" y="85811"/>
                  </a:lnTo>
                  <a:cubicBezTo>
                    <a:pt x="14928" y="99516"/>
                    <a:pt x="10568" y="120074"/>
                    <a:pt x="16797" y="138139"/>
                  </a:cubicBezTo>
                  <a:cubicBezTo>
                    <a:pt x="102764" y="372369"/>
                    <a:pt x="287157" y="556762"/>
                    <a:pt x="520764" y="642106"/>
                  </a:cubicBezTo>
                  <a:cubicBezTo>
                    <a:pt x="538830" y="648959"/>
                    <a:pt x="559387" y="643975"/>
                    <a:pt x="573092" y="630270"/>
                  </a:cubicBezTo>
                  <a:lnTo>
                    <a:pt x="634141" y="569221"/>
                  </a:lnTo>
                  <a:cubicBezTo>
                    <a:pt x="649092" y="556139"/>
                    <a:pt x="649092" y="532467"/>
                    <a:pt x="634764" y="518139"/>
                  </a:cubicBez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A77EF947-886A-4791-97F4-E01240B01EB8}"/>
                </a:ext>
              </a:extLst>
            </p:cNvPr>
            <p:cNvSpPr/>
            <p:nvPr/>
          </p:nvSpPr>
          <p:spPr>
            <a:xfrm>
              <a:off x="10588899" y="4364396"/>
              <a:ext cx="80984" cy="80984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049 w 80983"/>
                <a:gd name="connsiteY1" fmla="*/ 4672 h 80983"/>
                <a:gd name="connsiteX2" fmla="*/ 80049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049" y="4672"/>
                  </a:lnTo>
                  <a:lnTo>
                    <a:pt x="80049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6B2DFC5-9545-47DC-B65B-21D340FB9A8D}"/>
                </a:ext>
              </a:extLst>
            </p:cNvPr>
            <p:cNvSpPr/>
            <p:nvPr/>
          </p:nvSpPr>
          <p:spPr>
            <a:xfrm>
              <a:off x="10311063" y="4364396"/>
              <a:ext cx="80984" cy="80984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049 w 80983"/>
                <a:gd name="connsiteY1" fmla="*/ 4672 h 80983"/>
                <a:gd name="connsiteX2" fmla="*/ 80049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049" y="4672"/>
                  </a:lnTo>
                  <a:lnTo>
                    <a:pt x="80049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E7936EDF-34AF-4188-9E81-CE24BA239020}"/>
                </a:ext>
              </a:extLst>
            </p:cNvPr>
            <p:cNvSpPr/>
            <p:nvPr/>
          </p:nvSpPr>
          <p:spPr>
            <a:xfrm>
              <a:off x="10449981" y="4364396"/>
              <a:ext cx="80984" cy="80984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672 w 80983"/>
                <a:gd name="connsiteY1" fmla="*/ 4672 h 80983"/>
                <a:gd name="connsiteX2" fmla="*/ 80672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672" y="4672"/>
                  </a:lnTo>
                  <a:lnTo>
                    <a:pt x="80672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AC9C75E1-1552-4D0B-8A4C-AC2428420F78}"/>
                </a:ext>
              </a:extLst>
            </p:cNvPr>
            <p:cNvSpPr/>
            <p:nvPr/>
          </p:nvSpPr>
          <p:spPr>
            <a:xfrm>
              <a:off x="10588899" y="4503314"/>
              <a:ext cx="80984" cy="80984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049 w 80983"/>
                <a:gd name="connsiteY1" fmla="*/ 4672 h 80983"/>
                <a:gd name="connsiteX2" fmla="*/ 80049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049" y="4672"/>
                  </a:lnTo>
                  <a:lnTo>
                    <a:pt x="80049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D0CB0CB1-43D9-42DF-847D-D20EDE6E1F6C}"/>
                </a:ext>
              </a:extLst>
            </p:cNvPr>
            <p:cNvSpPr/>
            <p:nvPr/>
          </p:nvSpPr>
          <p:spPr>
            <a:xfrm>
              <a:off x="10311063" y="4503314"/>
              <a:ext cx="80984" cy="80984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049 w 80983"/>
                <a:gd name="connsiteY1" fmla="*/ 4672 h 80983"/>
                <a:gd name="connsiteX2" fmla="*/ 80049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049" y="4672"/>
                  </a:lnTo>
                  <a:lnTo>
                    <a:pt x="80049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F3685571-F9BB-4A36-9DC0-89CE14A4EA0D}"/>
                </a:ext>
              </a:extLst>
            </p:cNvPr>
            <p:cNvSpPr/>
            <p:nvPr/>
          </p:nvSpPr>
          <p:spPr>
            <a:xfrm>
              <a:off x="10449981" y="4503314"/>
              <a:ext cx="80984" cy="80984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672 w 80983"/>
                <a:gd name="connsiteY1" fmla="*/ 4672 h 80983"/>
                <a:gd name="connsiteX2" fmla="*/ 80672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672" y="4672"/>
                  </a:lnTo>
                  <a:lnTo>
                    <a:pt x="80672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721B9454-E480-4E9E-9E4F-8169564CB995}"/>
                </a:ext>
              </a:extLst>
            </p:cNvPr>
            <p:cNvSpPr/>
            <p:nvPr/>
          </p:nvSpPr>
          <p:spPr>
            <a:xfrm>
              <a:off x="10588899" y="4642232"/>
              <a:ext cx="80984" cy="80984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049 w 80983"/>
                <a:gd name="connsiteY1" fmla="*/ 4672 h 80983"/>
                <a:gd name="connsiteX2" fmla="*/ 80049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049" y="4672"/>
                  </a:lnTo>
                  <a:lnTo>
                    <a:pt x="80049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B18520E5-2571-4DE1-AA30-83C7FEA25B69}"/>
                </a:ext>
              </a:extLst>
            </p:cNvPr>
            <p:cNvSpPr/>
            <p:nvPr/>
          </p:nvSpPr>
          <p:spPr>
            <a:xfrm>
              <a:off x="10311063" y="4642232"/>
              <a:ext cx="80984" cy="80984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049 w 80983"/>
                <a:gd name="connsiteY1" fmla="*/ 4672 h 80983"/>
                <a:gd name="connsiteX2" fmla="*/ 80049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049" y="4672"/>
                  </a:lnTo>
                  <a:lnTo>
                    <a:pt x="80049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BB3B621-2648-4C74-9903-7650C4251D36}"/>
                </a:ext>
              </a:extLst>
            </p:cNvPr>
            <p:cNvSpPr/>
            <p:nvPr/>
          </p:nvSpPr>
          <p:spPr>
            <a:xfrm>
              <a:off x="10449981" y="4642232"/>
              <a:ext cx="80984" cy="80984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672 w 80983"/>
                <a:gd name="connsiteY1" fmla="*/ 4672 h 80983"/>
                <a:gd name="connsiteX2" fmla="*/ 80672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672" y="4672"/>
                  </a:lnTo>
                  <a:lnTo>
                    <a:pt x="80672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E91E560-FB08-4662-BF3E-9344ECC78638}"/>
              </a:ext>
            </a:extLst>
          </p:cNvPr>
          <p:cNvSpPr txBox="1">
            <a:spLocks/>
          </p:cNvSpPr>
          <p:nvPr/>
        </p:nvSpPr>
        <p:spPr>
          <a:xfrm>
            <a:off x="885393" y="3280321"/>
            <a:ext cx="2575560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b="1" dirty="0">
                <a:sym typeface="+mn-lt"/>
              </a:rPr>
              <a:t>Жалобы на работу УК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7E1177-12F2-4F40-B12D-E609C6A7E00D}"/>
              </a:ext>
            </a:extLst>
          </p:cNvPr>
          <p:cNvSpPr txBox="1">
            <a:spLocks/>
          </p:cNvSpPr>
          <p:nvPr/>
        </p:nvSpPr>
        <p:spPr>
          <a:xfrm>
            <a:off x="3640492" y="3264932"/>
            <a:ext cx="1599353" cy="1538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r">
              <a:buNone/>
            </a:pPr>
            <a:r>
              <a:rPr lang="ru-RU" sz="1000" b="1" dirty="0">
                <a:solidFill>
                  <a:schemeClr val="accent3"/>
                </a:solidFill>
                <a:sym typeface="+mn-lt"/>
              </a:rPr>
              <a:t> 70 724</a:t>
            </a:r>
            <a:r>
              <a:rPr lang="en-US" sz="1000" b="1" dirty="0">
                <a:solidFill>
                  <a:schemeClr val="accent3"/>
                </a:solidFill>
                <a:sym typeface="+mn-lt"/>
              </a:rPr>
              <a:t> </a:t>
            </a:r>
            <a:r>
              <a:rPr lang="en-US" sz="1000" dirty="0">
                <a:sym typeface="+mn-lt"/>
              </a:rPr>
              <a:t>(8%)</a:t>
            </a:r>
            <a:r>
              <a:rPr lang="ru-RU" sz="1000" dirty="0">
                <a:sym typeface="+mn-lt"/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C630C8-A329-42D3-B6B7-66209927A886}"/>
              </a:ext>
            </a:extLst>
          </p:cNvPr>
          <p:cNvSpPr txBox="1">
            <a:spLocks/>
          </p:cNvSpPr>
          <p:nvPr/>
        </p:nvSpPr>
        <p:spPr>
          <a:xfrm>
            <a:off x="7959634" y="3218766"/>
            <a:ext cx="36776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dirty="0">
                <a:sym typeface="+mn-lt"/>
              </a:rPr>
              <a:t>ЕДЦ не уполномочен регистрировать жалобы на работу УК, житель перенаправляется в УК</a:t>
            </a:r>
          </a:p>
        </p:txBody>
      </p: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540DDD42-19E8-4C9E-B3C4-1D92A152996E}"/>
              </a:ext>
            </a:extLst>
          </p:cNvPr>
          <p:cNvGrpSpPr/>
          <p:nvPr/>
        </p:nvGrpSpPr>
        <p:grpSpPr>
          <a:xfrm>
            <a:off x="7052725" y="3219476"/>
            <a:ext cx="244800" cy="244800"/>
            <a:chOff x="-611536" y="5064162"/>
            <a:chExt cx="396228" cy="396228"/>
          </a:xfrm>
        </p:grpSpPr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D56E9A7E-428A-4E06-8692-B2F8AFF67018}"/>
                </a:ext>
              </a:extLst>
            </p:cNvPr>
            <p:cNvSpPr/>
            <p:nvPr/>
          </p:nvSpPr>
          <p:spPr>
            <a:xfrm>
              <a:off x="-611536" y="506416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8" name="Graphic 377">
              <a:extLst>
                <a:ext uri="{FF2B5EF4-FFF2-40B4-BE49-F238E27FC236}">
                  <a16:creationId xmlns:a16="http://schemas.microsoft.com/office/drawing/2014/main" id="{C67DB929-59C8-4EDE-AA30-86BFCC6B88FE}"/>
                </a:ext>
              </a:extLst>
            </p:cNvPr>
            <p:cNvSpPr/>
            <p:nvPr/>
          </p:nvSpPr>
          <p:spPr>
            <a:xfrm>
              <a:off x="-522818" y="5167664"/>
              <a:ext cx="218792" cy="189225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12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90EFA6C5-2C21-45A0-850F-6C166A59250F}"/>
              </a:ext>
            </a:extLst>
          </p:cNvPr>
          <p:cNvSpPr txBox="1">
            <a:spLocks/>
          </p:cNvSpPr>
          <p:nvPr/>
        </p:nvSpPr>
        <p:spPr>
          <a:xfrm>
            <a:off x="885393" y="3897079"/>
            <a:ext cx="2575560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b="1" dirty="0">
                <a:sym typeface="+mn-lt"/>
              </a:rPr>
              <a:t>Обслуживание дома в ЕДЦ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D02ADD-F94E-493F-8C7B-93ACB24B4077}"/>
              </a:ext>
            </a:extLst>
          </p:cNvPr>
          <p:cNvSpPr txBox="1">
            <a:spLocks/>
          </p:cNvSpPr>
          <p:nvPr/>
        </p:nvSpPr>
        <p:spPr>
          <a:xfrm>
            <a:off x="3640492" y="3881690"/>
            <a:ext cx="1599353" cy="1538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r">
              <a:buNone/>
            </a:pPr>
            <a:r>
              <a:rPr lang="ru-RU" sz="1000" b="1" dirty="0">
                <a:solidFill>
                  <a:schemeClr val="accent3"/>
                </a:solidFill>
                <a:sym typeface="+mn-lt"/>
              </a:rPr>
              <a:t> 44 221</a:t>
            </a:r>
            <a:r>
              <a:rPr lang="en-US" sz="1000" b="1" dirty="0">
                <a:solidFill>
                  <a:schemeClr val="accent3"/>
                </a:solidFill>
                <a:sym typeface="+mn-lt"/>
              </a:rPr>
              <a:t> </a:t>
            </a:r>
            <a:r>
              <a:rPr lang="en-US" sz="1000" dirty="0">
                <a:sym typeface="+mn-lt"/>
              </a:rPr>
              <a:t>(5%)</a:t>
            </a:r>
            <a:r>
              <a:rPr lang="ru-RU" sz="1000" dirty="0">
                <a:sym typeface="+mn-lt"/>
              </a:rPr>
              <a:t> </a:t>
            </a:r>
          </a:p>
        </p:txBody>
      </p: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91F3BCD9-6061-4D19-B196-01A3A85C0124}"/>
              </a:ext>
            </a:extLst>
          </p:cNvPr>
          <p:cNvGrpSpPr/>
          <p:nvPr/>
        </p:nvGrpSpPr>
        <p:grpSpPr>
          <a:xfrm>
            <a:off x="583909" y="3855781"/>
            <a:ext cx="200729" cy="205706"/>
            <a:chOff x="12836622" y="4549077"/>
            <a:chExt cx="569450" cy="583569"/>
          </a:xfrm>
        </p:grpSpPr>
        <p:sp>
          <p:nvSpPr>
            <p:cNvPr id="279" name="Freeform 121">
              <a:extLst>
                <a:ext uri="{FF2B5EF4-FFF2-40B4-BE49-F238E27FC236}">
                  <a16:creationId xmlns:a16="http://schemas.microsoft.com/office/drawing/2014/main" id="{D4367C7D-F922-4F44-AB92-88B8C0423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0752" y="4814977"/>
              <a:ext cx="375320" cy="227074"/>
            </a:xfrm>
            <a:custGeom>
              <a:avLst/>
              <a:gdLst>
                <a:gd name="T0" fmla="*/ 0 w 116"/>
                <a:gd name="T1" fmla="*/ 70 h 70"/>
                <a:gd name="T2" fmla="*/ 8 w 116"/>
                <a:gd name="T3" fmla="*/ 66 h 70"/>
                <a:gd name="T4" fmla="*/ 64 w 116"/>
                <a:gd name="T5" fmla="*/ 66 h 70"/>
                <a:gd name="T6" fmla="*/ 96 w 116"/>
                <a:gd name="T7" fmla="*/ 38 h 70"/>
                <a:gd name="T8" fmla="*/ 116 w 116"/>
                <a:gd name="T9" fmla="*/ 6 h 70"/>
                <a:gd name="T10" fmla="*/ 100 w 116"/>
                <a:gd name="T11" fmla="*/ 2 h 70"/>
                <a:gd name="T12" fmla="*/ 84 w 116"/>
                <a:gd name="T13" fmla="*/ 18 h 70"/>
                <a:gd name="T14" fmla="*/ 66 w 116"/>
                <a:gd name="T15" fmla="*/ 28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70">
                  <a:moveTo>
                    <a:pt x="0" y="70"/>
                  </a:moveTo>
                  <a:cubicBezTo>
                    <a:pt x="2" y="68"/>
                    <a:pt x="3" y="66"/>
                    <a:pt x="8" y="66"/>
                  </a:cubicBezTo>
                  <a:cubicBezTo>
                    <a:pt x="13" y="66"/>
                    <a:pt x="59" y="66"/>
                    <a:pt x="64" y="66"/>
                  </a:cubicBezTo>
                  <a:cubicBezTo>
                    <a:pt x="68" y="66"/>
                    <a:pt x="93" y="41"/>
                    <a:pt x="96" y="38"/>
                  </a:cubicBezTo>
                  <a:cubicBezTo>
                    <a:pt x="99" y="35"/>
                    <a:pt x="112" y="15"/>
                    <a:pt x="116" y="6"/>
                  </a:cubicBezTo>
                  <a:cubicBezTo>
                    <a:pt x="114" y="3"/>
                    <a:pt x="107" y="0"/>
                    <a:pt x="100" y="2"/>
                  </a:cubicBezTo>
                  <a:cubicBezTo>
                    <a:pt x="93" y="4"/>
                    <a:pt x="89" y="9"/>
                    <a:pt x="84" y="18"/>
                  </a:cubicBezTo>
                  <a:cubicBezTo>
                    <a:pt x="66" y="28"/>
                    <a:pt x="66" y="28"/>
                    <a:pt x="66" y="28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0" name="Freeform 122">
              <a:extLst>
                <a:ext uri="{FF2B5EF4-FFF2-40B4-BE49-F238E27FC236}">
                  <a16:creationId xmlns:a16="http://schemas.microsoft.com/office/drawing/2014/main" id="{768E8AFA-4644-44FE-B98B-A179F4098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7216" y="4859686"/>
              <a:ext cx="336493" cy="91771"/>
            </a:xfrm>
            <a:custGeom>
              <a:avLst/>
              <a:gdLst>
                <a:gd name="T0" fmla="*/ 56 w 104"/>
                <a:gd name="T1" fmla="*/ 28 h 28"/>
                <a:gd name="T2" fmla="*/ 88 w 104"/>
                <a:gd name="T3" fmla="*/ 28 h 28"/>
                <a:gd name="T4" fmla="*/ 88 w 104"/>
                <a:gd name="T5" fmla="*/ 8 h 28"/>
                <a:gd name="T6" fmla="*/ 67 w 104"/>
                <a:gd name="T7" fmla="*/ 8 h 28"/>
                <a:gd name="T8" fmla="*/ 52 w 104"/>
                <a:gd name="T9" fmla="*/ 0 h 28"/>
                <a:gd name="T10" fmla="*/ 32 w 104"/>
                <a:gd name="T11" fmla="*/ 0 h 28"/>
                <a:gd name="T12" fmla="*/ 16 w 104"/>
                <a:gd name="T13" fmla="*/ 8 h 28"/>
                <a:gd name="T14" fmla="*/ 0 w 104"/>
                <a:gd name="T15" fmla="*/ 2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28">
                  <a:moveTo>
                    <a:pt x="56" y="28"/>
                  </a:moveTo>
                  <a:cubicBezTo>
                    <a:pt x="56" y="28"/>
                    <a:pt x="84" y="28"/>
                    <a:pt x="88" y="28"/>
                  </a:cubicBezTo>
                  <a:cubicBezTo>
                    <a:pt x="104" y="28"/>
                    <a:pt x="104" y="8"/>
                    <a:pt x="88" y="8"/>
                  </a:cubicBezTo>
                  <a:cubicBezTo>
                    <a:pt x="84" y="8"/>
                    <a:pt x="78" y="8"/>
                    <a:pt x="67" y="8"/>
                  </a:cubicBezTo>
                  <a:cubicBezTo>
                    <a:pt x="64" y="8"/>
                    <a:pt x="57" y="0"/>
                    <a:pt x="52" y="0"/>
                  </a:cubicBezTo>
                  <a:cubicBezTo>
                    <a:pt x="50" y="0"/>
                    <a:pt x="37" y="0"/>
                    <a:pt x="32" y="0"/>
                  </a:cubicBezTo>
                  <a:cubicBezTo>
                    <a:pt x="27" y="0"/>
                    <a:pt x="20" y="4"/>
                    <a:pt x="16" y="8"/>
                  </a:cubicBezTo>
                  <a:cubicBezTo>
                    <a:pt x="10" y="14"/>
                    <a:pt x="0" y="24"/>
                    <a:pt x="0" y="24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1" name="Freeform 123">
              <a:extLst>
                <a:ext uri="{FF2B5EF4-FFF2-40B4-BE49-F238E27FC236}">
                  <a16:creationId xmlns:a16="http://schemas.microsoft.com/office/drawing/2014/main" id="{50709891-AC55-402A-86A6-6457DD0AC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6622" y="4912631"/>
              <a:ext cx="220015" cy="220015"/>
            </a:xfrm>
            <a:custGeom>
              <a:avLst/>
              <a:gdLst>
                <a:gd name="T0" fmla="*/ 132 w 187"/>
                <a:gd name="T1" fmla="*/ 187 h 187"/>
                <a:gd name="T2" fmla="*/ 187 w 187"/>
                <a:gd name="T3" fmla="*/ 132 h 187"/>
                <a:gd name="T4" fmla="*/ 55 w 187"/>
                <a:gd name="T5" fmla="*/ 0 h 187"/>
                <a:gd name="T6" fmla="*/ 0 w 187"/>
                <a:gd name="T7" fmla="*/ 55 h 187"/>
                <a:gd name="T8" fmla="*/ 132 w 18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187">
                  <a:moveTo>
                    <a:pt x="132" y="187"/>
                  </a:moveTo>
                  <a:lnTo>
                    <a:pt x="187" y="132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132" y="187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2" name="Line 124">
              <a:extLst>
                <a:ext uri="{FF2B5EF4-FFF2-40B4-BE49-F238E27FC236}">
                  <a16:creationId xmlns:a16="http://schemas.microsoft.com/office/drawing/2014/main" id="{CD120C41-579E-4344-A557-4F89C5735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01332" y="4977341"/>
              <a:ext cx="25884" cy="25884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3" name="Line 125">
              <a:extLst>
                <a:ext uri="{FF2B5EF4-FFF2-40B4-BE49-F238E27FC236}">
                  <a16:creationId xmlns:a16="http://schemas.microsoft.com/office/drawing/2014/main" id="{65988F0B-C2DA-4DEE-8686-8694D8727B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02535" y="4678498"/>
              <a:ext cx="0" cy="181189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4" name="Line 126">
              <a:extLst>
                <a:ext uri="{FF2B5EF4-FFF2-40B4-BE49-F238E27FC236}">
                  <a16:creationId xmlns:a16="http://schemas.microsoft.com/office/drawing/2014/main" id="{3C1D70E5-45C3-4631-B1F1-9846CA1B7A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43694" y="4678498"/>
              <a:ext cx="0" cy="181189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5" name="Freeform 127">
              <a:extLst>
                <a:ext uri="{FF2B5EF4-FFF2-40B4-BE49-F238E27FC236}">
                  <a16:creationId xmlns:a16="http://schemas.microsoft.com/office/drawing/2014/main" id="{C96C613D-34F3-4F78-A30D-C22384C84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1926" y="4549077"/>
              <a:ext cx="362377" cy="181189"/>
            </a:xfrm>
            <a:custGeom>
              <a:avLst/>
              <a:gdLst>
                <a:gd name="T0" fmla="*/ 308 w 308"/>
                <a:gd name="T1" fmla="*/ 154 h 154"/>
                <a:gd name="T2" fmla="*/ 154 w 308"/>
                <a:gd name="T3" fmla="*/ 0 h 154"/>
                <a:gd name="T4" fmla="*/ 0 w 308"/>
                <a:gd name="T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8" h="154">
                  <a:moveTo>
                    <a:pt x="308" y="154"/>
                  </a:moveTo>
                  <a:lnTo>
                    <a:pt x="154" y="0"/>
                  </a:lnTo>
                  <a:lnTo>
                    <a:pt x="0" y="154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6" name="Line 128">
              <a:extLst>
                <a:ext uri="{FF2B5EF4-FFF2-40B4-BE49-F238E27FC236}">
                  <a16:creationId xmlns:a16="http://schemas.microsoft.com/office/drawing/2014/main" id="{B08DA46E-B6A7-4819-8BB5-9ECFA0C32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82521" y="4574961"/>
              <a:ext cx="0" cy="6471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7" name="Freeform 129">
              <a:extLst>
                <a:ext uri="{FF2B5EF4-FFF2-40B4-BE49-F238E27FC236}">
                  <a16:creationId xmlns:a16="http://schemas.microsoft.com/office/drawing/2014/main" id="{7D86A1D2-46E5-417F-AF26-CC5421B60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4289" y="4756150"/>
              <a:ext cx="77652" cy="129421"/>
            </a:xfrm>
            <a:custGeom>
              <a:avLst/>
              <a:gdLst>
                <a:gd name="T0" fmla="*/ 0 w 66"/>
                <a:gd name="T1" fmla="*/ 110 h 110"/>
                <a:gd name="T2" fmla="*/ 0 w 66"/>
                <a:gd name="T3" fmla="*/ 0 h 110"/>
                <a:gd name="T4" fmla="*/ 66 w 66"/>
                <a:gd name="T5" fmla="*/ 0 h 110"/>
                <a:gd name="T6" fmla="*/ 66 w 66"/>
                <a:gd name="T7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110">
                  <a:moveTo>
                    <a:pt x="0" y="110"/>
                  </a:moveTo>
                  <a:lnTo>
                    <a:pt x="0" y="0"/>
                  </a:lnTo>
                  <a:lnTo>
                    <a:pt x="66" y="0"/>
                  </a:lnTo>
                  <a:lnTo>
                    <a:pt x="66" y="11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1B4492EE-79B7-4E9D-806A-F1CE3A84E455}"/>
              </a:ext>
            </a:extLst>
          </p:cNvPr>
          <p:cNvSpPr txBox="1">
            <a:spLocks/>
          </p:cNvSpPr>
          <p:nvPr/>
        </p:nvSpPr>
        <p:spPr>
          <a:xfrm>
            <a:off x="7959634" y="3835524"/>
            <a:ext cx="36776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dirty="0">
                <a:sym typeface="+mn-lt"/>
              </a:rPr>
              <a:t>Не все УК подключены к ЕДЦ, связь со многими УК отсутствует у жителей</a:t>
            </a:r>
          </a:p>
        </p:txBody>
      </p: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EB4CD042-219B-4B10-AA9B-EE5CE2418CFE}"/>
              </a:ext>
            </a:extLst>
          </p:cNvPr>
          <p:cNvGrpSpPr/>
          <p:nvPr/>
        </p:nvGrpSpPr>
        <p:grpSpPr>
          <a:xfrm>
            <a:off x="5901511" y="3836234"/>
            <a:ext cx="244800" cy="244800"/>
            <a:chOff x="-611536" y="5064162"/>
            <a:chExt cx="396228" cy="396228"/>
          </a:xfrm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38CB05E7-B412-4B4A-9493-FAD800874123}"/>
                </a:ext>
              </a:extLst>
            </p:cNvPr>
            <p:cNvSpPr/>
            <p:nvPr/>
          </p:nvSpPr>
          <p:spPr>
            <a:xfrm>
              <a:off x="-611536" y="506416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3" name="Graphic 377">
              <a:extLst>
                <a:ext uri="{FF2B5EF4-FFF2-40B4-BE49-F238E27FC236}">
                  <a16:creationId xmlns:a16="http://schemas.microsoft.com/office/drawing/2014/main" id="{DDA17A6C-8630-4724-BB44-6F812396E91D}"/>
                </a:ext>
              </a:extLst>
            </p:cNvPr>
            <p:cNvSpPr/>
            <p:nvPr/>
          </p:nvSpPr>
          <p:spPr>
            <a:xfrm>
              <a:off x="-522818" y="5167664"/>
              <a:ext cx="218792" cy="189225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12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B4AD79C2-7735-4AFB-BCB9-E63B36F83420}"/>
              </a:ext>
            </a:extLst>
          </p:cNvPr>
          <p:cNvGrpSpPr/>
          <p:nvPr/>
        </p:nvGrpSpPr>
        <p:grpSpPr>
          <a:xfrm>
            <a:off x="7052725" y="3836234"/>
            <a:ext cx="244800" cy="244800"/>
            <a:chOff x="-611536" y="5064162"/>
            <a:chExt cx="396228" cy="396228"/>
          </a:xfrm>
        </p:grpSpPr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ED0827CE-09CF-4960-B207-9BA14AF01E18}"/>
                </a:ext>
              </a:extLst>
            </p:cNvPr>
            <p:cNvSpPr/>
            <p:nvPr/>
          </p:nvSpPr>
          <p:spPr>
            <a:xfrm>
              <a:off x="-611536" y="506416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11" name="Graphic 377">
              <a:extLst>
                <a:ext uri="{FF2B5EF4-FFF2-40B4-BE49-F238E27FC236}">
                  <a16:creationId xmlns:a16="http://schemas.microsoft.com/office/drawing/2014/main" id="{8212F5F0-076D-44D2-A2F3-D5DA06106104}"/>
                </a:ext>
              </a:extLst>
            </p:cNvPr>
            <p:cNvSpPr/>
            <p:nvPr/>
          </p:nvSpPr>
          <p:spPr>
            <a:xfrm>
              <a:off x="-522818" y="5167664"/>
              <a:ext cx="218792" cy="189225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12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AF3A6076-A3A9-4EC3-A978-5CF745667083}"/>
              </a:ext>
            </a:extLst>
          </p:cNvPr>
          <p:cNvSpPr txBox="1">
            <a:spLocks/>
          </p:cNvSpPr>
          <p:nvPr/>
        </p:nvSpPr>
        <p:spPr>
          <a:xfrm>
            <a:off x="885393" y="5392978"/>
            <a:ext cx="2575560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b="1" dirty="0">
                <a:sym typeface="+mn-lt"/>
              </a:rPr>
              <a:t>Прочие запросы </a:t>
            </a:r>
            <a:r>
              <a:rPr lang="ru-RU" sz="800" dirty="0">
                <a:sym typeface="+mn-lt"/>
              </a:rPr>
              <a:t>(дополнительные услуги УК, электросчетчики, придомовая территория, ремонтные и дорожные работы, шлагбаумы)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1A9A552-BFF3-4F20-9486-3D87A06A85E8}"/>
              </a:ext>
            </a:extLst>
          </p:cNvPr>
          <p:cNvSpPr txBox="1">
            <a:spLocks/>
          </p:cNvSpPr>
          <p:nvPr/>
        </p:nvSpPr>
        <p:spPr>
          <a:xfrm>
            <a:off x="3640492" y="5500700"/>
            <a:ext cx="1599353" cy="1538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r">
              <a:buNone/>
            </a:pPr>
            <a:r>
              <a:rPr lang="ru-RU" sz="1000" b="1" dirty="0">
                <a:solidFill>
                  <a:schemeClr val="accent3"/>
                </a:solidFill>
                <a:sym typeface="+mn-lt"/>
              </a:rPr>
              <a:t> 141 212</a:t>
            </a:r>
            <a:r>
              <a:rPr lang="en-US" sz="1000" b="1" dirty="0">
                <a:solidFill>
                  <a:schemeClr val="accent3"/>
                </a:solidFill>
                <a:sym typeface="+mn-lt"/>
              </a:rPr>
              <a:t> </a:t>
            </a:r>
            <a:r>
              <a:rPr lang="en-US" sz="1000" dirty="0">
                <a:sym typeface="+mn-lt"/>
              </a:rPr>
              <a:t>(15%)</a:t>
            </a:r>
            <a:r>
              <a:rPr lang="ru-RU" sz="1000" dirty="0">
                <a:sym typeface="+mn-lt"/>
              </a:rPr>
              <a:t> </a:t>
            </a:r>
          </a:p>
        </p:txBody>
      </p: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43AC25BA-3CD4-40DA-9BC9-6B6CE16B80B1}"/>
              </a:ext>
            </a:extLst>
          </p:cNvPr>
          <p:cNvGrpSpPr/>
          <p:nvPr/>
        </p:nvGrpSpPr>
        <p:grpSpPr>
          <a:xfrm>
            <a:off x="587278" y="5444499"/>
            <a:ext cx="193990" cy="266291"/>
            <a:chOff x="5621338" y="2973388"/>
            <a:chExt cx="604837" cy="830263"/>
          </a:xfrm>
        </p:grpSpPr>
        <p:sp>
          <p:nvSpPr>
            <p:cNvPr id="289" name="Freeform 52">
              <a:extLst>
                <a:ext uri="{FF2B5EF4-FFF2-40B4-BE49-F238E27FC236}">
                  <a16:creationId xmlns:a16="http://schemas.microsoft.com/office/drawing/2014/main" id="{E101B0E1-62EE-4B6C-921C-5B5E914C5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1338" y="3084513"/>
              <a:ext cx="604837" cy="719138"/>
            </a:xfrm>
            <a:custGeom>
              <a:avLst/>
              <a:gdLst>
                <a:gd name="T0" fmla="*/ 156 w 184"/>
                <a:gd name="T1" fmla="*/ 0 h 219"/>
                <a:gd name="T2" fmla="*/ 171 w 184"/>
                <a:gd name="T3" fmla="*/ 0 h 219"/>
                <a:gd name="T4" fmla="*/ 184 w 184"/>
                <a:gd name="T5" fmla="*/ 13 h 219"/>
                <a:gd name="T6" fmla="*/ 184 w 184"/>
                <a:gd name="T7" fmla="*/ 206 h 219"/>
                <a:gd name="T8" fmla="*/ 171 w 184"/>
                <a:gd name="T9" fmla="*/ 219 h 219"/>
                <a:gd name="T10" fmla="*/ 13 w 184"/>
                <a:gd name="T11" fmla="*/ 219 h 219"/>
                <a:gd name="T12" fmla="*/ 0 w 184"/>
                <a:gd name="T13" fmla="*/ 206 h 219"/>
                <a:gd name="T14" fmla="*/ 0 w 184"/>
                <a:gd name="T15" fmla="*/ 13 h 219"/>
                <a:gd name="T16" fmla="*/ 13 w 184"/>
                <a:gd name="T17" fmla="*/ 0 h 219"/>
                <a:gd name="T18" fmla="*/ 29 w 184"/>
                <a:gd name="T19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4" h="219">
                  <a:moveTo>
                    <a:pt x="156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8" y="0"/>
                    <a:pt x="184" y="6"/>
                    <a:pt x="184" y="13"/>
                  </a:cubicBezTo>
                  <a:cubicBezTo>
                    <a:pt x="184" y="206"/>
                    <a:pt x="184" y="206"/>
                    <a:pt x="184" y="206"/>
                  </a:cubicBezTo>
                  <a:cubicBezTo>
                    <a:pt x="184" y="213"/>
                    <a:pt x="178" y="219"/>
                    <a:pt x="171" y="219"/>
                  </a:cubicBezTo>
                  <a:cubicBezTo>
                    <a:pt x="13" y="219"/>
                    <a:pt x="13" y="219"/>
                    <a:pt x="13" y="219"/>
                  </a:cubicBezTo>
                  <a:cubicBezTo>
                    <a:pt x="6" y="219"/>
                    <a:pt x="0" y="213"/>
                    <a:pt x="0" y="20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29" y="0"/>
                    <a:pt x="29" y="0"/>
                    <a:pt x="29" y="0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0" name="Freeform 53">
              <a:extLst>
                <a:ext uri="{FF2B5EF4-FFF2-40B4-BE49-F238E27FC236}">
                  <a16:creationId xmlns:a16="http://schemas.microsoft.com/office/drawing/2014/main" id="{A04C7598-1EF0-47D7-8E2E-B20F05104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675" y="2973388"/>
              <a:ext cx="282575" cy="157163"/>
            </a:xfrm>
            <a:custGeom>
              <a:avLst/>
              <a:gdLst>
                <a:gd name="T0" fmla="*/ 86 w 86"/>
                <a:gd name="T1" fmla="*/ 21 h 48"/>
                <a:gd name="T2" fmla="*/ 64 w 86"/>
                <a:gd name="T3" fmla="*/ 21 h 48"/>
                <a:gd name="T4" fmla="*/ 43 w 86"/>
                <a:gd name="T5" fmla="*/ 0 h 48"/>
                <a:gd name="T6" fmla="*/ 22 w 86"/>
                <a:gd name="T7" fmla="*/ 21 h 48"/>
                <a:gd name="T8" fmla="*/ 0 w 86"/>
                <a:gd name="T9" fmla="*/ 21 h 48"/>
                <a:gd name="T10" fmla="*/ 0 w 86"/>
                <a:gd name="T11" fmla="*/ 48 h 48"/>
                <a:gd name="T12" fmla="*/ 86 w 86"/>
                <a:gd name="T13" fmla="*/ 48 h 48"/>
                <a:gd name="T14" fmla="*/ 86 w 86"/>
                <a:gd name="T15" fmla="*/ 2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48">
                  <a:moveTo>
                    <a:pt x="86" y="21"/>
                  </a:moveTo>
                  <a:cubicBezTo>
                    <a:pt x="64" y="21"/>
                    <a:pt x="64" y="21"/>
                    <a:pt x="64" y="21"/>
                  </a:cubicBezTo>
                  <a:cubicBezTo>
                    <a:pt x="64" y="9"/>
                    <a:pt x="55" y="0"/>
                    <a:pt x="43" y="0"/>
                  </a:cubicBezTo>
                  <a:cubicBezTo>
                    <a:pt x="32" y="0"/>
                    <a:pt x="22" y="9"/>
                    <a:pt x="22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86" y="48"/>
                    <a:pt x="86" y="48"/>
                    <a:pt x="86" y="48"/>
                  </a:cubicBezTo>
                  <a:lnTo>
                    <a:pt x="86" y="21"/>
                  </a:ln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1" name="Freeform 54">
              <a:extLst>
                <a:ext uri="{FF2B5EF4-FFF2-40B4-BE49-F238E27FC236}">
                  <a16:creationId xmlns:a16="http://schemas.microsoft.com/office/drawing/2014/main" id="{1570F895-D27A-4556-931D-765AE6449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588" y="3246438"/>
              <a:ext cx="177800" cy="176213"/>
            </a:xfrm>
            <a:custGeom>
              <a:avLst/>
              <a:gdLst>
                <a:gd name="T0" fmla="*/ 112 w 112"/>
                <a:gd name="T1" fmla="*/ 72 h 111"/>
                <a:gd name="T2" fmla="*/ 112 w 112"/>
                <a:gd name="T3" fmla="*/ 111 h 111"/>
                <a:gd name="T4" fmla="*/ 0 w 112"/>
                <a:gd name="T5" fmla="*/ 111 h 111"/>
                <a:gd name="T6" fmla="*/ 0 w 112"/>
                <a:gd name="T7" fmla="*/ 0 h 111"/>
                <a:gd name="T8" fmla="*/ 70 w 112"/>
                <a:gd name="T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111">
                  <a:moveTo>
                    <a:pt x="112" y="72"/>
                  </a:moveTo>
                  <a:lnTo>
                    <a:pt x="112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70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2" name="Freeform 55">
              <a:extLst>
                <a:ext uri="{FF2B5EF4-FFF2-40B4-BE49-F238E27FC236}">
                  <a16:creationId xmlns:a16="http://schemas.microsoft.com/office/drawing/2014/main" id="{06EE9286-7E77-4ED5-A4EF-1D3CA9D08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2150" y="3228975"/>
              <a:ext cx="147637" cy="131763"/>
            </a:xfrm>
            <a:custGeom>
              <a:avLst/>
              <a:gdLst>
                <a:gd name="T0" fmla="*/ 0 w 93"/>
                <a:gd name="T1" fmla="*/ 50 h 83"/>
                <a:gd name="T2" fmla="*/ 29 w 93"/>
                <a:gd name="T3" fmla="*/ 83 h 83"/>
                <a:gd name="T4" fmla="*/ 93 w 93"/>
                <a:gd name="T5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3" h="83">
                  <a:moveTo>
                    <a:pt x="0" y="50"/>
                  </a:moveTo>
                  <a:lnTo>
                    <a:pt x="29" y="83"/>
                  </a:lnTo>
                  <a:lnTo>
                    <a:pt x="93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3" name="Line 56">
              <a:extLst>
                <a:ext uri="{FF2B5EF4-FFF2-40B4-BE49-F238E27FC236}">
                  <a16:creationId xmlns:a16="http://schemas.microsoft.com/office/drawing/2014/main" id="{92A9C00C-0BE9-4F7F-A1DA-8CD138FD5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83288" y="3295650"/>
              <a:ext cx="169862" cy="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4" name="Line 57">
              <a:extLst>
                <a:ext uri="{FF2B5EF4-FFF2-40B4-BE49-F238E27FC236}">
                  <a16:creationId xmlns:a16="http://schemas.microsoft.com/office/drawing/2014/main" id="{47A019BC-D5F1-44D6-8712-31B6695A0D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83288" y="3373438"/>
              <a:ext cx="107950" cy="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5" name="Freeform 58">
              <a:extLst>
                <a:ext uri="{FF2B5EF4-FFF2-40B4-BE49-F238E27FC236}">
                  <a16:creationId xmlns:a16="http://schemas.microsoft.com/office/drawing/2014/main" id="{720C8E22-261C-4660-B281-10139D883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588" y="3532188"/>
              <a:ext cx="177800" cy="176213"/>
            </a:xfrm>
            <a:custGeom>
              <a:avLst/>
              <a:gdLst>
                <a:gd name="T0" fmla="*/ 112 w 112"/>
                <a:gd name="T1" fmla="*/ 72 h 111"/>
                <a:gd name="T2" fmla="*/ 112 w 112"/>
                <a:gd name="T3" fmla="*/ 111 h 111"/>
                <a:gd name="T4" fmla="*/ 0 w 112"/>
                <a:gd name="T5" fmla="*/ 111 h 111"/>
                <a:gd name="T6" fmla="*/ 0 w 112"/>
                <a:gd name="T7" fmla="*/ 0 h 111"/>
                <a:gd name="T8" fmla="*/ 70 w 112"/>
                <a:gd name="T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111">
                  <a:moveTo>
                    <a:pt x="112" y="72"/>
                  </a:moveTo>
                  <a:lnTo>
                    <a:pt x="112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70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6" name="Freeform 59">
              <a:extLst>
                <a:ext uri="{FF2B5EF4-FFF2-40B4-BE49-F238E27FC236}">
                  <a16:creationId xmlns:a16="http://schemas.microsoft.com/office/drawing/2014/main" id="{F99AFE43-84C2-476C-B258-FE9EA1D63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2150" y="3514725"/>
              <a:ext cx="147637" cy="131763"/>
            </a:xfrm>
            <a:custGeom>
              <a:avLst/>
              <a:gdLst>
                <a:gd name="T0" fmla="*/ 0 w 93"/>
                <a:gd name="T1" fmla="*/ 50 h 83"/>
                <a:gd name="T2" fmla="*/ 29 w 93"/>
                <a:gd name="T3" fmla="*/ 83 h 83"/>
                <a:gd name="T4" fmla="*/ 93 w 93"/>
                <a:gd name="T5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3" h="83">
                  <a:moveTo>
                    <a:pt x="0" y="50"/>
                  </a:moveTo>
                  <a:lnTo>
                    <a:pt x="29" y="83"/>
                  </a:lnTo>
                  <a:lnTo>
                    <a:pt x="93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" name="Line 60">
              <a:extLst>
                <a:ext uri="{FF2B5EF4-FFF2-40B4-BE49-F238E27FC236}">
                  <a16:creationId xmlns:a16="http://schemas.microsoft.com/office/drawing/2014/main" id="{2C924183-B5BB-4FF1-BD64-5C745697F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83288" y="3581400"/>
              <a:ext cx="169862" cy="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8" name="Line 61">
              <a:extLst>
                <a:ext uri="{FF2B5EF4-FFF2-40B4-BE49-F238E27FC236}">
                  <a16:creationId xmlns:a16="http://schemas.microsoft.com/office/drawing/2014/main" id="{EAE4DC83-E303-497B-A1A2-8EE44052F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83288" y="3659188"/>
              <a:ext cx="107950" cy="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9F473DB4-67AD-48A7-9A2B-2DC5CAF05949}"/>
              </a:ext>
            </a:extLst>
          </p:cNvPr>
          <p:cNvGrpSpPr/>
          <p:nvPr/>
        </p:nvGrpSpPr>
        <p:grpSpPr>
          <a:xfrm>
            <a:off x="5901511" y="5455244"/>
            <a:ext cx="244800" cy="244800"/>
            <a:chOff x="-611536" y="5064162"/>
            <a:chExt cx="396228" cy="396228"/>
          </a:xfrm>
        </p:grpSpPr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D078D36B-6810-462F-877B-189033A13BCE}"/>
                </a:ext>
              </a:extLst>
            </p:cNvPr>
            <p:cNvSpPr/>
            <p:nvPr/>
          </p:nvSpPr>
          <p:spPr>
            <a:xfrm>
              <a:off x="-611536" y="506416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2" name="Graphic 377">
              <a:extLst>
                <a:ext uri="{FF2B5EF4-FFF2-40B4-BE49-F238E27FC236}">
                  <a16:creationId xmlns:a16="http://schemas.microsoft.com/office/drawing/2014/main" id="{F75B4BD1-C792-40F4-B91B-D691E41BF7D0}"/>
                </a:ext>
              </a:extLst>
            </p:cNvPr>
            <p:cNvSpPr/>
            <p:nvPr/>
          </p:nvSpPr>
          <p:spPr>
            <a:xfrm>
              <a:off x="-522818" y="5167664"/>
              <a:ext cx="218792" cy="189225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12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C4745F06-DD94-4D21-90A2-20AC938B82A5}"/>
              </a:ext>
            </a:extLst>
          </p:cNvPr>
          <p:cNvGrpSpPr/>
          <p:nvPr/>
        </p:nvGrpSpPr>
        <p:grpSpPr>
          <a:xfrm>
            <a:off x="7052725" y="5455244"/>
            <a:ext cx="244800" cy="244800"/>
            <a:chOff x="-611536" y="5064162"/>
            <a:chExt cx="396228" cy="396228"/>
          </a:xfrm>
        </p:grpSpPr>
        <p:sp>
          <p:nvSpPr>
            <p:cNvPr id="425" name="Oval 424">
              <a:extLst>
                <a:ext uri="{FF2B5EF4-FFF2-40B4-BE49-F238E27FC236}">
                  <a16:creationId xmlns:a16="http://schemas.microsoft.com/office/drawing/2014/main" id="{E90C00D8-DA62-4F6F-8794-F8DE7C34E2C7}"/>
                </a:ext>
              </a:extLst>
            </p:cNvPr>
            <p:cNvSpPr/>
            <p:nvPr/>
          </p:nvSpPr>
          <p:spPr>
            <a:xfrm>
              <a:off x="-611536" y="506416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26" name="Graphic 377">
              <a:extLst>
                <a:ext uri="{FF2B5EF4-FFF2-40B4-BE49-F238E27FC236}">
                  <a16:creationId xmlns:a16="http://schemas.microsoft.com/office/drawing/2014/main" id="{3ED94CB8-2DF5-4BDB-B0A9-F95941A9C9BD}"/>
                </a:ext>
              </a:extLst>
            </p:cNvPr>
            <p:cNvSpPr/>
            <p:nvPr/>
          </p:nvSpPr>
          <p:spPr>
            <a:xfrm>
              <a:off x="-522818" y="5167664"/>
              <a:ext cx="218792" cy="189225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12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9C4B157A-1F91-40B8-9197-5F2413FF7E55}"/>
              </a:ext>
            </a:extLst>
          </p:cNvPr>
          <p:cNvSpPr txBox="1">
            <a:spLocks/>
          </p:cNvSpPr>
          <p:nvPr/>
        </p:nvSpPr>
        <p:spPr>
          <a:xfrm>
            <a:off x="885393" y="5083827"/>
            <a:ext cx="2575560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b="1" dirty="0">
                <a:sym typeface="+mn-lt"/>
              </a:rPr>
              <a:t>Запрос данных по заявкам сотрудниками сторонних организаций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E3AF392-CB24-4EA7-B03A-5706FAEF24CD}"/>
              </a:ext>
            </a:extLst>
          </p:cNvPr>
          <p:cNvSpPr txBox="1">
            <a:spLocks/>
          </p:cNvSpPr>
          <p:nvPr/>
        </p:nvSpPr>
        <p:spPr>
          <a:xfrm>
            <a:off x="3640492" y="5129993"/>
            <a:ext cx="1599353" cy="1538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r">
              <a:buNone/>
            </a:pPr>
            <a:r>
              <a:rPr lang="ru-RU" sz="1000" b="1" dirty="0">
                <a:solidFill>
                  <a:schemeClr val="accent3"/>
                </a:solidFill>
                <a:sym typeface="+mn-lt"/>
              </a:rPr>
              <a:t> 10 837</a:t>
            </a:r>
            <a:r>
              <a:rPr lang="en-US" sz="1000" b="1" dirty="0">
                <a:solidFill>
                  <a:schemeClr val="accent3"/>
                </a:solidFill>
                <a:sym typeface="+mn-lt"/>
              </a:rPr>
              <a:t> </a:t>
            </a:r>
            <a:r>
              <a:rPr lang="en-US" sz="1000" dirty="0">
                <a:sym typeface="+mn-lt"/>
              </a:rPr>
              <a:t>(1%)</a:t>
            </a:r>
            <a:r>
              <a:rPr lang="ru-RU" sz="1000" dirty="0">
                <a:sym typeface="+mn-lt"/>
              </a:rPr>
              <a:t> </a:t>
            </a: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E1DFDCF2-EA9B-43E9-8CDF-39F67EF3FE32}"/>
              </a:ext>
            </a:extLst>
          </p:cNvPr>
          <p:cNvGrpSpPr/>
          <p:nvPr/>
        </p:nvGrpSpPr>
        <p:grpSpPr>
          <a:xfrm>
            <a:off x="559746" y="5083055"/>
            <a:ext cx="249054" cy="247765"/>
            <a:chOff x="545770" y="5028881"/>
            <a:chExt cx="542809" cy="540000"/>
          </a:xfrm>
        </p:grpSpPr>
        <p:sp>
          <p:nvSpPr>
            <p:cNvPr id="180" name="Oval 121">
              <a:extLst>
                <a:ext uri="{FF2B5EF4-FFF2-40B4-BE49-F238E27FC236}">
                  <a16:creationId xmlns:a16="http://schemas.microsoft.com/office/drawing/2014/main" id="{8BBAA6FB-03AD-4D85-B69E-0353954CE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770" y="5028881"/>
              <a:ext cx="467003" cy="464194"/>
            </a:xfrm>
            <a:prstGeom prst="ellips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1" name="Freeform 122">
              <a:extLst>
                <a:ext uri="{FF2B5EF4-FFF2-40B4-BE49-F238E27FC236}">
                  <a16:creationId xmlns:a16="http://schemas.microsoft.com/office/drawing/2014/main" id="{D8AAFE59-2F7B-41D2-A0BE-452BBE788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430" y="5367668"/>
              <a:ext cx="202149" cy="201213"/>
            </a:xfrm>
            <a:custGeom>
              <a:avLst/>
              <a:gdLst>
                <a:gd name="T0" fmla="*/ 40 w 72"/>
                <a:gd name="T1" fmla="*/ 0 h 72"/>
                <a:gd name="T2" fmla="*/ 61 w 72"/>
                <a:gd name="T3" fmla="*/ 21 h 72"/>
                <a:gd name="T4" fmla="*/ 61 w 72"/>
                <a:gd name="T5" fmla="*/ 61 h 72"/>
                <a:gd name="T6" fmla="*/ 21 w 72"/>
                <a:gd name="T7" fmla="*/ 61 h 72"/>
                <a:gd name="T8" fmla="*/ 0 w 72"/>
                <a:gd name="T9" fmla="*/ 4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72">
                  <a:moveTo>
                    <a:pt x="40" y="0"/>
                  </a:moveTo>
                  <a:cubicBezTo>
                    <a:pt x="61" y="21"/>
                    <a:pt x="61" y="21"/>
                    <a:pt x="61" y="21"/>
                  </a:cubicBezTo>
                  <a:cubicBezTo>
                    <a:pt x="72" y="32"/>
                    <a:pt x="72" y="50"/>
                    <a:pt x="61" y="61"/>
                  </a:cubicBezTo>
                  <a:cubicBezTo>
                    <a:pt x="50" y="72"/>
                    <a:pt x="32" y="72"/>
                    <a:pt x="21" y="61"/>
                  </a:cubicBezTo>
                  <a:cubicBezTo>
                    <a:pt x="0" y="40"/>
                    <a:pt x="0" y="40"/>
                    <a:pt x="0" y="4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2" name="Line 123">
              <a:extLst>
                <a:ext uri="{FF2B5EF4-FFF2-40B4-BE49-F238E27FC236}">
                  <a16:creationId xmlns:a16="http://schemas.microsoft.com/office/drawing/2014/main" id="{D75191B8-3C90-4A58-A75B-3F605E4B3E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30277" y="5356437"/>
              <a:ext cx="87037" cy="39307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3" name="Line 124">
              <a:extLst>
                <a:ext uri="{FF2B5EF4-FFF2-40B4-BE49-F238E27FC236}">
                  <a16:creationId xmlns:a16="http://schemas.microsoft.com/office/drawing/2014/main" id="{7E8E8E80-E40B-454A-A302-85CE3A2904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422" y="5356437"/>
              <a:ext cx="87973" cy="39307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4" name="Freeform 125">
              <a:extLst>
                <a:ext uri="{FF2B5EF4-FFF2-40B4-BE49-F238E27FC236}">
                  <a16:creationId xmlns:a16="http://schemas.microsoft.com/office/drawing/2014/main" id="{9564F46E-CFC6-45E7-9D72-B8A6ACCDF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809" y="5449089"/>
              <a:ext cx="19654" cy="111369"/>
            </a:xfrm>
            <a:custGeom>
              <a:avLst/>
              <a:gdLst>
                <a:gd name="T0" fmla="*/ 1 w 7"/>
                <a:gd name="T1" fmla="*/ 40 h 40"/>
                <a:gd name="T2" fmla="*/ 7 w 7"/>
                <a:gd name="T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" h="40">
                  <a:moveTo>
                    <a:pt x="1" y="40"/>
                  </a:moveTo>
                  <a:cubicBezTo>
                    <a:pt x="1" y="40"/>
                    <a:pt x="0" y="17"/>
                    <a:pt x="7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5" name="Freeform 126">
              <a:extLst>
                <a:ext uri="{FF2B5EF4-FFF2-40B4-BE49-F238E27FC236}">
                  <a16:creationId xmlns:a16="http://schemas.microsoft.com/office/drawing/2014/main" id="{9DB000C7-53A7-4763-A0BC-09A536449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586" y="5373283"/>
              <a:ext cx="78614" cy="50537"/>
            </a:xfrm>
            <a:custGeom>
              <a:avLst/>
              <a:gdLst>
                <a:gd name="T0" fmla="*/ 24 w 28"/>
                <a:gd name="T1" fmla="*/ 0 h 18"/>
                <a:gd name="T2" fmla="*/ 28 w 28"/>
                <a:gd name="T3" fmla="*/ 18 h 18"/>
                <a:gd name="T4" fmla="*/ 0 w 28"/>
                <a:gd name="T5" fmla="*/ 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18">
                  <a:moveTo>
                    <a:pt x="24" y="0"/>
                  </a:moveTo>
                  <a:cubicBezTo>
                    <a:pt x="28" y="18"/>
                    <a:pt x="28" y="18"/>
                    <a:pt x="28" y="18"/>
                  </a:cubicBezTo>
                  <a:cubicBezTo>
                    <a:pt x="8" y="13"/>
                    <a:pt x="0" y="6"/>
                    <a:pt x="0" y="6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6" name="Freeform 127">
              <a:extLst>
                <a:ext uri="{FF2B5EF4-FFF2-40B4-BE49-F238E27FC236}">
                  <a16:creationId xmlns:a16="http://schemas.microsoft.com/office/drawing/2014/main" id="{8835E5B0-6D42-48F1-AF09-615226DCF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280" y="5373283"/>
              <a:ext cx="78614" cy="50537"/>
            </a:xfrm>
            <a:custGeom>
              <a:avLst/>
              <a:gdLst>
                <a:gd name="T0" fmla="*/ 3 w 28"/>
                <a:gd name="T1" fmla="*/ 0 h 18"/>
                <a:gd name="T2" fmla="*/ 0 w 28"/>
                <a:gd name="T3" fmla="*/ 18 h 18"/>
                <a:gd name="T4" fmla="*/ 28 w 28"/>
                <a:gd name="T5" fmla="*/ 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18">
                  <a:moveTo>
                    <a:pt x="3" y="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20" y="13"/>
                    <a:pt x="28" y="6"/>
                    <a:pt x="28" y="6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7" name="Freeform 128">
              <a:extLst>
                <a:ext uri="{FF2B5EF4-FFF2-40B4-BE49-F238E27FC236}">
                  <a16:creationId xmlns:a16="http://schemas.microsoft.com/office/drawing/2014/main" id="{2FB52683-03AC-42CD-94B0-73AA79E7B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624" y="5526767"/>
              <a:ext cx="2808" cy="33692"/>
            </a:xfrm>
            <a:custGeom>
              <a:avLst/>
              <a:gdLst>
                <a:gd name="T0" fmla="*/ 0 w 1"/>
                <a:gd name="T1" fmla="*/ 0 h 12"/>
                <a:gd name="T2" fmla="*/ 1 w 1"/>
                <a:gd name="T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">
                  <a:moveTo>
                    <a:pt x="0" y="0"/>
                  </a:moveTo>
                  <a:cubicBezTo>
                    <a:pt x="1" y="5"/>
                    <a:pt x="1" y="10"/>
                    <a:pt x="1" y="12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8" name="Freeform 129">
              <a:extLst>
                <a:ext uri="{FF2B5EF4-FFF2-40B4-BE49-F238E27FC236}">
                  <a16:creationId xmlns:a16="http://schemas.microsoft.com/office/drawing/2014/main" id="{F87A9845-7D70-41A7-9379-FE0D8F933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586" y="5390129"/>
              <a:ext cx="19654" cy="58961"/>
            </a:xfrm>
            <a:custGeom>
              <a:avLst/>
              <a:gdLst>
                <a:gd name="T0" fmla="*/ 0 w 7"/>
                <a:gd name="T1" fmla="*/ 0 h 21"/>
                <a:gd name="T2" fmla="*/ 0 w 7"/>
                <a:gd name="T3" fmla="*/ 18 h 21"/>
                <a:gd name="T4" fmla="*/ 0 w 7"/>
                <a:gd name="T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21">
                  <a:moveTo>
                    <a:pt x="0" y="0"/>
                  </a:moveTo>
                  <a:cubicBezTo>
                    <a:pt x="0" y="0"/>
                    <a:pt x="7" y="11"/>
                    <a:pt x="0" y="18"/>
                  </a:cubicBezTo>
                  <a:cubicBezTo>
                    <a:pt x="0" y="18"/>
                    <a:pt x="0" y="19"/>
                    <a:pt x="0" y="21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9" name="Freeform 130">
              <a:extLst>
                <a:ext uri="{FF2B5EF4-FFF2-40B4-BE49-F238E27FC236}">
                  <a16:creationId xmlns:a16="http://schemas.microsoft.com/office/drawing/2014/main" id="{FC255EBB-8759-480A-A162-B77CBDA76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432" y="5390129"/>
              <a:ext cx="22461" cy="58961"/>
            </a:xfrm>
            <a:custGeom>
              <a:avLst/>
              <a:gdLst>
                <a:gd name="T0" fmla="*/ 7 w 8"/>
                <a:gd name="T1" fmla="*/ 21 h 21"/>
                <a:gd name="T2" fmla="*/ 8 w 8"/>
                <a:gd name="T3" fmla="*/ 18 h 21"/>
                <a:gd name="T4" fmla="*/ 8 w 8"/>
                <a:gd name="T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21">
                  <a:moveTo>
                    <a:pt x="7" y="21"/>
                  </a:moveTo>
                  <a:cubicBezTo>
                    <a:pt x="7" y="19"/>
                    <a:pt x="8" y="18"/>
                    <a:pt x="8" y="18"/>
                  </a:cubicBezTo>
                  <a:cubicBezTo>
                    <a:pt x="0" y="11"/>
                    <a:pt x="8" y="0"/>
                    <a:pt x="8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0" name="Freeform 131">
              <a:extLst>
                <a:ext uri="{FF2B5EF4-FFF2-40B4-BE49-F238E27FC236}">
                  <a16:creationId xmlns:a16="http://schemas.microsoft.com/office/drawing/2014/main" id="{07E1820C-3303-48BC-8C6D-6C86A5FDA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240" y="5526767"/>
              <a:ext cx="5615" cy="33692"/>
            </a:xfrm>
            <a:custGeom>
              <a:avLst/>
              <a:gdLst>
                <a:gd name="T0" fmla="*/ 0 w 2"/>
                <a:gd name="T1" fmla="*/ 12 h 12"/>
                <a:gd name="T2" fmla="*/ 2 w 2"/>
                <a:gd name="T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12">
                  <a:moveTo>
                    <a:pt x="0" y="12"/>
                  </a:moveTo>
                  <a:cubicBezTo>
                    <a:pt x="0" y="10"/>
                    <a:pt x="1" y="5"/>
                    <a:pt x="2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1" name="Freeform 132">
              <a:extLst>
                <a:ext uri="{FF2B5EF4-FFF2-40B4-BE49-F238E27FC236}">
                  <a16:creationId xmlns:a16="http://schemas.microsoft.com/office/drawing/2014/main" id="{B899BA44-791A-4C58-8D67-661BCCE7A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473" y="5104687"/>
              <a:ext cx="193727" cy="223674"/>
            </a:xfrm>
            <a:custGeom>
              <a:avLst/>
              <a:gdLst>
                <a:gd name="T0" fmla="*/ 47 w 69"/>
                <a:gd name="T1" fmla="*/ 80 h 80"/>
                <a:gd name="T2" fmla="*/ 68 w 69"/>
                <a:gd name="T3" fmla="*/ 42 h 80"/>
                <a:gd name="T4" fmla="*/ 65 w 69"/>
                <a:gd name="T5" fmla="*/ 17 h 80"/>
                <a:gd name="T6" fmla="*/ 48 w 69"/>
                <a:gd name="T7" fmla="*/ 2 h 80"/>
                <a:gd name="T8" fmla="*/ 35 w 69"/>
                <a:gd name="T9" fmla="*/ 0 h 80"/>
                <a:gd name="T10" fmla="*/ 22 w 69"/>
                <a:gd name="T11" fmla="*/ 2 h 80"/>
                <a:gd name="T12" fmla="*/ 4 w 69"/>
                <a:gd name="T13" fmla="*/ 17 h 80"/>
                <a:gd name="T14" fmla="*/ 1 w 69"/>
                <a:gd name="T15" fmla="*/ 42 h 80"/>
                <a:gd name="T16" fmla="*/ 22 w 69"/>
                <a:gd name="T17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" h="80">
                  <a:moveTo>
                    <a:pt x="47" y="80"/>
                  </a:moveTo>
                  <a:cubicBezTo>
                    <a:pt x="64" y="73"/>
                    <a:pt x="66" y="57"/>
                    <a:pt x="68" y="42"/>
                  </a:cubicBezTo>
                  <a:cubicBezTo>
                    <a:pt x="69" y="33"/>
                    <a:pt x="69" y="24"/>
                    <a:pt x="65" y="17"/>
                  </a:cubicBezTo>
                  <a:cubicBezTo>
                    <a:pt x="62" y="10"/>
                    <a:pt x="55" y="5"/>
                    <a:pt x="48" y="2"/>
                  </a:cubicBezTo>
                  <a:cubicBezTo>
                    <a:pt x="44" y="1"/>
                    <a:pt x="39" y="0"/>
                    <a:pt x="35" y="0"/>
                  </a:cubicBezTo>
                  <a:cubicBezTo>
                    <a:pt x="30" y="0"/>
                    <a:pt x="26" y="1"/>
                    <a:pt x="22" y="2"/>
                  </a:cubicBezTo>
                  <a:cubicBezTo>
                    <a:pt x="14" y="5"/>
                    <a:pt x="8" y="10"/>
                    <a:pt x="4" y="17"/>
                  </a:cubicBezTo>
                  <a:cubicBezTo>
                    <a:pt x="0" y="24"/>
                    <a:pt x="0" y="33"/>
                    <a:pt x="1" y="42"/>
                  </a:cubicBezTo>
                  <a:cubicBezTo>
                    <a:pt x="3" y="57"/>
                    <a:pt x="5" y="73"/>
                    <a:pt x="22" y="8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2" name="Freeform 133">
              <a:extLst>
                <a:ext uri="{FF2B5EF4-FFF2-40B4-BE49-F238E27FC236}">
                  <a16:creationId xmlns:a16="http://schemas.microsoft.com/office/drawing/2014/main" id="{0CA58E4C-49A6-4903-B615-DDA55B899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95" y="5319938"/>
              <a:ext cx="103883" cy="70191"/>
            </a:xfrm>
            <a:custGeom>
              <a:avLst/>
              <a:gdLst>
                <a:gd name="T0" fmla="*/ 37 w 37"/>
                <a:gd name="T1" fmla="*/ 0 h 25"/>
                <a:gd name="T2" fmla="*/ 37 w 37"/>
                <a:gd name="T3" fmla="*/ 6 h 25"/>
                <a:gd name="T4" fmla="*/ 19 w 37"/>
                <a:gd name="T5" fmla="*/ 25 h 25"/>
                <a:gd name="T6" fmla="*/ 19 w 37"/>
                <a:gd name="T7" fmla="*/ 25 h 25"/>
                <a:gd name="T8" fmla="*/ 0 w 37"/>
                <a:gd name="T9" fmla="*/ 6 h 25"/>
                <a:gd name="T10" fmla="*/ 0 w 37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25">
                  <a:moveTo>
                    <a:pt x="37" y="0"/>
                  </a:moveTo>
                  <a:cubicBezTo>
                    <a:pt x="37" y="6"/>
                    <a:pt x="37" y="6"/>
                    <a:pt x="37" y="6"/>
                  </a:cubicBezTo>
                  <a:cubicBezTo>
                    <a:pt x="37" y="17"/>
                    <a:pt x="29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9" y="25"/>
                    <a:pt x="0" y="17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EB7FD4A2-DFBC-4BC5-B0DB-E3815B80F651}"/>
              </a:ext>
            </a:extLst>
          </p:cNvPr>
          <p:cNvSpPr txBox="1">
            <a:spLocks/>
          </p:cNvSpPr>
          <p:nvPr/>
        </p:nvSpPr>
        <p:spPr>
          <a:xfrm>
            <a:off x="7959634" y="5093032"/>
            <a:ext cx="3677631" cy="24759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dirty="0">
                <a:sym typeface="+mn-lt"/>
              </a:rPr>
              <a:t>Не имеют права предоставлять данные сторонним организациям (напр. полиции, сотрудникам УК и проч.)</a:t>
            </a:r>
          </a:p>
        </p:txBody>
      </p: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E920BFB9-CF45-4A58-9994-978D34AED03B}"/>
              </a:ext>
            </a:extLst>
          </p:cNvPr>
          <p:cNvGrpSpPr/>
          <p:nvPr/>
        </p:nvGrpSpPr>
        <p:grpSpPr>
          <a:xfrm>
            <a:off x="7052725" y="5084537"/>
            <a:ext cx="244800" cy="244800"/>
            <a:chOff x="-611536" y="5064162"/>
            <a:chExt cx="396228" cy="396228"/>
          </a:xfrm>
        </p:grpSpPr>
        <p:sp>
          <p:nvSpPr>
            <p:cNvPr id="428" name="Oval 427">
              <a:extLst>
                <a:ext uri="{FF2B5EF4-FFF2-40B4-BE49-F238E27FC236}">
                  <a16:creationId xmlns:a16="http://schemas.microsoft.com/office/drawing/2014/main" id="{4B507F50-25CE-4EE3-99B3-E5130CACAA62}"/>
                </a:ext>
              </a:extLst>
            </p:cNvPr>
            <p:cNvSpPr/>
            <p:nvPr/>
          </p:nvSpPr>
          <p:spPr>
            <a:xfrm>
              <a:off x="-611536" y="506416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29" name="Graphic 377">
              <a:extLst>
                <a:ext uri="{FF2B5EF4-FFF2-40B4-BE49-F238E27FC236}">
                  <a16:creationId xmlns:a16="http://schemas.microsoft.com/office/drawing/2014/main" id="{C257D2E5-10FF-41D2-99E7-C4A3146696D4}"/>
                </a:ext>
              </a:extLst>
            </p:cNvPr>
            <p:cNvSpPr/>
            <p:nvPr/>
          </p:nvSpPr>
          <p:spPr>
            <a:xfrm>
              <a:off x="-522818" y="5167664"/>
              <a:ext cx="218792" cy="189225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12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EB559013-0ACB-451E-BF3A-2A2CE79CB536}"/>
              </a:ext>
            </a:extLst>
          </p:cNvPr>
          <p:cNvSpPr txBox="1">
            <a:spLocks/>
          </p:cNvSpPr>
          <p:nvPr/>
        </p:nvSpPr>
        <p:spPr>
          <a:xfrm>
            <a:off x="885393" y="4829224"/>
            <a:ext cx="2575560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b="1" dirty="0">
                <a:sym typeface="+mn-lt"/>
              </a:rPr>
              <a:t>Газоснабжение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2886300-23B0-42AC-87EA-1D0F77A70142}"/>
              </a:ext>
            </a:extLst>
          </p:cNvPr>
          <p:cNvSpPr txBox="1">
            <a:spLocks/>
          </p:cNvSpPr>
          <p:nvPr/>
        </p:nvSpPr>
        <p:spPr>
          <a:xfrm>
            <a:off x="3640492" y="4813835"/>
            <a:ext cx="1599353" cy="1538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r">
              <a:buNone/>
            </a:pPr>
            <a:r>
              <a:rPr lang="ru-RU" sz="1000" b="1" dirty="0">
                <a:solidFill>
                  <a:schemeClr val="accent3"/>
                </a:solidFill>
                <a:sym typeface="+mn-lt"/>
              </a:rPr>
              <a:t> 15 359</a:t>
            </a:r>
            <a:r>
              <a:rPr lang="en-US" sz="1000" b="1" dirty="0">
                <a:solidFill>
                  <a:schemeClr val="accent3"/>
                </a:solidFill>
                <a:sym typeface="+mn-lt"/>
              </a:rPr>
              <a:t> </a:t>
            </a:r>
            <a:r>
              <a:rPr lang="en-US" sz="1000" dirty="0">
                <a:sym typeface="+mn-lt"/>
              </a:rPr>
              <a:t>(2%)</a:t>
            </a:r>
            <a:r>
              <a:rPr lang="ru-RU" sz="1000" dirty="0">
                <a:sym typeface="+mn-lt"/>
              </a:rPr>
              <a:t>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EBDF77D-E4BA-4B5D-8D98-5852CF5923C8}"/>
              </a:ext>
            </a:extLst>
          </p:cNvPr>
          <p:cNvSpPr txBox="1">
            <a:spLocks/>
          </p:cNvSpPr>
          <p:nvPr/>
        </p:nvSpPr>
        <p:spPr>
          <a:xfrm>
            <a:off x="7959634" y="4844722"/>
            <a:ext cx="3677631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dirty="0">
                <a:sym typeface="+mn-lt"/>
              </a:rPr>
              <a:t>Мосгаз принимает заявки только напрямую от жителей</a:t>
            </a:r>
          </a:p>
        </p:txBody>
      </p: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45DA3FFA-0BCF-46A7-9B4C-BA67E652688D}"/>
              </a:ext>
            </a:extLst>
          </p:cNvPr>
          <p:cNvGrpSpPr/>
          <p:nvPr/>
        </p:nvGrpSpPr>
        <p:grpSpPr>
          <a:xfrm>
            <a:off x="7052725" y="4768379"/>
            <a:ext cx="244800" cy="244800"/>
            <a:chOff x="-611536" y="5064162"/>
            <a:chExt cx="396228" cy="396228"/>
          </a:xfrm>
        </p:grpSpPr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C1701B48-CE56-44AC-B47F-261F9B34E726}"/>
                </a:ext>
              </a:extLst>
            </p:cNvPr>
            <p:cNvSpPr/>
            <p:nvPr/>
          </p:nvSpPr>
          <p:spPr>
            <a:xfrm>
              <a:off x="-611536" y="506416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32" name="Graphic 377">
              <a:extLst>
                <a:ext uri="{FF2B5EF4-FFF2-40B4-BE49-F238E27FC236}">
                  <a16:creationId xmlns:a16="http://schemas.microsoft.com/office/drawing/2014/main" id="{FC3328D3-6B84-4019-A030-C1D7AA567FE7}"/>
                </a:ext>
              </a:extLst>
            </p:cNvPr>
            <p:cNvSpPr/>
            <p:nvPr/>
          </p:nvSpPr>
          <p:spPr>
            <a:xfrm>
              <a:off x="-522818" y="5167664"/>
              <a:ext cx="218792" cy="189225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12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9B060924-0466-4AF2-9899-8CB0D7BFCCD0}"/>
              </a:ext>
            </a:extLst>
          </p:cNvPr>
          <p:cNvGrpSpPr/>
          <p:nvPr/>
        </p:nvGrpSpPr>
        <p:grpSpPr>
          <a:xfrm>
            <a:off x="554734" y="4760661"/>
            <a:ext cx="259078" cy="260236"/>
            <a:chOff x="3125788" y="4295776"/>
            <a:chExt cx="711200" cy="714375"/>
          </a:xfrm>
        </p:grpSpPr>
        <p:sp>
          <p:nvSpPr>
            <p:cNvPr id="299" name="Freeform 24">
              <a:extLst>
                <a:ext uri="{FF2B5EF4-FFF2-40B4-BE49-F238E27FC236}">
                  <a16:creationId xmlns:a16="http://schemas.microsoft.com/office/drawing/2014/main" id="{4506CB3F-21B4-4CDA-9D28-AD2FD77FC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788" y="4295776"/>
              <a:ext cx="711200" cy="650875"/>
            </a:xfrm>
            <a:custGeom>
              <a:avLst/>
              <a:gdLst>
                <a:gd name="T0" fmla="*/ 135 w 190"/>
                <a:gd name="T1" fmla="*/ 167 h 174"/>
                <a:gd name="T2" fmla="*/ 142 w 190"/>
                <a:gd name="T3" fmla="*/ 168 h 174"/>
                <a:gd name="T4" fmla="*/ 145 w 190"/>
                <a:gd name="T5" fmla="*/ 172 h 174"/>
                <a:gd name="T6" fmla="*/ 154 w 190"/>
                <a:gd name="T7" fmla="*/ 172 h 174"/>
                <a:gd name="T8" fmla="*/ 171 w 190"/>
                <a:gd name="T9" fmla="*/ 154 h 174"/>
                <a:gd name="T10" fmla="*/ 171 w 190"/>
                <a:gd name="T11" fmla="*/ 145 h 174"/>
                <a:gd name="T12" fmla="*/ 168 w 190"/>
                <a:gd name="T13" fmla="*/ 142 h 174"/>
                <a:gd name="T14" fmla="*/ 167 w 190"/>
                <a:gd name="T15" fmla="*/ 136 h 174"/>
                <a:gd name="T16" fmla="*/ 174 w 190"/>
                <a:gd name="T17" fmla="*/ 118 h 174"/>
                <a:gd name="T18" fmla="*/ 180 w 190"/>
                <a:gd name="T19" fmla="*/ 114 h 174"/>
                <a:gd name="T20" fmla="*/ 184 w 190"/>
                <a:gd name="T21" fmla="*/ 114 h 174"/>
                <a:gd name="T22" fmla="*/ 190 w 190"/>
                <a:gd name="T23" fmla="*/ 108 h 174"/>
                <a:gd name="T24" fmla="*/ 190 w 190"/>
                <a:gd name="T25" fmla="*/ 83 h 174"/>
                <a:gd name="T26" fmla="*/ 184 w 190"/>
                <a:gd name="T27" fmla="*/ 77 h 174"/>
                <a:gd name="T28" fmla="*/ 180 w 190"/>
                <a:gd name="T29" fmla="*/ 77 h 174"/>
                <a:gd name="T30" fmla="*/ 174 w 190"/>
                <a:gd name="T31" fmla="*/ 73 h 174"/>
                <a:gd name="T32" fmla="*/ 167 w 190"/>
                <a:gd name="T33" fmla="*/ 55 h 174"/>
                <a:gd name="T34" fmla="*/ 168 w 190"/>
                <a:gd name="T35" fmla="*/ 48 h 174"/>
                <a:gd name="T36" fmla="*/ 171 w 190"/>
                <a:gd name="T37" fmla="*/ 45 h 174"/>
                <a:gd name="T38" fmla="*/ 171 w 190"/>
                <a:gd name="T39" fmla="*/ 37 h 174"/>
                <a:gd name="T40" fmla="*/ 154 w 190"/>
                <a:gd name="T41" fmla="*/ 19 h 174"/>
                <a:gd name="T42" fmla="*/ 145 w 190"/>
                <a:gd name="T43" fmla="*/ 19 h 174"/>
                <a:gd name="T44" fmla="*/ 142 w 190"/>
                <a:gd name="T45" fmla="*/ 22 h 174"/>
                <a:gd name="T46" fmla="*/ 135 w 190"/>
                <a:gd name="T47" fmla="*/ 24 h 174"/>
                <a:gd name="T48" fmla="*/ 117 w 190"/>
                <a:gd name="T49" fmla="*/ 16 h 174"/>
                <a:gd name="T50" fmla="*/ 113 w 190"/>
                <a:gd name="T51" fmla="*/ 10 h 174"/>
                <a:gd name="T52" fmla="*/ 113 w 190"/>
                <a:gd name="T53" fmla="*/ 6 h 174"/>
                <a:gd name="T54" fmla="*/ 107 w 190"/>
                <a:gd name="T55" fmla="*/ 0 h 174"/>
                <a:gd name="T56" fmla="*/ 83 w 190"/>
                <a:gd name="T57" fmla="*/ 0 h 174"/>
                <a:gd name="T58" fmla="*/ 77 w 190"/>
                <a:gd name="T59" fmla="*/ 6 h 174"/>
                <a:gd name="T60" fmla="*/ 77 w 190"/>
                <a:gd name="T61" fmla="*/ 10 h 174"/>
                <a:gd name="T62" fmla="*/ 73 w 190"/>
                <a:gd name="T63" fmla="*/ 16 h 174"/>
                <a:gd name="T64" fmla="*/ 55 w 190"/>
                <a:gd name="T65" fmla="*/ 24 h 174"/>
                <a:gd name="T66" fmla="*/ 48 w 190"/>
                <a:gd name="T67" fmla="*/ 22 h 174"/>
                <a:gd name="T68" fmla="*/ 45 w 190"/>
                <a:gd name="T69" fmla="*/ 19 h 174"/>
                <a:gd name="T70" fmla="*/ 36 w 190"/>
                <a:gd name="T71" fmla="*/ 19 h 174"/>
                <a:gd name="T72" fmla="*/ 19 w 190"/>
                <a:gd name="T73" fmla="*/ 37 h 174"/>
                <a:gd name="T74" fmla="*/ 19 w 190"/>
                <a:gd name="T75" fmla="*/ 45 h 174"/>
                <a:gd name="T76" fmla="*/ 22 w 190"/>
                <a:gd name="T77" fmla="*/ 48 h 174"/>
                <a:gd name="T78" fmla="*/ 23 w 190"/>
                <a:gd name="T79" fmla="*/ 55 h 174"/>
                <a:gd name="T80" fmla="*/ 16 w 190"/>
                <a:gd name="T81" fmla="*/ 73 h 174"/>
                <a:gd name="T82" fmla="*/ 10 w 190"/>
                <a:gd name="T83" fmla="*/ 77 h 174"/>
                <a:gd name="T84" fmla="*/ 6 w 190"/>
                <a:gd name="T85" fmla="*/ 77 h 174"/>
                <a:gd name="T86" fmla="*/ 0 w 190"/>
                <a:gd name="T87" fmla="*/ 83 h 174"/>
                <a:gd name="T88" fmla="*/ 0 w 190"/>
                <a:gd name="T89" fmla="*/ 108 h 174"/>
                <a:gd name="T90" fmla="*/ 6 w 190"/>
                <a:gd name="T91" fmla="*/ 114 h 174"/>
                <a:gd name="T92" fmla="*/ 10 w 190"/>
                <a:gd name="T93" fmla="*/ 114 h 174"/>
                <a:gd name="T94" fmla="*/ 16 w 190"/>
                <a:gd name="T95" fmla="*/ 118 h 174"/>
                <a:gd name="T96" fmla="*/ 23 w 190"/>
                <a:gd name="T97" fmla="*/ 136 h 174"/>
                <a:gd name="T98" fmla="*/ 22 w 190"/>
                <a:gd name="T99" fmla="*/ 142 h 174"/>
                <a:gd name="T100" fmla="*/ 19 w 190"/>
                <a:gd name="T101" fmla="*/ 145 h 174"/>
                <a:gd name="T102" fmla="*/ 19 w 190"/>
                <a:gd name="T103" fmla="*/ 154 h 174"/>
                <a:gd name="T104" fmla="*/ 36 w 190"/>
                <a:gd name="T105" fmla="*/ 172 h 174"/>
                <a:gd name="T106" fmla="*/ 45 w 190"/>
                <a:gd name="T107" fmla="*/ 172 h 174"/>
                <a:gd name="T108" fmla="*/ 48 w 190"/>
                <a:gd name="T109" fmla="*/ 168 h 174"/>
                <a:gd name="T110" fmla="*/ 55 w 190"/>
                <a:gd name="T111" fmla="*/ 167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0" h="174">
                  <a:moveTo>
                    <a:pt x="135" y="167"/>
                  </a:moveTo>
                  <a:cubicBezTo>
                    <a:pt x="138" y="166"/>
                    <a:pt x="140" y="167"/>
                    <a:pt x="142" y="168"/>
                  </a:cubicBezTo>
                  <a:cubicBezTo>
                    <a:pt x="145" y="172"/>
                    <a:pt x="145" y="172"/>
                    <a:pt x="145" y="172"/>
                  </a:cubicBezTo>
                  <a:cubicBezTo>
                    <a:pt x="147" y="174"/>
                    <a:pt x="151" y="174"/>
                    <a:pt x="154" y="172"/>
                  </a:cubicBezTo>
                  <a:cubicBezTo>
                    <a:pt x="171" y="154"/>
                    <a:pt x="171" y="154"/>
                    <a:pt x="171" y="154"/>
                  </a:cubicBezTo>
                  <a:cubicBezTo>
                    <a:pt x="174" y="152"/>
                    <a:pt x="174" y="148"/>
                    <a:pt x="171" y="145"/>
                  </a:cubicBezTo>
                  <a:cubicBezTo>
                    <a:pt x="168" y="142"/>
                    <a:pt x="168" y="142"/>
                    <a:pt x="168" y="142"/>
                  </a:cubicBezTo>
                  <a:cubicBezTo>
                    <a:pt x="166" y="141"/>
                    <a:pt x="166" y="138"/>
                    <a:pt x="167" y="136"/>
                  </a:cubicBezTo>
                  <a:cubicBezTo>
                    <a:pt x="174" y="118"/>
                    <a:pt x="174" y="118"/>
                    <a:pt x="174" y="118"/>
                  </a:cubicBezTo>
                  <a:cubicBezTo>
                    <a:pt x="175" y="115"/>
                    <a:pt x="177" y="114"/>
                    <a:pt x="180" y="114"/>
                  </a:cubicBezTo>
                  <a:cubicBezTo>
                    <a:pt x="184" y="114"/>
                    <a:pt x="184" y="114"/>
                    <a:pt x="184" y="114"/>
                  </a:cubicBezTo>
                  <a:cubicBezTo>
                    <a:pt x="188" y="114"/>
                    <a:pt x="190" y="111"/>
                    <a:pt x="190" y="108"/>
                  </a:cubicBezTo>
                  <a:cubicBezTo>
                    <a:pt x="190" y="83"/>
                    <a:pt x="190" y="83"/>
                    <a:pt x="190" y="83"/>
                  </a:cubicBezTo>
                  <a:cubicBezTo>
                    <a:pt x="190" y="80"/>
                    <a:pt x="188" y="77"/>
                    <a:pt x="184" y="77"/>
                  </a:cubicBezTo>
                  <a:cubicBezTo>
                    <a:pt x="180" y="77"/>
                    <a:pt x="180" y="77"/>
                    <a:pt x="180" y="77"/>
                  </a:cubicBezTo>
                  <a:cubicBezTo>
                    <a:pt x="177" y="77"/>
                    <a:pt x="175" y="75"/>
                    <a:pt x="174" y="73"/>
                  </a:cubicBezTo>
                  <a:cubicBezTo>
                    <a:pt x="167" y="55"/>
                    <a:pt x="167" y="55"/>
                    <a:pt x="167" y="55"/>
                  </a:cubicBezTo>
                  <a:cubicBezTo>
                    <a:pt x="166" y="53"/>
                    <a:pt x="166" y="50"/>
                    <a:pt x="168" y="48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74" y="43"/>
                    <a:pt x="174" y="39"/>
                    <a:pt x="171" y="37"/>
                  </a:cubicBezTo>
                  <a:cubicBezTo>
                    <a:pt x="154" y="19"/>
                    <a:pt x="154" y="19"/>
                    <a:pt x="154" y="19"/>
                  </a:cubicBezTo>
                  <a:cubicBezTo>
                    <a:pt x="151" y="17"/>
                    <a:pt x="147" y="17"/>
                    <a:pt x="145" y="19"/>
                  </a:cubicBezTo>
                  <a:cubicBezTo>
                    <a:pt x="142" y="22"/>
                    <a:pt x="142" y="22"/>
                    <a:pt x="142" y="22"/>
                  </a:cubicBezTo>
                  <a:cubicBezTo>
                    <a:pt x="140" y="24"/>
                    <a:pt x="138" y="25"/>
                    <a:pt x="135" y="24"/>
                  </a:cubicBezTo>
                  <a:cubicBezTo>
                    <a:pt x="117" y="16"/>
                    <a:pt x="117" y="16"/>
                    <a:pt x="117" y="16"/>
                  </a:cubicBezTo>
                  <a:cubicBezTo>
                    <a:pt x="115" y="15"/>
                    <a:pt x="113" y="13"/>
                    <a:pt x="113" y="10"/>
                  </a:cubicBezTo>
                  <a:cubicBezTo>
                    <a:pt x="113" y="6"/>
                    <a:pt x="113" y="6"/>
                    <a:pt x="113" y="6"/>
                  </a:cubicBezTo>
                  <a:cubicBezTo>
                    <a:pt x="113" y="3"/>
                    <a:pt x="111" y="0"/>
                    <a:pt x="10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79" y="0"/>
                    <a:pt x="77" y="3"/>
                    <a:pt x="77" y="6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3"/>
                    <a:pt x="75" y="15"/>
                    <a:pt x="73" y="16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2" y="25"/>
                    <a:pt x="50" y="24"/>
                    <a:pt x="48" y="22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3" y="17"/>
                    <a:pt x="39" y="17"/>
                    <a:pt x="36" y="19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6" y="39"/>
                    <a:pt x="16" y="43"/>
                    <a:pt x="19" y="45"/>
                  </a:cubicBezTo>
                  <a:cubicBezTo>
                    <a:pt x="22" y="48"/>
                    <a:pt x="22" y="48"/>
                    <a:pt x="22" y="48"/>
                  </a:cubicBezTo>
                  <a:cubicBezTo>
                    <a:pt x="24" y="50"/>
                    <a:pt x="24" y="53"/>
                    <a:pt x="23" y="55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15" y="75"/>
                    <a:pt x="13" y="77"/>
                    <a:pt x="10" y="77"/>
                  </a:cubicBezTo>
                  <a:cubicBezTo>
                    <a:pt x="6" y="77"/>
                    <a:pt x="6" y="77"/>
                    <a:pt x="6" y="77"/>
                  </a:cubicBezTo>
                  <a:cubicBezTo>
                    <a:pt x="2" y="77"/>
                    <a:pt x="0" y="80"/>
                    <a:pt x="0" y="83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2" y="114"/>
                    <a:pt x="6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3" y="114"/>
                    <a:pt x="15" y="115"/>
                    <a:pt x="16" y="118"/>
                  </a:cubicBezTo>
                  <a:cubicBezTo>
                    <a:pt x="23" y="136"/>
                    <a:pt x="23" y="136"/>
                    <a:pt x="23" y="136"/>
                  </a:cubicBezTo>
                  <a:cubicBezTo>
                    <a:pt x="24" y="138"/>
                    <a:pt x="24" y="141"/>
                    <a:pt x="22" y="142"/>
                  </a:cubicBezTo>
                  <a:cubicBezTo>
                    <a:pt x="19" y="145"/>
                    <a:pt x="19" y="145"/>
                    <a:pt x="19" y="145"/>
                  </a:cubicBezTo>
                  <a:cubicBezTo>
                    <a:pt x="16" y="148"/>
                    <a:pt x="16" y="152"/>
                    <a:pt x="19" y="154"/>
                  </a:cubicBezTo>
                  <a:cubicBezTo>
                    <a:pt x="36" y="172"/>
                    <a:pt x="36" y="172"/>
                    <a:pt x="36" y="172"/>
                  </a:cubicBezTo>
                  <a:cubicBezTo>
                    <a:pt x="39" y="174"/>
                    <a:pt x="43" y="174"/>
                    <a:pt x="45" y="172"/>
                  </a:cubicBezTo>
                  <a:cubicBezTo>
                    <a:pt x="48" y="168"/>
                    <a:pt x="48" y="168"/>
                    <a:pt x="48" y="168"/>
                  </a:cubicBezTo>
                  <a:cubicBezTo>
                    <a:pt x="50" y="167"/>
                    <a:pt x="52" y="166"/>
                    <a:pt x="55" y="167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1" name="Freeform 25">
              <a:extLst>
                <a:ext uri="{FF2B5EF4-FFF2-40B4-BE49-F238E27FC236}">
                  <a16:creationId xmlns:a16="http://schemas.microsoft.com/office/drawing/2014/main" id="{88B03D89-73A5-4A6E-A2FA-AE1BF0B8B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013" y="4445001"/>
              <a:ext cx="412750" cy="363538"/>
            </a:xfrm>
            <a:custGeom>
              <a:avLst/>
              <a:gdLst>
                <a:gd name="T0" fmla="*/ 18 w 110"/>
                <a:gd name="T1" fmla="*/ 97 h 97"/>
                <a:gd name="T2" fmla="*/ 0 w 110"/>
                <a:gd name="T3" fmla="*/ 55 h 97"/>
                <a:gd name="T4" fmla="*/ 55 w 110"/>
                <a:gd name="T5" fmla="*/ 0 h 97"/>
                <a:gd name="T6" fmla="*/ 110 w 110"/>
                <a:gd name="T7" fmla="*/ 55 h 97"/>
                <a:gd name="T8" fmla="*/ 92 w 110"/>
                <a:gd name="T9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97">
                  <a:moveTo>
                    <a:pt x="18" y="97"/>
                  </a:moveTo>
                  <a:cubicBezTo>
                    <a:pt x="7" y="87"/>
                    <a:pt x="0" y="72"/>
                    <a:pt x="0" y="55"/>
                  </a:cubicBezTo>
                  <a:cubicBezTo>
                    <a:pt x="0" y="25"/>
                    <a:pt x="24" y="0"/>
                    <a:pt x="55" y="0"/>
                  </a:cubicBezTo>
                  <a:cubicBezTo>
                    <a:pt x="86" y="0"/>
                    <a:pt x="110" y="25"/>
                    <a:pt x="110" y="55"/>
                  </a:cubicBezTo>
                  <a:cubicBezTo>
                    <a:pt x="110" y="72"/>
                    <a:pt x="103" y="87"/>
                    <a:pt x="92" y="97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2" name="Freeform 26">
              <a:extLst>
                <a:ext uri="{FF2B5EF4-FFF2-40B4-BE49-F238E27FC236}">
                  <a16:creationId xmlns:a16="http://schemas.microsoft.com/office/drawing/2014/main" id="{750182C4-AE89-4596-8D4F-5EF7F0251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9938" y="4676776"/>
              <a:ext cx="127000" cy="333375"/>
            </a:xfrm>
            <a:custGeom>
              <a:avLst/>
              <a:gdLst>
                <a:gd name="T0" fmla="*/ 0 w 80"/>
                <a:gd name="T1" fmla="*/ 210 h 210"/>
                <a:gd name="T2" fmla="*/ 56 w 80"/>
                <a:gd name="T3" fmla="*/ 210 h 210"/>
                <a:gd name="T4" fmla="*/ 80 w 80"/>
                <a:gd name="T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0" h="210">
                  <a:moveTo>
                    <a:pt x="0" y="210"/>
                  </a:moveTo>
                  <a:lnTo>
                    <a:pt x="56" y="210"/>
                  </a:lnTo>
                  <a:lnTo>
                    <a:pt x="80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3" name="Freeform 27">
              <a:extLst>
                <a:ext uri="{FF2B5EF4-FFF2-40B4-BE49-F238E27FC236}">
                  <a16:creationId xmlns:a16="http://schemas.microsoft.com/office/drawing/2014/main" id="{E5F83F3F-5D7B-49F7-B2CC-41A2D4D06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838" y="4676776"/>
              <a:ext cx="128588" cy="333375"/>
            </a:xfrm>
            <a:custGeom>
              <a:avLst/>
              <a:gdLst>
                <a:gd name="T0" fmla="*/ 81 w 81"/>
                <a:gd name="T1" fmla="*/ 210 h 210"/>
                <a:gd name="T2" fmla="*/ 24 w 81"/>
                <a:gd name="T3" fmla="*/ 210 h 210"/>
                <a:gd name="T4" fmla="*/ 0 w 81"/>
                <a:gd name="T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" h="210">
                  <a:moveTo>
                    <a:pt x="81" y="210"/>
                  </a:moveTo>
                  <a:lnTo>
                    <a:pt x="24" y="210"/>
                  </a:lnTo>
                  <a:lnTo>
                    <a:pt x="0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3" name="Freeform 28">
              <a:extLst>
                <a:ext uri="{FF2B5EF4-FFF2-40B4-BE49-F238E27FC236}">
                  <a16:creationId xmlns:a16="http://schemas.microsoft.com/office/drawing/2014/main" id="{18757EB5-809A-4240-AF75-208372C46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826" y="4756151"/>
              <a:ext cx="138113" cy="254000"/>
            </a:xfrm>
            <a:custGeom>
              <a:avLst/>
              <a:gdLst>
                <a:gd name="T0" fmla="*/ 87 w 87"/>
                <a:gd name="T1" fmla="*/ 160 h 160"/>
                <a:gd name="T2" fmla="*/ 0 w 87"/>
                <a:gd name="T3" fmla="*/ 66 h 160"/>
                <a:gd name="T4" fmla="*/ 63 w 87"/>
                <a:gd name="T5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7" h="160">
                  <a:moveTo>
                    <a:pt x="87" y="160"/>
                  </a:moveTo>
                  <a:lnTo>
                    <a:pt x="0" y="66"/>
                  </a:lnTo>
                  <a:lnTo>
                    <a:pt x="63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4" name="Freeform 29">
              <a:extLst>
                <a:ext uri="{FF2B5EF4-FFF2-40B4-BE49-F238E27FC236}">
                  <a16:creationId xmlns:a16="http://schemas.microsoft.com/office/drawing/2014/main" id="{18CBBC09-83C1-4735-A973-C0D51833E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113" y="4538663"/>
              <a:ext cx="82550" cy="90488"/>
            </a:xfrm>
            <a:custGeom>
              <a:avLst/>
              <a:gdLst>
                <a:gd name="T0" fmla="*/ 3 w 22"/>
                <a:gd name="T1" fmla="*/ 24 h 24"/>
                <a:gd name="T2" fmla="*/ 0 w 22"/>
                <a:gd name="T3" fmla="*/ 17 h 24"/>
                <a:gd name="T4" fmla="*/ 11 w 22"/>
                <a:gd name="T5" fmla="*/ 0 h 24"/>
                <a:gd name="T6" fmla="*/ 22 w 22"/>
                <a:gd name="T7" fmla="*/ 17 h 24"/>
                <a:gd name="T8" fmla="*/ 19 w 22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4">
                  <a:moveTo>
                    <a:pt x="3" y="24"/>
                  </a:moveTo>
                  <a:cubicBezTo>
                    <a:pt x="1" y="22"/>
                    <a:pt x="0" y="20"/>
                    <a:pt x="0" y="17"/>
                  </a:cubicBezTo>
                  <a:cubicBezTo>
                    <a:pt x="0" y="11"/>
                    <a:pt x="11" y="0"/>
                    <a:pt x="11" y="0"/>
                  </a:cubicBezTo>
                  <a:cubicBezTo>
                    <a:pt x="11" y="0"/>
                    <a:pt x="22" y="11"/>
                    <a:pt x="22" y="17"/>
                  </a:cubicBezTo>
                  <a:cubicBezTo>
                    <a:pt x="22" y="20"/>
                    <a:pt x="21" y="22"/>
                    <a:pt x="19" y="24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5" name="Line 30">
              <a:extLst>
                <a:ext uri="{FF2B5EF4-FFF2-40B4-BE49-F238E27FC236}">
                  <a16:creationId xmlns:a16="http://schemas.microsoft.com/office/drawing/2014/main" id="{D30A3ACC-7506-4BF5-A62A-9B2058297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8838" y="4676776"/>
              <a:ext cx="165100" cy="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23" name="Rectangle 322">
            <a:extLst>
              <a:ext uri="{FF2B5EF4-FFF2-40B4-BE49-F238E27FC236}">
                <a16:creationId xmlns:a16="http://schemas.microsoft.com/office/drawing/2014/main" id="{B0C0E0B0-9BE0-4AE7-B520-A510F60242AE}"/>
              </a:ext>
            </a:extLst>
          </p:cNvPr>
          <p:cNvSpPr/>
          <p:nvPr/>
        </p:nvSpPr>
        <p:spPr>
          <a:xfrm rot="5400000">
            <a:off x="5022860" y="1551860"/>
            <a:ext cx="589846" cy="203202"/>
          </a:xfrm>
          <a:prstGeom prst="rect">
            <a:avLst/>
          </a:prstGeom>
          <a:gradFill flip="none" rotWithShape="1">
            <a:gsLst>
              <a:gs pos="1200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6FC260D-6540-4B9B-BE81-9489B8E248B9}"/>
              </a:ext>
            </a:extLst>
          </p:cNvPr>
          <p:cNvSpPr/>
          <p:nvPr/>
        </p:nvSpPr>
        <p:spPr>
          <a:xfrm rot="16200000" flipH="1">
            <a:off x="7586328" y="1551861"/>
            <a:ext cx="589847" cy="203202"/>
          </a:xfrm>
          <a:prstGeom prst="rect">
            <a:avLst/>
          </a:prstGeom>
          <a:gradFill flip="none" rotWithShape="1">
            <a:gsLst>
              <a:gs pos="1200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E97C6D-2138-467C-B645-7595D9252EDC}"/>
              </a:ext>
            </a:extLst>
          </p:cNvPr>
          <p:cNvSpPr txBox="1">
            <a:spLocks/>
          </p:cNvSpPr>
          <p:nvPr/>
        </p:nvSpPr>
        <p:spPr>
          <a:xfrm>
            <a:off x="7959634" y="1762109"/>
            <a:ext cx="3677631" cy="138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Clr>
                <a:srgbClr val="FFFFFF"/>
              </a:buClr>
              <a:buNone/>
            </a:pPr>
            <a:r>
              <a:rPr lang="ru-RU" sz="900" b="1" dirty="0">
                <a:solidFill>
                  <a:srgbClr val="FFFFFF"/>
                </a:solidFill>
                <a:sym typeface="+mn-lt"/>
              </a:rPr>
              <a:t>Комментарии</a:t>
            </a:r>
            <a:endParaRPr lang="ru-RU" sz="900" dirty="0">
              <a:solidFill>
                <a:srgbClr val="FFFFFF"/>
              </a:solidFill>
              <a:sym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1E692C-0552-4642-8582-D7E12878168D}"/>
              </a:ext>
            </a:extLst>
          </p:cNvPr>
          <p:cNvSpPr txBox="1">
            <a:spLocks/>
          </p:cNvSpPr>
          <p:nvPr/>
        </p:nvSpPr>
        <p:spPr>
          <a:xfrm>
            <a:off x="3640492" y="1485110"/>
            <a:ext cx="1599353" cy="4154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Clr>
                <a:srgbClr val="FFFFFF"/>
              </a:buClr>
              <a:buNone/>
            </a:pPr>
            <a:r>
              <a:rPr lang="ru-RU" sz="900" b="1" dirty="0">
                <a:solidFill>
                  <a:srgbClr val="FFFFFF"/>
                </a:solidFill>
                <a:sym typeface="+mn-lt"/>
              </a:rPr>
              <a:t>Количество обращений без разрешения, </a:t>
            </a:r>
            <a:br>
              <a:rPr lang="ru-RU" sz="900" b="1" dirty="0">
                <a:solidFill>
                  <a:srgbClr val="FFFFFF"/>
                </a:solidFill>
                <a:sym typeface="+mn-lt"/>
              </a:rPr>
            </a:br>
            <a:r>
              <a:rPr lang="ru-RU" sz="900" dirty="0">
                <a:solidFill>
                  <a:srgbClr val="FFFFFF"/>
                </a:solidFill>
                <a:sym typeface="+mn-lt"/>
              </a:rPr>
              <a:t>штук в год</a:t>
            </a:r>
            <a:r>
              <a:rPr lang="ru-RU" sz="900" baseline="30000" dirty="0">
                <a:solidFill>
                  <a:srgbClr val="FFFFFF"/>
                </a:solidFill>
                <a:sym typeface="+mn-lt"/>
              </a:rPr>
              <a:t>1</a:t>
            </a:r>
            <a:r>
              <a:rPr lang="en-US" sz="900" dirty="0">
                <a:solidFill>
                  <a:srgbClr val="FFFFFF"/>
                </a:solidFill>
                <a:sym typeface="+mn-lt"/>
              </a:rPr>
              <a:t> (% </a:t>
            </a:r>
            <a:r>
              <a:rPr lang="ru-RU" sz="900" dirty="0">
                <a:solidFill>
                  <a:srgbClr val="FFFFFF"/>
                </a:solidFill>
                <a:sym typeface="+mn-lt"/>
              </a:rPr>
              <a:t>от общего) </a:t>
            </a:r>
          </a:p>
        </p:txBody>
      </p:sp>
      <p:sp>
        <p:nvSpPr>
          <p:cNvPr id="268" name="4. Footnote">
            <a:extLst>
              <a:ext uri="{FF2B5EF4-FFF2-40B4-BE49-F238E27FC236}">
                <a16:creationId xmlns:a16="http://schemas.microsoft.com/office/drawing/2014/main" id="{70DEDCBF-C08C-4E27-9AB9-22363A2F20F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a typeface="+mn-ea"/>
                <a:cs typeface="+mn-cs"/>
                <a:sym typeface="+mn-lt"/>
              </a:rPr>
              <a:t>1.	Анализ на основе периода сентябрь 2020 - сентябрь 2021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98215F-0AF2-4BB8-81AA-F42446DEA70A}"/>
              </a:ext>
            </a:extLst>
          </p:cNvPr>
          <p:cNvSpPr txBox="1">
            <a:spLocks/>
          </p:cNvSpPr>
          <p:nvPr/>
        </p:nvSpPr>
        <p:spPr>
          <a:xfrm>
            <a:off x="885393" y="2660669"/>
            <a:ext cx="2575560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b="1" dirty="0">
                <a:sym typeface="+mn-lt"/>
              </a:rPr>
              <a:t>Телеантенны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3F1240-7E64-4877-AF19-2AEE00F1458D}"/>
              </a:ext>
            </a:extLst>
          </p:cNvPr>
          <p:cNvSpPr txBox="1">
            <a:spLocks/>
          </p:cNvSpPr>
          <p:nvPr/>
        </p:nvSpPr>
        <p:spPr>
          <a:xfrm>
            <a:off x="3640492" y="2645280"/>
            <a:ext cx="1599353" cy="1538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r">
              <a:buNone/>
            </a:pPr>
            <a:r>
              <a:rPr lang="ru-RU" sz="1000" b="1" dirty="0">
                <a:solidFill>
                  <a:schemeClr val="accent3"/>
                </a:solidFill>
                <a:sym typeface="+mn-lt"/>
              </a:rPr>
              <a:t> 74 614</a:t>
            </a:r>
            <a:r>
              <a:rPr lang="en-US" sz="1000" b="1" dirty="0">
                <a:solidFill>
                  <a:schemeClr val="accent3"/>
                </a:solidFill>
                <a:sym typeface="+mn-lt"/>
              </a:rPr>
              <a:t> </a:t>
            </a:r>
            <a:r>
              <a:rPr lang="en-US" sz="1000" dirty="0">
                <a:sym typeface="+mn-lt"/>
              </a:rPr>
              <a:t>(8%)</a:t>
            </a:r>
            <a:r>
              <a:rPr lang="ru-RU" sz="1000" dirty="0">
                <a:sym typeface="+mn-lt"/>
              </a:rPr>
              <a:t> 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383B7AB-2859-47A3-8398-776BB793834E}"/>
              </a:ext>
            </a:extLst>
          </p:cNvPr>
          <p:cNvGrpSpPr/>
          <p:nvPr/>
        </p:nvGrpSpPr>
        <p:grpSpPr>
          <a:xfrm>
            <a:off x="563435" y="2596219"/>
            <a:ext cx="241677" cy="252010"/>
            <a:chOff x="3314700" y="663575"/>
            <a:chExt cx="668338" cy="696913"/>
          </a:xfrm>
        </p:grpSpPr>
        <p:sp>
          <p:nvSpPr>
            <p:cNvPr id="167" name="Freeform 28">
              <a:extLst>
                <a:ext uri="{FF2B5EF4-FFF2-40B4-BE49-F238E27FC236}">
                  <a16:creationId xmlns:a16="http://schemas.microsoft.com/office/drawing/2014/main" id="{CF3E60A6-804C-4CF5-B433-814BE19F1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413" y="765175"/>
              <a:ext cx="401638" cy="446088"/>
            </a:xfrm>
            <a:custGeom>
              <a:avLst/>
              <a:gdLst>
                <a:gd name="T0" fmla="*/ 118 w 144"/>
                <a:gd name="T1" fmla="*/ 95 h 160"/>
                <a:gd name="T2" fmla="*/ 136 w 144"/>
                <a:gd name="T3" fmla="*/ 151 h 160"/>
                <a:gd name="T4" fmla="*/ 54 w 144"/>
                <a:gd name="T5" fmla="*/ 95 h 160"/>
                <a:gd name="T6" fmla="*/ 11 w 144"/>
                <a:gd name="T7" fmla="*/ 6 h 160"/>
                <a:gd name="T8" fmla="*/ 61 w 144"/>
                <a:gd name="T9" fmla="*/ 3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160">
                  <a:moveTo>
                    <a:pt x="118" y="95"/>
                  </a:moveTo>
                  <a:cubicBezTo>
                    <a:pt x="136" y="122"/>
                    <a:pt x="144" y="144"/>
                    <a:pt x="136" y="151"/>
                  </a:cubicBezTo>
                  <a:cubicBezTo>
                    <a:pt x="126" y="160"/>
                    <a:pt x="89" y="135"/>
                    <a:pt x="54" y="95"/>
                  </a:cubicBezTo>
                  <a:cubicBezTo>
                    <a:pt x="20" y="55"/>
                    <a:pt x="0" y="15"/>
                    <a:pt x="11" y="6"/>
                  </a:cubicBezTo>
                  <a:cubicBezTo>
                    <a:pt x="18" y="0"/>
                    <a:pt x="38" y="10"/>
                    <a:pt x="61" y="30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8" name="Freeform 29">
              <a:extLst>
                <a:ext uri="{FF2B5EF4-FFF2-40B4-BE49-F238E27FC236}">
                  <a16:creationId xmlns:a16="http://schemas.microsoft.com/office/drawing/2014/main" id="{AFE46067-B877-4C82-B6A3-96AFCA04C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113" y="1182688"/>
              <a:ext cx="242888" cy="80963"/>
            </a:xfrm>
            <a:custGeom>
              <a:avLst/>
              <a:gdLst>
                <a:gd name="T0" fmla="*/ 0 w 87"/>
                <a:gd name="T1" fmla="*/ 23 h 29"/>
                <a:gd name="T2" fmla="*/ 87 w 87"/>
                <a:gd name="T3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7" h="29">
                  <a:moveTo>
                    <a:pt x="0" y="23"/>
                  </a:moveTo>
                  <a:cubicBezTo>
                    <a:pt x="29" y="29"/>
                    <a:pt x="62" y="21"/>
                    <a:pt x="87" y="0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9" name="Freeform 30">
              <a:extLst>
                <a:ext uri="{FF2B5EF4-FFF2-40B4-BE49-F238E27FC236}">
                  <a16:creationId xmlns:a16="http://schemas.microsoft.com/office/drawing/2014/main" id="{0D49C4DF-23AA-4D5C-A71C-1060FE4BC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813" y="781050"/>
              <a:ext cx="131763" cy="376238"/>
            </a:xfrm>
            <a:custGeom>
              <a:avLst/>
              <a:gdLst>
                <a:gd name="T0" fmla="*/ 47 w 47"/>
                <a:gd name="T1" fmla="*/ 0 h 135"/>
                <a:gd name="T2" fmla="*/ 33 w 47"/>
                <a:gd name="T3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" h="135">
                  <a:moveTo>
                    <a:pt x="47" y="0"/>
                  </a:moveTo>
                  <a:cubicBezTo>
                    <a:pt x="6" y="35"/>
                    <a:pt x="0" y="95"/>
                    <a:pt x="33" y="135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0" name="Freeform 31">
              <a:extLst>
                <a:ext uri="{FF2B5EF4-FFF2-40B4-BE49-F238E27FC236}">
                  <a16:creationId xmlns:a16="http://schemas.microsoft.com/office/drawing/2014/main" id="{B0C6FC94-9131-41F2-8989-3B49DFC68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1063" y="939800"/>
              <a:ext cx="7938" cy="103188"/>
            </a:xfrm>
            <a:custGeom>
              <a:avLst/>
              <a:gdLst>
                <a:gd name="T0" fmla="*/ 3 w 3"/>
                <a:gd name="T1" fmla="*/ 0 h 37"/>
                <a:gd name="T2" fmla="*/ 1 w 3"/>
                <a:gd name="T3" fmla="*/ 12 h 37"/>
                <a:gd name="T4" fmla="*/ 3 w 3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7">
                  <a:moveTo>
                    <a:pt x="3" y="0"/>
                  </a:moveTo>
                  <a:cubicBezTo>
                    <a:pt x="2" y="4"/>
                    <a:pt x="2" y="8"/>
                    <a:pt x="1" y="12"/>
                  </a:cubicBezTo>
                  <a:cubicBezTo>
                    <a:pt x="0" y="21"/>
                    <a:pt x="1" y="29"/>
                    <a:pt x="3" y="37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1" name="Freeform 32">
              <a:extLst>
                <a:ext uri="{FF2B5EF4-FFF2-40B4-BE49-F238E27FC236}">
                  <a16:creationId xmlns:a16="http://schemas.microsoft.com/office/drawing/2014/main" id="{DF8A5D27-C414-41B1-9978-598C6099F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538" y="742950"/>
              <a:ext cx="111125" cy="127000"/>
            </a:xfrm>
            <a:custGeom>
              <a:avLst/>
              <a:gdLst>
                <a:gd name="T0" fmla="*/ 0 w 40"/>
                <a:gd name="T1" fmla="*/ 0 h 46"/>
                <a:gd name="T2" fmla="*/ 29 w 40"/>
                <a:gd name="T3" fmla="*/ 16 h 46"/>
                <a:gd name="T4" fmla="*/ 39 w 40"/>
                <a:gd name="T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46">
                  <a:moveTo>
                    <a:pt x="0" y="0"/>
                  </a:moveTo>
                  <a:cubicBezTo>
                    <a:pt x="11" y="2"/>
                    <a:pt x="21" y="7"/>
                    <a:pt x="29" y="16"/>
                  </a:cubicBezTo>
                  <a:cubicBezTo>
                    <a:pt x="36" y="25"/>
                    <a:pt x="40" y="35"/>
                    <a:pt x="39" y="46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2" name="Freeform 33">
              <a:extLst>
                <a:ext uri="{FF2B5EF4-FFF2-40B4-BE49-F238E27FC236}">
                  <a16:creationId xmlns:a16="http://schemas.microsoft.com/office/drawing/2014/main" id="{CBEC8202-73DA-44B4-B7C4-CE7444CAB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00" y="663575"/>
              <a:ext cx="173038" cy="204788"/>
            </a:xfrm>
            <a:custGeom>
              <a:avLst/>
              <a:gdLst>
                <a:gd name="T0" fmla="*/ 0 w 62"/>
                <a:gd name="T1" fmla="*/ 0 h 73"/>
                <a:gd name="T2" fmla="*/ 45 w 62"/>
                <a:gd name="T3" fmla="*/ 25 h 73"/>
                <a:gd name="T4" fmla="*/ 62 w 62"/>
                <a:gd name="T5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" h="73">
                  <a:moveTo>
                    <a:pt x="0" y="0"/>
                  </a:moveTo>
                  <a:cubicBezTo>
                    <a:pt x="17" y="3"/>
                    <a:pt x="33" y="11"/>
                    <a:pt x="45" y="25"/>
                  </a:cubicBezTo>
                  <a:cubicBezTo>
                    <a:pt x="57" y="39"/>
                    <a:pt x="62" y="56"/>
                    <a:pt x="62" y="73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3" name="Line 34">
              <a:extLst>
                <a:ext uri="{FF2B5EF4-FFF2-40B4-BE49-F238E27FC236}">
                  <a16:creationId xmlns:a16="http://schemas.microsoft.com/office/drawing/2014/main" id="{F76FC70F-2840-4F46-A361-3D37D82D75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825" y="881063"/>
              <a:ext cx="180975" cy="2540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4" name="Line 35">
              <a:extLst>
                <a:ext uri="{FF2B5EF4-FFF2-40B4-BE49-F238E27FC236}">
                  <a16:creationId xmlns:a16="http://schemas.microsoft.com/office/drawing/2014/main" id="{20F4A0BA-541B-4259-94CF-86337BB9AB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3000" y="909638"/>
              <a:ext cx="68263" cy="150813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5" name="Freeform 36">
              <a:extLst>
                <a:ext uri="{FF2B5EF4-FFF2-40B4-BE49-F238E27FC236}">
                  <a16:creationId xmlns:a16="http://schemas.microsoft.com/office/drawing/2014/main" id="{448F5B56-53D9-4664-A903-5C463F4A7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038" y="1120775"/>
              <a:ext cx="257175" cy="239713"/>
            </a:xfrm>
            <a:custGeom>
              <a:avLst/>
              <a:gdLst>
                <a:gd name="T0" fmla="*/ 92 w 92"/>
                <a:gd name="T1" fmla="*/ 86 h 86"/>
                <a:gd name="T2" fmla="*/ 68 w 92"/>
                <a:gd name="T3" fmla="*/ 17 h 86"/>
                <a:gd name="T4" fmla="*/ 46 w 92"/>
                <a:gd name="T5" fmla="*/ 0 h 86"/>
                <a:gd name="T6" fmla="*/ 24 w 92"/>
                <a:gd name="T7" fmla="*/ 17 h 86"/>
                <a:gd name="T8" fmla="*/ 0 w 92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6">
                  <a:moveTo>
                    <a:pt x="92" y="86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5" y="8"/>
                    <a:pt x="55" y="0"/>
                    <a:pt x="46" y="0"/>
                  </a:cubicBezTo>
                  <a:cubicBezTo>
                    <a:pt x="37" y="0"/>
                    <a:pt x="27" y="8"/>
                    <a:pt x="24" y="17"/>
                  </a:cubicBezTo>
                  <a:cubicBezTo>
                    <a:pt x="0" y="86"/>
                    <a:pt x="0" y="86"/>
                    <a:pt x="0" y="86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6" name="Line 37">
              <a:extLst>
                <a:ext uri="{FF2B5EF4-FFF2-40B4-BE49-F238E27FC236}">
                  <a16:creationId xmlns:a16="http://schemas.microsoft.com/office/drawing/2014/main" id="{BFCFD864-4FBB-4713-9AE0-EE43E76AD2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700" y="1360488"/>
              <a:ext cx="333375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7" name="Freeform 38">
              <a:extLst>
                <a:ext uri="{FF2B5EF4-FFF2-40B4-BE49-F238E27FC236}">
                  <a16:creationId xmlns:a16="http://schemas.microsoft.com/office/drawing/2014/main" id="{CC680BC9-27D8-4944-8A31-E22A63DFC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625" y="823913"/>
              <a:ext cx="95250" cy="96838"/>
            </a:xfrm>
            <a:custGeom>
              <a:avLst/>
              <a:gdLst>
                <a:gd name="T0" fmla="*/ 33 w 34"/>
                <a:gd name="T1" fmla="*/ 19 h 35"/>
                <a:gd name="T2" fmla="*/ 15 w 34"/>
                <a:gd name="T3" fmla="*/ 33 h 35"/>
                <a:gd name="T4" fmla="*/ 1 w 34"/>
                <a:gd name="T5" fmla="*/ 15 h 35"/>
                <a:gd name="T6" fmla="*/ 19 w 34"/>
                <a:gd name="T7" fmla="*/ 1 h 35"/>
                <a:gd name="T8" fmla="*/ 33 w 34"/>
                <a:gd name="T9" fmla="*/ 1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5">
                  <a:moveTo>
                    <a:pt x="33" y="19"/>
                  </a:moveTo>
                  <a:cubicBezTo>
                    <a:pt x="32" y="28"/>
                    <a:pt x="24" y="35"/>
                    <a:pt x="15" y="33"/>
                  </a:cubicBezTo>
                  <a:cubicBezTo>
                    <a:pt x="6" y="32"/>
                    <a:pt x="0" y="24"/>
                    <a:pt x="1" y="15"/>
                  </a:cubicBezTo>
                  <a:cubicBezTo>
                    <a:pt x="2" y="6"/>
                    <a:pt x="10" y="0"/>
                    <a:pt x="19" y="1"/>
                  </a:cubicBezTo>
                  <a:cubicBezTo>
                    <a:pt x="28" y="2"/>
                    <a:pt x="34" y="11"/>
                    <a:pt x="33" y="19"/>
                  </a:cubicBez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8" name="Oval 39">
              <a:extLst>
                <a:ext uri="{FF2B5EF4-FFF2-40B4-BE49-F238E27FC236}">
                  <a16:creationId xmlns:a16="http://schemas.microsoft.com/office/drawing/2014/main" id="{441D4C8B-77C5-4F5F-BB64-DE9EDEFF2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513" y="1189038"/>
              <a:ext cx="20638" cy="15875"/>
            </a:xfrm>
            <a:prstGeom prst="ellips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33155937-04CA-4B81-921B-DBAB4F97D7DB}"/>
              </a:ext>
            </a:extLst>
          </p:cNvPr>
          <p:cNvSpPr txBox="1">
            <a:spLocks/>
          </p:cNvSpPr>
          <p:nvPr/>
        </p:nvSpPr>
        <p:spPr>
          <a:xfrm>
            <a:off x="7959634" y="2599114"/>
            <a:ext cx="36776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800" dirty="0">
                <a:sym typeface="+mn-lt"/>
              </a:rPr>
              <a:t>Отсутствует информация по обслуживающим организациям, операторы (Ростелеком и пр.) не принимают заявки через ЕДЦ</a:t>
            </a: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69AF09DA-2ABA-4EBB-B1D2-3BD6C73BE65A}"/>
              </a:ext>
            </a:extLst>
          </p:cNvPr>
          <p:cNvGrpSpPr/>
          <p:nvPr/>
        </p:nvGrpSpPr>
        <p:grpSpPr>
          <a:xfrm>
            <a:off x="7052725" y="2599824"/>
            <a:ext cx="244800" cy="244800"/>
            <a:chOff x="-611536" y="5064162"/>
            <a:chExt cx="396228" cy="396228"/>
          </a:xfrm>
        </p:grpSpPr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6C1EBA3C-125C-4A99-8C6B-88B262C8A8A1}"/>
                </a:ext>
              </a:extLst>
            </p:cNvPr>
            <p:cNvSpPr/>
            <p:nvPr/>
          </p:nvSpPr>
          <p:spPr>
            <a:xfrm>
              <a:off x="-611536" y="506416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5" name="Graphic 377">
              <a:extLst>
                <a:ext uri="{FF2B5EF4-FFF2-40B4-BE49-F238E27FC236}">
                  <a16:creationId xmlns:a16="http://schemas.microsoft.com/office/drawing/2014/main" id="{EFA73E5B-C82F-4C57-AABD-257CD87A3A92}"/>
                </a:ext>
              </a:extLst>
            </p:cNvPr>
            <p:cNvSpPr/>
            <p:nvPr/>
          </p:nvSpPr>
          <p:spPr>
            <a:xfrm>
              <a:off x="-522818" y="5167664"/>
              <a:ext cx="218792" cy="189225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12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FAB677F5-65CC-4FF0-8A9C-EE49A16BA7DB}"/>
              </a:ext>
            </a:extLst>
          </p:cNvPr>
          <p:cNvGrpSpPr/>
          <p:nvPr/>
        </p:nvGrpSpPr>
        <p:grpSpPr>
          <a:xfrm>
            <a:off x="5901511" y="2599824"/>
            <a:ext cx="244800" cy="244800"/>
            <a:chOff x="-611536" y="5064162"/>
            <a:chExt cx="396228" cy="396228"/>
          </a:xfrm>
        </p:grpSpPr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4FC343E6-FFB9-48E7-8F96-320A0A7B191F}"/>
                </a:ext>
              </a:extLst>
            </p:cNvPr>
            <p:cNvSpPr/>
            <p:nvPr/>
          </p:nvSpPr>
          <p:spPr>
            <a:xfrm>
              <a:off x="-611536" y="506416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19" name="Graphic 377">
              <a:extLst>
                <a:ext uri="{FF2B5EF4-FFF2-40B4-BE49-F238E27FC236}">
                  <a16:creationId xmlns:a16="http://schemas.microsoft.com/office/drawing/2014/main" id="{40A234C6-8C0A-4D25-8BB3-F87C85E7463F}"/>
                </a:ext>
              </a:extLst>
            </p:cNvPr>
            <p:cNvSpPr/>
            <p:nvPr/>
          </p:nvSpPr>
          <p:spPr>
            <a:xfrm>
              <a:off x="-522818" y="5167664"/>
              <a:ext cx="218792" cy="189225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12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3612817-098D-4EF5-8B3A-1DF0147386FF}"/>
              </a:ext>
            </a:extLst>
          </p:cNvPr>
          <p:cNvGrpSpPr/>
          <p:nvPr/>
        </p:nvGrpSpPr>
        <p:grpSpPr>
          <a:xfrm>
            <a:off x="562010" y="1019079"/>
            <a:ext cx="2432353" cy="184666"/>
            <a:chOff x="8478210" y="1019079"/>
            <a:chExt cx="2432353" cy="184666"/>
          </a:xfrm>
        </p:grpSpPr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E0FE6170-870F-494F-A820-3302F0227DE1}"/>
                </a:ext>
              </a:extLst>
            </p:cNvPr>
            <p:cNvSpPr/>
            <p:nvPr/>
          </p:nvSpPr>
          <p:spPr>
            <a:xfrm>
              <a:off x="8478210" y="1032978"/>
              <a:ext cx="255336" cy="156869"/>
            </a:xfrm>
            <a:prstGeom prst="rect">
              <a:avLst/>
            </a:prstGeom>
            <a:solidFill>
              <a:schemeClr val="accent1">
                <a:lumMod val="90000"/>
              </a:schemeClr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E91E2A-F0EF-42A3-A360-2480F8D43791}"/>
                </a:ext>
              </a:extLst>
            </p:cNvPr>
            <p:cNvSpPr txBox="1"/>
            <p:nvPr/>
          </p:nvSpPr>
          <p:spPr>
            <a:xfrm>
              <a:off x="8851477" y="1019079"/>
              <a:ext cx="2059086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600" dirty="0"/>
                <a:t>Текущий и целевой процессы по данной категории обращений детализированы далее</a:t>
              </a:r>
            </a:p>
          </p:txBody>
        </p:sp>
      </p:grpSp>
      <p:sp>
        <p:nvSpPr>
          <p:cNvPr id="325" name="TrackerAlphaBlue">
            <a:extLst>
              <a:ext uri="{FF2B5EF4-FFF2-40B4-BE49-F238E27FC236}">
                <a16:creationId xmlns:a16="http://schemas.microsoft.com/office/drawing/2014/main" id="{0FA34EBC-F1D2-48E5-B35D-FEDB2264D6E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82048" y="1980494"/>
            <a:ext cx="216669" cy="21666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</a:p>
        </p:txBody>
      </p:sp>
      <p:sp>
        <p:nvSpPr>
          <p:cNvPr id="326" name="TrackerAlphaBlue">
            <a:extLst>
              <a:ext uri="{FF2B5EF4-FFF2-40B4-BE49-F238E27FC236}">
                <a16:creationId xmlns:a16="http://schemas.microsoft.com/office/drawing/2014/main" id="{450276AB-7E51-4294-9D3D-EAC7A9FE5BB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75746" y="2596704"/>
            <a:ext cx="216669" cy="21666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000" b="1" dirty="0">
                <a:solidFill>
                  <a:schemeClr val="bg1"/>
                </a:solidFill>
                <a:sym typeface="+mn-lt"/>
              </a:rPr>
              <a:t>Б</a:t>
            </a:r>
            <a:endParaRPr lang="en-US" sz="10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99353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E9A24DF3-2E7C-41F4-9F1A-FD13CA08D63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51470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79" name="think-cell Slide" r:id="rId17" imgW="395" imgH="396" progId="TCLayout.ActiveDocument.1">
                  <p:embed/>
                </p:oleObj>
              </mc:Choice>
              <mc:Fallback>
                <p:oleObj name="think-cell Slide" r:id="rId17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9A24DF3-2E7C-41F4-9F1A-FD13CA08D6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TextBox 79">
            <a:extLst>
              <a:ext uri="{FF2B5EF4-FFF2-40B4-BE49-F238E27FC236}">
                <a16:creationId xmlns:a16="http://schemas.microsoft.com/office/drawing/2014/main" id="{84E9AC13-6045-4B53-95ED-9C79758EECE7}"/>
              </a:ext>
            </a:extLst>
          </p:cNvPr>
          <p:cNvSpPr txBox="1">
            <a:spLocks/>
          </p:cNvSpPr>
          <p:nvPr/>
        </p:nvSpPr>
        <p:spPr>
          <a:xfrm>
            <a:off x="0" y="1269143"/>
            <a:ext cx="12192000" cy="391815"/>
          </a:xfrm>
          <a:prstGeom prst="rect">
            <a:avLst/>
          </a:prstGeom>
          <a:solidFill>
            <a:schemeClr val="accent6"/>
          </a:solidFill>
        </p:spPr>
        <p:txBody>
          <a:bodyPr vert="horz" wrap="square" lIns="76200" tIns="76200" rIns="76200" bIns="7620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endParaRPr lang="ru-RU" sz="1800" b="1" dirty="0">
              <a:solidFill>
                <a:srgbClr val="FFFFFF"/>
              </a:solidFill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B40A4718-1FC5-4B57-852D-1CD41E92ECF6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19150" y="305832"/>
            <a:ext cx="10818112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Обработка обращений по графику работы УК</a:t>
            </a:r>
          </a:p>
        </p:txBody>
      </p:sp>
      <p:sp>
        <p:nvSpPr>
          <p:cNvPr id="7" name="TrackerAlphaBlue">
            <a:extLst>
              <a:ext uri="{FF2B5EF4-FFF2-40B4-BE49-F238E27FC236}">
                <a16:creationId xmlns:a16="http://schemas.microsoft.com/office/drawing/2014/main" id="{3F615F71-1DAD-4D7F-A29D-0C38F09C4B7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4412" y="211698"/>
            <a:ext cx="471667" cy="471667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2600" b="1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CFB0A0-8034-4665-9470-77C301DD38AA}"/>
              </a:ext>
            </a:extLst>
          </p:cNvPr>
          <p:cNvSpPr txBox="1"/>
          <p:nvPr/>
        </p:nvSpPr>
        <p:spPr>
          <a:xfrm>
            <a:off x="554737" y="1372717"/>
            <a:ext cx="411010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200" b="1" dirty="0">
                <a:solidFill>
                  <a:srgbClr val="FFFFFF"/>
                </a:solidFill>
              </a:rPr>
              <a:t>ТЕКУЩИЙ ПРОЦЕСС ОБРАБОТКИ ОБРАЩЕНИЙ</a:t>
            </a:r>
          </a:p>
        </p:txBody>
      </p:sp>
      <p:cxnSp>
        <p:nvCxnSpPr>
          <p:cNvPr id="126" name="LineSpecialityArrow 73">
            <a:extLst>
              <a:ext uri="{FF2B5EF4-FFF2-40B4-BE49-F238E27FC236}">
                <a16:creationId xmlns:a16="http://schemas.microsoft.com/office/drawing/2014/main" id="{F3DBE577-8F42-40D3-9EC1-6E9E099A8548}"/>
              </a:ext>
            </a:extLst>
          </p:cNvPr>
          <p:cNvCxnSpPr>
            <a:cxnSpLocks/>
            <a:stCxn id="201" idx="3"/>
            <a:endCxn id="209" idx="1"/>
          </p:cNvCxnSpPr>
          <p:nvPr>
            <p:custDataLst>
              <p:tags r:id="rId5"/>
            </p:custDataLst>
          </p:nvPr>
        </p:nvCxnSpPr>
        <p:spPr>
          <a:xfrm flipV="1">
            <a:off x="3975803" y="2692049"/>
            <a:ext cx="416237" cy="1089400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LineSpecialityArrow 73">
            <a:extLst>
              <a:ext uri="{FF2B5EF4-FFF2-40B4-BE49-F238E27FC236}">
                <a16:creationId xmlns:a16="http://schemas.microsoft.com/office/drawing/2014/main" id="{384E3A63-F615-4C10-9016-11ECA859E72B}"/>
              </a:ext>
            </a:extLst>
          </p:cNvPr>
          <p:cNvCxnSpPr>
            <a:cxnSpLocks/>
            <a:stCxn id="201" idx="3"/>
            <a:endCxn id="248" idx="1"/>
          </p:cNvCxnSpPr>
          <p:nvPr>
            <p:custDataLst>
              <p:tags r:id="rId6"/>
            </p:custDataLst>
          </p:nvPr>
        </p:nvCxnSpPr>
        <p:spPr>
          <a:xfrm>
            <a:off x="3975803" y="3781449"/>
            <a:ext cx="538319" cy="1309912"/>
          </a:xfrm>
          <a:prstGeom prst="bentConnector3">
            <a:avLst>
              <a:gd name="adj1" fmla="val 38892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LineSpecialityArrow 73">
            <a:extLst>
              <a:ext uri="{FF2B5EF4-FFF2-40B4-BE49-F238E27FC236}">
                <a16:creationId xmlns:a16="http://schemas.microsoft.com/office/drawing/2014/main" id="{668DEB11-A167-434B-B0DE-0528F919CF9B}"/>
              </a:ext>
            </a:extLst>
          </p:cNvPr>
          <p:cNvCxnSpPr>
            <a:cxnSpLocks/>
            <a:stCxn id="210" idx="3"/>
            <a:endCxn id="196" idx="1"/>
          </p:cNvCxnSpPr>
          <p:nvPr>
            <p:custDataLst>
              <p:tags r:id="rId7"/>
            </p:custDataLst>
          </p:nvPr>
        </p:nvCxnSpPr>
        <p:spPr>
          <a:xfrm flipV="1">
            <a:off x="5900779" y="2328402"/>
            <a:ext cx="328944" cy="363647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LineSpecialityArrow 73">
            <a:extLst>
              <a:ext uri="{FF2B5EF4-FFF2-40B4-BE49-F238E27FC236}">
                <a16:creationId xmlns:a16="http://schemas.microsoft.com/office/drawing/2014/main" id="{F2419DA1-1150-421C-A5A1-B0F12EA934F5}"/>
              </a:ext>
            </a:extLst>
          </p:cNvPr>
          <p:cNvCxnSpPr>
            <a:cxnSpLocks/>
            <a:stCxn id="210" idx="3"/>
            <a:endCxn id="171" idx="1"/>
          </p:cNvCxnSpPr>
          <p:nvPr>
            <p:custDataLst>
              <p:tags r:id="rId8"/>
            </p:custDataLst>
          </p:nvPr>
        </p:nvCxnSpPr>
        <p:spPr>
          <a:xfrm>
            <a:off x="5900779" y="2692049"/>
            <a:ext cx="328943" cy="649233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AE207DA5-02F3-4F73-A9E1-F2457D57A0A6}"/>
              </a:ext>
            </a:extLst>
          </p:cNvPr>
          <p:cNvSpPr txBox="1">
            <a:spLocks/>
          </p:cNvSpPr>
          <p:nvPr/>
        </p:nvSpPr>
        <p:spPr>
          <a:xfrm>
            <a:off x="5754340" y="2219921"/>
            <a:ext cx="237244" cy="15388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Да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78E20BD-F2C3-42FC-BBD5-AE989AF84196}"/>
              </a:ext>
            </a:extLst>
          </p:cNvPr>
          <p:cNvSpPr txBox="1">
            <a:spLocks/>
          </p:cNvSpPr>
          <p:nvPr/>
        </p:nvSpPr>
        <p:spPr>
          <a:xfrm>
            <a:off x="5754340" y="3142319"/>
            <a:ext cx="237244" cy="15388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Нет</a:t>
            </a: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1D1495FD-5E42-4212-AFDF-E490EC58759D}"/>
              </a:ext>
            </a:extLst>
          </p:cNvPr>
          <p:cNvSpPr>
            <a:spLocks/>
          </p:cNvSpPr>
          <p:nvPr/>
        </p:nvSpPr>
        <p:spPr>
          <a:xfrm rot="2700000">
            <a:off x="2613506" y="3225119"/>
            <a:ext cx="1128563" cy="1128563"/>
          </a:xfrm>
          <a:prstGeom prst="roundRect">
            <a:avLst>
              <a:gd name="adj" fmla="val 11756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180000" rIns="36000" bIns="1188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000" b="1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FEED693-17D5-4D72-8730-43B5453F7BC5}"/>
              </a:ext>
            </a:extLst>
          </p:cNvPr>
          <p:cNvSpPr/>
          <p:nvPr/>
        </p:nvSpPr>
        <p:spPr>
          <a:xfrm>
            <a:off x="6229724" y="1900352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573E3991-DE80-4C81-855A-DF1F0F36785C}"/>
              </a:ext>
            </a:extLst>
          </p:cNvPr>
          <p:cNvSpPr>
            <a:spLocks/>
          </p:cNvSpPr>
          <p:nvPr/>
        </p:nvSpPr>
        <p:spPr>
          <a:xfrm>
            <a:off x="6229722" y="2882981"/>
            <a:ext cx="2325217" cy="916601"/>
          </a:xfrm>
          <a:prstGeom prst="roundRect">
            <a:avLst>
              <a:gd name="adj" fmla="val 11148"/>
            </a:avLst>
          </a:prstGeom>
          <a:solidFill>
            <a:srgbClr val="E6E6E6">
              <a:alpha val="50000"/>
            </a:srgbClr>
          </a:solidFill>
          <a:ln w="9525" cap="sq">
            <a:solidFill>
              <a:srgbClr val="F2F2F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EAE1AE8-2F8B-45A9-B1D9-CADD8919DB68}"/>
              </a:ext>
            </a:extLst>
          </p:cNvPr>
          <p:cNvSpPr txBox="1">
            <a:spLocks/>
          </p:cNvSpPr>
          <p:nvPr/>
        </p:nvSpPr>
        <p:spPr>
          <a:xfrm>
            <a:off x="6319758" y="2983949"/>
            <a:ext cx="1974394" cy="6047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Жителю предоставляется информация общего характера, не учитывающая различия в графика между районными ГДУ «Жилищник»</a:t>
            </a:r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4ADBFF0C-6E35-4EF6-8A2E-0805ED5C55C6}"/>
              </a:ext>
            </a:extLst>
          </p:cNvPr>
          <p:cNvSpPr>
            <a:spLocks/>
          </p:cNvSpPr>
          <p:nvPr/>
        </p:nvSpPr>
        <p:spPr>
          <a:xfrm>
            <a:off x="6229723" y="1934001"/>
            <a:ext cx="2357002" cy="788801"/>
          </a:xfrm>
          <a:prstGeom prst="roundRect">
            <a:avLst>
              <a:gd name="adj" fmla="val 11148"/>
            </a:avLst>
          </a:prstGeom>
          <a:solidFill>
            <a:srgbClr val="E6E6E6">
              <a:alpha val="50000"/>
            </a:srgbClr>
          </a:solidFill>
          <a:ln w="9525" cap="sq">
            <a:solidFill>
              <a:srgbClr val="F2F2F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F15D68D-535B-4D90-8EC7-06B790B62825}"/>
              </a:ext>
            </a:extLst>
          </p:cNvPr>
          <p:cNvSpPr txBox="1">
            <a:spLocks/>
          </p:cNvSpPr>
          <p:nvPr/>
        </p:nvSpPr>
        <p:spPr>
          <a:xfrm>
            <a:off x="6319758" y="2006681"/>
            <a:ext cx="2285152" cy="6724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Актуальная информация по работе различных ГБУ «Жилищник» в нерабочие дни отсутствует у ЕДЦ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0390F368-4B0D-4188-A74C-ADD78AB3185D}"/>
              </a:ext>
            </a:extLst>
          </p:cNvPr>
          <p:cNvSpPr/>
          <p:nvPr/>
        </p:nvSpPr>
        <p:spPr>
          <a:xfrm>
            <a:off x="3655444" y="3621269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42013DE9-D950-4735-926C-793A5D7184CB}"/>
              </a:ext>
            </a:extLst>
          </p:cNvPr>
          <p:cNvSpPr/>
          <p:nvPr/>
        </p:nvSpPr>
        <p:spPr>
          <a:xfrm>
            <a:off x="2379772" y="3621269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D2EE91C1-1FDC-47BE-8C68-59200A5FADD7}"/>
              </a:ext>
            </a:extLst>
          </p:cNvPr>
          <p:cNvSpPr txBox="1"/>
          <p:nvPr/>
        </p:nvSpPr>
        <p:spPr>
          <a:xfrm>
            <a:off x="2586401" y="3396728"/>
            <a:ext cx="1182772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ru-RU" sz="1000" b="1" dirty="0"/>
              <a:t>Дом </a:t>
            </a:r>
            <a:br>
              <a:rPr lang="en-US" sz="1000" b="1" dirty="0"/>
            </a:br>
            <a:r>
              <a:rPr lang="ru-RU" sz="1000" b="1" dirty="0"/>
              <a:t>обслужи</a:t>
            </a:r>
            <a:r>
              <a:rPr lang="en-US" sz="1000" b="1" dirty="0"/>
              <a:t>-</a:t>
            </a:r>
            <a:r>
              <a:rPr lang="ru-RU" sz="1000" b="1" dirty="0"/>
              <a:t>вается ГБУ "Жилищник"</a:t>
            </a:r>
            <a:br>
              <a:rPr lang="en-US" sz="1000" b="1" dirty="0"/>
            </a:br>
            <a:r>
              <a:rPr lang="ru-RU" sz="1000" b="1" dirty="0"/>
              <a:t>?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AC776FA5-628D-4FD8-B142-7156C5005A2D}"/>
              </a:ext>
            </a:extLst>
          </p:cNvPr>
          <p:cNvSpPr/>
          <p:nvPr/>
        </p:nvSpPr>
        <p:spPr>
          <a:xfrm>
            <a:off x="4392040" y="2531869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67EFEA0F-64D7-4E7C-986F-770612006FD7}"/>
              </a:ext>
            </a:extLst>
          </p:cNvPr>
          <p:cNvSpPr/>
          <p:nvPr/>
        </p:nvSpPr>
        <p:spPr>
          <a:xfrm>
            <a:off x="5580420" y="2531869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1076D48B-339B-45D4-AB56-57ED4A1618BC}"/>
              </a:ext>
            </a:extLst>
          </p:cNvPr>
          <p:cNvSpPr>
            <a:spLocks/>
          </p:cNvSpPr>
          <p:nvPr/>
        </p:nvSpPr>
        <p:spPr>
          <a:xfrm rot="2700000">
            <a:off x="4538482" y="2127767"/>
            <a:ext cx="1128563" cy="1128563"/>
          </a:xfrm>
          <a:prstGeom prst="roundRect">
            <a:avLst>
              <a:gd name="adj" fmla="val 15030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180000" rIns="36000" bIns="1188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000" b="1" dirty="0">
              <a:cs typeface="Arial" panose="020B0604020202020204" pitchFamily="34" charset="0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BF98C816-4B28-4B0D-921C-CFF9B9C7EB99}"/>
              </a:ext>
            </a:extLst>
          </p:cNvPr>
          <p:cNvSpPr txBox="1"/>
          <p:nvPr/>
        </p:nvSpPr>
        <p:spPr>
          <a:xfrm>
            <a:off x="4552220" y="2307328"/>
            <a:ext cx="1101087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b="1" dirty="0"/>
              <a:t>Вопрос </a:t>
            </a:r>
            <a:br>
              <a:rPr lang="en-US" sz="1000" b="1" dirty="0"/>
            </a:br>
            <a:r>
              <a:rPr lang="ru-RU" sz="1000" b="1" dirty="0"/>
              <a:t>по графику работы в нерабочие дни</a:t>
            </a:r>
            <a:r>
              <a:rPr lang="ru-RU" sz="1000" b="1" baseline="30000" dirty="0"/>
              <a:t>1</a:t>
            </a:r>
            <a:r>
              <a:rPr lang="ru-RU" sz="1000" b="1" dirty="0"/>
              <a:t>?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C9B3FC8A-ED46-4A8E-9895-216C5C7BB6AD}"/>
              </a:ext>
            </a:extLst>
          </p:cNvPr>
          <p:cNvSpPr txBox="1">
            <a:spLocks/>
          </p:cNvSpPr>
          <p:nvPr/>
        </p:nvSpPr>
        <p:spPr>
          <a:xfrm>
            <a:off x="3887635" y="2687006"/>
            <a:ext cx="237244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Да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6DA2701-CBCD-4A44-86EA-F8E97634B640}"/>
              </a:ext>
            </a:extLst>
          </p:cNvPr>
          <p:cNvSpPr txBox="1">
            <a:spLocks/>
          </p:cNvSpPr>
          <p:nvPr/>
        </p:nvSpPr>
        <p:spPr>
          <a:xfrm>
            <a:off x="3738559" y="4729936"/>
            <a:ext cx="237244" cy="15388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Нет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705D50BC-358E-47D1-AB64-9140B6E135AB}"/>
              </a:ext>
            </a:extLst>
          </p:cNvPr>
          <p:cNvSpPr/>
          <p:nvPr/>
        </p:nvSpPr>
        <p:spPr>
          <a:xfrm>
            <a:off x="7640241" y="4928571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3F5E7628-199D-445A-BB07-95BD6230DBCA}"/>
              </a:ext>
            </a:extLst>
          </p:cNvPr>
          <p:cNvSpPr>
            <a:spLocks/>
          </p:cNvSpPr>
          <p:nvPr/>
        </p:nvSpPr>
        <p:spPr>
          <a:xfrm rot="2700000">
            <a:off x="6598303" y="4524469"/>
            <a:ext cx="1128563" cy="1128563"/>
          </a:xfrm>
          <a:prstGeom prst="roundRect">
            <a:avLst>
              <a:gd name="adj" fmla="val 14485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180000" rIns="36000" bIns="1188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000" b="1" dirty="0">
              <a:cs typeface="Arial" panose="020B0604020202020204" pitchFamily="34" charset="0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7202F2F-E4D5-496B-9318-897AF38D60F7}"/>
              </a:ext>
            </a:extLst>
          </p:cNvPr>
          <p:cNvSpPr txBox="1"/>
          <p:nvPr/>
        </p:nvSpPr>
        <p:spPr>
          <a:xfrm>
            <a:off x="6612041" y="4857918"/>
            <a:ext cx="1101087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b="1" dirty="0"/>
              <a:t>Актуальность</a:t>
            </a:r>
            <a:br>
              <a:rPr lang="ru-RU" sz="1000" b="1" dirty="0"/>
            </a:br>
            <a:r>
              <a:rPr lang="ru-RU" sz="1000" b="1" dirty="0"/>
              <a:t>контактных данных</a:t>
            </a:r>
            <a:r>
              <a:rPr lang="en-US" sz="1000" b="1" dirty="0"/>
              <a:t> </a:t>
            </a:r>
            <a:r>
              <a:rPr lang="ru-RU" sz="1000" b="1" dirty="0"/>
              <a:t>УК в ГИС РД? </a:t>
            </a:r>
          </a:p>
        </p:txBody>
      </p:sp>
      <p:cxnSp>
        <p:nvCxnSpPr>
          <p:cNvPr id="227" name="LineSpecialityArrow 73">
            <a:extLst>
              <a:ext uri="{FF2B5EF4-FFF2-40B4-BE49-F238E27FC236}">
                <a16:creationId xmlns:a16="http://schemas.microsoft.com/office/drawing/2014/main" id="{AE8C71BB-FB79-49F8-B3F7-8374FBF19C94}"/>
              </a:ext>
            </a:extLst>
          </p:cNvPr>
          <p:cNvCxnSpPr>
            <a:cxnSpLocks/>
            <a:stCxn id="218" idx="3"/>
            <a:endCxn id="229" idx="1"/>
          </p:cNvCxnSpPr>
          <p:nvPr>
            <p:custDataLst>
              <p:tags r:id="rId9"/>
            </p:custDataLst>
          </p:nvPr>
        </p:nvCxnSpPr>
        <p:spPr>
          <a:xfrm flipV="1">
            <a:off x="7960600" y="4672016"/>
            <a:ext cx="1169952" cy="416735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Rectangle 247">
            <a:extLst>
              <a:ext uri="{FF2B5EF4-FFF2-40B4-BE49-F238E27FC236}">
                <a16:creationId xmlns:a16="http://schemas.microsoft.com/office/drawing/2014/main" id="{87C305A8-8AC4-4E30-8B04-28992E8A7CD2}"/>
              </a:ext>
            </a:extLst>
          </p:cNvPr>
          <p:cNvSpPr/>
          <p:nvPr/>
        </p:nvSpPr>
        <p:spPr>
          <a:xfrm>
            <a:off x="4514122" y="4931181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27185599-498A-4BBC-A795-D42A279FF468}"/>
              </a:ext>
            </a:extLst>
          </p:cNvPr>
          <p:cNvGrpSpPr>
            <a:grpSpLocks/>
          </p:cNvGrpSpPr>
          <p:nvPr/>
        </p:nvGrpSpPr>
        <p:grpSpPr>
          <a:xfrm>
            <a:off x="8414922" y="2228417"/>
            <a:ext cx="244800" cy="246221"/>
            <a:chOff x="10097600" y="2224806"/>
            <a:chExt cx="396228" cy="396228"/>
          </a:xfrm>
        </p:grpSpPr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7B55126-BD2A-48CE-9B24-1772AFE78856}"/>
                </a:ext>
              </a:extLst>
            </p:cNvPr>
            <p:cNvSpPr/>
            <p:nvPr/>
          </p:nvSpPr>
          <p:spPr>
            <a:xfrm>
              <a:off x="10097600" y="2224806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15ABBFB8-DBF0-45A2-A559-A255FFD0A4D9}"/>
                </a:ext>
              </a:extLst>
            </p:cNvPr>
            <p:cNvGrpSpPr/>
            <p:nvPr/>
          </p:nvGrpSpPr>
          <p:grpSpPr>
            <a:xfrm>
              <a:off x="10193928" y="2321134"/>
              <a:ext cx="203573" cy="203573"/>
              <a:chOff x="10228478" y="2355684"/>
              <a:chExt cx="134470" cy="134470"/>
            </a:xfrm>
          </p:grpSpPr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6FD2F7D4-2A5C-4AEF-9AE5-5718D8C09D2C}"/>
                  </a:ext>
                </a:extLst>
              </p:cNvPr>
              <p:cNvSpPr/>
              <p:nvPr/>
            </p:nvSpPr>
            <p:spPr>
              <a:xfrm>
                <a:off x="10228478" y="2355684"/>
                <a:ext cx="134470" cy="134470"/>
              </a:xfrm>
              <a:custGeom>
                <a:avLst/>
                <a:gdLst>
                  <a:gd name="connsiteX0" fmla="*/ 0 w 134470"/>
                  <a:gd name="connsiteY0" fmla="*/ 0 h 134470"/>
                  <a:gd name="connsiteX1" fmla="*/ 134471 w 134470"/>
                  <a:gd name="connsiteY1" fmla="*/ 134471 h 134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470" h="134470">
                    <a:moveTo>
                      <a:pt x="0" y="0"/>
                    </a:moveTo>
                    <a:lnTo>
                      <a:pt x="134471" y="134471"/>
                    </a:lnTo>
                  </a:path>
                </a:pathLst>
              </a:custGeom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2F5EB80-3E66-4E2B-B185-3D8D950B9E44}"/>
                  </a:ext>
                </a:extLst>
              </p:cNvPr>
              <p:cNvSpPr/>
              <p:nvPr/>
            </p:nvSpPr>
            <p:spPr>
              <a:xfrm>
                <a:off x="10228478" y="2355684"/>
                <a:ext cx="134470" cy="134470"/>
              </a:xfrm>
              <a:custGeom>
                <a:avLst/>
                <a:gdLst>
                  <a:gd name="connsiteX0" fmla="*/ 134471 w 134470"/>
                  <a:gd name="connsiteY0" fmla="*/ 0 h 134470"/>
                  <a:gd name="connsiteX1" fmla="*/ 0 w 134470"/>
                  <a:gd name="connsiteY1" fmla="*/ 134471 h 134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470" h="134470">
                    <a:moveTo>
                      <a:pt x="134471" y="0"/>
                    </a:moveTo>
                    <a:lnTo>
                      <a:pt x="0" y="134471"/>
                    </a:lnTo>
                  </a:path>
                </a:pathLst>
              </a:custGeom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3C7584C-58FE-4410-A58B-A62BA24C7753}"/>
              </a:ext>
            </a:extLst>
          </p:cNvPr>
          <p:cNvGrpSpPr>
            <a:grpSpLocks/>
          </p:cNvGrpSpPr>
          <p:nvPr/>
        </p:nvGrpSpPr>
        <p:grpSpPr>
          <a:xfrm>
            <a:off x="8461344" y="3071474"/>
            <a:ext cx="244800" cy="246221"/>
            <a:chOff x="9224208" y="2060372"/>
            <a:chExt cx="248140" cy="248140"/>
          </a:xfrm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4C9CDABC-8BB6-4CC5-A736-111C065D878F}"/>
                </a:ext>
              </a:extLst>
            </p:cNvPr>
            <p:cNvSpPr/>
            <p:nvPr/>
          </p:nvSpPr>
          <p:spPr>
            <a:xfrm>
              <a:off x="9224208" y="2060372"/>
              <a:ext cx="248140" cy="248140"/>
            </a:xfrm>
            <a:prstGeom prst="ellipse">
              <a:avLst/>
            </a:prstGeom>
            <a:solidFill>
              <a:srgbClr val="FFC000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46" name="Graphic 377">
              <a:extLst>
                <a:ext uri="{FF2B5EF4-FFF2-40B4-BE49-F238E27FC236}">
                  <a16:creationId xmlns:a16="http://schemas.microsoft.com/office/drawing/2014/main" id="{9C358CFC-3514-45EE-B6D6-1FE7CBC58E82}"/>
                </a:ext>
              </a:extLst>
            </p:cNvPr>
            <p:cNvSpPr/>
            <p:nvPr/>
          </p:nvSpPr>
          <p:spPr>
            <a:xfrm>
              <a:off x="9279768" y="2125191"/>
              <a:ext cx="137020" cy="118503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cxnSp>
        <p:nvCxnSpPr>
          <p:cNvPr id="258" name="LineSpecialityArrow 73">
            <a:extLst>
              <a:ext uri="{FF2B5EF4-FFF2-40B4-BE49-F238E27FC236}">
                <a16:creationId xmlns:a16="http://schemas.microsoft.com/office/drawing/2014/main" id="{DDC3269B-5191-4933-85DE-B604CC53D145}"/>
              </a:ext>
            </a:extLst>
          </p:cNvPr>
          <p:cNvCxnSpPr>
            <a:cxnSpLocks/>
            <a:stCxn id="218" idx="3"/>
            <a:endCxn id="252" idx="1"/>
          </p:cNvCxnSpPr>
          <p:nvPr>
            <p:custDataLst>
              <p:tags r:id="rId10"/>
            </p:custDataLst>
          </p:nvPr>
        </p:nvCxnSpPr>
        <p:spPr>
          <a:xfrm>
            <a:off x="7960600" y="5088751"/>
            <a:ext cx="1191333" cy="434341"/>
          </a:xfrm>
          <a:prstGeom prst="bentConnector3">
            <a:avLst>
              <a:gd name="adj1" fmla="val 49134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664DBB9-C7A6-473F-A270-340EB4C74556}"/>
              </a:ext>
            </a:extLst>
          </p:cNvPr>
          <p:cNvGrpSpPr/>
          <p:nvPr/>
        </p:nvGrpSpPr>
        <p:grpSpPr>
          <a:xfrm>
            <a:off x="9151933" y="5154336"/>
            <a:ext cx="1634229" cy="737511"/>
            <a:chOff x="10003035" y="5038497"/>
            <a:chExt cx="1634229" cy="737511"/>
          </a:xfrm>
        </p:grpSpPr>
        <p:sp>
          <p:nvSpPr>
            <p:cNvPr id="252" name="Rectangle: Rounded Corners 251">
              <a:extLst>
                <a:ext uri="{FF2B5EF4-FFF2-40B4-BE49-F238E27FC236}">
                  <a16:creationId xmlns:a16="http://schemas.microsoft.com/office/drawing/2014/main" id="{65BCBD73-452A-474E-ADDA-962C512099FC}"/>
                </a:ext>
              </a:extLst>
            </p:cNvPr>
            <p:cNvSpPr>
              <a:spLocks/>
            </p:cNvSpPr>
            <p:nvPr/>
          </p:nvSpPr>
          <p:spPr>
            <a:xfrm>
              <a:off x="10003035" y="5038497"/>
              <a:ext cx="1519110" cy="737511"/>
            </a:xfrm>
            <a:prstGeom prst="roundRect">
              <a:avLst>
                <a:gd name="adj" fmla="val 8516"/>
              </a:avLst>
            </a:prstGeom>
            <a:solidFill>
              <a:srgbClr val="E6E6E6">
                <a:alpha val="50000"/>
              </a:srgbClr>
            </a:solidFill>
            <a:ln w="9525" cap="sq">
              <a:solidFill>
                <a:srgbClr val="F2F2F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8934CF11-4ABA-460F-B816-274378D1A180}"/>
                </a:ext>
              </a:extLst>
            </p:cNvPr>
            <p:cNvSpPr txBox="1">
              <a:spLocks/>
            </p:cNvSpPr>
            <p:nvPr/>
          </p:nvSpPr>
          <p:spPr>
            <a:xfrm>
              <a:off x="10118154" y="5099476"/>
              <a:ext cx="1200437" cy="61555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ru-RU" sz="1000" dirty="0"/>
                <a:t>Предоставление неактуальных контактов УК жителю</a:t>
              </a:r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FB39A0A5-62F1-4459-938F-9E8E8D7756C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392464" y="5284142"/>
              <a:ext cx="244800" cy="246221"/>
              <a:chOff x="10097600" y="2224806"/>
              <a:chExt cx="396228" cy="396228"/>
            </a:xfrm>
          </p:grpSpPr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7C18491A-DD01-42F1-8A22-3D5E2FE760EF}"/>
                  </a:ext>
                </a:extLst>
              </p:cNvPr>
              <p:cNvSpPr/>
              <p:nvPr/>
            </p:nvSpPr>
            <p:spPr>
              <a:xfrm>
                <a:off x="10097600" y="2224806"/>
                <a:ext cx="396228" cy="396228"/>
              </a:xfrm>
              <a:prstGeom prst="ellipse">
                <a:avLst/>
              </a:prstGeom>
              <a:solidFill>
                <a:schemeClr val="tx2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40" name="Group 239">
                <a:extLst>
                  <a:ext uri="{FF2B5EF4-FFF2-40B4-BE49-F238E27FC236}">
                    <a16:creationId xmlns:a16="http://schemas.microsoft.com/office/drawing/2014/main" id="{2DF5B389-3C67-4A23-A624-12996DF59F3B}"/>
                  </a:ext>
                </a:extLst>
              </p:cNvPr>
              <p:cNvGrpSpPr/>
              <p:nvPr/>
            </p:nvGrpSpPr>
            <p:grpSpPr>
              <a:xfrm>
                <a:off x="10193928" y="2321134"/>
                <a:ext cx="203573" cy="203573"/>
                <a:chOff x="10228478" y="2355684"/>
                <a:chExt cx="134470" cy="134470"/>
              </a:xfrm>
            </p:grpSpPr>
            <p:sp>
              <p:nvSpPr>
                <p:cNvPr id="241" name="Freeform: Shape 240">
                  <a:extLst>
                    <a:ext uri="{FF2B5EF4-FFF2-40B4-BE49-F238E27FC236}">
                      <a16:creationId xmlns:a16="http://schemas.microsoft.com/office/drawing/2014/main" id="{000EE673-4CD5-4CE5-A99F-31F90997DD64}"/>
                    </a:ext>
                  </a:extLst>
                </p:cNvPr>
                <p:cNvSpPr/>
                <p:nvPr/>
              </p:nvSpPr>
              <p:spPr>
                <a:xfrm>
                  <a:off x="10228478" y="2355684"/>
                  <a:ext cx="134470" cy="134470"/>
                </a:xfrm>
                <a:custGeom>
                  <a:avLst/>
                  <a:gdLst>
                    <a:gd name="connsiteX0" fmla="*/ 0 w 134470"/>
                    <a:gd name="connsiteY0" fmla="*/ 0 h 134470"/>
                    <a:gd name="connsiteX1" fmla="*/ 134471 w 134470"/>
                    <a:gd name="connsiteY1" fmla="*/ 134471 h 13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470" h="134470">
                      <a:moveTo>
                        <a:pt x="0" y="0"/>
                      </a:moveTo>
                      <a:lnTo>
                        <a:pt x="134471" y="134471"/>
                      </a:lnTo>
                    </a:path>
                  </a:pathLst>
                </a:custGeom>
                <a:ln w="9525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42" name="Freeform: Shape 241">
                  <a:extLst>
                    <a:ext uri="{FF2B5EF4-FFF2-40B4-BE49-F238E27FC236}">
                      <a16:creationId xmlns:a16="http://schemas.microsoft.com/office/drawing/2014/main" id="{B60BCDC3-C1EE-41B3-B633-4FBF72375307}"/>
                    </a:ext>
                  </a:extLst>
                </p:cNvPr>
                <p:cNvSpPr/>
                <p:nvPr/>
              </p:nvSpPr>
              <p:spPr>
                <a:xfrm>
                  <a:off x="10228478" y="2355684"/>
                  <a:ext cx="134470" cy="134470"/>
                </a:xfrm>
                <a:custGeom>
                  <a:avLst/>
                  <a:gdLst>
                    <a:gd name="connsiteX0" fmla="*/ 134471 w 134470"/>
                    <a:gd name="connsiteY0" fmla="*/ 0 h 134470"/>
                    <a:gd name="connsiteX1" fmla="*/ 0 w 134470"/>
                    <a:gd name="connsiteY1" fmla="*/ 134471 h 13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470" h="134470">
                      <a:moveTo>
                        <a:pt x="134471" y="0"/>
                      </a:moveTo>
                      <a:lnTo>
                        <a:pt x="0" y="134471"/>
                      </a:lnTo>
                    </a:path>
                  </a:pathLst>
                </a:custGeom>
                <a:ln w="9525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</p:grp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E90E44C8-94ED-4B2B-9337-3F11A6F88CCD}"/>
              </a:ext>
            </a:extLst>
          </p:cNvPr>
          <p:cNvSpPr>
            <a:spLocks/>
          </p:cNvSpPr>
          <p:nvPr/>
        </p:nvSpPr>
        <p:spPr>
          <a:xfrm>
            <a:off x="9130552" y="4303260"/>
            <a:ext cx="1519110" cy="737511"/>
          </a:xfrm>
          <a:prstGeom prst="roundRect">
            <a:avLst>
              <a:gd name="adj" fmla="val 8516"/>
            </a:avLst>
          </a:prstGeom>
          <a:solidFill>
            <a:srgbClr val="E6E6E6">
              <a:alpha val="50000"/>
            </a:srgbClr>
          </a:solidFill>
          <a:ln w="9525" cap="sq">
            <a:solidFill>
              <a:srgbClr val="F2F2F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04C9FF8-8E80-404B-B8ED-5737EDC6C181}"/>
              </a:ext>
            </a:extLst>
          </p:cNvPr>
          <p:cNvSpPr txBox="1">
            <a:spLocks/>
          </p:cNvSpPr>
          <p:nvPr/>
        </p:nvSpPr>
        <p:spPr>
          <a:xfrm>
            <a:off x="9245671" y="4364239"/>
            <a:ext cx="1200437" cy="6155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Предоставление актуальных </a:t>
            </a:r>
            <a:br>
              <a:rPr lang="ru-RU" sz="1000" dirty="0"/>
            </a:br>
            <a:r>
              <a:rPr lang="ru-RU" sz="1000" dirty="0"/>
              <a:t>контактов </a:t>
            </a:r>
            <a:br>
              <a:rPr lang="ru-RU" sz="1000" dirty="0"/>
            </a:br>
            <a:r>
              <a:rPr lang="ru-RU" sz="1000" dirty="0"/>
              <a:t>УК жителю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071B5542-C75E-442C-8756-B22B14A4D521}"/>
              </a:ext>
            </a:extLst>
          </p:cNvPr>
          <p:cNvSpPr txBox="1">
            <a:spLocks/>
          </p:cNvSpPr>
          <p:nvPr/>
        </p:nvSpPr>
        <p:spPr>
          <a:xfrm>
            <a:off x="8429432" y="4429133"/>
            <a:ext cx="232288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Да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DC04B16D-7918-4764-AD4F-FCF8FEA17597}"/>
              </a:ext>
            </a:extLst>
          </p:cNvPr>
          <p:cNvSpPr txBox="1">
            <a:spLocks/>
          </p:cNvSpPr>
          <p:nvPr/>
        </p:nvSpPr>
        <p:spPr>
          <a:xfrm>
            <a:off x="8421627" y="5613946"/>
            <a:ext cx="232288" cy="15388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Нет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089FA05-5BF2-4402-B0FA-926CB3BB6828}"/>
              </a:ext>
            </a:extLst>
          </p:cNvPr>
          <p:cNvGrpSpPr/>
          <p:nvPr/>
        </p:nvGrpSpPr>
        <p:grpSpPr>
          <a:xfrm>
            <a:off x="6017471" y="688697"/>
            <a:ext cx="4647401" cy="369332"/>
            <a:chOff x="5888910" y="718304"/>
            <a:chExt cx="4647401" cy="369332"/>
          </a:xfrm>
        </p:grpSpPr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831EFF2A-8A0D-43EB-B216-84B298FE495C}"/>
                </a:ext>
              </a:extLst>
            </p:cNvPr>
            <p:cNvSpPr txBox="1"/>
            <p:nvPr/>
          </p:nvSpPr>
          <p:spPr>
            <a:xfrm>
              <a:off x="7635608" y="718304"/>
              <a:ext cx="529982" cy="36933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Проблема </a:t>
              </a:r>
              <a:br>
                <a:rPr lang="en-US" sz="800" dirty="0"/>
              </a:br>
              <a:r>
                <a:rPr lang="ru-RU" sz="800" dirty="0"/>
                <a:t>жителя </a:t>
              </a:r>
              <a:br>
                <a:rPr lang="en-US" sz="800" dirty="0"/>
              </a:br>
              <a:r>
                <a:rPr lang="ru-RU" sz="800" dirty="0"/>
                <a:t>решена</a:t>
              </a: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98EEDE93-18BB-4241-93BA-4D66BDC5BAFC}"/>
                </a:ext>
              </a:extLst>
            </p:cNvPr>
            <p:cNvGrpSpPr>
              <a:grpSpLocks/>
            </p:cNvGrpSpPr>
            <p:nvPr/>
          </p:nvGrpSpPr>
          <p:grpSpPr>
            <a:xfrm>
              <a:off x="7270038" y="779860"/>
              <a:ext cx="244800" cy="246221"/>
              <a:chOff x="9224208" y="2060372"/>
              <a:chExt cx="248140" cy="248140"/>
            </a:xfrm>
          </p:grpSpPr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8163F919-BD11-4336-BDE2-A6423A99E4B1}"/>
                  </a:ext>
                </a:extLst>
              </p:cNvPr>
              <p:cNvSpPr/>
              <p:nvPr/>
            </p:nvSpPr>
            <p:spPr>
              <a:xfrm>
                <a:off x="9224208" y="2060372"/>
                <a:ext cx="248140" cy="248140"/>
              </a:xfrm>
              <a:prstGeom prst="ellipse">
                <a:avLst/>
              </a:prstGeom>
              <a:solidFill>
                <a:srgbClr val="00B050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GB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84" name="Graphic 377">
                <a:extLst>
                  <a:ext uri="{FF2B5EF4-FFF2-40B4-BE49-F238E27FC236}">
                    <a16:creationId xmlns:a16="http://schemas.microsoft.com/office/drawing/2014/main" id="{36B70897-A170-42E6-B0DA-20DEAC5166B3}"/>
                  </a:ext>
                </a:extLst>
              </p:cNvPr>
              <p:cNvSpPr/>
              <p:nvPr/>
            </p:nvSpPr>
            <p:spPr>
              <a:xfrm>
                <a:off x="9279768" y="2125191"/>
                <a:ext cx="137020" cy="118503"/>
              </a:xfrm>
              <a:custGeom>
                <a:avLst/>
                <a:gdLst>
                  <a:gd name="connsiteX0" fmla="*/ 165847 w 165847"/>
                  <a:gd name="connsiteY0" fmla="*/ 0 h 143435"/>
                  <a:gd name="connsiteX1" fmla="*/ 58271 w 165847"/>
                  <a:gd name="connsiteY1" fmla="*/ 143435 h 143435"/>
                  <a:gd name="connsiteX2" fmla="*/ 0 w 165847"/>
                  <a:gd name="connsiteY2" fmla="*/ 86285 h 143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5847" h="143435">
                    <a:moveTo>
                      <a:pt x="165847" y="0"/>
                    </a:moveTo>
                    <a:lnTo>
                      <a:pt x="58271" y="143435"/>
                    </a:lnTo>
                    <a:lnTo>
                      <a:pt x="0" y="86285"/>
                    </a:lnTo>
                  </a:path>
                </a:pathLst>
              </a:custGeom>
              <a:no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64636773-769D-401C-A57F-2B24AEF53620}"/>
                </a:ext>
              </a:extLst>
            </p:cNvPr>
            <p:cNvSpPr txBox="1"/>
            <p:nvPr/>
          </p:nvSpPr>
          <p:spPr>
            <a:xfrm>
              <a:off x="8651930" y="718304"/>
              <a:ext cx="832180" cy="36933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Проблема </a:t>
              </a:r>
              <a:br>
                <a:rPr lang="en-US" sz="800" dirty="0"/>
              </a:br>
              <a:r>
                <a:rPr lang="ru-RU" sz="800" dirty="0"/>
                <a:t>жителя решена </a:t>
              </a:r>
              <a:br>
                <a:rPr lang="en-US" sz="800" dirty="0"/>
              </a:br>
              <a:r>
                <a:rPr lang="ru-RU" sz="800" dirty="0"/>
                <a:t>частично</a:t>
              </a:r>
            </a:p>
          </p:txBody>
        </p: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4781E26A-B7C0-4F8D-A19D-2FD7D835E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8286360" y="779860"/>
              <a:ext cx="244800" cy="246221"/>
              <a:chOff x="9224208" y="2060372"/>
              <a:chExt cx="248140" cy="248140"/>
            </a:xfrm>
          </p:grpSpPr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B6AB6270-71F6-4CB8-ACA1-A84D516EF3AE}"/>
                  </a:ext>
                </a:extLst>
              </p:cNvPr>
              <p:cNvSpPr/>
              <p:nvPr/>
            </p:nvSpPr>
            <p:spPr>
              <a:xfrm>
                <a:off x="9224208" y="2060372"/>
                <a:ext cx="248140" cy="248140"/>
              </a:xfrm>
              <a:prstGeom prst="ellipse">
                <a:avLst/>
              </a:prstGeom>
              <a:solidFill>
                <a:srgbClr val="FFC000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GB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82" name="Graphic 377">
                <a:extLst>
                  <a:ext uri="{FF2B5EF4-FFF2-40B4-BE49-F238E27FC236}">
                    <a16:creationId xmlns:a16="http://schemas.microsoft.com/office/drawing/2014/main" id="{76F96DF7-234B-42C9-BBBE-23D2F3C06E6B}"/>
                  </a:ext>
                </a:extLst>
              </p:cNvPr>
              <p:cNvSpPr/>
              <p:nvPr/>
            </p:nvSpPr>
            <p:spPr>
              <a:xfrm>
                <a:off x="9279768" y="2125191"/>
                <a:ext cx="137020" cy="118503"/>
              </a:xfrm>
              <a:custGeom>
                <a:avLst/>
                <a:gdLst>
                  <a:gd name="connsiteX0" fmla="*/ 165847 w 165847"/>
                  <a:gd name="connsiteY0" fmla="*/ 0 h 143435"/>
                  <a:gd name="connsiteX1" fmla="*/ 58271 w 165847"/>
                  <a:gd name="connsiteY1" fmla="*/ 143435 h 143435"/>
                  <a:gd name="connsiteX2" fmla="*/ 0 w 165847"/>
                  <a:gd name="connsiteY2" fmla="*/ 86285 h 143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5847" h="143435">
                    <a:moveTo>
                      <a:pt x="165847" y="0"/>
                    </a:moveTo>
                    <a:lnTo>
                      <a:pt x="58271" y="143435"/>
                    </a:lnTo>
                    <a:lnTo>
                      <a:pt x="0" y="86285"/>
                    </a:lnTo>
                  </a:path>
                </a:pathLst>
              </a:custGeom>
              <a:no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7A5B8DC1-6DC7-4235-AD35-75C3A9C72C50}"/>
                </a:ext>
              </a:extLst>
            </p:cNvPr>
            <p:cNvSpPr txBox="1"/>
            <p:nvPr/>
          </p:nvSpPr>
          <p:spPr>
            <a:xfrm>
              <a:off x="9970450" y="718304"/>
              <a:ext cx="565861" cy="369332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Проблема </a:t>
              </a:r>
              <a:br>
                <a:rPr lang="en-US" sz="800" dirty="0"/>
              </a:br>
              <a:r>
                <a:rPr lang="ru-RU" sz="800" dirty="0"/>
                <a:t>жителя </a:t>
              </a:r>
              <a:br>
                <a:rPr lang="ru-RU" sz="800" dirty="0"/>
              </a:br>
              <a:r>
                <a:rPr lang="ru-RU" sz="800" dirty="0"/>
                <a:t>не решена</a:t>
              </a:r>
            </a:p>
          </p:txBody>
        </p: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3A241BF9-695C-4016-8F97-0C3C7943C253}"/>
                </a:ext>
              </a:extLst>
            </p:cNvPr>
            <p:cNvGrpSpPr>
              <a:grpSpLocks/>
            </p:cNvGrpSpPr>
            <p:nvPr/>
          </p:nvGrpSpPr>
          <p:grpSpPr>
            <a:xfrm>
              <a:off x="9604880" y="779860"/>
              <a:ext cx="244800" cy="246221"/>
              <a:chOff x="10097600" y="2224806"/>
              <a:chExt cx="396228" cy="396228"/>
            </a:xfrm>
          </p:grpSpPr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F176E3B8-5E83-4BCC-B696-2629A22EFAB8}"/>
                  </a:ext>
                </a:extLst>
              </p:cNvPr>
              <p:cNvSpPr/>
              <p:nvPr/>
            </p:nvSpPr>
            <p:spPr>
              <a:xfrm>
                <a:off x="10097600" y="2224806"/>
                <a:ext cx="396228" cy="396228"/>
              </a:xfrm>
              <a:prstGeom prst="ellipse">
                <a:avLst/>
              </a:prstGeom>
              <a:solidFill>
                <a:schemeClr val="tx2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78" name="Group 277">
                <a:extLst>
                  <a:ext uri="{FF2B5EF4-FFF2-40B4-BE49-F238E27FC236}">
                    <a16:creationId xmlns:a16="http://schemas.microsoft.com/office/drawing/2014/main" id="{F8C9F934-0E86-40A2-BCAB-CB27DB7D68B8}"/>
                  </a:ext>
                </a:extLst>
              </p:cNvPr>
              <p:cNvGrpSpPr/>
              <p:nvPr/>
            </p:nvGrpSpPr>
            <p:grpSpPr>
              <a:xfrm>
                <a:off x="10193928" y="2321134"/>
                <a:ext cx="203573" cy="203573"/>
                <a:chOff x="10228478" y="2355684"/>
                <a:chExt cx="134470" cy="134470"/>
              </a:xfrm>
            </p:grpSpPr>
            <p:sp>
              <p:nvSpPr>
                <p:cNvPr id="279" name="Freeform: Shape 278">
                  <a:extLst>
                    <a:ext uri="{FF2B5EF4-FFF2-40B4-BE49-F238E27FC236}">
                      <a16:creationId xmlns:a16="http://schemas.microsoft.com/office/drawing/2014/main" id="{FF47899D-FA91-4F6E-9565-ACF93D915A82}"/>
                    </a:ext>
                  </a:extLst>
                </p:cNvPr>
                <p:cNvSpPr/>
                <p:nvPr/>
              </p:nvSpPr>
              <p:spPr>
                <a:xfrm>
                  <a:off x="10228478" y="2355684"/>
                  <a:ext cx="134470" cy="134470"/>
                </a:xfrm>
                <a:custGeom>
                  <a:avLst/>
                  <a:gdLst>
                    <a:gd name="connsiteX0" fmla="*/ 0 w 134470"/>
                    <a:gd name="connsiteY0" fmla="*/ 0 h 134470"/>
                    <a:gd name="connsiteX1" fmla="*/ 134471 w 134470"/>
                    <a:gd name="connsiteY1" fmla="*/ 134471 h 13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470" h="134470">
                      <a:moveTo>
                        <a:pt x="0" y="0"/>
                      </a:moveTo>
                      <a:lnTo>
                        <a:pt x="134471" y="134471"/>
                      </a:lnTo>
                    </a:path>
                  </a:pathLst>
                </a:custGeom>
                <a:ln w="9525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80" name="Freeform: Shape 279">
                  <a:extLst>
                    <a:ext uri="{FF2B5EF4-FFF2-40B4-BE49-F238E27FC236}">
                      <a16:creationId xmlns:a16="http://schemas.microsoft.com/office/drawing/2014/main" id="{63822052-68EE-44D7-AA1B-E51A47C40DBF}"/>
                    </a:ext>
                  </a:extLst>
                </p:cNvPr>
                <p:cNvSpPr/>
                <p:nvPr/>
              </p:nvSpPr>
              <p:spPr>
                <a:xfrm>
                  <a:off x="10228478" y="2355684"/>
                  <a:ext cx="134470" cy="134470"/>
                </a:xfrm>
                <a:custGeom>
                  <a:avLst/>
                  <a:gdLst>
                    <a:gd name="connsiteX0" fmla="*/ 134471 w 134470"/>
                    <a:gd name="connsiteY0" fmla="*/ 0 h 134470"/>
                    <a:gd name="connsiteX1" fmla="*/ 0 w 134470"/>
                    <a:gd name="connsiteY1" fmla="*/ 134471 h 13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470" h="134470">
                      <a:moveTo>
                        <a:pt x="134471" y="0"/>
                      </a:moveTo>
                      <a:lnTo>
                        <a:pt x="0" y="134471"/>
                      </a:lnTo>
                    </a:path>
                  </a:pathLst>
                </a:custGeom>
                <a:ln w="9525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B245161B-0841-40A3-9C21-61A4D50C5B61}"/>
                </a:ext>
              </a:extLst>
            </p:cNvPr>
            <p:cNvSpPr txBox="1"/>
            <p:nvPr/>
          </p:nvSpPr>
          <p:spPr>
            <a:xfrm>
              <a:off x="6241968" y="779860"/>
              <a:ext cx="907300" cy="246221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Взаимодействие </a:t>
              </a:r>
              <a:br>
                <a:rPr lang="en-US" sz="800" dirty="0"/>
              </a:br>
              <a:r>
                <a:rPr lang="ru-RU" sz="800" dirty="0"/>
                <a:t>с городскими ИС</a:t>
              </a:r>
            </a:p>
          </p:txBody>
        </p:sp>
        <p:grpSp>
          <p:nvGrpSpPr>
            <p:cNvPr id="270" name="CustomIcon">
              <a:extLst>
                <a:ext uri="{FF2B5EF4-FFF2-40B4-BE49-F238E27FC236}">
                  <a16:creationId xmlns:a16="http://schemas.microsoft.com/office/drawing/2014/main" id="{771CC2BA-CF93-421C-9C51-DF5EB4205C9B}"/>
                </a:ext>
              </a:extLst>
            </p:cNvPr>
            <p:cNvGrpSpPr>
              <a:grpSpLocks/>
            </p:cNvGrpSpPr>
            <p:nvPr/>
          </p:nvGrpSpPr>
          <p:grpSpPr>
            <a:xfrm>
              <a:off x="5888910" y="786826"/>
              <a:ext cx="232288" cy="232288"/>
              <a:chOff x="11085092" y="855109"/>
              <a:chExt cx="232288" cy="232288"/>
            </a:xfrm>
          </p:grpSpPr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94B7AF25-5669-4E1A-AB06-21DCF6DD6CAD}"/>
                  </a:ext>
                </a:extLst>
              </p:cNvPr>
              <p:cNvSpPr/>
              <p:nvPr/>
            </p:nvSpPr>
            <p:spPr>
              <a:xfrm>
                <a:off x="11088721" y="948024"/>
                <a:ext cx="225029" cy="40650"/>
              </a:xfrm>
              <a:custGeom>
                <a:avLst/>
                <a:gdLst>
                  <a:gd name="connsiteX0" fmla="*/ 225029 w 225029"/>
                  <a:gd name="connsiteY0" fmla="*/ 0 h 40650"/>
                  <a:gd name="connsiteX1" fmla="*/ 112515 w 225029"/>
                  <a:gd name="connsiteY1" fmla="*/ 40650 h 40650"/>
                  <a:gd name="connsiteX2" fmla="*/ 0 w 225029"/>
                  <a:gd name="connsiteY2" fmla="*/ 0 h 4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5029" h="40650">
                    <a:moveTo>
                      <a:pt x="225029" y="0"/>
                    </a:moveTo>
                    <a:cubicBezTo>
                      <a:pt x="225029" y="22503"/>
                      <a:pt x="174942" y="40650"/>
                      <a:pt x="112515" y="40650"/>
                    </a:cubicBezTo>
                    <a:cubicBezTo>
                      <a:pt x="50087" y="40650"/>
                      <a:pt x="0" y="22503"/>
                      <a:pt x="0" y="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13EEDF7C-344E-47DE-800E-DC95FE355461}"/>
                  </a:ext>
                </a:extLst>
              </p:cNvPr>
              <p:cNvSpPr/>
              <p:nvPr/>
            </p:nvSpPr>
            <p:spPr>
              <a:xfrm>
                <a:off x="11088721" y="858738"/>
                <a:ext cx="225029" cy="81300"/>
              </a:xfrm>
              <a:custGeom>
                <a:avLst/>
                <a:gdLst>
                  <a:gd name="connsiteX0" fmla="*/ 225029 w 225029"/>
                  <a:gd name="connsiteY0" fmla="*/ 40650 h 81300"/>
                  <a:gd name="connsiteX1" fmla="*/ 112515 w 225029"/>
                  <a:gd name="connsiteY1" fmla="*/ 81301 h 81300"/>
                  <a:gd name="connsiteX2" fmla="*/ 0 w 225029"/>
                  <a:gd name="connsiteY2" fmla="*/ 40650 h 81300"/>
                  <a:gd name="connsiteX3" fmla="*/ 112515 w 225029"/>
                  <a:gd name="connsiteY3" fmla="*/ 0 h 81300"/>
                  <a:gd name="connsiteX4" fmla="*/ 225029 w 225029"/>
                  <a:gd name="connsiteY4" fmla="*/ 40650 h 8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5029" h="81300">
                    <a:moveTo>
                      <a:pt x="225029" y="40650"/>
                    </a:moveTo>
                    <a:cubicBezTo>
                      <a:pt x="225029" y="63101"/>
                      <a:pt x="174655" y="81301"/>
                      <a:pt x="112515" y="81301"/>
                    </a:cubicBezTo>
                    <a:cubicBezTo>
                      <a:pt x="50374" y="81301"/>
                      <a:pt x="0" y="63101"/>
                      <a:pt x="0" y="40650"/>
                    </a:cubicBezTo>
                    <a:cubicBezTo>
                      <a:pt x="0" y="18200"/>
                      <a:pt x="50374" y="0"/>
                      <a:pt x="112515" y="0"/>
                    </a:cubicBezTo>
                    <a:cubicBezTo>
                      <a:pt x="174655" y="0"/>
                      <a:pt x="225029" y="18200"/>
                      <a:pt x="225029" y="40650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A0B6B414-5AC8-4838-B458-B5D023860DE5}"/>
                  </a:ext>
                </a:extLst>
              </p:cNvPr>
              <p:cNvSpPr/>
              <p:nvPr/>
            </p:nvSpPr>
            <p:spPr>
              <a:xfrm>
                <a:off x="11088721" y="996659"/>
                <a:ext cx="225029" cy="40650"/>
              </a:xfrm>
              <a:custGeom>
                <a:avLst/>
                <a:gdLst>
                  <a:gd name="connsiteX0" fmla="*/ 225029 w 225029"/>
                  <a:gd name="connsiteY0" fmla="*/ 0 h 40650"/>
                  <a:gd name="connsiteX1" fmla="*/ 112515 w 225029"/>
                  <a:gd name="connsiteY1" fmla="*/ 40650 h 40650"/>
                  <a:gd name="connsiteX2" fmla="*/ 0 w 225029"/>
                  <a:gd name="connsiteY2" fmla="*/ 0 h 4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5029" h="40650">
                    <a:moveTo>
                      <a:pt x="225029" y="0"/>
                    </a:moveTo>
                    <a:cubicBezTo>
                      <a:pt x="225029" y="22503"/>
                      <a:pt x="174942" y="40650"/>
                      <a:pt x="112515" y="40650"/>
                    </a:cubicBezTo>
                    <a:cubicBezTo>
                      <a:pt x="50087" y="40650"/>
                      <a:pt x="0" y="22140"/>
                      <a:pt x="0" y="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BD1D7B5F-176F-4221-8653-43B81F71E7AE}"/>
                  </a:ext>
                </a:extLst>
              </p:cNvPr>
              <p:cNvSpPr/>
              <p:nvPr/>
            </p:nvSpPr>
            <p:spPr>
              <a:xfrm>
                <a:off x="11088721" y="858738"/>
                <a:ext cx="225029" cy="225029"/>
              </a:xfrm>
              <a:custGeom>
                <a:avLst/>
                <a:gdLst>
                  <a:gd name="connsiteX0" fmla="*/ 112515 w 225029"/>
                  <a:gd name="connsiteY0" fmla="*/ 0 h 225029"/>
                  <a:gd name="connsiteX1" fmla="*/ 0 w 225029"/>
                  <a:gd name="connsiteY1" fmla="*/ 40650 h 225029"/>
                  <a:gd name="connsiteX2" fmla="*/ 0 w 225029"/>
                  <a:gd name="connsiteY2" fmla="*/ 184016 h 225029"/>
                  <a:gd name="connsiteX3" fmla="*/ 112515 w 225029"/>
                  <a:gd name="connsiteY3" fmla="*/ 225029 h 225029"/>
                  <a:gd name="connsiteX4" fmla="*/ 225029 w 225029"/>
                  <a:gd name="connsiteY4" fmla="*/ 184379 h 225029"/>
                  <a:gd name="connsiteX5" fmla="*/ 225029 w 225029"/>
                  <a:gd name="connsiteY5" fmla="*/ 40650 h 225029"/>
                  <a:gd name="connsiteX6" fmla="*/ 112515 w 225029"/>
                  <a:gd name="connsiteY6" fmla="*/ 0 h 225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5029" h="225029">
                    <a:moveTo>
                      <a:pt x="112515" y="0"/>
                    </a:moveTo>
                    <a:cubicBezTo>
                      <a:pt x="50087" y="0"/>
                      <a:pt x="0" y="18148"/>
                      <a:pt x="0" y="40650"/>
                    </a:cubicBezTo>
                    <a:lnTo>
                      <a:pt x="0" y="184016"/>
                    </a:lnTo>
                    <a:cubicBezTo>
                      <a:pt x="0" y="206882"/>
                      <a:pt x="50087" y="225029"/>
                      <a:pt x="112515" y="225029"/>
                    </a:cubicBezTo>
                    <a:cubicBezTo>
                      <a:pt x="174942" y="225029"/>
                      <a:pt x="225029" y="206882"/>
                      <a:pt x="225029" y="184379"/>
                    </a:cubicBezTo>
                    <a:lnTo>
                      <a:pt x="225029" y="40650"/>
                    </a:lnTo>
                    <a:cubicBezTo>
                      <a:pt x="225029" y="18148"/>
                      <a:pt x="174942" y="0"/>
                      <a:pt x="112515" y="0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sp>
        <p:nvSpPr>
          <p:cNvPr id="285" name="Rectangle: Rounded Corners 284">
            <a:extLst>
              <a:ext uri="{FF2B5EF4-FFF2-40B4-BE49-F238E27FC236}">
                <a16:creationId xmlns:a16="http://schemas.microsoft.com/office/drawing/2014/main" id="{109E22ED-6093-484F-85F0-659F95C427A3}"/>
              </a:ext>
            </a:extLst>
          </p:cNvPr>
          <p:cNvSpPr/>
          <p:nvPr/>
        </p:nvSpPr>
        <p:spPr>
          <a:xfrm>
            <a:off x="554736" y="2163384"/>
            <a:ext cx="969264" cy="3284032"/>
          </a:xfrm>
          <a:prstGeom prst="roundRect">
            <a:avLst>
              <a:gd name="adj" fmla="val 7606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36000" rIns="36000" bIns="36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r>
              <a:rPr lang="ru-RU" sz="1000" b="1" dirty="0">
                <a:cs typeface="Arial" panose="020B0604020202020204" pitchFamily="34" charset="0"/>
              </a:rPr>
              <a:t>Обращение жителя </a:t>
            </a:r>
            <a:br>
              <a:rPr lang="en-US" sz="1000" b="1" dirty="0">
                <a:cs typeface="Arial" panose="020B0604020202020204" pitchFamily="34" charset="0"/>
              </a:rPr>
            </a:br>
            <a:r>
              <a:rPr lang="ru-RU" sz="1000" b="1" dirty="0">
                <a:cs typeface="Arial" panose="020B0604020202020204" pitchFamily="34" charset="0"/>
              </a:rPr>
              <a:t>в ЕДЦ </a:t>
            </a:r>
            <a:br>
              <a:rPr lang="en-US" sz="1000" b="1" dirty="0">
                <a:cs typeface="Arial" panose="020B0604020202020204" pitchFamily="34" charset="0"/>
              </a:rPr>
            </a:br>
            <a:r>
              <a:rPr lang="ru-RU" sz="1000" b="1" dirty="0">
                <a:cs typeface="Arial" panose="020B0604020202020204" pitchFamily="34" charset="0"/>
              </a:rPr>
              <a:t>с вопросом о графике работы УК</a:t>
            </a:r>
          </a:p>
        </p:txBody>
      </p:sp>
      <p:pic>
        <p:nvPicPr>
          <p:cNvPr id="113" name="CustomIcon">
            <a:extLst>
              <a:ext uri="{FF2B5EF4-FFF2-40B4-BE49-F238E27FC236}">
                <a16:creationId xmlns:a16="http://schemas.microsoft.com/office/drawing/2014/main" id="{1C95280D-74B5-48B5-9F47-35EA717C3BB7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4218" y="4543837"/>
            <a:ext cx="609600" cy="609600"/>
          </a:xfrm>
          <a:prstGeom prst="rect">
            <a:avLst/>
          </a:prstGeom>
        </p:spPr>
      </p:pic>
      <p:cxnSp>
        <p:nvCxnSpPr>
          <p:cNvPr id="118" name="LineSpecialityArrow 73">
            <a:extLst>
              <a:ext uri="{FF2B5EF4-FFF2-40B4-BE49-F238E27FC236}">
                <a16:creationId xmlns:a16="http://schemas.microsoft.com/office/drawing/2014/main" id="{0442DDF2-A378-4FE4-91AB-205B31DCF4ED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>
          <a:xfrm>
            <a:off x="1617044" y="3781448"/>
            <a:ext cx="640381" cy="0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4. Footnote">
            <a:extLst>
              <a:ext uri="{FF2B5EF4-FFF2-40B4-BE49-F238E27FC236}">
                <a16:creationId xmlns:a16="http://schemas.microsoft.com/office/drawing/2014/main" id="{F435C1EE-75D9-463A-9D0B-E4815C786E88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554736" y="6350227"/>
            <a:ext cx="11082528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marL="219075" lvl="0" indent="-228600">
              <a:buAutoNum type="arabicPeriod"/>
            </a:pPr>
            <a:r>
              <a:rPr lang="ru-RU" dirty="0">
                <a:latin typeface="+mn-lt"/>
                <a:ea typeface="+mn-ea"/>
                <a:cs typeface="+mn-cs"/>
                <a:sym typeface="+mn-lt"/>
              </a:rPr>
              <a:t>Выходные, праздничные дни, нерабочие дни в связи с пандемией</a:t>
            </a:r>
          </a:p>
          <a:p>
            <a:pPr marL="219075" lvl="0" indent="-228600">
              <a:buAutoNum type="arabicPeriod"/>
            </a:pPr>
            <a:r>
              <a:rPr lang="ru-RU" dirty="0">
                <a:latin typeface="+mn-lt"/>
                <a:ea typeface="+mn-ea"/>
                <a:cs typeface="+mn-cs"/>
                <a:sym typeface="+mn-lt"/>
              </a:rPr>
              <a:t>Система МЖИ ГИС "Реестр домовладений", доступна на сайте "Дома Москвы"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51DFA392-007C-40AB-ADBA-85B4571B9193}"/>
              </a:ext>
            </a:extLst>
          </p:cNvPr>
          <p:cNvSpPr/>
          <p:nvPr/>
        </p:nvSpPr>
        <p:spPr>
          <a:xfrm>
            <a:off x="4537645" y="4290735"/>
            <a:ext cx="1023164" cy="1477099"/>
          </a:xfrm>
          <a:prstGeom prst="roundRect">
            <a:avLst>
              <a:gd name="adj" fmla="val 7606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36000" rIns="36000" bIns="36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r>
              <a:rPr lang="ru-RU" sz="1000" b="1" dirty="0">
                <a:cs typeface="Arial" panose="020B0604020202020204" pitchFamily="34" charset="0"/>
              </a:rPr>
              <a:t>Проверка контактных данных из системы ГИС РД</a:t>
            </a:r>
            <a:r>
              <a:rPr lang="ru-RU" sz="1000" b="1" baseline="30000" dirty="0"/>
              <a:t>2</a:t>
            </a:r>
            <a:endParaRPr lang="ru-RU" sz="1000" b="1" dirty="0">
              <a:cs typeface="Arial" panose="020B0604020202020204" pitchFamily="34" charset="0"/>
            </a:endParaRPr>
          </a:p>
        </p:txBody>
      </p:sp>
      <p:grpSp>
        <p:nvGrpSpPr>
          <p:cNvPr id="243" name="CustomIcon">
            <a:extLst>
              <a:ext uri="{FF2B5EF4-FFF2-40B4-BE49-F238E27FC236}">
                <a16:creationId xmlns:a16="http://schemas.microsoft.com/office/drawing/2014/main" id="{49AF3241-BEF4-4B46-A919-D83A5F59451E}"/>
              </a:ext>
            </a:extLst>
          </p:cNvPr>
          <p:cNvGrpSpPr/>
          <p:nvPr/>
        </p:nvGrpSpPr>
        <p:grpSpPr>
          <a:xfrm>
            <a:off x="5198840" y="5425934"/>
            <a:ext cx="232288" cy="232288"/>
            <a:chOff x="11085092" y="855109"/>
            <a:chExt cx="232288" cy="232288"/>
          </a:xfrm>
        </p:grpSpPr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8AC95F3A-4BE1-4119-870F-AC1BEFCA4294}"/>
                </a:ext>
              </a:extLst>
            </p:cNvPr>
            <p:cNvSpPr/>
            <p:nvPr/>
          </p:nvSpPr>
          <p:spPr>
            <a:xfrm>
              <a:off x="11088721" y="948024"/>
              <a:ext cx="225029" cy="40650"/>
            </a:xfrm>
            <a:custGeom>
              <a:avLst/>
              <a:gdLst>
                <a:gd name="connsiteX0" fmla="*/ 225029 w 225029"/>
                <a:gd name="connsiteY0" fmla="*/ 0 h 40650"/>
                <a:gd name="connsiteX1" fmla="*/ 112515 w 225029"/>
                <a:gd name="connsiteY1" fmla="*/ 40650 h 40650"/>
                <a:gd name="connsiteX2" fmla="*/ 0 w 225029"/>
                <a:gd name="connsiteY2" fmla="*/ 0 h 4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029" h="40650">
                  <a:moveTo>
                    <a:pt x="225029" y="0"/>
                  </a:moveTo>
                  <a:cubicBezTo>
                    <a:pt x="225029" y="22503"/>
                    <a:pt x="174942" y="40650"/>
                    <a:pt x="112515" y="40650"/>
                  </a:cubicBezTo>
                  <a:cubicBezTo>
                    <a:pt x="50087" y="40650"/>
                    <a:pt x="0" y="2250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7864FD4-CC36-4E7A-8405-E266931D7B02}"/>
                </a:ext>
              </a:extLst>
            </p:cNvPr>
            <p:cNvSpPr/>
            <p:nvPr/>
          </p:nvSpPr>
          <p:spPr>
            <a:xfrm>
              <a:off x="11088721" y="858738"/>
              <a:ext cx="225029" cy="81300"/>
            </a:xfrm>
            <a:custGeom>
              <a:avLst/>
              <a:gdLst>
                <a:gd name="connsiteX0" fmla="*/ 225029 w 225029"/>
                <a:gd name="connsiteY0" fmla="*/ 40650 h 81300"/>
                <a:gd name="connsiteX1" fmla="*/ 112515 w 225029"/>
                <a:gd name="connsiteY1" fmla="*/ 81301 h 81300"/>
                <a:gd name="connsiteX2" fmla="*/ 0 w 225029"/>
                <a:gd name="connsiteY2" fmla="*/ 40650 h 81300"/>
                <a:gd name="connsiteX3" fmla="*/ 112515 w 225029"/>
                <a:gd name="connsiteY3" fmla="*/ 0 h 81300"/>
                <a:gd name="connsiteX4" fmla="*/ 225029 w 225029"/>
                <a:gd name="connsiteY4" fmla="*/ 40650 h 8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029" h="81300">
                  <a:moveTo>
                    <a:pt x="225029" y="40650"/>
                  </a:moveTo>
                  <a:cubicBezTo>
                    <a:pt x="225029" y="63101"/>
                    <a:pt x="174655" y="81301"/>
                    <a:pt x="112515" y="81301"/>
                  </a:cubicBezTo>
                  <a:cubicBezTo>
                    <a:pt x="50374" y="81301"/>
                    <a:pt x="0" y="63101"/>
                    <a:pt x="0" y="40650"/>
                  </a:cubicBezTo>
                  <a:cubicBezTo>
                    <a:pt x="0" y="18200"/>
                    <a:pt x="50374" y="0"/>
                    <a:pt x="112515" y="0"/>
                  </a:cubicBezTo>
                  <a:cubicBezTo>
                    <a:pt x="174655" y="0"/>
                    <a:pt x="225029" y="18200"/>
                    <a:pt x="225029" y="4065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DCA7EE30-706E-46AE-9EF7-6A71BB176293}"/>
                </a:ext>
              </a:extLst>
            </p:cNvPr>
            <p:cNvSpPr/>
            <p:nvPr/>
          </p:nvSpPr>
          <p:spPr>
            <a:xfrm>
              <a:off x="11088721" y="996659"/>
              <a:ext cx="225029" cy="40650"/>
            </a:xfrm>
            <a:custGeom>
              <a:avLst/>
              <a:gdLst>
                <a:gd name="connsiteX0" fmla="*/ 225029 w 225029"/>
                <a:gd name="connsiteY0" fmla="*/ 0 h 40650"/>
                <a:gd name="connsiteX1" fmla="*/ 112515 w 225029"/>
                <a:gd name="connsiteY1" fmla="*/ 40650 h 40650"/>
                <a:gd name="connsiteX2" fmla="*/ 0 w 225029"/>
                <a:gd name="connsiteY2" fmla="*/ 0 h 4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029" h="40650">
                  <a:moveTo>
                    <a:pt x="225029" y="0"/>
                  </a:moveTo>
                  <a:cubicBezTo>
                    <a:pt x="225029" y="22503"/>
                    <a:pt x="174942" y="40650"/>
                    <a:pt x="112515" y="40650"/>
                  </a:cubicBezTo>
                  <a:cubicBezTo>
                    <a:pt x="50087" y="40650"/>
                    <a:pt x="0" y="2214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38B7F97-EEE2-471B-916A-23743AF26C14}"/>
                </a:ext>
              </a:extLst>
            </p:cNvPr>
            <p:cNvSpPr/>
            <p:nvPr/>
          </p:nvSpPr>
          <p:spPr>
            <a:xfrm>
              <a:off x="11088721" y="858738"/>
              <a:ext cx="225029" cy="225029"/>
            </a:xfrm>
            <a:custGeom>
              <a:avLst/>
              <a:gdLst>
                <a:gd name="connsiteX0" fmla="*/ 112515 w 225029"/>
                <a:gd name="connsiteY0" fmla="*/ 0 h 225029"/>
                <a:gd name="connsiteX1" fmla="*/ 0 w 225029"/>
                <a:gd name="connsiteY1" fmla="*/ 40650 h 225029"/>
                <a:gd name="connsiteX2" fmla="*/ 0 w 225029"/>
                <a:gd name="connsiteY2" fmla="*/ 184016 h 225029"/>
                <a:gd name="connsiteX3" fmla="*/ 112515 w 225029"/>
                <a:gd name="connsiteY3" fmla="*/ 225029 h 225029"/>
                <a:gd name="connsiteX4" fmla="*/ 225029 w 225029"/>
                <a:gd name="connsiteY4" fmla="*/ 184379 h 225029"/>
                <a:gd name="connsiteX5" fmla="*/ 225029 w 225029"/>
                <a:gd name="connsiteY5" fmla="*/ 40650 h 225029"/>
                <a:gd name="connsiteX6" fmla="*/ 112515 w 225029"/>
                <a:gd name="connsiteY6" fmla="*/ 0 h 22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5029" h="225029">
                  <a:moveTo>
                    <a:pt x="112515" y="0"/>
                  </a:moveTo>
                  <a:cubicBezTo>
                    <a:pt x="50087" y="0"/>
                    <a:pt x="0" y="18148"/>
                    <a:pt x="0" y="40650"/>
                  </a:cubicBezTo>
                  <a:lnTo>
                    <a:pt x="0" y="184016"/>
                  </a:lnTo>
                  <a:cubicBezTo>
                    <a:pt x="0" y="206882"/>
                    <a:pt x="50087" y="225029"/>
                    <a:pt x="112515" y="225029"/>
                  </a:cubicBezTo>
                  <a:cubicBezTo>
                    <a:pt x="174942" y="225029"/>
                    <a:pt x="225029" y="206882"/>
                    <a:pt x="225029" y="184379"/>
                  </a:cubicBezTo>
                  <a:lnTo>
                    <a:pt x="225029" y="40650"/>
                  </a:lnTo>
                  <a:cubicBezTo>
                    <a:pt x="225029" y="18148"/>
                    <a:pt x="174942" y="0"/>
                    <a:pt x="112515" y="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43A0B34-7AE2-4815-B435-0A64F0C9DDAF}"/>
              </a:ext>
            </a:extLst>
          </p:cNvPr>
          <p:cNvGrpSpPr>
            <a:grpSpLocks/>
          </p:cNvGrpSpPr>
          <p:nvPr/>
        </p:nvGrpSpPr>
        <p:grpSpPr>
          <a:xfrm>
            <a:off x="10481839" y="4571367"/>
            <a:ext cx="244800" cy="246221"/>
            <a:chOff x="9224208" y="2060372"/>
            <a:chExt cx="248140" cy="248140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89659865-424B-4EC9-BCF7-CD56F9643AD3}"/>
                </a:ext>
              </a:extLst>
            </p:cNvPr>
            <p:cNvSpPr/>
            <p:nvPr/>
          </p:nvSpPr>
          <p:spPr>
            <a:xfrm>
              <a:off x="9224208" y="2060372"/>
              <a:ext cx="248140" cy="248140"/>
            </a:xfrm>
            <a:prstGeom prst="ellipse">
              <a:avLst/>
            </a:prstGeom>
            <a:solidFill>
              <a:srgbClr val="FFC000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16" name="Graphic 377">
              <a:extLst>
                <a:ext uri="{FF2B5EF4-FFF2-40B4-BE49-F238E27FC236}">
                  <a16:creationId xmlns:a16="http://schemas.microsoft.com/office/drawing/2014/main" id="{3014ADD7-0787-4552-B659-C139D3DC55A1}"/>
                </a:ext>
              </a:extLst>
            </p:cNvPr>
            <p:cNvSpPr/>
            <p:nvPr/>
          </p:nvSpPr>
          <p:spPr>
            <a:xfrm>
              <a:off x="9279768" y="2125191"/>
              <a:ext cx="137020" cy="118503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cxnSp>
        <p:nvCxnSpPr>
          <p:cNvPr id="90" name="LineSpecialityArrow 73">
            <a:extLst>
              <a:ext uri="{FF2B5EF4-FFF2-40B4-BE49-F238E27FC236}">
                <a16:creationId xmlns:a16="http://schemas.microsoft.com/office/drawing/2014/main" id="{D1C322CB-D481-4785-AD07-9DE4A5898557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>
          <a:xfrm>
            <a:off x="5705455" y="5069724"/>
            <a:ext cx="640381" cy="0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4E210BF-6868-4A83-B11E-70EA42AAC57F}"/>
              </a:ext>
            </a:extLst>
          </p:cNvPr>
          <p:cNvSpPr/>
          <p:nvPr/>
        </p:nvSpPr>
        <p:spPr>
          <a:xfrm>
            <a:off x="9031216" y="2327058"/>
            <a:ext cx="2466631" cy="881966"/>
          </a:xfrm>
          <a:prstGeom prst="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16DEE87-5D06-4A60-BEC3-B100282073A1}"/>
              </a:ext>
            </a:extLst>
          </p:cNvPr>
          <p:cNvSpPr txBox="1"/>
          <p:nvPr/>
        </p:nvSpPr>
        <p:spPr>
          <a:xfrm>
            <a:off x="9556746" y="2466270"/>
            <a:ext cx="1828041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>
                <a:solidFill>
                  <a:schemeClr val="bg1"/>
                </a:solidFill>
              </a:rPr>
              <a:t>Сбор информации по графику работы ГБУ «Жилищник» проводится ЕДЦ в ручном режиме</a:t>
            </a:r>
          </a:p>
        </p:txBody>
      </p:sp>
      <p:pic>
        <p:nvPicPr>
          <p:cNvPr id="103" name="CustomIcon">
            <a:extLst>
              <a:ext uri="{FF2B5EF4-FFF2-40B4-BE49-F238E27FC236}">
                <a16:creationId xmlns:a16="http://schemas.microsoft.com/office/drawing/2014/main" id="{3E656B65-C38E-4E42-A0BD-719349A04021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082700" y="2587956"/>
            <a:ext cx="386973" cy="38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724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E9A24DF3-2E7C-41F4-9F1A-FD13CA08D63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460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3" name="think-cell Slide" r:id="rId12" imgW="395" imgH="396" progId="TCLayout.ActiveDocument.1">
                  <p:embed/>
                </p:oleObj>
              </mc:Choice>
              <mc:Fallback>
                <p:oleObj name="think-cell Slide" r:id="rId12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9A24DF3-2E7C-41F4-9F1A-FD13CA08D6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TextBox 79">
            <a:extLst>
              <a:ext uri="{FF2B5EF4-FFF2-40B4-BE49-F238E27FC236}">
                <a16:creationId xmlns:a16="http://schemas.microsoft.com/office/drawing/2014/main" id="{84E9AC13-6045-4B53-95ED-9C79758EECE7}"/>
              </a:ext>
            </a:extLst>
          </p:cNvPr>
          <p:cNvSpPr txBox="1">
            <a:spLocks/>
          </p:cNvSpPr>
          <p:nvPr/>
        </p:nvSpPr>
        <p:spPr>
          <a:xfrm>
            <a:off x="0" y="1267297"/>
            <a:ext cx="12192000" cy="391815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76200" tIns="76200" rIns="76200" bIns="7620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endParaRPr lang="ru-RU" sz="1800" b="1" dirty="0">
              <a:solidFill>
                <a:srgbClr val="FFFF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CFB0A0-8034-4665-9470-77C301DD38AA}"/>
              </a:ext>
            </a:extLst>
          </p:cNvPr>
          <p:cNvSpPr txBox="1"/>
          <p:nvPr/>
        </p:nvSpPr>
        <p:spPr>
          <a:xfrm>
            <a:off x="554737" y="1370871"/>
            <a:ext cx="413093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200" b="1" dirty="0">
                <a:solidFill>
                  <a:srgbClr val="FFFFFF"/>
                </a:solidFill>
              </a:rPr>
              <a:t>ЦЕЛЕВОЙ ПРОЦЕСС ОБРАБОТКИ ОБРАЩЕНИЙ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138EBF31-BC3B-4BFD-B499-1F65206178B2}"/>
              </a:ext>
            </a:extLst>
          </p:cNvPr>
          <p:cNvSpPr/>
          <p:nvPr/>
        </p:nvSpPr>
        <p:spPr>
          <a:xfrm>
            <a:off x="558940" y="2027157"/>
            <a:ext cx="969264" cy="3284032"/>
          </a:xfrm>
          <a:prstGeom prst="roundRect">
            <a:avLst>
              <a:gd name="adj" fmla="val 7606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36000" rIns="36000" bIns="36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r>
              <a:rPr lang="ru-RU" sz="1000" b="1" dirty="0">
                <a:cs typeface="Arial" panose="020B0604020202020204" pitchFamily="34" charset="0"/>
              </a:rPr>
              <a:t>Обращение жителя </a:t>
            </a:r>
            <a:br>
              <a:rPr lang="en-US" sz="1000" b="1" dirty="0">
                <a:cs typeface="Arial" panose="020B0604020202020204" pitchFamily="34" charset="0"/>
              </a:rPr>
            </a:br>
            <a:r>
              <a:rPr lang="ru-RU" sz="1000" b="1" dirty="0">
                <a:cs typeface="Arial" panose="020B0604020202020204" pitchFamily="34" charset="0"/>
              </a:rPr>
              <a:t>в ЕДЦ </a:t>
            </a:r>
            <a:br>
              <a:rPr lang="en-US" sz="1000" b="1" dirty="0">
                <a:cs typeface="Arial" panose="020B0604020202020204" pitchFamily="34" charset="0"/>
              </a:rPr>
            </a:br>
            <a:r>
              <a:rPr lang="ru-RU" sz="1000" b="1" dirty="0">
                <a:cs typeface="Arial" panose="020B0604020202020204" pitchFamily="34" charset="0"/>
              </a:rPr>
              <a:t>с вопросом о графике работы УК</a:t>
            </a:r>
          </a:p>
        </p:txBody>
      </p:sp>
      <p:cxnSp>
        <p:nvCxnSpPr>
          <p:cNvPr id="145" name="LineSpecialityArrow 73">
            <a:extLst>
              <a:ext uri="{FF2B5EF4-FFF2-40B4-BE49-F238E27FC236}">
                <a16:creationId xmlns:a16="http://schemas.microsoft.com/office/drawing/2014/main" id="{7B8CEDE8-019A-468B-AB58-056F4AE3E7B6}"/>
              </a:ext>
            </a:extLst>
          </p:cNvPr>
          <p:cNvCxnSpPr>
            <a:cxnSpLocks/>
            <a:stCxn id="124" idx="3"/>
            <a:endCxn id="116" idx="1"/>
          </p:cNvCxnSpPr>
          <p:nvPr>
            <p:custDataLst>
              <p:tags r:id="rId3"/>
            </p:custDataLst>
          </p:nvPr>
        </p:nvCxnSpPr>
        <p:spPr>
          <a:xfrm flipV="1">
            <a:off x="6063031" y="2785203"/>
            <a:ext cx="503246" cy="860018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LineSpecialityArrow 73">
            <a:extLst>
              <a:ext uri="{FF2B5EF4-FFF2-40B4-BE49-F238E27FC236}">
                <a16:creationId xmlns:a16="http://schemas.microsoft.com/office/drawing/2014/main" id="{6A86F7CC-BDFA-4E58-82EA-91A3ECE35551}"/>
              </a:ext>
            </a:extLst>
          </p:cNvPr>
          <p:cNvCxnSpPr>
            <a:cxnSpLocks/>
            <a:stCxn id="124" idx="3"/>
            <a:endCxn id="102" idx="1"/>
          </p:cNvCxnSpPr>
          <p:nvPr>
            <p:custDataLst>
              <p:tags r:id="rId4"/>
            </p:custDataLst>
          </p:nvPr>
        </p:nvCxnSpPr>
        <p:spPr>
          <a:xfrm>
            <a:off x="6063031" y="3645221"/>
            <a:ext cx="489122" cy="1324438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54528792-9FD7-4220-99F5-17A1F7DD9443}"/>
              </a:ext>
            </a:extLst>
          </p:cNvPr>
          <p:cNvSpPr>
            <a:spLocks/>
          </p:cNvSpPr>
          <p:nvPr/>
        </p:nvSpPr>
        <p:spPr>
          <a:xfrm rot="2700000">
            <a:off x="4700734" y="3088891"/>
            <a:ext cx="1128563" cy="1128563"/>
          </a:xfrm>
          <a:prstGeom prst="roundRect">
            <a:avLst>
              <a:gd name="adj" fmla="val 11756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180000" rIns="36000" bIns="1188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000" b="1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cxnSp>
        <p:nvCxnSpPr>
          <p:cNvPr id="205" name="LineSpecialityArrow 73">
            <a:extLst>
              <a:ext uri="{FF2B5EF4-FFF2-40B4-BE49-F238E27FC236}">
                <a16:creationId xmlns:a16="http://schemas.microsoft.com/office/drawing/2014/main" id="{DCBB42C1-D568-48B4-A42C-57D7D6866671}"/>
              </a:ext>
            </a:extLst>
          </p:cNvPr>
          <p:cNvCxnSpPr>
            <a:cxnSpLocks/>
            <a:stCxn id="187" idx="3"/>
          </p:cNvCxnSpPr>
          <p:nvPr>
            <p:custDataLst>
              <p:tags r:id="rId5"/>
            </p:custDataLst>
          </p:nvPr>
        </p:nvCxnSpPr>
        <p:spPr>
          <a:xfrm flipV="1">
            <a:off x="3798691" y="3645221"/>
            <a:ext cx="687315" cy="10164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21AC25A-402D-49FA-AA77-44492397D1A1}"/>
              </a:ext>
            </a:extLst>
          </p:cNvPr>
          <p:cNvSpPr/>
          <p:nvPr/>
        </p:nvSpPr>
        <p:spPr>
          <a:xfrm>
            <a:off x="6566278" y="2467997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21104E4E-2CF3-4CF8-95F4-DB70448BA225}"/>
              </a:ext>
            </a:extLst>
          </p:cNvPr>
          <p:cNvSpPr>
            <a:spLocks/>
          </p:cNvSpPr>
          <p:nvPr/>
        </p:nvSpPr>
        <p:spPr>
          <a:xfrm>
            <a:off x="6566277" y="2501647"/>
            <a:ext cx="1985694" cy="567112"/>
          </a:xfrm>
          <a:prstGeom prst="roundRect">
            <a:avLst>
              <a:gd name="adj" fmla="val 11148"/>
            </a:avLst>
          </a:prstGeom>
          <a:solidFill>
            <a:srgbClr val="E6E6E6">
              <a:alpha val="50000"/>
            </a:srgbClr>
          </a:solidFill>
          <a:ln w="9525" cap="sq">
            <a:solidFill>
              <a:srgbClr val="F2F2F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498171B-5AAD-426A-8343-C1EA6785A6ED}"/>
              </a:ext>
            </a:extLst>
          </p:cNvPr>
          <p:cNvSpPr txBox="1">
            <a:spLocks/>
          </p:cNvSpPr>
          <p:nvPr/>
        </p:nvSpPr>
        <p:spPr>
          <a:xfrm>
            <a:off x="6656312" y="2631315"/>
            <a:ext cx="1737058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Актуальная информация предоставляется жителю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36747F15-64C2-49B7-A9D0-D201F71E2585}"/>
              </a:ext>
            </a:extLst>
          </p:cNvPr>
          <p:cNvGrpSpPr>
            <a:grpSpLocks/>
          </p:cNvGrpSpPr>
          <p:nvPr/>
        </p:nvGrpSpPr>
        <p:grpSpPr>
          <a:xfrm>
            <a:off x="8429571" y="2662093"/>
            <a:ext cx="244800" cy="246221"/>
            <a:chOff x="9224208" y="2060372"/>
            <a:chExt cx="248140" cy="248140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6D49776E-FA84-4562-8351-654AB6E53A81}"/>
                </a:ext>
              </a:extLst>
            </p:cNvPr>
            <p:cNvSpPr/>
            <p:nvPr/>
          </p:nvSpPr>
          <p:spPr>
            <a:xfrm>
              <a:off x="9224208" y="2060372"/>
              <a:ext cx="248140" cy="248140"/>
            </a:xfrm>
            <a:prstGeom prst="ellipse">
              <a:avLst/>
            </a:prstGeom>
            <a:solidFill>
              <a:srgbClr val="00B050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27" name="Graphic 377">
              <a:extLst>
                <a:ext uri="{FF2B5EF4-FFF2-40B4-BE49-F238E27FC236}">
                  <a16:creationId xmlns:a16="http://schemas.microsoft.com/office/drawing/2014/main" id="{B8A7D6EB-AE9C-49C3-AC4F-6F9208DEED00}"/>
                </a:ext>
              </a:extLst>
            </p:cNvPr>
            <p:cNvSpPr/>
            <p:nvPr/>
          </p:nvSpPr>
          <p:spPr>
            <a:xfrm>
              <a:off x="9279768" y="2125191"/>
              <a:ext cx="137020" cy="118503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41" name="4. Footnote">
            <a:extLst>
              <a:ext uri="{FF2B5EF4-FFF2-40B4-BE49-F238E27FC236}">
                <a16:creationId xmlns:a16="http://schemas.microsoft.com/office/drawing/2014/main" id="{012A0E4D-55EE-40E6-A20A-D9AA200A563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554736" y="6466640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1.	Выходные, праздничные дни, нерабочие дни в связи с пандемией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8D9B39A-974E-4855-AF6B-0B7F012CBB49}"/>
              </a:ext>
            </a:extLst>
          </p:cNvPr>
          <p:cNvGrpSpPr/>
          <p:nvPr/>
        </p:nvGrpSpPr>
        <p:grpSpPr>
          <a:xfrm>
            <a:off x="2026465" y="5045437"/>
            <a:ext cx="2352138" cy="567112"/>
            <a:chOff x="7595590" y="5497180"/>
            <a:chExt cx="2352138" cy="567112"/>
          </a:xfrm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47DC84DB-E41E-4752-A550-17F09CD7F818}"/>
                </a:ext>
              </a:extLst>
            </p:cNvPr>
            <p:cNvSpPr>
              <a:spLocks/>
            </p:cNvSpPr>
            <p:nvPr/>
          </p:nvSpPr>
          <p:spPr>
            <a:xfrm>
              <a:off x="7595590" y="5497180"/>
              <a:ext cx="2352138" cy="567112"/>
            </a:xfrm>
            <a:prstGeom prst="roundRect">
              <a:avLst>
                <a:gd name="adj" fmla="val 12527"/>
              </a:avLst>
            </a:prstGeom>
            <a:solidFill>
              <a:schemeClr val="tx2">
                <a:lumMod val="20000"/>
                <a:lumOff val="80000"/>
                <a:alpha val="50000"/>
              </a:schemeClr>
            </a:solidFill>
            <a:ln w="9525" cap="sq">
              <a:solidFill>
                <a:schemeClr val="tx2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077AB23-CC3E-44BA-AA82-80693F0478B0}"/>
                </a:ext>
              </a:extLst>
            </p:cNvPr>
            <p:cNvSpPr txBox="1"/>
            <p:nvPr/>
          </p:nvSpPr>
          <p:spPr>
            <a:xfrm>
              <a:off x="7705655" y="5549904"/>
              <a:ext cx="2083706" cy="4616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ru-RU" sz="1000" dirty="0"/>
                <a:t>Требуется определить подходящую информационную систему для создания базы</a:t>
              </a:r>
            </a:p>
          </p:txBody>
        </p:sp>
      </p:grp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F73A09D0-6690-48CF-8735-6EC351339808}"/>
              </a:ext>
            </a:extLst>
          </p:cNvPr>
          <p:cNvSpPr>
            <a:spLocks/>
          </p:cNvSpPr>
          <p:nvPr/>
        </p:nvSpPr>
        <p:spPr>
          <a:xfrm>
            <a:off x="9050868" y="2251717"/>
            <a:ext cx="1985695" cy="1008784"/>
          </a:xfrm>
          <a:prstGeom prst="roundRect">
            <a:avLst>
              <a:gd name="adj" fmla="val 12527"/>
            </a:avLst>
          </a:prstGeom>
          <a:solidFill>
            <a:schemeClr val="tx2">
              <a:lumMod val="20000"/>
              <a:lumOff val="80000"/>
              <a:alpha val="50000"/>
            </a:schemeClr>
          </a:solidFill>
          <a:ln w="9525" cap="sq">
            <a:solidFill>
              <a:schemeClr val="tx2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AEF13E0-A022-4365-AA76-626157C30DD9}"/>
              </a:ext>
            </a:extLst>
          </p:cNvPr>
          <p:cNvSpPr txBox="1">
            <a:spLocks/>
          </p:cNvSpPr>
          <p:nvPr/>
        </p:nvSpPr>
        <p:spPr>
          <a:xfrm>
            <a:off x="9148921" y="2307963"/>
            <a:ext cx="1731206" cy="95253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Требуется разработать механизм передачи и актуализации информации от ГБУ «Жилищник» в базу данных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A6B88E8-6C78-4CCE-9FCC-90D7D398A529}"/>
              </a:ext>
            </a:extLst>
          </p:cNvPr>
          <p:cNvSpPr/>
          <p:nvPr/>
        </p:nvSpPr>
        <p:spPr>
          <a:xfrm>
            <a:off x="5742672" y="3485041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61159F9-5A88-4A62-9721-1F1E2F8C2CE3}"/>
              </a:ext>
            </a:extLst>
          </p:cNvPr>
          <p:cNvSpPr/>
          <p:nvPr/>
        </p:nvSpPr>
        <p:spPr>
          <a:xfrm>
            <a:off x="4467000" y="3485041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529CB14-A4E8-4880-997C-4F66B48F3FA4}"/>
              </a:ext>
            </a:extLst>
          </p:cNvPr>
          <p:cNvSpPr txBox="1"/>
          <p:nvPr/>
        </p:nvSpPr>
        <p:spPr>
          <a:xfrm>
            <a:off x="4673629" y="3260500"/>
            <a:ext cx="1182772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ru-RU" sz="1000" b="1" dirty="0"/>
              <a:t>Дом </a:t>
            </a:r>
            <a:br>
              <a:rPr lang="en-US" sz="1000" b="1" dirty="0"/>
            </a:br>
            <a:r>
              <a:rPr lang="ru-RU" sz="1000" b="1" dirty="0"/>
              <a:t>обслужи</a:t>
            </a:r>
            <a:r>
              <a:rPr lang="en-US" sz="1000" b="1" dirty="0"/>
              <a:t>-</a:t>
            </a:r>
            <a:r>
              <a:rPr lang="ru-RU" sz="1000" b="1" dirty="0"/>
              <a:t>вается ГБУ "Жилищник"</a:t>
            </a:r>
            <a:br>
              <a:rPr lang="en-US" sz="1000" b="1" dirty="0"/>
            </a:br>
            <a:r>
              <a:rPr lang="ru-RU" sz="1000" b="1" dirty="0"/>
              <a:t>?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6D749FD9-4FD2-4F9F-AB3C-32C1AF437E2F}"/>
              </a:ext>
            </a:extLst>
          </p:cNvPr>
          <p:cNvSpPr/>
          <p:nvPr/>
        </p:nvSpPr>
        <p:spPr>
          <a:xfrm>
            <a:off x="3921157" y="3485041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6B2DA8B-7570-482B-96DE-BC22AB371839}"/>
              </a:ext>
            </a:extLst>
          </p:cNvPr>
          <p:cNvSpPr txBox="1">
            <a:spLocks/>
          </p:cNvSpPr>
          <p:nvPr/>
        </p:nvSpPr>
        <p:spPr>
          <a:xfrm>
            <a:off x="6108881" y="2550778"/>
            <a:ext cx="237244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Да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BA8A37C-AFDF-4FFF-AE68-98E4D27499A4}"/>
              </a:ext>
            </a:extLst>
          </p:cNvPr>
          <p:cNvSpPr txBox="1">
            <a:spLocks/>
          </p:cNvSpPr>
          <p:nvPr/>
        </p:nvSpPr>
        <p:spPr>
          <a:xfrm>
            <a:off x="5939129" y="4459755"/>
            <a:ext cx="237244" cy="15388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Нет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28F0334E-73DC-4383-903C-94C3DFAD8278}"/>
              </a:ext>
            </a:extLst>
          </p:cNvPr>
          <p:cNvSpPr/>
          <p:nvPr/>
        </p:nvSpPr>
        <p:spPr>
          <a:xfrm>
            <a:off x="3478332" y="3495205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07" name="2. Slide Title">
            <a:extLst>
              <a:ext uri="{FF2B5EF4-FFF2-40B4-BE49-F238E27FC236}">
                <a16:creationId xmlns:a16="http://schemas.microsoft.com/office/drawing/2014/main" id="{C6D67D3C-A06B-4CE1-9BDC-21DE92F2799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819150" y="305832"/>
            <a:ext cx="10818112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Обработка обращений по графику работы УК</a:t>
            </a:r>
          </a:p>
        </p:txBody>
      </p:sp>
      <p:sp>
        <p:nvSpPr>
          <p:cNvPr id="108" name="TrackerAlphaBlue">
            <a:extLst>
              <a:ext uri="{FF2B5EF4-FFF2-40B4-BE49-F238E27FC236}">
                <a16:creationId xmlns:a16="http://schemas.microsoft.com/office/drawing/2014/main" id="{C4D409C0-3786-4F59-8481-FB3BCAB0C2A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4412" y="211698"/>
            <a:ext cx="471667" cy="471667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2600" b="1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D2346CF-99A9-42D0-9317-71FF4699C828}"/>
              </a:ext>
            </a:extLst>
          </p:cNvPr>
          <p:cNvSpPr txBox="1"/>
          <p:nvPr/>
        </p:nvSpPr>
        <p:spPr>
          <a:xfrm>
            <a:off x="7742195" y="718304"/>
            <a:ext cx="529982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Проблема </a:t>
            </a:r>
            <a:br>
              <a:rPr lang="en-US" sz="800" dirty="0"/>
            </a:br>
            <a:r>
              <a:rPr lang="ru-RU" sz="800" dirty="0"/>
              <a:t>жителя </a:t>
            </a:r>
            <a:br>
              <a:rPr lang="en-US" sz="800" dirty="0"/>
            </a:br>
            <a:r>
              <a:rPr lang="ru-RU" sz="800" dirty="0"/>
              <a:t>решена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F36DE9D-5915-4A1E-BA26-4DDF5EA1DE36}"/>
              </a:ext>
            </a:extLst>
          </p:cNvPr>
          <p:cNvGrpSpPr>
            <a:grpSpLocks/>
          </p:cNvGrpSpPr>
          <p:nvPr/>
        </p:nvGrpSpPr>
        <p:grpSpPr>
          <a:xfrm>
            <a:off x="7373950" y="779860"/>
            <a:ext cx="244800" cy="246221"/>
            <a:chOff x="9224208" y="2060372"/>
            <a:chExt cx="248140" cy="248140"/>
          </a:xfrm>
        </p:grpSpPr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3F2A2598-175B-4E1D-AB7A-B5048D227F4C}"/>
                </a:ext>
              </a:extLst>
            </p:cNvPr>
            <p:cNvSpPr/>
            <p:nvPr/>
          </p:nvSpPr>
          <p:spPr>
            <a:xfrm>
              <a:off x="9224208" y="2060372"/>
              <a:ext cx="248140" cy="248140"/>
            </a:xfrm>
            <a:prstGeom prst="ellipse">
              <a:avLst/>
            </a:prstGeom>
            <a:solidFill>
              <a:srgbClr val="00B050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6" name="Graphic 377">
              <a:extLst>
                <a:ext uri="{FF2B5EF4-FFF2-40B4-BE49-F238E27FC236}">
                  <a16:creationId xmlns:a16="http://schemas.microsoft.com/office/drawing/2014/main" id="{AFFAE0BB-5342-446D-9D1B-B1C98B2E9055}"/>
                </a:ext>
              </a:extLst>
            </p:cNvPr>
            <p:cNvSpPr/>
            <p:nvPr/>
          </p:nvSpPr>
          <p:spPr>
            <a:xfrm>
              <a:off x="9279768" y="2125191"/>
              <a:ext cx="137020" cy="118503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883FE5E-B3C4-4176-ABC1-E020BE1DAD13}"/>
              </a:ext>
            </a:extLst>
          </p:cNvPr>
          <p:cNvSpPr txBox="1"/>
          <p:nvPr/>
        </p:nvSpPr>
        <p:spPr>
          <a:xfrm>
            <a:off x="8763867" y="718304"/>
            <a:ext cx="83218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Проблема </a:t>
            </a:r>
            <a:br>
              <a:rPr lang="en-US" sz="800" dirty="0"/>
            </a:br>
            <a:r>
              <a:rPr lang="ru-RU" sz="800" dirty="0"/>
              <a:t>жителя решена </a:t>
            </a:r>
            <a:br>
              <a:rPr lang="en-US" sz="800" dirty="0"/>
            </a:br>
            <a:r>
              <a:rPr lang="ru-RU" sz="800" dirty="0"/>
              <a:t>частично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137EE26-0840-4B08-85BB-D045CF913040}"/>
              </a:ext>
            </a:extLst>
          </p:cNvPr>
          <p:cNvGrpSpPr>
            <a:grpSpLocks/>
          </p:cNvGrpSpPr>
          <p:nvPr/>
        </p:nvGrpSpPr>
        <p:grpSpPr>
          <a:xfrm>
            <a:off x="8395622" y="779860"/>
            <a:ext cx="244800" cy="246221"/>
            <a:chOff x="9224208" y="2060372"/>
            <a:chExt cx="248140" cy="248140"/>
          </a:xfrm>
        </p:grpSpPr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E0E670AE-D516-43A6-92C5-C0B90EE36E53}"/>
                </a:ext>
              </a:extLst>
            </p:cNvPr>
            <p:cNvSpPr/>
            <p:nvPr/>
          </p:nvSpPr>
          <p:spPr>
            <a:xfrm>
              <a:off x="9224208" y="2060372"/>
              <a:ext cx="248140" cy="248140"/>
            </a:xfrm>
            <a:prstGeom prst="ellipse">
              <a:avLst/>
            </a:prstGeom>
            <a:solidFill>
              <a:srgbClr val="FFC000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4" name="Graphic 377">
              <a:extLst>
                <a:ext uri="{FF2B5EF4-FFF2-40B4-BE49-F238E27FC236}">
                  <a16:creationId xmlns:a16="http://schemas.microsoft.com/office/drawing/2014/main" id="{9AFD2BAF-FD74-4175-B290-CEF5F41D14FA}"/>
                </a:ext>
              </a:extLst>
            </p:cNvPr>
            <p:cNvSpPr/>
            <p:nvPr/>
          </p:nvSpPr>
          <p:spPr>
            <a:xfrm>
              <a:off x="9279768" y="2125191"/>
              <a:ext cx="137020" cy="118503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E885E911-4E03-40EC-A06C-169580FA7E08}"/>
              </a:ext>
            </a:extLst>
          </p:cNvPr>
          <p:cNvSpPr txBox="1"/>
          <p:nvPr/>
        </p:nvSpPr>
        <p:spPr>
          <a:xfrm>
            <a:off x="10087735" y="718304"/>
            <a:ext cx="565861" cy="3693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Проблема </a:t>
            </a:r>
            <a:br>
              <a:rPr lang="en-US" sz="800" dirty="0"/>
            </a:br>
            <a:r>
              <a:rPr lang="ru-RU" sz="800" dirty="0"/>
              <a:t>жителя </a:t>
            </a:r>
            <a:br>
              <a:rPr lang="ru-RU" sz="800" dirty="0"/>
            </a:br>
            <a:r>
              <a:rPr lang="ru-RU" sz="800" dirty="0"/>
              <a:t>не решена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6247CFE-0A89-4709-A8D0-BE89868C8BE2}"/>
              </a:ext>
            </a:extLst>
          </p:cNvPr>
          <p:cNvGrpSpPr>
            <a:grpSpLocks/>
          </p:cNvGrpSpPr>
          <p:nvPr/>
        </p:nvGrpSpPr>
        <p:grpSpPr>
          <a:xfrm>
            <a:off x="9719492" y="779860"/>
            <a:ext cx="244800" cy="246221"/>
            <a:chOff x="10097600" y="2224806"/>
            <a:chExt cx="396228" cy="396228"/>
          </a:xfrm>
        </p:grpSpPr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5B7AB816-1DF4-4DFB-91BA-673A4AB308ED}"/>
                </a:ext>
              </a:extLst>
            </p:cNvPr>
            <p:cNvSpPr/>
            <p:nvPr/>
          </p:nvSpPr>
          <p:spPr>
            <a:xfrm>
              <a:off x="10097600" y="2224806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0F12AE72-B3C0-482D-94EA-A0961E6DF518}"/>
                </a:ext>
              </a:extLst>
            </p:cNvPr>
            <p:cNvGrpSpPr/>
            <p:nvPr/>
          </p:nvGrpSpPr>
          <p:grpSpPr>
            <a:xfrm>
              <a:off x="10193928" y="2321134"/>
              <a:ext cx="203573" cy="203573"/>
              <a:chOff x="10228478" y="2355684"/>
              <a:chExt cx="134470" cy="134470"/>
            </a:xfrm>
          </p:grpSpPr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72BE763D-A4CA-4862-B136-CA35ACBDD593}"/>
                  </a:ext>
                </a:extLst>
              </p:cNvPr>
              <p:cNvSpPr/>
              <p:nvPr/>
            </p:nvSpPr>
            <p:spPr>
              <a:xfrm>
                <a:off x="10228478" y="2355684"/>
                <a:ext cx="134470" cy="134470"/>
              </a:xfrm>
              <a:custGeom>
                <a:avLst/>
                <a:gdLst>
                  <a:gd name="connsiteX0" fmla="*/ 0 w 134470"/>
                  <a:gd name="connsiteY0" fmla="*/ 0 h 134470"/>
                  <a:gd name="connsiteX1" fmla="*/ 134471 w 134470"/>
                  <a:gd name="connsiteY1" fmla="*/ 134471 h 134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470" h="134470">
                    <a:moveTo>
                      <a:pt x="0" y="0"/>
                    </a:moveTo>
                    <a:lnTo>
                      <a:pt x="134471" y="134471"/>
                    </a:lnTo>
                  </a:path>
                </a:pathLst>
              </a:custGeom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7989120E-B4D3-40AF-B787-5F64206EA667}"/>
                  </a:ext>
                </a:extLst>
              </p:cNvPr>
              <p:cNvSpPr/>
              <p:nvPr/>
            </p:nvSpPr>
            <p:spPr>
              <a:xfrm>
                <a:off x="10228478" y="2355684"/>
                <a:ext cx="134470" cy="134470"/>
              </a:xfrm>
              <a:custGeom>
                <a:avLst/>
                <a:gdLst>
                  <a:gd name="connsiteX0" fmla="*/ 134471 w 134470"/>
                  <a:gd name="connsiteY0" fmla="*/ 0 h 134470"/>
                  <a:gd name="connsiteX1" fmla="*/ 0 w 134470"/>
                  <a:gd name="connsiteY1" fmla="*/ 134471 h 134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470" h="134470">
                    <a:moveTo>
                      <a:pt x="134471" y="0"/>
                    </a:moveTo>
                    <a:lnTo>
                      <a:pt x="0" y="134471"/>
                    </a:lnTo>
                  </a:path>
                </a:pathLst>
              </a:custGeom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0DD1BE8C-21C5-4DD1-8028-4970F45534DF}"/>
              </a:ext>
            </a:extLst>
          </p:cNvPr>
          <p:cNvSpPr txBox="1"/>
          <p:nvPr/>
        </p:nvSpPr>
        <p:spPr>
          <a:xfrm>
            <a:off x="5261995" y="779860"/>
            <a:ext cx="907300" cy="24622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Взаимодействие </a:t>
            </a:r>
            <a:br>
              <a:rPr lang="en-US" sz="800" dirty="0"/>
            </a:br>
            <a:r>
              <a:rPr lang="ru-RU" sz="800" dirty="0"/>
              <a:t>с городскими ИС</a:t>
            </a:r>
          </a:p>
        </p:txBody>
      </p:sp>
      <p:grpSp>
        <p:nvGrpSpPr>
          <p:cNvPr id="140" name="CustomIcon">
            <a:extLst>
              <a:ext uri="{FF2B5EF4-FFF2-40B4-BE49-F238E27FC236}">
                <a16:creationId xmlns:a16="http://schemas.microsoft.com/office/drawing/2014/main" id="{8BC9EB76-C07A-4CC6-8F01-78FC6D4A0EB5}"/>
              </a:ext>
            </a:extLst>
          </p:cNvPr>
          <p:cNvGrpSpPr>
            <a:grpSpLocks/>
          </p:cNvGrpSpPr>
          <p:nvPr/>
        </p:nvGrpSpPr>
        <p:grpSpPr>
          <a:xfrm>
            <a:off x="4906262" y="786826"/>
            <a:ext cx="232288" cy="232288"/>
            <a:chOff x="11085092" y="855109"/>
            <a:chExt cx="232288" cy="232288"/>
          </a:xfrm>
        </p:grpSpPr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1E23EC-4C47-418B-ADFF-133716299321}"/>
                </a:ext>
              </a:extLst>
            </p:cNvPr>
            <p:cNvSpPr/>
            <p:nvPr/>
          </p:nvSpPr>
          <p:spPr>
            <a:xfrm>
              <a:off x="11088721" y="948024"/>
              <a:ext cx="225029" cy="40650"/>
            </a:xfrm>
            <a:custGeom>
              <a:avLst/>
              <a:gdLst>
                <a:gd name="connsiteX0" fmla="*/ 225029 w 225029"/>
                <a:gd name="connsiteY0" fmla="*/ 0 h 40650"/>
                <a:gd name="connsiteX1" fmla="*/ 112515 w 225029"/>
                <a:gd name="connsiteY1" fmla="*/ 40650 h 40650"/>
                <a:gd name="connsiteX2" fmla="*/ 0 w 225029"/>
                <a:gd name="connsiteY2" fmla="*/ 0 h 4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029" h="40650">
                  <a:moveTo>
                    <a:pt x="225029" y="0"/>
                  </a:moveTo>
                  <a:cubicBezTo>
                    <a:pt x="225029" y="22503"/>
                    <a:pt x="174942" y="40650"/>
                    <a:pt x="112515" y="40650"/>
                  </a:cubicBezTo>
                  <a:cubicBezTo>
                    <a:pt x="50087" y="40650"/>
                    <a:pt x="0" y="2250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A304322-705C-41D4-9153-138B239B6F20}"/>
                </a:ext>
              </a:extLst>
            </p:cNvPr>
            <p:cNvSpPr/>
            <p:nvPr/>
          </p:nvSpPr>
          <p:spPr>
            <a:xfrm>
              <a:off x="11088721" y="858738"/>
              <a:ext cx="225029" cy="81300"/>
            </a:xfrm>
            <a:custGeom>
              <a:avLst/>
              <a:gdLst>
                <a:gd name="connsiteX0" fmla="*/ 225029 w 225029"/>
                <a:gd name="connsiteY0" fmla="*/ 40650 h 81300"/>
                <a:gd name="connsiteX1" fmla="*/ 112515 w 225029"/>
                <a:gd name="connsiteY1" fmla="*/ 81301 h 81300"/>
                <a:gd name="connsiteX2" fmla="*/ 0 w 225029"/>
                <a:gd name="connsiteY2" fmla="*/ 40650 h 81300"/>
                <a:gd name="connsiteX3" fmla="*/ 112515 w 225029"/>
                <a:gd name="connsiteY3" fmla="*/ 0 h 81300"/>
                <a:gd name="connsiteX4" fmla="*/ 225029 w 225029"/>
                <a:gd name="connsiteY4" fmla="*/ 40650 h 8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029" h="81300">
                  <a:moveTo>
                    <a:pt x="225029" y="40650"/>
                  </a:moveTo>
                  <a:cubicBezTo>
                    <a:pt x="225029" y="63101"/>
                    <a:pt x="174655" y="81301"/>
                    <a:pt x="112515" y="81301"/>
                  </a:cubicBezTo>
                  <a:cubicBezTo>
                    <a:pt x="50374" y="81301"/>
                    <a:pt x="0" y="63101"/>
                    <a:pt x="0" y="40650"/>
                  </a:cubicBezTo>
                  <a:cubicBezTo>
                    <a:pt x="0" y="18200"/>
                    <a:pt x="50374" y="0"/>
                    <a:pt x="112515" y="0"/>
                  </a:cubicBezTo>
                  <a:cubicBezTo>
                    <a:pt x="174655" y="0"/>
                    <a:pt x="225029" y="18200"/>
                    <a:pt x="225029" y="4065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9788AE3-23E1-4C9B-A363-AF9CEB8F8700}"/>
                </a:ext>
              </a:extLst>
            </p:cNvPr>
            <p:cNvSpPr/>
            <p:nvPr/>
          </p:nvSpPr>
          <p:spPr>
            <a:xfrm>
              <a:off x="11088721" y="996659"/>
              <a:ext cx="225029" cy="40650"/>
            </a:xfrm>
            <a:custGeom>
              <a:avLst/>
              <a:gdLst>
                <a:gd name="connsiteX0" fmla="*/ 225029 w 225029"/>
                <a:gd name="connsiteY0" fmla="*/ 0 h 40650"/>
                <a:gd name="connsiteX1" fmla="*/ 112515 w 225029"/>
                <a:gd name="connsiteY1" fmla="*/ 40650 h 40650"/>
                <a:gd name="connsiteX2" fmla="*/ 0 w 225029"/>
                <a:gd name="connsiteY2" fmla="*/ 0 h 4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029" h="40650">
                  <a:moveTo>
                    <a:pt x="225029" y="0"/>
                  </a:moveTo>
                  <a:cubicBezTo>
                    <a:pt x="225029" y="22503"/>
                    <a:pt x="174942" y="40650"/>
                    <a:pt x="112515" y="40650"/>
                  </a:cubicBezTo>
                  <a:cubicBezTo>
                    <a:pt x="50087" y="40650"/>
                    <a:pt x="0" y="2214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74B7608-9DC3-415D-BF9C-39C65186DBF3}"/>
                </a:ext>
              </a:extLst>
            </p:cNvPr>
            <p:cNvSpPr/>
            <p:nvPr/>
          </p:nvSpPr>
          <p:spPr>
            <a:xfrm>
              <a:off x="11088721" y="858738"/>
              <a:ext cx="225029" cy="225029"/>
            </a:xfrm>
            <a:custGeom>
              <a:avLst/>
              <a:gdLst>
                <a:gd name="connsiteX0" fmla="*/ 112515 w 225029"/>
                <a:gd name="connsiteY0" fmla="*/ 0 h 225029"/>
                <a:gd name="connsiteX1" fmla="*/ 0 w 225029"/>
                <a:gd name="connsiteY1" fmla="*/ 40650 h 225029"/>
                <a:gd name="connsiteX2" fmla="*/ 0 w 225029"/>
                <a:gd name="connsiteY2" fmla="*/ 184016 h 225029"/>
                <a:gd name="connsiteX3" fmla="*/ 112515 w 225029"/>
                <a:gd name="connsiteY3" fmla="*/ 225029 h 225029"/>
                <a:gd name="connsiteX4" fmla="*/ 225029 w 225029"/>
                <a:gd name="connsiteY4" fmla="*/ 184379 h 225029"/>
                <a:gd name="connsiteX5" fmla="*/ 225029 w 225029"/>
                <a:gd name="connsiteY5" fmla="*/ 40650 h 225029"/>
                <a:gd name="connsiteX6" fmla="*/ 112515 w 225029"/>
                <a:gd name="connsiteY6" fmla="*/ 0 h 22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5029" h="225029">
                  <a:moveTo>
                    <a:pt x="112515" y="0"/>
                  </a:moveTo>
                  <a:cubicBezTo>
                    <a:pt x="50087" y="0"/>
                    <a:pt x="0" y="18148"/>
                    <a:pt x="0" y="40650"/>
                  </a:cubicBezTo>
                  <a:lnTo>
                    <a:pt x="0" y="184016"/>
                  </a:lnTo>
                  <a:cubicBezTo>
                    <a:pt x="0" y="206882"/>
                    <a:pt x="50087" y="225029"/>
                    <a:pt x="112515" y="225029"/>
                  </a:cubicBezTo>
                  <a:cubicBezTo>
                    <a:pt x="174942" y="225029"/>
                    <a:pt x="225029" y="206882"/>
                    <a:pt x="225029" y="184379"/>
                  </a:cubicBezTo>
                  <a:lnTo>
                    <a:pt x="225029" y="40650"/>
                  </a:lnTo>
                  <a:cubicBezTo>
                    <a:pt x="225029" y="18148"/>
                    <a:pt x="174942" y="0"/>
                    <a:pt x="112515" y="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E68D4F0F-544E-4F0C-AE66-72F8A1B9F314}"/>
              </a:ext>
            </a:extLst>
          </p:cNvPr>
          <p:cNvSpPr>
            <a:spLocks/>
          </p:cNvSpPr>
          <p:nvPr/>
        </p:nvSpPr>
        <p:spPr>
          <a:xfrm>
            <a:off x="6292740" y="786826"/>
            <a:ext cx="232288" cy="232288"/>
          </a:xfrm>
          <a:prstGeom prst="roundRect">
            <a:avLst>
              <a:gd name="adj" fmla="val 12527"/>
            </a:avLst>
          </a:prstGeom>
          <a:solidFill>
            <a:schemeClr val="tx2">
              <a:lumMod val="20000"/>
              <a:lumOff val="80000"/>
              <a:alpha val="50000"/>
            </a:schemeClr>
          </a:solidFill>
          <a:ln w="9525" cap="sq">
            <a:solidFill>
              <a:schemeClr val="tx2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801F62C-0BD1-4648-851C-BB4C914B1812}"/>
              </a:ext>
            </a:extLst>
          </p:cNvPr>
          <p:cNvSpPr txBox="1"/>
          <p:nvPr/>
        </p:nvSpPr>
        <p:spPr>
          <a:xfrm>
            <a:off x="6648473" y="779860"/>
            <a:ext cx="60203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Требуемые </a:t>
            </a:r>
            <a:br>
              <a:rPr lang="ru-RU" sz="800" dirty="0"/>
            </a:br>
            <a:r>
              <a:rPr lang="ru-RU" sz="800" dirty="0"/>
              <a:t>действия</a:t>
            </a:r>
          </a:p>
        </p:txBody>
      </p:sp>
      <p:pic>
        <p:nvPicPr>
          <p:cNvPr id="177" name="CustomIcon">
            <a:extLst>
              <a:ext uri="{FF2B5EF4-FFF2-40B4-BE49-F238E27FC236}">
                <a16:creationId xmlns:a16="http://schemas.microsoft.com/office/drawing/2014/main" id="{C9FB9247-32A4-4C98-88F8-D9212C6FC9BC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7607" y="4361046"/>
            <a:ext cx="609600" cy="609600"/>
          </a:xfrm>
          <a:prstGeom prst="rect">
            <a:avLst/>
          </a:prstGeom>
        </p:spPr>
      </p:pic>
      <p:cxnSp>
        <p:nvCxnSpPr>
          <p:cNvPr id="178" name="LineSpecialityArrow 73">
            <a:extLst>
              <a:ext uri="{FF2B5EF4-FFF2-40B4-BE49-F238E27FC236}">
                <a16:creationId xmlns:a16="http://schemas.microsoft.com/office/drawing/2014/main" id="{3A849968-6838-451A-8DA1-90A6EB04FDDD}"/>
              </a:ext>
            </a:extLst>
          </p:cNvPr>
          <p:cNvCxnSpPr>
            <a:cxnSpLocks/>
            <a:endCxn id="194" idx="1"/>
          </p:cNvCxnSpPr>
          <p:nvPr>
            <p:custDataLst>
              <p:tags r:id="rId10"/>
            </p:custDataLst>
          </p:nvPr>
        </p:nvCxnSpPr>
        <p:spPr>
          <a:xfrm>
            <a:off x="1600200" y="3645221"/>
            <a:ext cx="984034" cy="0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93700D1-E27A-45EA-B774-9B0F258E5A6B}"/>
              </a:ext>
            </a:extLst>
          </p:cNvPr>
          <p:cNvSpPr/>
          <p:nvPr/>
        </p:nvSpPr>
        <p:spPr>
          <a:xfrm>
            <a:off x="2598603" y="3594499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C8CF1845-1AA6-48E9-865D-7EF093B9AFA0}"/>
              </a:ext>
            </a:extLst>
          </p:cNvPr>
          <p:cNvSpPr/>
          <p:nvPr/>
        </p:nvSpPr>
        <p:spPr>
          <a:xfrm>
            <a:off x="2622125" y="2615580"/>
            <a:ext cx="1110957" cy="2107186"/>
          </a:xfrm>
          <a:prstGeom prst="roundRect">
            <a:avLst>
              <a:gd name="adj" fmla="val 7606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36000" rIns="36000" bIns="36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r>
              <a:rPr lang="ru-RU" sz="1000" b="1" dirty="0">
                <a:cs typeface="Arial" panose="020B0604020202020204" pitchFamily="34" charset="0"/>
              </a:rPr>
              <a:t>Проверка информации в базе данных по работе УК </a:t>
            </a:r>
          </a:p>
        </p:txBody>
      </p:sp>
      <p:grpSp>
        <p:nvGrpSpPr>
          <p:cNvPr id="189" name="CustomIcon">
            <a:extLst>
              <a:ext uri="{FF2B5EF4-FFF2-40B4-BE49-F238E27FC236}">
                <a16:creationId xmlns:a16="http://schemas.microsoft.com/office/drawing/2014/main" id="{DE58DB88-EF52-4137-8604-7ACBA403117B}"/>
              </a:ext>
            </a:extLst>
          </p:cNvPr>
          <p:cNvGrpSpPr/>
          <p:nvPr/>
        </p:nvGrpSpPr>
        <p:grpSpPr>
          <a:xfrm>
            <a:off x="3031308" y="4317910"/>
            <a:ext cx="232288" cy="232288"/>
            <a:chOff x="11085092" y="855109"/>
            <a:chExt cx="232288" cy="232288"/>
          </a:xfrm>
        </p:grpSpPr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725D2853-2C2A-4640-B4E0-08E5AA89C65A}"/>
                </a:ext>
              </a:extLst>
            </p:cNvPr>
            <p:cNvSpPr/>
            <p:nvPr/>
          </p:nvSpPr>
          <p:spPr>
            <a:xfrm>
              <a:off x="11088721" y="948024"/>
              <a:ext cx="225029" cy="40650"/>
            </a:xfrm>
            <a:custGeom>
              <a:avLst/>
              <a:gdLst>
                <a:gd name="connsiteX0" fmla="*/ 225029 w 225029"/>
                <a:gd name="connsiteY0" fmla="*/ 0 h 40650"/>
                <a:gd name="connsiteX1" fmla="*/ 112515 w 225029"/>
                <a:gd name="connsiteY1" fmla="*/ 40650 h 40650"/>
                <a:gd name="connsiteX2" fmla="*/ 0 w 225029"/>
                <a:gd name="connsiteY2" fmla="*/ 0 h 4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029" h="40650">
                  <a:moveTo>
                    <a:pt x="225029" y="0"/>
                  </a:moveTo>
                  <a:cubicBezTo>
                    <a:pt x="225029" y="22503"/>
                    <a:pt x="174942" y="40650"/>
                    <a:pt x="112515" y="40650"/>
                  </a:cubicBezTo>
                  <a:cubicBezTo>
                    <a:pt x="50087" y="40650"/>
                    <a:pt x="0" y="2250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7A6550A7-9D7B-41AD-AF91-02F9D3C8F33D}"/>
                </a:ext>
              </a:extLst>
            </p:cNvPr>
            <p:cNvSpPr/>
            <p:nvPr/>
          </p:nvSpPr>
          <p:spPr>
            <a:xfrm>
              <a:off x="11088721" y="858738"/>
              <a:ext cx="225029" cy="81300"/>
            </a:xfrm>
            <a:custGeom>
              <a:avLst/>
              <a:gdLst>
                <a:gd name="connsiteX0" fmla="*/ 225029 w 225029"/>
                <a:gd name="connsiteY0" fmla="*/ 40650 h 81300"/>
                <a:gd name="connsiteX1" fmla="*/ 112515 w 225029"/>
                <a:gd name="connsiteY1" fmla="*/ 81301 h 81300"/>
                <a:gd name="connsiteX2" fmla="*/ 0 w 225029"/>
                <a:gd name="connsiteY2" fmla="*/ 40650 h 81300"/>
                <a:gd name="connsiteX3" fmla="*/ 112515 w 225029"/>
                <a:gd name="connsiteY3" fmla="*/ 0 h 81300"/>
                <a:gd name="connsiteX4" fmla="*/ 225029 w 225029"/>
                <a:gd name="connsiteY4" fmla="*/ 40650 h 8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029" h="81300">
                  <a:moveTo>
                    <a:pt x="225029" y="40650"/>
                  </a:moveTo>
                  <a:cubicBezTo>
                    <a:pt x="225029" y="63101"/>
                    <a:pt x="174655" y="81301"/>
                    <a:pt x="112515" y="81301"/>
                  </a:cubicBezTo>
                  <a:cubicBezTo>
                    <a:pt x="50374" y="81301"/>
                    <a:pt x="0" y="63101"/>
                    <a:pt x="0" y="40650"/>
                  </a:cubicBezTo>
                  <a:cubicBezTo>
                    <a:pt x="0" y="18200"/>
                    <a:pt x="50374" y="0"/>
                    <a:pt x="112515" y="0"/>
                  </a:cubicBezTo>
                  <a:cubicBezTo>
                    <a:pt x="174655" y="0"/>
                    <a:pt x="225029" y="18200"/>
                    <a:pt x="225029" y="4065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5278524-3F0D-4DAA-BE90-B5298E446726}"/>
                </a:ext>
              </a:extLst>
            </p:cNvPr>
            <p:cNvSpPr/>
            <p:nvPr/>
          </p:nvSpPr>
          <p:spPr>
            <a:xfrm>
              <a:off x="11088721" y="996659"/>
              <a:ext cx="225029" cy="40650"/>
            </a:xfrm>
            <a:custGeom>
              <a:avLst/>
              <a:gdLst>
                <a:gd name="connsiteX0" fmla="*/ 225029 w 225029"/>
                <a:gd name="connsiteY0" fmla="*/ 0 h 40650"/>
                <a:gd name="connsiteX1" fmla="*/ 112515 w 225029"/>
                <a:gd name="connsiteY1" fmla="*/ 40650 h 40650"/>
                <a:gd name="connsiteX2" fmla="*/ 0 w 225029"/>
                <a:gd name="connsiteY2" fmla="*/ 0 h 4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029" h="40650">
                  <a:moveTo>
                    <a:pt x="225029" y="0"/>
                  </a:moveTo>
                  <a:cubicBezTo>
                    <a:pt x="225029" y="22503"/>
                    <a:pt x="174942" y="40650"/>
                    <a:pt x="112515" y="40650"/>
                  </a:cubicBezTo>
                  <a:cubicBezTo>
                    <a:pt x="50087" y="40650"/>
                    <a:pt x="0" y="2214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27EC24EA-B76D-485E-AEA3-F31EB3A2E127}"/>
                </a:ext>
              </a:extLst>
            </p:cNvPr>
            <p:cNvSpPr/>
            <p:nvPr/>
          </p:nvSpPr>
          <p:spPr>
            <a:xfrm>
              <a:off x="11088721" y="858738"/>
              <a:ext cx="225029" cy="225029"/>
            </a:xfrm>
            <a:custGeom>
              <a:avLst/>
              <a:gdLst>
                <a:gd name="connsiteX0" fmla="*/ 112515 w 225029"/>
                <a:gd name="connsiteY0" fmla="*/ 0 h 225029"/>
                <a:gd name="connsiteX1" fmla="*/ 0 w 225029"/>
                <a:gd name="connsiteY1" fmla="*/ 40650 h 225029"/>
                <a:gd name="connsiteX2" fmla="*/ 0 w 225029"/>
                <a:gd name="connsiteY2" fmla="*/ 184016 h 225029"/>
                <a:gd name="connsiteX3" fmla="*/ 112515 w 225029"/>
                <a:gd name="connsiteY3" fmla="*/ 225029 h 225029"/>
                <a:gd name="connsiteX4" fmla="*/ 225029 w 225029"/>
                <a:gd name="connsiteY4" fmla="*/ 184379 h 225029"/>
                <a:gd name="connsiteX5" fmla="*/ 225029 w 225029"/>
                <a:gd name="connsiteY5" fmla="*/ 40650 h 225029"/>
                <a:gd name="connsiteX6" fmla="*/ 112515 w 225029"/>
                <a:gd name="connsiteY6" fmla="*/ 0 h 22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5029" h="225029">
                  <a:moveTo>
                    <a:pt x="112515" y="0"/>
                  </a:moveTo>
                  <a:cubicBezTo>
                    <a:pt x="50087" y="0"/>
                    <a:pt x="0" y="18148"/>
                    <a:pt x="0" y="40650"/>
                  </a:cubicBezTo>
                  <a:lnTo>
                    <a:pt x="0" y="184016"/>
                  </a:lnTo>
                  <a:cubicBezTo>
                    <a:pt x="0" y="206882"/>
                    <a:pt x="50087" y="225029"/>
                    <a:pt x="112515" y="225029"/>
                  </a:cubicBezTo>
                  <a:cubicBezTo>
                    <a:pt x="174942" y="225029"/>
                    <a:pt x="225029" y="206882"/>
                    <a:pt x="225029" y="184379"/>
                  </a:cubicBezTo>
                  <a:lnTo>
                    <a:pt x="225029" y="40650"/>
                  </a:lnTo>
                  <a:cubicBezTo>
                    <a:pt x="225029" y="18148"/>
                    <a:pt x="174942" y="0"/>
                    <a:pt x="112515" y="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94" name="Rectangle 193">
            <a:extLst>
              <a:ext uri="{FF2B5EF4-FFF2-40B4-BE49-F238E27FC236}">
                <a16:creationId xmlns:a16="http://schemas.microsoft.com/office/drawing/2014/main" id="{31DDB375-330F-41A6-89AE-D60F8A0C1130}"/>
              </a:ext>
            </a:extLst>
          </p:cNvPr>
          <p:cNvSpPr/>
          <p:nvPr/>
        </p:nvSpPr>
        <p:spPr>
          <a:xfrm>
            <a:off x="2584234" y="3485041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42" name="Rectangle: Rounded Corners 241">
            <a:extLst>
              <a:ext uri="{FF2B5EF4-FFF2-40B4-BE49-F238E27FC236}">
                <a16:creationId xmlns:a16="http://schemas.microsoft.com/office/drawing/2014/main" id="{4EEE2A31-9E47-4156-AA5E-4BD8634497C3}"/>
              </a:ext>
            </a:extLst>
          </p:cNvPr>
          <p:cNvSpPr>
            <a:spLocks/>
          </p:cNvSpPr>
          <p:nvPr/>
        </p:nvSpPr>
        <p:spPr>
          <a:xfrm>
            <a:off x="9036108" y="4521496"/>
            <a:ext cx="1945391" cy="1069207"/>
          </a:xfrm>
          <a:prstGeom prst="roundRect">
            <a:avLst>
              <a:gd name="adj" fmla="val 12527"/>
            </a:avLst>
          </a:prstGeom>
          <a:solidFill>
            <a:schemeClr val="tx2">
              <a:lumMod val="20000"/>
              <a:lumOff val="80000"/>
              <a:alpha val="50000"/>
            </a:schemeClr>
          </a:solidFill>
          <a:ln w="9525" cap="sq">
            <a:solidFill>
              <a:schemeClr val="tx2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0062DA59-9C71-49CD-A8ED-E03B1E7F2AF0}"/>
              </a:ext>
            </a:extLst>
          </p:cNvPr>
          <p:cNvSpPr txBox="1"/>
          <p:nvPr/>
        </p:nvSpPr>
        <p:spPr>
          <a:xfrm>
            <a:off x="9127139" y="4592433"/>
            <a:ext cx="1752987" cy="104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Требуется разработать механизм передачи и актуализации информации от коммерческих УК в базу данных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A385182-C80B-45B1-96F4-A0C6070EBB31}"/>
              </a:ext>
            </a:extLst>
          </p:cNvPr>
          <p:cNvSpPr/>
          <p:nvPr/>
        </p:nvSpPr>
        <p:spPr>
          <a:xfrm>
            <a:off x="6552154" y="4652453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5FBA4C3-981A-48E4-84AC-E7787D6A8297}"/>
              </a:ext>
            </a:extLst>
          </p:cNvPr>
          <p:cNvSpPr>
            <a:spLocks/>
          </p:cNvSpPr>
          <p:nvPr/>
        </p:nvSpPr>
        <p:spPr>
          <a:xfrm>
            <a:off x="6552153" y="4686103"/>
            <a:ext cx="1985694" cy="567112"/>
          </a:xfrm>
          <a:prstGeom prst="roundRect">
            <a:avLst>
              <a:gd name="adj" fmla="val 11148"/>
            </a:avLst>
          </a:prstGeom>
          <a:solidFill>
            <a:srgbClr val="E6E6E6">
              <a:alpha val="50000"/>
            </a:srgbClr>
          </a:solidFill>
          <a:ln w="9525" cap="sq">
            <a:solidFill>
              <a:srgbClr val="F2F2F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A6B5F46-6529-4B6D-BD56-8F6D07AA081B}"/>
              </a:ext>
            </a:extLst>
          </p:cNvPr>
          <p:cNvSpPr txBox="1">
            <a:spLocks/>
          </p:cNvSpPr>
          <p:nvPr/>
        </p:nvSpPr>
        <p:spPr>
          <a:xfrm>
            <a:off x="6642188" y="4815771"/>
            <a:ext cx="1737058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Актуальная информация предоставляется жителю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48D794A-C5AD-4F4C-99AB-580E59285F76}"/>
              </a:ext>
            </a:extLst>
          </p:cNvPr>
          <p:cNvGrpSpPr>
            <a:grpSpLocks/>
          </p:cNvGrpSpPr>
          <p:nvPr/>
        </p:nvGrpSpPr>
        <p:grpSpPr>
          <a:xfrm>
            <a:off x="8415447" y="4846549"/>
            <a:ext cx="244800" cy="246221"/>
            <a:chOff x="9224208" y="2060372"/>
            <a:chExt cx="248140" cy="24814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08875D2-1114-4696-B55A-29E439B7D04D}"/>
                </a:ext>
              </a:extLst>
            </p:cNvPr>
            <p:cNvSpPr/>
            <p:nvPr/>
          </p:nvSpPr>
          <p:spPr>
            <a:xfrm>
              <a:off x="9224208" y="2060372"/>
              <a:ext cx="248140" cy="248140"/>
            </a:xfrm>
            <a:prstGeom prst="ellipse">
              <a:avLst/>
            </a:prstGeom>
            <a:solidFill>
              <a:srgbClr val="00B050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23" name="Graphic 377">
              <a:extLst>
                <a:ext uri="{FF2B5EF4-FFF2-40B4-BE49-F238E27FC236}">
                  <a16:creationId xmlns:a16="http://schemas.microsoft.com/office/drawing/2014/main" id="{B0F23254-92D9-4170-883B-EFF6A291A7F2}"/>
                </a:ext>
              </a:extLst>
            </p:cNvPr>
            <p:cNvSpPr/>
            <p:nvPr/>
          </p:nvSpPr>
          <p:spPr>
            <a:xfrm>
              <a:off x="9279768" y="2125191"/>
              <a:ext cx="137020" cy="118503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32448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E9A24DF3-2E7C-41F4-9F1A-FD13CA08D63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72875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27" name="think-cell Slide" r:id="rId10" imgW="395" imgH="396" progId="TCLayout.ActiveDocument.1">
                  <p:embed/>
                </p:oleObj>
              </mc:Choice>
              <mc:Fallback>
                <p:oleObj name="think-cell Slide" r:id="rId10" imgW="395" imgH="396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E9A24DF3-2E7C-41F4-9F1A-FD13CA08D6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TextBox 79">
            <a:extLst>
              <a:ext uri="{FF2B5EF4-FFF2-40B4-BE49-F238E27FC236}">
                <a16:creationId xmlns:a16="http://schemas.microsoft.com/office/drawing/2014/main" id="{84E9AC13-6045-4B53-95ED-9C79758EECE7}"/>
              </a:ext>
            </a:extLst>
          </p:cNvPr>
          <p:cNvSpPr txBox="1">
            <a:spLocks/>
          </p:cNvSpPr>
          <p:nvPr/>
        </p:nvSpPr>
        <p:spPr>
          <a:xfrm>
            <a:off x="0" y="1236651"/>
            <a:ext cx="12192000" cy="391815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76200" tIns="76200" rIns="76200" bIns="7620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endParaRPr lang="ru-RU" sz="1800" b="1" dirty="0">
              <a:solidFill>
                <a:srgbClr val="FFFF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CFB0A0-8034-4665-9470-77C301DD38AA}"/>
              </a:ext>
            </a:extLst>
          </p:cNvPr>
          <p:cNvSpPr txBox="1"/>
          <p:nvPr/>
        </p:nvSpPr>
        <p:spPr>
          <a:xfrm>
            <a:off x="554737" y="1340225"/>
            <a:ext cx="5381281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  <a:buNone/>
            </a:pPr>
            <a:r>
              <a:rPr lang="ru-RU" sz="1200" b="1" dirty="0">
                <a:solidFill>
                  <a:srgbClr val="FFFFFF"/>
                </a:solidFill>
              </a:rPr>
              <a:t>ТРЕБУЕМЫЕ ДЕЙСТВИЯ ДЛЯ РЕАЛИЗАЦИИ ЦЕЛЕВОЙ СХЕМЫ</a:t>
            </a:r>
          </a:p>
        </p:txBody>
      </p:sp>
      <p:sp>
        <p:nvSpPr>
          <p:cNvPr id="107" name="2. Slide Title">
            <a:extLst>
              <a:ext uri="{FF2B5EF4-FFF2-40B4-BE49-F238E27FC236}">
                <a16:creationId xmlns:a16="http://schemas.microsoft.com/office/drawing/2014/main" id="{C6D67D3C-A06B-4CE1-9BDC-21DE92F2799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19150" y="305832"/>
            <a:ext cx="10818112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Обработка обращений по графику работы УК</a:t>
            </a:r>
          </a:p>
        </p:txBody>
      </p:sp>
      <p:sp>
        <p:nvSpPr>
          <p:cNvPr id="108" name="TrackerAlphaBlue">
            <a:extLst>
              <a:ext uri="{FF2B5EF4-FFF2-40B4-BE49-F238E27FC236}">
                <a16:creationId xmlns:a16="http://schemas.microsoft.com/office/drawing/2014/main" id="{C4D409C0-3786-4F59-8481-FB3BCAB0C2A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4412" y="211698"/>
            <a:ext cx="471667" cy="471667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2600" b="1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6F4176-3D5E-4855-959A-986E9721AD62}"/>
              </a:ext>
            </a:extLst>
          </p:cNvPr>
          <p:cNvSpPr txBox="1"/>
          <p:nvPr/>
        </p:nvSpPr>
        <p:spPr>
          <a:xfrm>
            <a:off x="9098662" y="1373351"/>
            <a:ext cx="2442976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  <a:buNone/>
            </a:pPr>
            <a:r>
              <a:rPr lang="ru-RU" sz="1200" b="1" dirty="0">
                <a:solidFill>
                  <a:srgbClr val="FFFFFF"/>
                </a:solidFill>
              </a:rPr>
              <a:t>ОТВЕТСТВЕННАЯ СТОРОНА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9BF80F3-6CE1-4163-BFDF-A0455D509775}"/>
              </a:ext>
            </a:extLst>
          </p:cNvPr>
          <p:cNvGrpSpPr/>
          <p:nvPr/>
        </p:nvGrpSpPr>
        <p:grpSpPr>
          <a:xfrm>
            <a:off x="545197" y="1875945"/>
            <a:ext cx="11170541" cy="564706"/>
            <a:chOff x="554734" y="2059754"/>
            <a:chExt cx="11170541" cy="5647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9EB139B-A661-4B84-9E69-B6C994832D1B}"/>
                </a:ext>
              </a:extLst>
            </p:cNvPr>
            <p:cNvCxnSpPr>
              <a:cxnSpLocks/>
            </p:cNvCxnSpPr>
            <p:nvPr/>
          </p:nvCxnSpPr>
          <p:spPr>
            <a:xfrm>
              <a:off x="586725" y="2624460"/>
              <a:ext cx="11138550" cy="0"/>
            </a:xfrm>
            <a:prstGeom prst="line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</a:ln>
            <a:effectLst/>
          </p:spPr>
        </p:cxnSp>
        <p:sp>
          <p:nvSpPr>
            <p:cNvPr id="13" name="TrackerNumBlue">
              <a:extLst>
                <a:ext uri="{FF2B5EF4-FFF2-40B4-BE49-F238E27FC236}">
                  <a16:creationId xmlns:a16="http://schemas.microsoft.com/office/drawing/2014/main" id="{62CCBDC0-92D0-48EB-92C5-CB954623061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54734" y="2059754"/>
              <a:ext cx="365760" cy="365760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>
                <a:spcBef>
                  <a:spcPts val="300"/>
                </a:spcBef>
                <a:spcAft>
                  <a:spcPts val="300"/>
                </a:spcAft>
              </a:pPr>
              <a:r>
                <a:rPr lang="ru-RU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80465BB-4AE2-4CB8-8A3C-C8BEEBD2089A}"/>
                </a:ext>
              </a:extLst>
            </p:cNvPr>
            <p:cNvSpPr txBox="1">
              <a:spLocks/>
            </p:cNvSpPr>
            <p:nvPr/>
          </p:nvSpPr>
          <p:spPr>
            <a:xfrm>
              <a:off x="586725" y="2059755"/>
              <a:ext cx="8166750" cy="461130"/>
            </a:xfrm>
            <a:prstGeom prst="rect">
              <a:avLst/>
            </a:prstGeom>
          </p:spPr>
          <p:txBody>
            <a:bodyPr vert="horz" wrap="square" lIns="45720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Выбор информационной системы для размещения базы данных с информацией по работе всех УК Москвы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EFE8069-ED1E-4165-96C3-E7E4CE56841D}"/>
                </a:ext>
              </a:extLst>
            </p:cNvPr>
            <p:cNvSpPr txBox="1"/>
            <p:nvPr/>
          </p:nvSpPr>
          <p:spPr>
            <a:xfrm>
              <a:off x="9098662" y="2059755"/>
              <a:ext cx="2442976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ДИТ (Продукт КГХ)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416444E-B0DF-4E3A-B6ED-AD57245E4CE5}"/>
              </a:ext>
            </a:extLst>
          </p:cNvPr>
          <p:cNvGrpSpPr/>
          <p:nvPr/>
        </p:nvGrpSpPr>
        <p:grpSpPr>
          <a:xfrm>
            <a:off x="545197" y="2834527"/>
            <a:ext cx="11170541" cy="564706"/>
            <a:chOff x="545197" y="2839369"/>
            <a:chExt cx="11170541" cy="564706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003B1C-8AF4-41C2-9BFA-1360E05EBF76}"/>
                </a:ext>
              </a:extLst>
            </p:cNvPr>
            <p:cNvCxnSpPr>
              <a:cxnSpLocks/>
            </p:cNvCxnSpPr>
            <p:nvPr/>
          </p:nvCxnSpPr>
          <p:spPr>
            <a:xfrm>
              <a:off x="577188" y="3404075"/>
              <a:ext cx="11138550" cy="0"/>
            </a:xfrm>
            <a:prstGeom prst="line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</a:ln>
            <a:effectLst/>
          </p:spPr>
        </p:cxnSp>
        <p:sp>
          <p:nvSpPr>
            <p:cNvPr id="19" name="TrackerNumBlue">
              <a:extLst>
                <a:ext uri="{FF2B5EF4-FFF2-40B4-BE49-F238E27FC236}">
                  <a16:creationId xmlns:a16="http://schemas.microsoft.com/office/drawing/2014/main" id="{39719FE4-BA73-4053-90EE-B3EB72F8A9B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45197" y="2839369"/>
              <a:ext cx="365760" cy="365760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>
                <a:spcBef>
                  <a:spcPts val="300"/>
                </a:spcBef>
                <a:spcAft>
                  <a:spcPts val="300"/>
                </a:spcAft>
              </a:pPr>
              <a:r>
                <a:rPr lang="en-US" dirty="0">
                  <a:solidFill>
                    <a:schemeClr val="bg1"/>
                  </a:solidFill>
                  <a:sym typeface="+mn-lt"/>
                </a:rPr>
                <a:t>2</a:t>
              </a:r>
              <a:endParaRPr lang="ru-RU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C109E5-458C-474F-9055-6453220713C0}"/>
                </a:ext>
              </a:extLst>
            </p:cNvPr>
            <p:cNvSpPr txBox="1">
              <a:spLocks/>
            </p:cNvSpPr>
            <p:nvPr/>
          </p:nvSpPr>
          <p:spPr>
            <a:xfrm>
              <a:off x="577188" y="2839370"/>
              <a:ext cx="8166750" cy="461130"/>
            </a:xfrm>
            <a:prstGeom prst="rect">
              <a:avLst/>
            </a:prstGeom>
          </p:spPr>
          <p:txBody>
            <a:bodyPr vert="horz" wrap="square" lIns="45720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Детализация бизнес-процесса наполнения базы данных и актуализации информации от ГБУ «Жилищник» и коммерческих УК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70B150E-569D-4462-8ACF-67B5F4482359}"/>
                </a:ext>
              </a:extLst>
            </p:cNvPr>
            <p:cNvSpPr txBox="1"/>
            <p:nvPr/>
          </p:nvSpPr>
          <p:spPr>
            <a:xfrm>
              <a:off x="9089125" y="2839370"/>
              <a:ext cx="2442976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ДЖКХ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7CDE90-3C1E-4DAF-8453-2DD72F88F908}"/>
              </a:ext>
            </a:extLst>
          </p:cNvPr>
          <p:cNvGrpSpPr/>
          <p:nvPr/>
        </p:nvGrpSpPr>
        <p:grpSpPr>
          <a:xfrm>
            <a:off x="545197" y="3793109"/>
            <a:ext cx="11170541" cy="564706"/>
            <a:chOff x="567663" y="4534934"/>
            <a:chExt cx="11170541" cy="564706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6F9C141-6334-471A-A594-3A1C5187980A}"/>
                </a:ext>
              </a:extLst>
            </p:cNvPr>
            <p:cNvCxnSpPr>
              <a:cxnSpLocks/>
            </p:cNvCxnSpPr>
            <p:nvPr/>
          </p:nvCxnSpPr>
          <p:spPr>
            <a:xfrm>
              <a:off x="599654" y="5099640"/>
              <a:ext cx="11138550" cy="0"/>
            </a:xfrm>
            <a:prstGeom prst="line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</a:ln>
            <a:effectLst/>
          </p:spPr>
        </p:cxnSp>
        <p:sp>
          <p:nvSpPr>
            <p:cNvPr id="28" name="TrackerNumBlue">
              <a:extLst>
                <a:ext uri="{FF2B5EF4-FFF2-40B4-BE49-F238E27FC236}">
                  <a16:creationId xmlns:a16="http://schemas.microsoft.com/office/drawing/2014/main" id="{51B00216-29C1-4F66-B665-B30BC11D184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67663" y="4534934"/>
              <a:ext cx="365760" cy="365760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>
                <a:spcBef>
                  <a:spcPts val="300"/>
                </a:spcBef>
                <a:spcAft>
                  <a:spcPts val="300"/>
                </a:spcAft>
              </a:pPr>
              <a:r>
                <a:rPr lang="ru-RU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3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D8AB07D-8AD6-42BD-BC6C-59057B964F12}"/>
                </a:ext>
              </a:extLst>
            </p:cNvPr>
            <p:cNvSpPr txBox="1">
              <a:spLocks/>
            </p:cNvSpPr>
            <p:nvPr/>
          </p:nvSpPr>
          <p:spPr>
            <a:xfrm>
              <a:off x="599654" y="4534935"/>
              <a:ext cx="8166750" cy="461130"/>
            </a:xfrm>
            <a:prstGeom prst="rect">
              <a:avLst/>
            </a:prstGeom>
          </p:spPr>
          <p:txBody>
            <a:bodyPr vert="horz" wrap="square" lIns="45720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Проработка технической схемы для наполнения и актуализации данных в базе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5381C01-B8B1-4893-9BAE-263C46278163}"/>
                </a:ext>
              </a:extLst>
            </p:cNvPr>
            <p:cNvSpPr txBox="1"/>
            <p:nvPr/>
          </p:nvSpPr>
          <p:spPr>
            <a:xfrm>
              <a:off x="9111591" y="4534935"/>
              <a:ext cx="2442976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ДИТ (Продукт КГХ)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4218F9F-051A-4F8A-A0F1-85BE54E6939D}"/>
              </a:ext>
            </a:extLst>
          </p:cNvPr>
          <p:cNvGrpSpPr/>
          <p:nvPr/>
        </p:nvGrpSpPr>
        <p:grpSpPr>
          <a:xfrm>
            <a:off x="545197" y="4751690"/>
            <a:ext cx="10986904" cy="461131"/>
            <a:chOff x="599654" y="5382628"/>
            <a:chExt cx="10986904" cy="461131"/>
          </a:xfrm>
        </p:grpSpPr>
        <p:sp>
          <p:nvSpPr>
            <p:cNvPr id="32" name="TrackerNumBlue">
              <a:extLst>
                <a:ext uri="{FF2B5EF4-FFF2-40B4-BE49-F238E27FC236}">
                  <a16:creationId xmlns:a16="http://schemas.microsoft.com/office/drawing/2014/main" id="{7BF5684E-692E-4D4B-B227-11D85B9BB6D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99654" y="5382628"/>
              <a:ext cx="365760" cy="365760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>
                <a:spcBef>
                  <a:spcPts val="300"/>
                </a:spcBef>
                <a:spcAft>
                  <a:spcPts val="300"/>
                </a:spcAft>
              </a:pPr>
              <a:r>
                <a:rPr lang="ru-RU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4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A421121-8FC0-42C7-AE69-439AC05B6068}"/>
                </a:ext>
              </a:extLst>
            </p:cNvPr>
            <p:cNvSpPr txBox="1">
              <a:spLocks/>
            </p:cNvSpPr>
            <p:nvPr/>
          </p:nvSpPr>
          <p:spPr>
            <a:xfrm>
              <a:off x="631645" y="5382629"/>
              <a:ext cx="8166750" cy="461130"/>
            </a:xfrm>
            <a:prstGeom prst="rect">
              <a:avLst/>
            </a:prstGeom>
          </p:spPr>
          <p:txBody>
            <a:bodyPr vert="horz" wrap="square" lIns="45720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Обеспечение передачи данных из базы во все заинтересованные системы</a:t>
              </a:r>
              <a:r>
                <a:rPr lang="en-US" sz="1600" dirty="0"/>
                <a:t>/</a:t>
              </a:r>
              <a:r>
                <a:rPr lang="ru-RU" sz="1600" dirty="0"/>
                <a:t>сервисы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BAFD31A-9418-4183-8C4A-EAFCE771DC64}"/>
                </a:ext>
              </a:extLst>
            </p:cNvPr>
            <p:cNvSpPr txBox="1"/>
            <p:nvPr/>
          </p:nvSpPr>
          <p:spPr>
            <a:xfrm>
              <a:off x="9143582" y="5382629"/>
              <a:ext cx="2442976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ДИТ (Продукт КГХ)</a:t>
              </a:r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6ACCCCC-5A67-44FC-8456-F45797AEA4E4}"/>
              </a:ext>
            </a:extLst>
          </p:cNvPr>
          <p:cNvSpPr>
            <a:spLocks/>
          </p:cNvSpPr>
          <p:nvPr/>
        </p:nvSpPr>
        <p:spPr>
          <a:xfrm>
            <a:off x="1257301" y="5606696"/>
            <a:ext cx="10069563" cy="443320"/>
          </a:xfrm>
          <a:prstGeom prst="roundRect">
            <a:avLst>
              <a:gd name="adj" fmla="val 19032"/>
            </a:avLst>
          </a:prstGeom>
          <a:solidFill>
            <a:schemeClr val="tx2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SzPct val="100000"/>
            </a:pPr>
            <a:r>
              <a:rPr lang="ru-RU" sz="1400" b="1" dirty="0">
                <a:solidFill>
                  <a:schemeClr val="bg1"/>
                </a:solidFill>
                <a:cs typeface="Arial" panose="020B0604020202020204" pitchFamily="34" charset="0"/>
              </a:rPr>
              <a:t>Перечень ответственных является предварительным и требует уточнения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484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4B0560D2-2773-48BB-B8AD-3506A7AC7F2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3045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51" name="think-cell Slide" r:id="rId22" imgW="395" imgH="396" progId="TCLayout.ActiveDocument.1">
                  <p:embed/>
                </p:oleObj>
              </mc:Choice>
              <mc:Fallback>
                <p:oleObj name="think-cell Slide" r:id="rId22" imgW="395" imgH="396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4B0560D2-2773-48BB-B8AD-3506A7AC7F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5" name="LineSpecialityArrow 73">
            <a:extLst>
              <a:ext uri="{FF2B5EF4-FFF2-40B4-BE49-F238E27FC236}">
                <a16:creationId xmlns:a16="http://schemas.microsoft.com/office/drawing/2014/main" id="{570362AD-3168-4A33-A192-B180F67631D5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5024634" y="5141128"/>
            <a:ext cx="236646" cy="0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99A5133-0281-4FF3-8E79-93C041D580A5}"/>
              </a:ext>
            </a:extLst>
          </p:cNvPr>
          <p:cNvSpPr/>
          <p:nvPr/>
        </p:nvSpPr>
        <p:spPr>
          <a:xfrm>
            <a:off x="9619066" y="1726830"/>
            <a:ext cx="2466631" cy="881966"/>
          </a:xfrm>
          <a:prstGeom prst="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010FE59D-795A-44E0-BFC8-FDBBC6E67464}"/>
              </a:ext>
            </a:extLst>
          </p:cNvPr>
          <p:cNvSpPr>
            <a:spLocks/>
          </p:cNvSpPr>
          <p:nvPr/>
        </p:nvSpPr>
        <p:spPr>
          <a:xfrm rot="2700000">
            <a:off x="3991800" y="2100285"/>
            <a:ext cx="1128563" cy="1128563"/>
          </a:xfrm>
          <a:prstGeom prst="roundRect">
            <a:avLst>
              <a:gd name="adj" fmla="val 12847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180000" rIns="36000" bIns="1188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000" b="1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B40A4718-1FC5-4B57-852D-1CD41E92ECF6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819150" y="267006"/>
            <a:ext cx="10818112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Обработка обращений по обслуживанию телеантенн</a:t>
            </a:r>
          </a:p>
        </p:txBody>
      </p:sp>
      <p:sp>
        <p:nvSpPr>
          <p:cNvPr id="7" name="TrackerAlphaBlue">
            <a:extLst>
              <a:ext uri="{FF2B5EF4-FFF2-40B4-BE49-F238E27FC236}">
                <a16:creationId xmlns:a16="http://schemas.microsoft.com/office/drawing/2014/main" id="{9C970B4A-2914-4E21-8971-99AB5545F2D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4412" y="200449"/>
            <a:ext cx="471667" cy="471667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2600" b="1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Б</a:t>
            </a:r>
            <a:endParaRPr lang="en-US" sz="2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E41127E-AD65-4601-B2A0-152D0E7636C3}"/>
              </a:ext>
            </a:extLst>
          </p:cNvPr>
          <p:cNvSpPr>
            <a:spLocks/>
          </p:cNvSpPr>
          <p:nvPr/>
        </p:nvSpPr>
        <p:spPr>
          <a:xfrm>
            <a:off x="264412" y="2508745"/>
            <a:ext cx="1261067" cy="2739022"/>
          </a:xfrm>
          <a:prstGeom prst="roundRect">
            <a:avLst>
              <a:gd name="adj" fmla="val 5547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36000" rIns="36000" bIns="36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r>
              <a:rPr lang="ru-RU" sz="1000" b="1" dirty="0">
                <a:solidFill>
                  <a:schemeClr val="tx1"/>
                </a:solidFill>
                <a:cs typeface="Arial" panose="020B0604020202020204" pitchFamily="34" charset="0"/>
              </a:rPr>
              <a:t>Обращение жителя в ЕДЦ </a:t>
            </a:r>
            <a:b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ru-RU" sz="1000" b="1" dirty="0">
                <a:solidFill>
                  <a:schemeClr val="tx1"/>
                </a:solidFill>
                <a:cs typeface="Arial" panose="020B0604020202020204" pitchFamily="34" charset="0"/>
              </a:rPr>
              <a:t>с вопросом по обслуживанию антенны</a:t>
            </a:r>
          </a:p>
        </p:txBody>
      </p:sp>
      <p:cxnSp>
        <p:nvCxnSpPr>
          <p:cNvPr id="39" name="LineSpecialityArrow 73">
            <a:extLst>
              <a:ext uri="{FF2B5EF4-FFF2-40B4-BE49-F238E27FC236}">
                <a16:creationId xmlns:a16="http://schemas.microsoft.com/office/drawing/2014/main" id="{ACCEDDC3-701C-4A1C-9BC8-587BDAFA5A65}"/>
              </a:ext>
            </a:extLst>
          </p:cNvPr>
          <p:cNvCxnSpPr>
            <a:cxnSpLocks/>
            <a:stCxn id="36" idx="3"/>
            <a:endCxn id="163" idx="1"/>
          </p:cNvCxnSpPr>
          <p:nvPr>
            <p:custDataLst>
              <p:tags r:id="rId6"/>
            </p:custDataLst>
          </p:nvPr>
        </p:nvCxnSpPr>
        <p:spPr>
          <a:xfrm>
            <a:off x="1525479" y="3878256"/>
            <a:ext cx="133104" cy="0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LineSpecialityArrow 73">
            <a:extLst>
              <a:ext uri="{FF2B5EF4-FFF2-40B4-BE49-F238E27FC236}">
                <a16:creationId xmlns:a16="http://schemas.microsoft.com/office/drawing/2014/main" id="{D2B6CDC0-56C0-4237-AD72-F5898B37131D}"/>
              </a:ext>
            </a:extLst>
          </p:cNvPr>
          <p:cNvCxnSpPr>
            <a:cxnSpLocks/>
            <a:stCxn id="164" idx="3"/>
            <a:endCxn id="196" idx="1"/>
          </p:cNvCxnSpPr>
          <p:nvPr>
            <p:custDataLst>
              <p:tags r:id="rId7"/>
            </p:custDataLst>
          </p:nvPr>
        </p:nvCxnSpPr>
        <p:spPr>
          <a:xfrm>
            <a:off x="3254614" y="3878256"/>
            <a:ext cx="503452" cy="1280340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EF6920E-789C-428A-B5B5-7C3655DE652A}"/>
              </a:ext>
            </a:extLst>
          </p:cNvPr>
          <p:cNvSpPr txBox="1">
            <a:spLocks/>
          </p:cNvSpPr>
          <p:nvPr/>
        </p:nvSpPr>
        <p:spPr>
          <a:xfrm>
            <a:off x="3191359" y="2758109"/>
            <a:ext cx="237244" cy="15388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Да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668B96-0A75-46D7-89DA-A8C834B095FA}"/>
              </a:ext>
            </a:extLst>
          </p:cNvPr>
          <p:cNvSpPr txBox="1">
            <a:spLocks/>
          </p:cNvSpPr>
          <p:nvPr/>
        </p:nvSpPr>
        <p:spPr>
          <a:xfrm>
            <a:off x="3191359" y="4867809"/>
            <a:ext cx="237244" cy="15388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Нет</a:t>
            </a:r>
          </a:p>
        </p:txBody>
      </p:sp>
      <p:cxnSp>
        <p:nvCxnSpPr>
          <p:cNvPr id="69" name="LineSpecialityArrow 73">
            <a:extLst>
              <a:ext uri="{FF2B5EF4-FFF2-40B4-BE49-F238E27FC236}">
                <a16:creationId xmlns:a16="http://schemas.microsoft.com/office/drawing/2014/main" id="{A20BAD7E-E36C-429A-BC68-79847C9A2A27}"/>
              </a:ext>
            </a:extLst>
          </p:cNvPr>
          <p:cNvCxnSpPr>
            <a:cxnSpLocks/>
            <a:stCxn id="201" idx="3"/>
            <a:endCxn id="146" idx="1"/>
          </p:cNvCxnSpPr>
          <p:nvPr>
            <p:custDataLst>
              <p:tags r:id="rId8"/>
            </p:custDataLst>
          </p:nvPr>
        </p:nvCxnSpPr>
        <p:spPr>
          <a:xfrm flipV="1">
            <a:off x="6819855" y="4591445"/>
            <a:ext cx="2416617" cy="567152"/>
          </a:xfrm>
          <a:prstGeom prst="bentConnector3">
            <a:avLst>
              <a:gd name="adj1" fmla="val 14982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LineSpecialityArrow 73">
            <a:extLst>
              <a:ext uri="{FF2B5EF4-FFF2-40B4-BE49-F238E27FC236}">
                <a16:creationId xmlns:a16="http://schemas.microsoft.com/office/drawing/2014/main" id="{31ED11D9-D805-4057-B7FC-F6629500A5BE}"/>
              </a:ext>
            </a:extLst>
          </p:cNvPr>
          <p:cNvCxnSpPr>
            <a:cxnSpLocks/>
            <a:stCxn id="201" idx="3"/>
            <a:endCxn id="229" idx="1"/>
          </p:cNvCxnSpPr>
          <p:nvPr>
            <p:custDataLst>
              <p:tags r:id="rId9"/>
            </p:custDataLst>
          </p:nvPr>
        </p:nvCxnSpPr>
        <p:spPr>
          <a:xfrm>
            <a:off x="6819855" y="5158597"/>
            <a:ext cx="725636" cy="570124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205D1F7-C526-4E66-8D22-E192751CF0D6}"/>
              </a:ext>
            </a:extLst>
          </p:cNvPr>
          <p:cNvSpPr txBox="1">
            <a:spLocks/>
          </p:cNvSpPr>
          <p:nvPr/>
        </p:nvSpPr>
        <p:spPr>
          <a:xfrm>
            <a:off x="6834666" y="4715469"/>
            <a:ext cx="254631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Да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DDFDD2-E048-4065-9DFF-C1715FEB2551}"/>
              </a:ext>
            </a:extLst>
          </p:cNvPr>
          <p:cNvSpPr txBox="1">
            <a:spLocks/>
          </p:cNvSpPr>
          <p:nvPr/>
        </p:nvSpPr>
        <p:spPr>
          <a:xfrm>
            <a:off x="6834666" y="5574833"/>
            <a:ext cx="254631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Нет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00DC159-D28D-4180-AD57-614CDC763058}"/>
              </a:ext>
            </a:extLst>
          </p:cNvPr>
          <p:cNvGrpSpPr/>
          <p:nvPr/>
        </p:nvGrpSpPr>
        <p:grpSpPr>
          <a:xfrm>
            <a:off x="1658583" y="3313975"/>
            <a:ext cx="1596031" cy="1128563"/>
            <a:chOff x="1944690" y="3231085"/>
            <a:chExt cx="1596031" cy="1128563"/>
          </a:xfrm>
        </p:grpSpPr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356E6272-D34A-4A07-B70D-8CD6C95727AF}"/>
                </a:ext>
              </a:extLst>
            </p:cNvPr>
            <p:cNvSpPr/>
            <p:nvPr/>
          </p:nvSpPr>
          <p:spPr>
            <a:xfrm>
              <a:off x="1944690" y="3631671"/>
              <a:ext cx="327390" cy="327390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78610DF2-A01D-43D7-9250-9874E43D3D3C}"/>
                </a:ext>
              </a:extLst>
            </p:cNvPr>
            <p:cNvSpPr/>
            <p:nvPr/>
          </p:nvSpPr>
          <p:spPr>
            <a:xfrm>
              <a:off x="3213331" y="3631671"/>
              <a:ext cx="327390" cy="327390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036D2F00-052D-4174-A653-2CC3800F4156}"/>
                </a:ext>
              </a:extLst>
            </p:cNvPr>
            <p:cNvSpPr>
              <a:spLocks/>
            </p:cNvSpPr>
            <p:nvPr/>
          </p:nvSpPr>
          <p:spPr>
            <a:xfrm rot="2700000">
              <a:off x="2178424" y="3231085"/>
              <a:ext cx="1128563" cy="1128563"/>
            </a:xfrm>
            <a:prstGeom prst="roundRect">
              <a:avLst>
                <a:gd name="adj" fmla="val 11756"/>
              </a:avLst>
            </a:prstGeom>
            <a:solidFill>
              <a:schemeClr val="bg1"/>
            </a:solidFill>
            <a:effectLst>
              <a:outerShdw blurRad="101600" algn="ctr" rotWithShape="0">
                <a:schemeClr val="tx1">
                  <a:alpha val="12000"/>
                </a:schemeClr>
              </a:outerShdw>
            </a:effectLst>
          </p:spPr>
          <p:txBody>
            <a:bodyPr vert="horz" wrap="square" lIns="36000" tIns="180000" rIns="36000" bIns="118800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SzPct val="100000"/>
                <a:buFont typeface="Segoe UI" panose="020B0502040204020203" pitchFamily="34" charset="0"/>
                <a:buChar char="​"/>
              </a:pPr>
              <a:endParaRPr lang="ru-RU" sz="1000" b="1" dirty="0">
                <a:solidFill>
                  <a:schemeClr val="tx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248B725-91E0-4013-B80A-EE3ABDDED34B}"/>
                </a:ext>
              </a:extLst>
            </p:cNvPr>
            <p:cNvSpPr txBox="1"/>
            <p:nvPr/>
          </p:nvSpPr>
          <p:spPr>
            <a:xfrm>
              <a:off x="2121502" y="3333701"/>
              <a:ext cx="1242407" cy="9233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1000" b="1" dirty="0"/>
                <a:t>Наличие </a:t>
              </a:r>
              <a:br>
                <a:rPr lang="en-US" sz="1000" b="1" dirty="0"/>
              </a:br>
              <a:r>
                <a:rPr lang="ru-RU" sz="1000" b="1" dirty="0"/>
                <a:t>информации </a:t>
              </a:r>
              <a:br>
                <a:rPr lang="en-US" sz="1000" b="1" dirty="0"/>
              </a:br>
              <a:r>
                <a:rPr lang="ru-RU" sz="1000" b="1" dirty="0"/>
                <a:t>по обслуживаю</a:t>
              </a:r>
              <a:r>
                <a:rPr lang="en-US" sz="1000" b="1" dirty="0"/>
                <a:t>-</a:t>
              </a:r>
              <a:br>
                <a:rPr lang="en-US" sz="1000" b="1" dirty="0"/>
              </a:br>
              <a:r>
                <a:rPr lang="ru-RU" sz="1000" b="1" dirty="0"/>
                <a:t>щей антенну  ком</a:t>
              </a:r>
              <a:r>
                <a:rPr lang="en-US" sz="1000" b="1" dirty="0"/>
                <a:t>-</a:t>
              </a:r>
              <a:br>
                <a:rPr lang="en-US" sz="1000" b="1" dirty="0"/>
              </a:br>
              <a:r>
                <a:rPr lang="ru-RU" sz="1000" b="1" dirty="0"/>
                <a:t>пании?</a:t>
              </a:r>
            </a:p>
          </p:txBody>
        </p:sp>
      </p:grp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E43F21DB-1F40-4DFA-93C0-FA0210E3BBEF}"/>
              </a:ext>
            </a:extLst>
          </p:cNvPr>
          <p:cNvSpPr>
            <a:spLocks/>
          </p:cNvSpPr>
          <p:nvPr/>
        </p:nvSpPr>
        <p:spPr>
          <a:xfrm>
            <a:off x="7545491" y="5501370"/>
            <a:ext cx="3147204" cy="454702"/>
          </a:xfrm>
          <a:prstGeom prst="roundRect">
            <a:avLst>
              <a:gd name="adj" fmla="val 8516"/>
            </a:avLst>
          </a:prstGeom>
          <a:solidFill>
            <a:srgbClr val="E6E6E6">
              <a:alpha val="50000"/>
            </a:srgbClr>
          </a:solidFill>
          <a:ln w="9525" cap="sq">
            <a:noFill/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80942F-8CFE-4F0E-8818-C5DF22988F20}"/>
              </a:ext>
            </a:extLst>
          </p:cNvPr>
          <p:cNvSpPr txBox="1">
            <a:spLocks/>
          </p:cNvSpPr>
          <p:nvPr/>
        </p:nvSpPr>
        <p:spPr>
          <a:xfrm>
            <a:off x="7687618" y="5591903"/>
            <a:ext cx="28474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Предоставление неактуальных контактов УК жителю</a:t>
            </a: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69DC8587-049D-45C5-880C-F7DCBD9FBA93}"/>
              </a:ext>
            </a:extLst>
          </p:cNvPr>
          <p:cNvGrpSpPr>
            <a:grpSpLocks/>
          </p:cNvGrpSpPr>
          <p:nvPr/>
        </p:nvGrpSpPr>
        <p:grpSpPr>
          <a:xfrm>
            <a:off x="10513792" y="5623269"/>
            <a:ext cx="248140" cy="248140"/>
            <a:chOff x="10097600" y="2224806"/>
            <a:chExt cx="396228" cy="396228"/>
          </a:xfrm>
        </p:grpSpPr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929D300E-ED4E-40A8-B989-23414DECFCF7}"/>
                </a:ext>
              </a:extLst>
            </p:cNvPr>
            <p:cNvSpPr/>
            <p:nvPr/>
          </p:nvSpPr>
          <p:spPr>
            <a:xfrm>
              <a:off x="10097600" y="2224806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67566A27-55F2-4C46-9244-415DA3E80C89}"/>
                </a:ext>
              </a:extLst>
            </p:cNvPr>
            <p:cNvGrpSpPr/>
            <p:nvPr/>
          </p:nvGrpSpPr>
          <p:grpSpPr>
            <a:xfrm>
              <a:off x="10193928" y="2321134"/>
              <a:ext cx="203573" cy="203573"/>
              <a:chOff x="10228478" y="2355684"/>
              <a:chExt cx="134470" cy="134470"/>
            </a:xfrm>
          </p:grpSpPr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4B78B87B-ED85-4A1E-B192-104C9D91E39B}"/>
                  </a:ext>
                </a:extLst>
              </p:cNvPr>
              <p:cNvSpPr/>
              <p:nvPr/>
            </p:nvSpPr>
            <p:spPr>
              <a:xfrm>
                <a:off x="10228478" y="2355684"/>
                <a:ext cx="134470" cy="134470"/>
              </a:xfrm>
              <a:custGeom>
                <a:avLst/>
                <a:gdLst>
                  <a:gd name="connsiteX0" fmla="*/ 0 w 134470"/>
                  <a:gd name="connsiteY0" fmla="*/ 0 h 134470"/>
                  <a:gd name="connsiteX1" fmla="*/ 134471 w 134470"/>
                  <a:gd name="connsiteY1" fmla="*/ 134471 h 134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470" h="134470">
                    <a:moveTo>
                      <a:pt x="0" y="0"/>
                    </a:moveTo>
                    <a:lnTo>
                      <a:pt x="134471" y="134471"/>
                    </a:lnTo>
                  </a:path>
                </a:pathLst>
              </a:custGeom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DA6F9AA9-5224-4AC3-8FE8-AC8C3D3D5446}"/>
                  </a:ext>
                </a:extLst>
              </p:cNvPr>
              <p:cNvSpPr/>
              <p:nvPr/>
            </p:nvSpPr>
            <p:spPr>
              <a:xfrm>
                <a:off x="10228478" y="2355684"/>
                <a:ext cx="134470" cy="134470"/>
              </a:xfrm>
              <a:custGeom>
                <a:avLst/>
                <a:gdLst>
                  <a:gd name="connsiteX0" fmla="*/ 134471 w 134470"/>
                  <a:gd name="connsiteY0" fmla="*/ 0 h 134470"/>
                  <a:gd name="connsiteX1" fmla="*/ 0 w 134470"/>
                  <a:gd name="connsiteY1" fmla="*/ 134471 h 134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470" h="134470">
                    <a:moveTo>
                      <a:pt x="134471" y="0"/>
                    </a:moveTo>
                    <a:lnTo>
                      <a:pt x="0" y="134471"/>
                    </a:lnTo>
                  </a:path>
                </a:pathLst>
              </a:custGeom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849696F5-E67C-46EE-8B7A-FE55D5DD1B86}"/>
              </a:ext>
            </a:extLst>
          </p:cNvPr>
          <p:cNvSpPr txBox="1"/>
          <p:nvPr/>
        </p:nvSpPr>
        <p:spPr>
          <a:xfrm>
            <a:off x="10144596" y="1770066"/>
            <a:ext cx="1828041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>
                <a:solidFill>
                  <a:schemeClr val="bg1"/>
                </a:solidFill>
              </a:rPr>
              <a:t>Отсутствует возможность </a:t>
            </a:r>
            <a:r>
              <a:rPr lang="ru-RU" sz="1000" b="1" dirty="0">
                <a:solidFill>
                  <a:schemeClr val="bg1"/>
                </a:solidFill>
              </a:rPr>
              <a:t>оформления заявки в ЕДЦ </a:t>
            </a:r>
            <a:r>
              <a:rPr lang="ru-RU" sz="1000" dirty="0">
                <a:solidFill>
                  <a:schemeClr val="bg1"/>
                </a:solidFill>
              </a:rPr>
              <a:t>и ее передачи в обслуживающую компанию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4770205-9B3A-4FA7-9078-5FC4580680AA}"/>
              </a:ext>
            </a:extLst>
          </p:cNvPr>
          <p:cNvSpPr txBox="1">
            <a:spLocks/>
          </p:cNvSpPr>
          <p:nvPr/>
        </p:nvSpPr>
        <p:spPr>
          <a:xfrm>
            <a:off x="0" y="1245934"/>
            <a:ext cx="12192000" cy="391815"/>
          </a:xfrm>
          <a:prstGeom prst="rect">
            <a:avLst/>
          </a:prstGeom>
          <a:solidFill>
            <a:schemeClr val="accent6"/>
          </a:solidFill>
        </p:spPr>
        <p:txBody>
          <a:bodyPr vert="horz" wrap="square" lIns="76200" tIns="76200" rIns="76200" bIns="7620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endParaRPr lang="ru-RU" sz="1800" b="1" dirty="0">
              <a:solidFill>
                <a:srgbClr val="FFFFFF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66B1383-C322-45F1-8410-663A7629DE2A}"/>
              </a:ext>
            </a:extLst>
          </p:cNvPr>
          <p:cNvSpPr txBox="1"/>
          <p:nvPr/>
        </p:nvSpPr>
        <p:spPr>
          <a:xfrm>
            <a:off x="554737" y="1349508"/>
            <a:ext cx="411010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200" b="1" dirty="0">
                <a:solidFill>
                  <a:srgbClr val="FFFFFF"/>
                </a:solidFill>
              </a:rPr>
              <a:t>ТЕКУЩИЙ ПРОЦЕСС ОБРАБОТКИ ОБРАЩЕНИЙ</a:t>
            </a:r>
          </a:p>
        </p:txBody>
      </p:sp>
      <p:cxnSp>
        <p:nvCxnSpPr>
          <p:cNvPr id="51" name="LineSpecialityArrow 73">
            <a:extLst>
              <a:ext uri="{FF2B5EF4-FFF2-40B4-BE49-F238E27FC236}">
                <a16:creationId xmlns:a16="http://schemas.microsoft.com/office/drawing/2014/main" id="{E484F507-0C7A-47E0-B65B-ED2020EAF254}"/>
              </a:ext>
            </a:extLst>
          </p:cNvPr>
          <p:cNvCxnSpPr>
            <a:cxnSpLocks/>
            <a:stCxn id="164" idx="3"/>
            <a:endCxn id="193" idx="1"/>
          </p:cNvCxnSpPr>
          <p:nvPr>
            <p:custDataLst>
              <p:tags r:id="rId10"/>
            </p:custDataLst>
          </p:nvPr>
        </p:nvCxnSpPr>
        <p:spPr>
          <a:xfrm flipV="1">
            <a:off x="3254614" y="2664566"/>
            <a:ext cx="503452" cy="1213690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LineSpecialityArrow 73">
            <a:extLst>
              <a:ext uri="{FF2B5EF4-FFF2-40B4-BE49-F238E27FC236}">
                <a16:creationId xmlns:a16="http://schemas.microsoft.com/office/drawing/2014/main" id="{CF38CDEF-2232-4842-A183-5F3D848A37F7}"/>
              </a:ext>
            </a:extLst>
          </p:cNvPr>
          <p:cNvCxnSpPr>
            <a:cxnSpLocks/>
            <a:stCxn id="194" idx="3"/>
            <a:endCxn id="207" idx="1"/>
          </p:cNvCxnSpPr>
          <p:nvPr>
            <p:custDataLst>
              <p:tags r:id="rId11"/>
            </p:custDataLst>
          </p:nvPr>
        </p:nvCxnSpPr>
        <p:spPr>
          <a:xfrm flipV="1">
            <a:off x="5354097" y="2445746"/>
            <a:ext cx="578208" cy="218820"/>
          </a:xfrm>
          <a:prstGeom prst="bentConnector3">
            <a:avLst>
              <a:gd name="adj1" fmla="val 45416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LineSpecialityArrow 73">
            <a:extLst>
              <a:ext uri="{FF2B5EF4-FFF2-40B4-BE49-F238E27FC236}">
                <a16:creationId xmlns:a16="http://schemas.microsoft.com/office/drawing/2014/main" id="{F70B8F58-BA32-49D0-8B7E-C13FABB2325E}"/>
              </a:ext>
            </a:extLst>
          </p:cNvPr>
          <p:cNvCxnSpPr>
            <a:cxnSpLocks/>
            <a:stCxn id="194" idx="3"/>
            <a:endCxn id="132" idx="1"/>
          </p:cNvCxnSpPr>
          <p:nvPr>
            <p:custDataLst>
              <p:tags r:id="rId12"/>
            </p:custDataLst>
          </p:nvPr>
        </p:nvCxnSpPr>
        <p:spPr>
          <a:xfrm>
            <a:off x="5354097" y="2664566"/>
            <a:ext cx="525409" cy="1031770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BF340174-CBF3-4FD7-8932-6535F9BBA24F}"/>
              </a:ext>
            </a:extLst>
          </p:cNvPr>
          <p:cNvSpPr>
            <a:spLocks/>
          </p:cNvSpPr>
          <p:nvPr/>
        </p:nvSpPr>
        <p:spPr>
          <a:xfrm>
            <a:off x="5879506" y="3395635"/>
            <a:ext cx="2038488" cy="601402"/>
          </a:xfrm>
          <a:prstGeom prst="roundRect">
            <a:avLst>
              <a:gd name="adj" fmla="val 8516"/>
            </a:avLst>
          </a:prstGeom>
          <a:solidFill>
            <a:srgbClr val="E6E6E6">
              <a:alpha val="50000"/>
            </a:srgbClr>
          </a:solidFill>
          <a:ln w="9525" cap="sq">
            <a:noFill/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EBA34A9-333C-4C51-8997-98C140D97FE9}"/>
              </a:ext>
            </a:extLst>
          </p:cNvPr>
          <p:cNvSpPr txBox="1">
            <a:spLocks/>
          </p:cNvSpPr>
          <p:nvPr/>
        </p:nvSpPr>
        <p:spPr>
          <a:xfrm>
            <a:off x="6021839" y="3470648"/>
            <a:ext cx="178679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Информация  </a:t>
            </a:r>
            <a:br>
              <a:rPr lang="en-US" sz="1000" dirty="0"/>
            </a:br>
            <a:r>
              <a:rPr lang="ru-RU" sz="1000" dirty="0"/>
              <a:t>не может быть предоставлена жителю 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695AF59F-D21B-4AA2-80CB-98830AD1A9AF}"/>
              </a:ext>
            </a:extLst>
          </p:cNvPr>
          <p:cNvGrpSpPr>
            <a:grpSpLocks/>
          </p:cNvGrpSpPr>
          <p:nvPr/>
        </p:nvGrpSpPr>
        <p:grpSpPr>
          <a:xfrm>
            <a:off x="7724076" y="3596669"/>
            <a:ext cx="248140" cy="248140"/>
            <a:chOff x="10097600" y="2224806"/>
            <a:chExt cx="396228" cy="396228"/>
          </a:xfrm>
        </p:grpSpPr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AA522B76-2BBA-4E4E-AD1A-24D08A91DE60}"/>
                </a:ext>
              </a:extLst>
            </p:cNvPr>
            <p:cNvSpPr/>
            <p:nvPr/>
          </p:nvSpPr>
          <p:spPr>
            <a:xfrm>
              <a:off x="10097600" y="2224806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2B149AD3-B8CB-4919-B3F6-38DEE7700856}"/>
                </a:ext>
              </a:extLst>
            </p:cNvPr>
            <p:cNvGrpSpPr/>
            <p:nvPr/>
          </p:nvGrpSpPr>
          <p:grpSpPr>
            <a:xfrm>
              <a:off x="10193928" y="2321134"/>
              <a:ext cx="203573" cy="203573"/>
              <a:chOff x="10228478" y="2355684"/>
              <a:chExt cx="134470" cy="134470"/>
            </a:xfrm>
          </p:grpSpPr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F346254D-C0C5-4D69-8E2A-46C3305D8258}"/>
                  </a:ext>
                </a:extLst>
              </p:cNvPr>
              <p:cNvSpPr/>
              <p:nvPr/>
            </p:nvSpPr>
            <p:spPr>
              <a:xfrm>
                <a:off x="10228478" y="2355684"/>
                <a:ext cx="134470" cy="134470"/>
              </a:xfrm>
              <a:custGeom>
                <a:avLst/>
                <a:gdLst>
                  <a:gd name="connsiteX0" fmla="*/ 0 w 134470"/>
                  <a:gd name="connsiteY0" fmla="*/ 0 h 134470"/>
                  <a:gd name="connsiteX1" fmla="*/ 134471 w 134470"/>
                  <a:gd name="connsiteY1" fmla="*/ 134471 h 134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470" h="134470">
                    <a:moveTo>
                      <a:pt x="0" y="0"/>
                    </a:moveTo>
                    <a:lnTo>
                      <a:pt x="134471" y="134471"/>
                    </a:lnTo>
                  </a:path>
                </a:pathLst>
              </a:custGeom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A8ABE6A0-28A3-4546-9392-144C05328A70}"/>
                  </a:ext>
                </a:extLst>
              </p:cNvPr>
              <p:cNvSpPr/>
              <p:nvPr/>
            </p:nvSpPr>
            <p:spPr>
              <a:xfrm>
                <a:off x="10228478" y="2355684"/>
                <a:ext cx="134470" cy="134470"/>
              </a:xfrm>
              <a:custGeom>
                <a:avLst/>
                <a:gdLst>
                  <a:gd name="connsiteX0" fmla="*/ 134471 w 134470"/>
                  <a:gd name="connsiteY0" fmla="*/ 0 h 134470"/>
                  <a:gd name="connsiteX1" fmla="*/ 0 w 134470"/>
                  <a:gd name="connsiteY1" fmla="*/ 134471 h 134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470" h="134470">
                    <a:moveTo>
                      <a:pt x="134471" y="0"/>
                    </a:moveTo>
                    <a:lnTo>
                      <a:pt x="0" y="134471"/>
                    </a:lnTo>
                  </a:path>
                </a:pathLst>
              </a:custGeom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7A53D7CE-6B47-4276-AF87-88B0077AB77B}"/>
              </a:ext>
            </a:extLst>
          </p:cNvPr>
          <p:cNvSpPr txBox="1">
            <a:spLocks/>
          </p:cNvSpPr>
          <p:nvPr/>
        </p:nvSpPr>
        <p:spPr>
          <a:xfrm>
            <a:off x="5376054" y="2232205"/>
            <a:ext cx="259199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Да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C5C8D0B-8769-4957-8C64-0666D2A71805}"/>
              </a:ext>
            </a:extLst>
          </p:cNvPr>
          <p:cNvSpPr txBox="1">
            <a:spLocks/>
          </p:cNvSpPr>
          <p:nvPr/>
        </p:nvSpPr>
        <p:spPr>
          <a:xfrm>
            <a:off x="5376053" y="3733236"/>
            <a:ext cx="259199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Нет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812035D9-BB7F-466D-A66D-C3D15FAE4B05}"/>
              </a:ext>
            </a:extLst>
          </p:cNvPr>
          <p:cNvSpPr/>
          <p:nvPr/>
        </p:nvSpPr>
        <p:spPr>
          <a:xfrm>
            <a:off x="3758066" y="4994901"/>
            <a:ext cx="327390" cy="3273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6FC5EBD4-2946-4C8B-8468-CD5DA0AEFB21}"/>
              </a:ext>
            </a:extLst>
          </p:cNvPr>
          <p:cNvSpPr/>
          <p:nvPr/>
        </p:nvSpPr>
        <p:spPr>
          <a:xfrm>
            <a:off x="3758066" y="2500871"/>
            <a:ext cx="327390" cy="3273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9E318BE4-1D1E-48B6-A3E6-D605CA7A4944}"/>
              </a:ext>
            </a:extLst>
          </p:cNvPr>
          <p:cNvSpPr/>
          <p:nvPr/>
        </p:nvSpPr>
        <p:spPr>
          <a:xfrm>
            <a:off x="5026707" y="2500871"/>
            <a:ext cx="327390" cy="3273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48C6EB4-679A-4559-B633-7D68DB83C5B5}"/>
              </a:ext>
            </a:extLst>
          </p:cNvPr>
          <p:cNvSpPr txBox="1"/>
          <p:nvPr/>
        </p:nvSpPr>
        <p:spPr>
          <a:xfrm>
            <a:off x="4005538" y="2279846"/>
            <a:ext cx="1101087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ru-RU" sz="1000" b="1" dirty="0"/>
              <a:t>Наличие контактных данных колл-центра компании?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DA7254EE-1AD8-445A-9D3C-250B9F0627AC}"/>
              </a:ext>
            </a:extLst>
          </p:cNvPr>
          <p:cNvSpPr>
            <a:spLocks/>
          </p:cNvSpPr>
          <p:nvPr/>
        </p:nvSpPr>
        <p:spPr>
          <a:xfrm rot="2700000">
            <a:off x="5457558" y="4594316"/>
            <a:ext cx="1128563" cy="1128563"/>
          </a:xfrm>
          <a:prstGeom prst="roundRect">
            <a:avLst>
              <a:gd name="adj" fmla="val 14485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180000" rIns="36000" bIns="1188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000" b="1" dirty="0"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C203B55-3D47-4B6C-8244-E9F473539C36}"/>
              </a:ext>
            </a:extLst>
          </p:cNvPr>
          <p:cNvSpPr txBox="1"/>
          <p:nvPr/>
        </p:nvSpPr>
        <p:spPr>
          <a:xfrm>
            <a:off x="5471296" y="4927765"/>
            <a:ext cx="1101087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b="1" dirty="0"/>
              <a:t>Актуальность</a:t>
            </a:r>
            <a:br>
              <a:rPr lang="ru-RU" sz="1000" b="1" dirty="0"/>
            </a:br>
            <a:r>
              <a:rPr lang="ru-RU" sz="1000" b="1" dirty="0"/>
              <a:t>контактных данных УК в ГИС РД</a:t>
            </a:r>
            <a:r>
              <a:rPr lang="ru-RU" sz="1000" b="1" baseline="30000" dirty="0"/>
              <a:t>1</a:t>
            </a:r>
            <a:r>
              <a:rPr lang="ru-RU" sz="1000" b="1" dirty="0"/>
              <a:t>? 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DD6D26C0-F73B-4A50-A741-832971036751}"/>
              </a:ext>
            </a:extLst>
          </p:cNvPr>
          <p:cNvSpPr/>
          <p:nvPr/>
        </p:nvSpPr>
        <p:spPr>
          <a:xfrm>
            <a:off x="5406978" y="4994901"/>
            <a:ext cx="327390" cy="3273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B9AAFF74-1CDA-41F3-A646-F92E4B75AF22}"/>
              </a:ext>
            </a:extLst>
          </p:cNvPr>
          <p:cNvSpPr/>
          <p:nvPr/>
        </p:nvSpPr>
        <p:spPr>
          <a:xfrm>
            <a:off x="6492465" y="4994902"/>
            <a:ext cx="327390" cy="3273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473F831-2822-4765-8E2F-44BB450BF9C4}"/>
              </a:ext>
            </a:extLst>
          </p:cNvPr>
          <p:cNvSpPr txBox="1"/>
          <p:nvPr/>
        </p:nvSpPr>
        <p:spPr>
          <a:xfrm>
            <a:off x="7635608" y="718304"/>
            <a:ext cx="529982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Проблема </a:t>
            </a:r>
            <a:br>
              <a:rPr lang="en-US" sz="800" dirty="0"/>
            </a:br>
            <a:r>
              <a:rPr lang="ru-RU" sz="800" dirty="0"/>
              <a:t>жителя </a:t>
            </a:r>
            <a:br>
              <a:rPr lang="en-US" sz="800" dirty="0"/>
            </a:br>
            <a:r>
              <a:rPr lang="ru-RU" sz="800" dirty="0"/>
              <a:t>решена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E22AD5C-736F-4CF5-9807-233E07CAAA4D}"/>
              </a:ext>
            </a:extLst>
          </p:cNvPr>
          <p:cNvGrpSpPr>
            <a:grpSpLocks/>
          </p:cNvGrpSpPr>
          <p:nvPr/>
        </p:nvGrpSpPr>
        <p:grpSpPr>
          <a:xfrm>
            <a:off x="7270038" y="779860"/>
            <a:ext cx="244800" cy="246221"/>
            <a:chOff x="9224208" y="2060372"/>
            <a:chExt cx="248140" cy="248140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711231B-4BAF-432B-93B2-5A4464B95CBB}"/>
                </a:ext>
              </a:extLst>
            </p:cNvPr>
            <p:cNvSpPr/>
            <p:nvPr/>
          </p:nvSpPr>
          <p:spPr>
            <a:xfrm>
              <a:off x="9224208" y="2060372"/>
              <a:ext cx="248140" cy="248140"/>
            </a:xfrm>
            <a:prstGeom prst="ellipse">
              <a:avLst/>
            </a:prstGeom>
            <a:solidFill>
              <a:srgbClr val="00B050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20" name="Graphic 377">
              <a:extLst>
                <a:ext uri="{FF2B5EF4-FFF2-40B4-BE49-F238E27FC236}">
                  <a16:creationId xmlns:a16="http://schemas.microsoft.com/office/drawing/2014/main" id="{C7643C77-CD69-4AE4-A57E-B4105EAB3454}"/>
                </a:ext>
              </a:extLst>
            </p:cNvPr>
            <p:cNvSpPr/>
            <p:nvPr/>
          </p:nvSpPr>
          <p:spPr>
            <a:xfrm>
              <a:off x="9279768" y="2125191"/>
              <a:ext cx="137020" cy="118503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7519AF7C-9CBB-4A2A-8007-CFE80AC836F5}"/>
              </a:ext>
            </a:extLst>
          </p:cNvPr>
          <p:cNvSpPr txBox="1"/>
          <p:nvPr/>
        </p:nvSpPr>
        <p:spPr>
          <a:xfrm>
            <a:off x="8651930" y="718304"/>
            <a:ext cx="83218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Проблема </a:t>
            </a:r>
            <a:br>
              <a:rPr lang="en-US" sz="800" dirty="0"/>
            </a:br>
            <a:r>
              <a:rPr lang="ru-RU" sz="800" dirty="0"/>
              <a:t>жителя решена </a:t>
            </a:r>
            <a:br>
              <a:rPr lang="en-US" sz="800" dirty="0"/>
            </a:br>
            <a:r>
              <a:rPr lang="ru-RU" sz="800" dirty="0"/>
              <a:t>частично</a:t>
            </a: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519B872-72A0-47C3-9B5E-AC466D1EEBA2}"/>
              </a:ext>
            </a:extLst>
          </p:cNvPr>
          <p:cNvGrpSpPr>
            <a:grpSpLocks/>
          </p:cNvGrpSpPr>
          <p:nvPr/>
        </p:nvGrpSpPr>
        <p:grpSpPr>
          <a:xfrm>
            <a:off x="8286360" y="779860"/>
            <a:ext cx="244800" cy="246221"/>
            <a:chOff x="9224208" y="2060372"/>
            <a:chExt cx="248140" cy="248140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73E0BD25-240B-4FF3-B21A-5A11A2DE3163}"/>
                </a:ext>
              </a:extLst>
            </p:cNvPr>
            <p:cNvSpPr/>
            <p:nvPr/>
          </p:nvSpPr>
          <p:spPr>
            <a:xfrm>
              <a:off x="9224208" y="2060372"/>
              <a:ext cx="248140" cy="248140"/>
            </a:xfrm>
            <a:prstGeom prst="ellipse">
              <a:avLst/>
            </a:prstGeom>
            <a:solidFill>
              <a:srgbClr val="FFC000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26" name="Graphic 377">
              <a:extLst>
                <a:ext uri="{FF2B5EF4-FFF2-40B4-BE49-F238E27FC236}">
                  <a16:creationId xmlns:a16="http://schemas.microsoft.com/office/drawing/2014/main" id="{05B7BC1F-AF1A-4561-95CD-270CEE658F95}"/>
                </a:ext>
              </a:extLst>
            </p:cNvPr>
            <p:cNvSpPr/>
            <p:nvPr/>
          </p:nvSpPr>
          <p:spPr>
            <a:xfrm>
              <a:off x="9279768" y="2125191"/>
              <a:ext cx="137020" cy="118503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4FCDB065-C6BC-4B03-859B-A1AC31C92508}"/>
              </a:ext>
            </a:extLst>
          </p:cNvPr>
          <p:cNvSpPr txBox="1"/>
          <p:nvPr/>
        </p:nvSpPr>
        <p:spPr>
          <a:xfrm>
            <a:off x="9970450" y="718304"/>
            <a:ext cx="565861" cy="3693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Проблема </a:t>
            </a:r>
            <a:br>
              <a:rPr lang="en-US" sz="800" dirty="0"/>
            </a:br>
            <a:r>
              <a:rPr lang="ru-RU" sz="800" dirty="0"/>
              <a:t>жителя </a:t>
            </a:r>
            <a:br>
              <a:rPr lang="ru-RU" sz="800" dirty="0"/>
            </a:br>
            <a:r>
              <a:rPr lang="ru-RU" sz="800" dirty="0"/>
              <a:t>не решена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F423A59-37FA-4336-9F5F-5300CE230249}"/>
              </a:ext>
            </a:extLst>
          </p:cNvPr>
          <p:cNvGrpSpPr>
            <a:grpSpLocks/>
          </p:cNvGrpSpPr>
          <p:nvPr/>
        </p:nvGrpSpPr>
        <p:grpSpPr>
          <a:xfrm>
            <a:off x="9604880" y="779860"/>
            <a:ext cx="244800" cy="246221"/>
            <a:chOff x="10097600" y="2224806"/>
            <a:chExt cx="396228" cy="396228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C70323D8-EAA1-4F69-BC2C-F4B790EE8BA2}"/>
                </a:ext>
              </a:extLst>
            </p:cNvPr>
            <p:cNvSpPr/>
            <p:nvPr/>
          </p:nvSpPr>
          <p:spPr>
            <a:xfrm>
              <a:off x="10097600" y="2224806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44662BA0-58D2-4F3A-9445-30E70A28F2FC}"/>
                </a:ext>
              </a:extLst>
            </p:cNvPr>
            <p:cNvGrpSpPr/>
            <p:nvPr/>
          </p:nvGrpSpPr>
          <p:grpSpPr>
            <a:xfrm>
              <a:off x="10193928" y="2321134"/>
              <a:ext cx="203573" cy="203573"/>
              <a:chOff x="10228478" y="2355684"/>
              <a:chExt cx="134470" cy="134470"/>
            </a:xfrm>
          </p:grpSpPr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E1F434DA-5398-47E5-83E8-555461DC143B}"/>
                  </a:ext>
                </a:extLst>
              </p:cNvPr>
              <p:cNvSpPr/>
              <p:nvPr/>
            </p:nvSpPr>
            <p:spPr>
              <a:xfrm>
                <a:off x="10228478" y="2355684"/>
                <a:ext cx="134470" cy="134470"/>
              </a:xfrm>
              <a:custGeom>
                <a:avLst/>
                <a:gdLst>
                  <a:gd name="connsiteX0" fmla="*/ 0 w 134470"/>
                  <a:gd name="connsiteY0" fmla="*/ 0 h 134470"/>
                  <a:gd name="connsiteX1" fmla="*/ 134471 w 134470"/>
                  <a:gd name="connsiteY1" fmla="*/ 134471 h 134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470" h="134470">
                    <a:moveTo>
                      <a:pt x="0" y="0"/>
                    </a:moveTo>
                    <a:lnTo>
                      <a:pt x="134471" y="134471"/>
                    </a:lnTo>
                  </a:path>
                </a:pathLst>
              </a:custGeom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E9A9F817-1FC5-47FD-84DD-87848556C861}"/>
                  </a:ext>
                </a:extLst>
              </p:cNvPr>
              <p:cNvSpPr/>
              <p:nvPr/>
            </p:nvSpPr>
            <p:spPr>
              <a:xfrm>
                <a:off x="10228478" y="2355684"/>
                <a:ext cx="134470" cy="134470"/>
              </a:xfrm>
              <a:custGeom>
                <a:avLst/>
                <a:gdLst>
                  <a:gd name="connsiteX0" fmla="*/ 134471 w 134470"/>
                  <a:gd name="connsiteY0" fmla="*/ 0 h 134470"/>
                  <a:gd name="connsiteX1" fmla="*/ 0 w 134470"/>
                  <a:gd name="connsiteY1" fmla="*/ 134471 h 134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470" h="134470">
                    <a:moveTo>
                      <a:pt x="134471" y="0"/>
                    </a:moveTo>
                    <a:lnTo>
                      <a:pt x="0" y="134471"/>
                    </a:lnTo>
                  </a:path>
                </a:pathLst>
              </a:custGeom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C0EC2700-DA4A-400E-8F53-90C71A219248}"/>
              </a:ext>
            </a:extLst>
          </p:cNvPr>
          <p:cNvSpPr txBox="1"/>
          <p:nvPr/>
        </p:nvSpPr>
        <p:spPr>
          <a:xfrm>
            <a:off x="6241968" y="779860"/>
            <a:ext cx="907300" cy="24622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Взаимодействие </a:t>
            </a:r>
            <a:br>
              <a:rPr lang="en-US" sz="800" dirty="0"/>
            </a:br>
            <a:r>
              <a:rPr lang="ru-RU" sz="800" dirty="0"/>
              <a:t>с городскими ИС</a:t>
            </a:r>
          </a:p>
        </p:txBody>
      </p:sp>
      <p:grpSp>
        <p:nvGrpSpPr>
          <p:cNvPr id="140" name="CustomIcon">
            <a:extLst>
              <a:ext uri="{FF2B5EF4-FFF2-40B4-BE49-F238E27FC236}">
                <a16:creationId xmlns:a16="http://schemas.microsoft.com/office/drawing/2014/main" id="{2440249A-048D-42A3-BB99-93F7A3F7A5B1}"/>
              </a:ext>
            </a:extLst>
          </p:cNvPr>
          <p:cNvGrpSpPr>
            <a:grpSpLocks/>
          </p:cNvGrpSpPr>
          <p:nvPr/>
        </p:nvGrpSpPr>
        <p:grpSpPr>
          <a:xfrm>
            <a:off x="5888910" y="786826"/>
            <a:ext cx="232288" cy="232288"/>
            <a:chOff x="11085092" y="855109"/>
            <a:chExt cx="232288" cy="232288"/>
          </a:xfrm>
        </p:grpSpPr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0C900E1-EACD-42E6-B9FA-845426F3A8EF}"/>
                </a:ext>
              </a:extLst>
            </p:cNvPr>
            <p:cNvSpPr/>
            <p:nvPr/>
          </p:nvSpPr>
          <p:spPr>
            <a:xfrm>
              <a:off x="11088721" y="948024"/>
              <a:ext cx="225029" cy="40650"/>
            </a:xfrm>
            <a:custGeom>
              <a:avLst/>
              <a:gdLst>
                <a:gd name="connsiteX0" fmla="*/ 225029 w 225029"/>
                <a:gd name="connsiteY0" fmla="*/ 0 h 40650"/>
                <a:gd name="connsiteX1" fmla="*/ 112515 w 225029"/>
                <a:gd name="connsiteY1" fmla="*/ 40650 h 40650"/>
                <a:gd name="connsiteX2" fmla="*/ 0 w 225029"/>
                <a:gd name="connsiteY2" fmla="*/ 0 h 4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029" h="40650">
                  <a:moveTo>
                    <a:pt x="225029" y="0"/>
                  </a:moveTo>
                  <a:cubicBezTo>
                    <a:pt x="225029" y="22503"/>
                    <a:pt x="174942" y="40650"/>
                    <a:pt x="112515" y="40650"/>
                  </a:cubicBezTo>
                  <a:cubicBezTo>
                    <a:pt x="50087" y="40650"/>
                    <a:pt x="0" y="2250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A72BBD1-3559-4D04-9E3C-17EDEBA01912}"/>
                </a:ext>
              </a:extLst>
            </p:cNvPr>
            <p:cNvSpPr/>
            <p:nvPr/>
          </p:nvSpPr>
          <p:spPr>
            <a:xfrm>
              <a:off x="11088721" y="858738"/>
              <a:ext cx="225029" cy="81300"/>
            </a:xfrm>
            <a:custGeom>
              <a:avLst/>
              <a:gdLst>
                <a:gd name="connsiteX0" fmla="*/ 225029 w 225029"/>
                <a:gd name="connsiteY0" fmla="*/ 40650 h 81300"/>
                <a:gd name="connsiteX1" fmla="*/ 112515 w 225029"/>
                <a:gd name="connsiteY1" fmla="*/ 81301 h 81300"/>
                <a:gd name="connsiteX2" fmla="*/ 0 w 225029"/>
                <a:gd name="connsiteY2" fmla="*/ 40650 h 81300"/>
                <a:gd name="connsiteX3" fmla="*/ 112515 w 225029"/>
                <a:gd name="connsiteY3" fmla="*/ 0 h 81300"/>
                <a:gd name="connsiteX4" fmla="*/ 225029 w 225029"/>
                <a:gd name="connsiteY4" fmla="*/ 40650 h 8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029" h="81300">
                  <a:moveTo>
                    <a:pt x="225029" y="40650"/>
                  </a:moveTo>
                  <a:cubicBezTo>
                    <a:pt x="225029" y="63101"/>
                    <a:pt x="174655" y="81301"/>
                    <a:pt x="112515" y="81301"/>
                  </a:cubicBezTo>
                  <a:cubicBezTo>
                    <a:pt x="50374" y="81301"/>
                    <a:pt x="0" y="63101"/>
                    <a:pt x="0" y="40650"/>
                  </a:cubicBezTo>
                  <a:cubicBezTo>
                    <a:pt x="0" y="18200"/>
                    <a:pt x="50374" y="0"/>
                    <a:pt x="112515" y="0"/>
                  </a:cubicBezTo>
                  <a:cubicBezTo>
                    <a:pt x="174655" y="0"/>
                    <a:pt x="225029" y="18200"/>
                    <a:pt x="225029" y="4065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EC4B99C-8E7B-4589-AED8-BD5CC3C89B50}"/>
                </a:ext>
              </a:extLst>
            </p:cNvPr>
            <p:cNvSpPr/>
            <p:nvPr/>
          </p:nvSpPr>
          <p:spPr>
            <a:xfrm>
              <a:off x="11088721" y="996659"/>
              <a:ext cx="225029" cy="40650"/>
            </a:xfrm>
            <a:custGeom>
              <a:avLst/>
              <a:gdLst>
                <a:gd name="connsiteX0" fmla="*/ 225029 w 225029"/>
                <a:gd name="connsiteY0" fmla="*/ 0 h 40650"/>
                <a:gd name="connsiteX1" fmla="*/ 112515 w 225029"/>
                <a:gd name="connsiteY1" fmla="*/ 40650 h 40650"/>
                <a:gd name="connsiteX2" fmla="*/ 0 w 225029"/>
                <a:gd name="connsiteY2" fmla="*/ 0 h 4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029" h="40650">
                  <a:moveTo>
                    <a:pt x="225029" y="0"/>
                  </a:moveTo>
                  <a:cubicBezTo>
                    <a:pt x="225029" y="22503"/>
                    <a:pt x="174942" y="40650"/>
                    <a:pt x="112515" y="40650"/>
                  </a:cubicBezTo>
                  <a:cubicBezTo>
                    <a:pt x="50087" y="40650"/>
                    <a:pt x="0" y="2214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09AEC0-F048-40BD-A878-5DFBD6978098}"/>
                </a:ext>
              </a:extLst>
            </p:cNvPr>
            <p:cNvSpPr/>
            <p:nvPr/>
          </p:nvSpPr>
          <p:spPr>
            <a:xfrm>
              <a:off x="11088721" y="858738"/>
              <a:ext cx="225029" cy="225029"/>
            </a:xfrm>
            <a:custGeom>
              <a:avLst/>
              <a:gdLst>
                <a:gd name="connsiteX0" fmla="*/ 112515 w 225029"/>
                <a:gd name="connsiteY0" fmla="*/ 0 h 225029"/>
                <a:gd name="connsiteX1" fmla="*/ 0 w 225029"/>
                <a:gd name="connsiteY1" fmla="*/ 40650 h 225029"/>
                <a:gd name="connsiteX2" fmla="*/ 0 w 225029"/>
                <a:gd name="connsiteY2" fmla="*/ 184016 h 225029"/>
                <a:gd name="connsiteX3" fmla="*/ 112515 w 225029"/>
                <a:gd name="connsiteY3" fmla="*/ 225029 h 225029"/>
                <a:gd name="connsiteX4" fmla="*/ 225029 w 225029"/>
                <a:gd name="connsiteY4" fmla="*/ 184379 h 225029"/>
                <a:gd name="connsiteX5" fmla="*/ 225029 w 225029"/>
                <a:gd name="connsiteY5" fmla="*/ 40650 h 225029"/>
                <a:gd name="connsiteX6" fmla="*/ 112515 w 225029"/>
                <a:gd name="connsiteY6" fmla="*/ 0 h 22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5029" h="225029">
                  <a:moveTo>
                    <a:pt x="112515" y="0"/>
                  </a:moveTo>
                  <a:cubicBezTo>
                    <a:pt x="50087" y="0"/>
                    <a:pt x="0" y="18148"/>
                    <a:pt x="0" y="40650"/>
                  </a:cubicBezTo>
                  <a:lnTo>
                    <a:pt x="0" y="184016"/>
                  </a:lnTo>
                  <a:cubicBezTo>
                    <a:pt x="0" y="206882"/>
                    <a:pt x="50087" y="225029"/>
                    <a:pt x="112515" y="225029"/>
                  </a:cubicBezTo>
                  <a:cubicBezTo>
                    <a:pt x="174942" y="225029"/>
                    <a:pt x="225029" y="206882"/>
                    <a:pt x="225029" y="184379"/>
                  </a:cubicBezTo>
                  <a:lnTo>
                    <a:pt x="225029" y="40650"/>
                  </a:lnTo>
                  <a:cubicBezTo>
                    <a:pt x="225029" y="18148"/>
                    <a:pt x="174942" y="0"/>
                    <a:pt x="112515" y="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145" name="CustomIcon">
            <a:extLst>
              <a:ext uri="{FF2B5EF4-FFF2-40B4-BE49-F238E27FC236}">
                <a16:creationId xmlns:a16="http://schemas.microsoft.com/office/drawing/2014/main" id="{8F293257-C6E8-4CA3-A2EC-C1B941B3D5FD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90145" y="4459612"/>
            <a:ext cx="609600" cy="609600"/>
          </a:xfrm>
          <a:prstGeom prst="rect">
            <a:avLst/>
          </a:prstGeom>
        </p:spPr>
      </p:pic>
      <p:pic>
        <p:nvPicPr>
          <p:cNvPr id="15" name="CustomIcon">
            <a:extLst>
              <a:ext uri="{FF2B5EF4-FFF2-40B4-BE49-F238E27FC236}">
                <a16:creationId xmlns:a16="http://schemas.microsoft.com/office/drawing/2014/main" id="{BBD50B82-ECB8-44AB-A7BA-462BF0E2A9FB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670550" y="1987728"/>
            <a:ext cx="386973" cy="386973"/>
          </a:xfrm>
          <a:prstGeom prst="rect">
            <a:avLst/>
          </a:prstGeom>
        </p:spPr>
      </p:pic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5F40CBC4-4285-4450-BAB6-7F534AD7F37B}"/>
              </a:ext>
            </a:extLst>
          </p:cNvPr>
          <p:cNvSpPr>
            <a:spLocks/>
          </p:cNvSpPr>
          <p:nvPr/>
        </p:nvSpPr>
        <p:spPr>
          <a:xfrm rot="2700000">
            <a:off x="7961029" y="3900719"/>
            <a:ext cx="1128563" cy="1128563"/>
          </a:xfrm>
          <a:prstGeom prst="roundRect">
            <a:avLst>
              <a:gd name="adj" fmla="val 14485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180000" rIns="36000" bIns="1188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000" b="1" dirty="0">
              <a:cs typeface="Arial" panose="020B0604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8FEA33A-8CF9-4A74-A137-84661CE461ED}"/>
              </a:ext>
            </a:extLst>
          </p:cNvPr>
          <p:cNvSpPr txBox="1"/>
          <p:nvPr/>
        </p:nvSpPr>
        <p:spPr>
          <a:xfrm>
            <a:off x="7974767" y="4234168"/>
            <a:ext cx="1101087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ru-RU" sz="1000" b="1" dirty="0"/>
              <a:t>Наличие информации по антеннам у УК?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247FF81-CD3E-4B81-A689-79F47F659547}"/>
              </a:ext>
            </a:extLst>
          </p:cNvPr>
          <p:cNvSpPr/>
          <p:nvPr/>
        </p:nvSpPr>
        <p:spPr>
          <a:xfrm>
            <a:off x="9236472" y="4427750"/>
            <a:ext cx="327390" cy="3273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cxnSp>
        <p:nvCxnSpPr>
          <p:cNvPr id="168" name="LineSpecialityArrow 73">
            <a:extLst>
              <a:ext uri="{FF2B5EF4-FFF2-40B4-BE49-F238E27FC236}">
                <a16:creationId xmlns:a16="http://schemas.microsoft.com/office/drawing/2014/main" id="{E9C1EB14-6BA8-47F9-9A9C-49D825BA5BC8}"/>
              </a:ext>
            </a:extLst>
          </p:cNvPr>
          <p:cNvCxnSpPr>
            <a:cxnSpLocks/>
            <a:stCxn id="192" idx="3"/>
            <a:endCxn id="179" idx="1"/>
          </p:cNvCxnSpPr>
          <p:nvPr>
            <p:custDataLst>
              <p:tags r:id="rId15"/>
            </p:custDataLst>
          </p:nvPr>
        </p:nvCxnSpPr>
        <p:spPr>
          <a:xfrm flipV="1">
            <a:off x="9347131" y="3964772"/>
            <a:ext cx="272184" cy="504654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LineSpecialityArrow 73">
            <a:extLst>
              <a:ext uri="{FF2B5EF4-FFF2-40B4-BE49-F238E27FC236}">
                <a16:creationId xmlns:a16="http://schemas.microsoft.com/office/drawing/2014/main" id="{E30ECF33-5979-4B9B-B9B3-878DB87AFE28}"/>
              </a:ext>
            </a:extLst>
          </p:cNvPr>
          <p:cNvCxnSpPr>
            <a:cxnSpLocks/>
            <a:stCxn id="192" idx="3"/>
            <a:endCxn id="174" idx="1"/>
          </p:cNvCxnSpPr>
          <p:nvPr>
            <p:custDataLst>
              <p:tags r:id="rId16"/>
            </p:custDataLst>
          </p:nvPr>
        </p:nvCxnSpPr>
        <p:spPr>
          <a:xfrm>
            <a:off x="9347131" y="4469426"/>
            <a:ext cx="272184" cy="519122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CB14E495-C6BD-4FD9-9C62-33D625CBC129}"/>
              </a:ext>
            </a:extLst>
          </p:cNvPr>
          <p:cNvSpPr txBox="1">
            <a:spLocks/>
          </p:cNvSpPr>
          <p:nvPr/>
        </p:nvSpPr>
        <p:spPr>
          <a:xfrm>
            <a:off x="9171597" y="3681216"/>
            <a:ext cx="237244" cy="15388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Да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5811AB0-3237-4DA4-8658-4C9348DB6632}"/>
              </a:ext>
            </a:extLst>
          </p:cNvPr>
          <p:cNvSpPr txBox="1">
            <a:spLocks/>
          </p:cNvSpPr>
          <p:nvPr/>
        </p:nvSpPr>
        <p:spPr>
          <a:xfrm>
            <a:off x="9171597" y="5043420"/>
            <a:ext cx="237244" cy="15388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Нет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02C0E9A5-B916-4D85-A45E-D876576A5C51}"/>
              </a:ext>
            </a:extLst>
          </p:cNvPr>
          <p:cNvSpPr/>
          <p:nvPr/>
        </p:nvSpPr>
        <p:spPr>
          <a:xfrm>
            <a:off x="9619316" y="3647566"/>
            <a:ext cx="320359" cy="32035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A6D3C5AF-5549-418C-81A3-FF7E1EBE9DE4}"/>
              </a:ext>
            </a:extLst>
          </p:cNvPr>
          <p:cNvSpPr>
            <a:spLocks/>
          </p:cNvSpPr>
          <p:nvPr/>
        </p:nvSpPr>
        <p:spPr>
          <a:xfrm>
            <a:off x="9619315" y="4630195"/>
            <a:ext cx="1985694" cy="716705"/>
          </a:xfrm>
          <a:prstGeom prst="roundRect">
            <a:avLst>
              <a:gd name="adj" fmla="val 11148"/>
            </a:avLst>
          </a:prstGeom>
          <a:solidFill>
            <a:srgbClr val="E6E6E6">
              <a:alpha val="50000"/>
            </a:srgbClr>
          </a:solidFill>
          <a:ln w="9525" cap="sq">
            <a:solidFill>
              <a:srgbClr val="F2F2F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B4C6E11-CB86-4E84-B815-7AE6F9A3A4EC}"/>
              </a:ext>
            </a:extLst>
          </p:cNvPr>
          <p:cNvSpPr txBox="1">
            <a:spLocks/>
          </p:cNvSpPr>
          <p:nvPr/>
        </p:nvSpPr>
        <p:spPr>
          <a:xfrm>
            <a:off x="9709350" y="4759864"/>
            <a:ext cx="1737058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Информация  </a:t>
            </a:r>
            <a:br>
              <a:rPr lang="en-US" sz="1000" dirty="0"/>
            </a:br>
            <a:r>
              <a:rPr lang="ru-RU" sz="1000" dirty="0"/>
              <a:t>не может быть предоставлена жителю </a:t>
            </a: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7CB4DF98-1513-488A-8730-186775AE0C5D}"/>
              </a:ext>
            </a:extLst>
          </p:cNvPr>
          <p:cNvSpPr>
            <a:spLocks/>
          </p:cNvSpPr>
          <p:nvPr/>
        </p:nvSpPr>
        <p:spPr>
          <a:xfrm>
            <a:off x="9619315" y="3681216"/>
            <a:ext cx="1985694" cy="567112"/>
          </a:xfrm>
          <a:prstGeom prst="roundRect">
            <a:avLst>
              <a:gd name="adj" fmla="val 11148"/>
            </a:avLst>
          </a:prstGeom>
          <a:solidFill>
            <a:srgbClr val="E6E6E6">
              <a:alpha val="50000"/>
            </a:srgbClr>
          </a:solidFill>
          <a:ln w="9525" cap="sq">
            <a:solidFill>
              <a:srgbClr val="F2F2F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528EFBE2-3865-4B26-9DBF-D9B178B75A81}"/>
              </a:ext>
            </a:extLst>
          </p:cNvPr>
          <p:cNvSpPr txBox="1">
            <a:spLocks/>
          </p:cNvSpPr>
          <p:nvPr/>
        </p:nvSpPr>
        <p:spPr>
          <a:xfrm>
            <a:off x="9709350" y="3810884"/>
            <a:ext cx="1737058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Актуальная информация предоставляется жителю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FFD6FA46-8843-4714-805B-175C8950E9FE}"/>
              </a:ext>
            </a:extLst>
          </p:cNvPr>
          <p:cNvSpPr/>
          <p:nvPr/>
        </p:nvSpPr>
        <p:spPr>
          <a:xfrm>
            <a:off x="9019741" y="4305731"/>
            <a:ext cx="327390" cy="3273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EC01F77D-DE5A-40D5-BA04-2CC8615FE6FC}"/>
              </a:ext>
            </a:extLst>
          </p:cNvPr>
          <p:cNvGrpSpPr>
            <a:grpSpLocks/>
          </p:cNvGrpSpPr>
          <p:nvPr/>
        </p:nvGrpSpPr>
        <p:grpSpPr>
          <a:xfrm>
            <a:off x="11439238" y="4869357"/>
            <a:ext cx="248140" cy="248140"/>
            <a:chOff x="10097600" y="2224806"/>
            <a:chExt cx="396228" cy="396228"/>
          </a:xfrm>
        </p:grpSpPr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010B6703-748F-440C-AC68-514B2952C83D}"/>
                </a:ext>
              </a:extLst>
            </p:cNvPr>
            <p:cNvSpPr/>
            <p:nvPr/>
          </p:nvSpPr>
          <p:spPr>
            <a:xfrm>
              <a:off x="10097600" y="2224806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D5EF3E46-EA2E-44F0-B4B2-074CFDC21E3A}"/>
                </a:ext>
              </a:extLst>
            </p:cNvPr>
            <p:cNvGrpSpPr/>
            <p:nvPr/>
          </p:nvGrpSpPr>
          <p:grpSpPr>
            <a:xfrm>
              <a:off x="10193928" y="2321134"/>
              <a:ext cx="203573" cy="203573"/>
              <a:chOff x="10228478" y="2355684"/>
              <a:chExt cx="134470" cy="134470"/>
            </a:xfrm>
          </p:grpSpPr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06049BAE-2AE1-4960-BAEB-7F09E332562A}"/>
                  </a:ext>
                </a:extLst>
              </p:cNvPr>
              <p:cNvSpPr/>
              <p:nvPr/>
            </p:nvSpPr>
            <p:spPr>
              <a:xfrm>
                <a:off x="10228478" y="2355684"/>
                <a:ext cx="134470" cy="134470"/>
              </a:xfrm>
              <a:custGeom>
                <a:avLst/>
                <a:gdLst>
                  <a:gd name="connsiteX0" fmla="*/ 0 w 134470"/>
                  <a:gd name="connsiteY0" fmla="*/ 0 h 134470"/>
                  <a:gd name="connsiteX1" fmla="*/ 134471 w 134470"/>
                  <a:gd name="connsiteY1" fmla="*/ 134471 h 134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470" h="134470">
                    <a:moveTo>
                      <a:pt x="0" y="0"/>
                    </a:moveTo>
                    <a:lnTo>
                      <a:pt x="134471" y="134471"/>
                    </a:lnTo>
                  </a:path>
                </a:pathLst>
              </a:custGeom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1CE29980-F572-441E-9FDA-FC994FD3C986}"/>
                  </a:ext>
                </a:extLst>
              </p:cNvPr>
              <p:cNvSpPr/>
              <p:nvPr/>
            </p:nvSpPr>
            <p:spPr>
              <a:xfrm>
                <a:off x="10228478" y="2355684"/>
                <a:ext cx="134470" cy="134470"/>
              </a:xfrm>
              <a:custGeom>
                <a:avLst/>
                <a:gdLst>
                  <a:gd name="connsiteX0" fmla="*/ 134471 w 134470"/>
                  <a:gd name="connsiteY0" fmla="*/ 0 h 134470"/>
                  <a:gd name="connsiteX1" fmla="*/ 0 w 134470"/>
                  <a:gd name="connsiteY1" fmla="*/ 134471 h 134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470" h="134470">
                    <a:moveTo>
                      <a:pt x="134471" y="0"/>
                    </a:moveTo>
                    <a:lnTo>
                      <a:pt x="0" y="134471"/>
                    </a:lnTo>
                  </a:path>
                </a:pathLst>
              </a:custGeom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31350D43-014B-4434-97DC-5E6635585DB7}"/>
              </a:ext>
            </a:extLst>
          </p:cNvPr>
          <p:cNvSpPr>
            <a:spLocks/>
          </p:cNvSpPr>
          <p:nvPr/>
        </p:nvSpPr>
        <p:spPr>
          <a:xfrm rot="2700000">
            <a:off x="6148205" y="1880623"/>
            <a:ext cx="1128563" cy="1128563"/>
          </a:xfrm>
          <a:prstGeom prst="roundRect">
            <a:avLst>
              <a:gd name="adj" fmla="val 14485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180000" rIns="36000" bIns="1188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000" b="1" dirty="0">
              <a:cs typeface="Arial" panose="020B0604020202020204" pitchFamily="34" charset="0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9A884E65-BE5E-4856-BA66-E74860075C36}"/>
              </a:ext>
            </a:extLst>
          </p:cNvPr>
          <p:cNvSpPr txBox="1"/>
          <p:nvPr/>
        </p:nvSpPr>
        <p:spPr>
          <a:xfrm>
            <a:off x="6161943" y="2214072"/>
            <a:ext cx="1101087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b="1" dirty="0"/>
              <a:t>Актуальность</a:t>
            </a:r>
            <a:br>
              <a:rPr lang="ru-RU" sz="1000" b="1" dirty="0"/>
            </a:br>
            <a:r>
              <a:rPr lang="ru-RU" sz="1000" b="1" dirty="0"/>
              <a:t>контактных данных компании?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2ACDF65B-F0F5-40DE-A3C9-AAE47DA07F1F}"/>
              </a:ext>
            </a:extLst>
          </p:cNvPr>
          <p:cNvSpPr/>
          <p:nvPr/>
        </p:nvSpPr>
        <p:spPr>
          <a:xfrm>
            <a:off x="5932305" y="2282051"/>
            <a:ext cx="327390" cy="3273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175AA6DF-00B6-4552-80E6-64AD1C6DC062}"/>
              </a:ext>
            </a:extLst>
          </p:cNvPr>
          <p:cNvSpPr>
            <a:spLocks/>
          </p:cNvSpPr>
          <p:nvPr/>
        </p:nvSpPr>
        <p:spPr>
          <a:xfrm>
            <a:off x="7718831" y="2525502"/>
            <a:ext cx="1429894" cy="515028"/>
          </a:xfrm>
          <a:prstGeom prst="roundRect">
            <a:avLst>
              <a:gd name="adj" fmla="val 8516"/>
            </a:avLst>
          </a:prstGeom>
          <a:solidFill>
            <a:srgbClr val="E6E6E6">
              <a:alpha val="50000"/>
            </a:srgbClr>
          </a:solidFill>
          <a:ln w="9525" cap="sq">
            <a:noFill/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D13B63C-79EE-4586-84C7-4FA3CCE9045F}"/>
              </a:ext>
            </a:extLst>
          </p:cNvPr>
          <p:cNvSpPr txBox="1">
            <a:spLocks/>
          </p:cNvSpPr>
          <p:nvPr/>
        </p:nvSpPr>
        <p:spPr>
          <a:xfrm>
            <a:off x="7778171" y="2541049"/>
            <a:ext cx="126588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Предоставление неактуальных контактов жителю</a:t>
            </a: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942147BD-5A9A-4CAD-B4DD-35FDCDE05B0D}"/>
              </a:ext>
            </a:extLst>
          </p:cNvPr>
          <p:cNvGrpSpPr>
            <a:grpSpLocks/>
          </p:cNvGrpSpPr>
          <p:nvPr/>
        </p:nvGrpSpPr>
        <p:grpSpPr>
          <a:xfrm>
            <a:off x="9019951" y="2658946"/>
            <a:ext cx="248140" cy="248140"/>
            <a:chOff x="10097600" y="2224806"/>
            <a:chExt cx="396228" cy="396228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791116CA-EAEE-40F0-921D-C7321BA29186}"/>
                </a:ext>
              </a:extLst>
            </p:cNvPr>
            <p:cNvSpPr/>
            <p:nvPr/>
          </p:nvSpPr>
          <p:spPr>
            <a:xfrm>
              <a:off x="10097600" y="2224806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F80800CC-D40F-46D1-BB9F-F9055D4A72FB}"/>
                </a:ext>
              </a:extLst>
            </p:cNvPr>
            <p:cNvGrpSpPr/>
            <p:nvPr/>
          </p:nvGrpSpPr>
          <p:grpSpPr>
            <a:xfrm>
              <a:off x="10193928" y="2321134"/>
              <a:ext cx="203573" cy="203573"/>
              <a:chOff x="10228478" y="2355684"/>
              <a:chExt cx="134470" cy="134470"/>
            </a:xfrm>
          </p:grpSpPr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8CFEA32C-CA10-40EE-BD11-E3C88A8D5930}"/>
                  </a:ext>
                </a:extLst>
              </p:cNvPr>
              <p:cNvSpPr/>
              <p:nvPr/>
            </p:nvSpPr>
            <p:spPr>
              <a:xfrm>
                <a:off x="10228478" y="2355684"/>
                <a:ext cx="134470" cy="134470"/>
              </a:xfrm>
              <a:custGeom>
                <a:avLst/>
                <a:gdLst>
                  <a:gd name="connsiteX0" fmla="*/ 0 w 134470"/>
                  <a:gd name="connsiteY0" fmla="*/ 0 h 134470"/>
                  <a:gd name="connsiteX1" fmla="*/ 134471 w 134470"/>
                  <a:gd name="connsiteY1" fmla="*/ 134471 h 134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470" h="134470">
                    <a:moveTo>
                      <a:pt x="0" y="0"/>
                    </a:moveTo>
                    <a:lnTo>
                      <a:pt x="134471" y="134471"/>
                    </a:lnTo>
                  </a:path>
                </a:pathLst>
              </a:custGeom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22FE9404-70C0-44D1-A358-9CD26C1A0EF8}"/>
                  </a:ext>
                </a:extLst>
              </p:cNvPr>
              <p:cNvSpPr/>
              <p:nvPr/>
            </p:nvSpPr>
            <p:spPr>
              <a:xfrm>
                <a:off x="10228478" y="2355684"/>
                <a:ext cx="134470" cy="134470"/>
              </a:xfrm>
              <a:custGeom>
                <a:avLst/>
                <a:gdLst>
                  <a:gd name="connsiteX0" fmla="*/ 134471 w 134470"/>
                  <a:gd name="connsiteY0" fmla="*/ 0 h 134470"/>
                  <a:gd name="connsiteX1" fmla="*/ 0 w 134470"/>
                  <a:gd name="connsiteY1" fmla="*/ 134471 h 134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470" h="134470">
                    <a:moveTo>
                      <a:pt x="134471" y="0"/>
                    </a:moveTo>
                    <a:lnTo>
                      <a:pt x="0" y="134471"/>
                    </a:lnTo>
                  </a:path>
                </a:pathLst>
              </a:custGeom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F35934B8-678E-4A35-8778-1411B21F9ACD}"/>
              </a:ext>
            </a:extLst>
          </p:cNvPr>
          <p:cNvSpPr>
            <a:spLocks/>
          </p:cNvSpPr>
          <p:nvPr/>
        </p:nvSpPr>
        <p:spPr>
          <a:xfrm>
            <a:off x="7727296" y="1736355"/>
            <a:ext cx="1429894" cy="515028"/>
          </a:xfrm>
          <a:prstGeom prst="roundRect">
            <a:avLst>
              <a:gd name="adj" fmla="val 8516"/>
            </a:avLst>
          </a:prstGeom>
          <a:solidFill>
            <a:srgbClr val="E6E6E6">
              <a:alpha val="50000"/>
            </a:srgbClr>
          </a:solidFill>
          <a:ln w="9525" cap="sq">
            <a:noFill/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ED8B909-B76F-48DF-B37A-CAE85BFAA8E8}"/>
              </a:ext>
            </a:extLst>
          </p:cNvPr>
          <p:cNvSpPr txBox="1">
            <a:spLocks/>
          </p:cNvSpPr>
          <p:nvPr/>
        </p:nvSpPr>
        <p:spPr>
          <a:xfrm>
            <a:off x="7786636" y="1751902"/>
            <a:ext cx="126588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Предоставление контактов компании жителю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431059EF-15C9-4F2D-B4B9-DEF9F58E5CCB}"/>
              </a:ext>
            </a:extLst>
          </p:cNvPr>
          <p:cNvGrpSpPr>
            <a:grpSpLocks/>
          </p:cNvGrpSpPr>
          <p:nvPr/>
        </p:nvGrpSpPr>
        <p:grpSpPr>
          <a:xfrm>
            <a:off x="9019951" y="1832248"/>
            <a:ext cx="244800" cy="246221"/>
            <a:chOff x="9224208" y="2060372"/>
            <a:chExt cx="248140" cy="248140"/>
          </a:xfrm>
          <a:solidFill>
            <a:srgbClr val="00B050"/>
          </a:solidFill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EFA62DA3-4A45-4AA3-B5CB-8DDF38377F35}"/>
                </a:ext>
              </a:extLst>
            </p:cNvPr>
            <p:cNvSpPr/>
            <p:nvPr/>
          </p:nvSpPr>
          <p:spPr>
            <a:xfrm>
              <a:off x="9224208" y="2060372"/>
              <a:ext cx="248140" cy="248140"/>
            </a:xfrm>
            <a:prstGeom prst="ellipse">
              <a:avLst/>
            </a:pr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20" name="Graphic 377">
              <a:extLst>
                <a:ext uri="{FF2B5EF4-FFF2-40B4-BE49-F238E27FC236}">
                  <a16:creationId xmlns:a16="http://schemas.microsoft.com/office/drawing/2014/main" id="{E3E06E00-F8EB-4FD1-A000-A2A6707D0CB5}"/>
                </a:ext>
              </a:extLst>
            </p:cNvPr>
            <p:cNvSpPr/>
            <p:nvPr/>
          </p:nvSpPr>
          <p:spPr>
            <a:xfrm>
              <a:off x="9279768" y="2125191"/>
              <a:ext cx="137020" cy="118503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F9B74AA-16E9-4FFE-9BDD-06671DBC63EE}"/>
              </a:ext>
            </a:extLst>
          </p:cNvPr>
          <p:cNvSpPr/>
          <p:nvPr/>
        </p:nvSpPr>
        <p:spPr>
          <a:xfrm>
            <a:off x="6084705" y="2434451"/>
            <a:ext cx="327390" cy="3273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CD65373-9977-4DBF-A5CD-ACE7E456741B}"/>
              </a:ext>
            </a:extLst>
          </p:cNvPr>
          <p:cNvSpPr/>
          <p:nvPr/>
        </p:nvSpPr>
        <p:spPr>
          <a:xfrm>
            <a:off x="7165278" y="2259461"/>
            <a:ext cx="327390" cy="3273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cxnSp>
        <p:nvCxnSpPr>
          <p:cNvPr id="223" name="LineSpecialityArrow 73">
            <a:extLst>
              <a:ext uri="{FF2B5EF4-FFF2-40B4-BE49-F238E27FC236}">
                <a16:creationId xmlns:a16="http://schemas.microsoft.com/office/drawing/2014/main" id="{57E30F62-F2AC-4860-ACB8-8EE33C4C3614}"/>
              </a:ext>
            </a:extLst>
          </p:cNvPr>
          <p:cNvCxnSpPr>
            <a:cxnSpLocks/>
            <a:stCxn id="222" idx="3"/>
            <a:endCxn id="216" idx="1"/>
          </p:cNvCxnSpPr>
          <p:nvPr>
            <p:custDataLst>
              <p:tags r:id="rId17"/>
            </p:custDataLst>
          </p:nvPr>
        </p:nvCxnSpPr>
        <p:spPr>
          <a:xfrm flipV="1">
            <a:off x="7492668" y="1993869"/>
            <a:ext cx="234628" cy="429287"/>
          </a:xfrm>
          <a:prstGeom prst="bentConnector3">
            <a:avLst>
              <a:gd name="adj1" fmla="val 48192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LineSpecialityArrow 73">
            <a:extLst>
              <a:ext uri="{FF2B5EF4-FFF2-40B4-BE49-F238E27FC236}">
                <a16:creationId xmlns:a16="http://schemas.microsoft.com/office/drawing/2014/main" id="{B0A537DD-FEF8-417E-899C-2BFCA534E2C5}"/>
              </a:ext>
            </a:extLst>
          </p:cNvPr>
          <p:cNvCxnSpPr>
            <a:cxnSpLocks/>
            <a:stCxn id="222" idx="3"/>
            <a:endCxn id="209" idx="1"/>
          </p:cNvCxnSpPr>
          <p:nvPr>
            <p:custDataLst>
              <p:tags r:id="rId18"/>
            </p:custDataLst>
          </p:nvPr>
        </p:nvCxnSpPr>
        <p:spPr>
          <a:xfrm>
            <a:off x="7492668" y="2423156"/>
            <a:ext cx="226163" cy="359860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CB773C18-01FC-49CC-B3BE-235376C1D200}"/>
              </a:ext>
            </a:extLst>
          </p:cNvPr>
          <p:cNvSpPr txBox="1">
            <a:spLocks/>
          </p:cNvSpPr>
          <p:nvPr/>
        </p:nvSpPr>
        <p:spPr>
          <a:xfrm>
            <a:off x="7362285" y="1766605"/>
            <a:ext cx="259199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Да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9D4857C7-F497-4221-B844-2A5F211A8F2D}"/>
              </a:ext>
            </a:extLst>
          </p:cNvPr>
          <p:cNvSpPr txBox="1">
            <a:spLocks/>
          </p:cNvSpPr>
          <p:nvPr/>
        </p:nvSpPr>
        <p:spPr>
          <a:xfrm>
            <a:off x="7362285" y="2907564"/>
            <a:ext cx="259199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Нет</a:t>
            </a:r>
          </a:p>
        </p:txBody>
      </p:sp>
      <p:grpSp>
        <p:nvGrpSpPr>
          <p:cNvPr id="230" name="CustomIcon">
            <a:extLst>
              <a:ext uri="{FF2B5EF4-FFF2-40B4-BE49-F238E27FC236}">
                <a16:creationId xmlns:a16="http://schemas.microsoft.com/office/drawing/2014/main" id="{DDB9B485-8DD7-4177-8B03-8B5B4047FDB7}"/>
              </a:ext>
            </a:extLst>
          </p:cNvPr>
          <p:cNvGrpSpPr/>
          <p:nvPr/>
        </p:nvGrpSpPr>
        <p:grpSpPr>
          <a:xfrm>
            <a:off x="5905695" y="5573040"/>
            <a:ext cx="232288" cy="232288"/>
            <a:chOff x="11085092" y="855109"/>
            <a:chExt cx="232288" cy="232288"/>
          </a:xfrm>
        </p:grpSpPr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A9700A5C-7DE5-437B-BB16-846518571FEB}"/>
                </a:ext>
              </a:extLst>
            </p:cNvPr>
            <p:cNvSpPr/>
            <p:nvPr/>
          </p:nvSpPr>
          <p:spPr>
            <a:xfrm>
              <a:off x="11088721" y="948024"/>
              <a:ext cx="225029" cy="40650"/>
            </a:xfrm>
            <a:custGeom>
              <a:avLst/>
              <a:gdLst>
                <a:gd name="connsiteX0" fmla="*/ 225029 w 225029"/>
                <a:gd name="connsiteY0" fmla="*/ 0 h 40650"/>
                <a:gd name="connsiteX1" fmla="*/ 112515 w 225029"/>
                <a:gd name="connsiteY1" fmla="*/ 40650 h 40650"/>
                <a:gd name="connsiteX2" fmla="*/ 0 w 225029"/>
                <a:gd name="connsiteY2" fmla="*/ 0 h 4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029" h="40650">
                  <a:moveTo>
                    <a:pt x="225029" y="0"/>
                  </a:moveTo>
                  <a:cubicBezTo>
                    <a:pt x="225029" y="22503"/>
                    <a:pt x="174942" y="40650"/>
                    <a:pt x="112515" y="40650"/>
                  </a:cubicBezTo>
                  <a:cubicBezTo>
                    <a:pt x="50087" y="40650"/>
                    <a:pt x="0" y="2250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91F84A4A-1C57-4D0B-99F5-01893A3E7434}"/>
                </a:ext>
              </a:extLst>
            </p:cNvPr>
            <p:cNvSpPr/>
            <p:nvPr/>
          </p:nvSpPr>
          <p:spPr>
            <a:xfrm>
              <a:off x="11088721" y="858738"/>
              <a:ext cx="225029" cy="81300"/>
            </a:xfrm>
            <a:custGeom>
              <a:avLst/>
              <a:gdLst>
                <a:gd name="connsiteX0" fmla="*/ 225029 w 225029"/>
                <a:gd name="connsiteY0" fmla="*/ 40650 h 81300"/>
                <a:gd name="connsiteX1" fmla="*/ 112515 w 225029"/>
                <a:gd name="connsiteY1" fmla="*/ 81301 h 81300"/>
                <a:gd name="connsiteX2" fmla="*/ 0 w 225029"/>
                <a:gd name="connsiteY2" fmla="*/ 40650 h 81300"/>
                <a:gd name="connsiteX3" fmla="*/ 112515 w 225029"/>
                <a:gd name="connsiteY3" fmla="*/ 0 h 81300"/>
                <a:gd name="connsiteX4" fmla="*/ 225029 w 225029"/>
                <a:gd name="connsiteY4" fmla="*/ 40650 h 8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029" h="81300">
                  <a:moveTo>
                    <a:pt x="225029" y="40650"/>
                  </a:moveTo>
                  <a:cubicBezTo>
                    <a:pt x="225029" y="63101"/>
                    <a:pt x="174655" y="81301"/>
                    <a:pt x="112515" y="81301"/>
                  </a:cubicBezTo>
                  <a:cubicBezTo>
                    <a:pt x="50374" y="81301"/>
                    <a:pt x="0" y="63101"/>
                    <a:pt x="0" y="40650"/>
                  </a:cubicBezTo>
                  <a:cubicBezTo>
                    <a:pt x="0" y="18200"/>
                    <a:pt x="50374" y="0"/>
                    <a:pt x="112515" y="0"/>
                  </a:cubicBezTo>
                  <a:cubicBezTo>
                    <a:pt x="174655" y="0"/>
                    <a:pt x="225029" y="18200"/>
                    <a:pt x="225029" y="4065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64E604C9-C4A0-4586-9DB0-5706334E6686}"/>
                </a:ext>
              </a:extLst>
            </p:cNvPr>
            <p:cNvSpPr/>
            <p:nvPr/>
          </p:nvSpPr>
          <p:spPr>
            <a:xfrm>
              <a:off x="11088721" y="996659"/>
              <a:ext cx="225029" cy="40650"/>
            </a:xfrm>
            <a:custGeom>
              <a:avLst/>
              <a:gdLst>
                <a:gd name="connsiteX0" fmla="*/ 225029 w 225029"/>
                <a:gd name="connsiteY0" fmla="*/ 0 h 40650"/>
                <a:gd name="connsiteX1" fmla="*/ 112515 w 225029"/>
                <a:gd name="connsiteY1" fmla="*/ 40650 h 40650"/>
                <a:gd name="connsiteX2" fmla="*/ 0 w 225029"/>
                <a:gd name="connsiteY2" fmla="*/ 0 h 4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029" h="40650">
                  <a:moveTo>
                    <a:pt x="225029" y="0"/>
                  </a:moveTo>
                  <a:cubicBezTo>
                    <a:pt x="225029" y="22503"/>
                    <a:pt x="174942" y="40650"/>
                    <a:pt x="112515" y="40650"/>
                  </a:cubicBezTo>
                  <a:cubicBezTo>
                    <a:pt x="50087" y="40650"/>
                    <a:pt x="0" y="2214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0F04712-238A-4FC8-93A7-B6C02162EF3A}"/>
                </a:ext>
              </a:extLst>
            </p:cNvPr>
            <p:cNvSpPr/>
            <p:nvPr/>
          </p:nvSpPr>
          <p:spPr>
            <a:xfrm>
              <a:off x="11088721" y="858738"/>
              <a:ext cx="225029" cy="225029"/>
            </a:xfrm>
            <a:custGeom>
              <a:avLst/>
              <a:gdLst>
                <a:gd name="connsiteX0" fmla="*/ 112515 w 225029"/>
                <a:gd name="connsiteY0" fmla="*/ 0 h 225029"/>
                <a:gd name="connsiteX1" fmla="*/ 0 w 225029"/>
                <a:gd name="connsiteY1" fmla="*/ 40650 h 225029"/>
                <a:gd name="connsiteX2" fmla="*/ 0 w 225029"/>
                <a:gd name="connsiteY2" fmla="*/ 184016 h 225029"/>
                <a:gd name="connsiteX3" fmla="*/ 112515 w 225029"/>
                <a:gd name="connsiteY3" fmla="*/ 225029 h 225029"/>
                <a:gd name="connsiteX4" fmla="*/ 225029 w 225029"/>
                <a:gd name="connsiteY4" fmla="*/ 184379 h 225029"/>
                <a:gd name="connsiteX5" fmla="*/ 225029 w 225029"/>
                <a:gd name="connsiteY5" fmla="*/ 40650 h 225029"/>
                <a:gd name="connsiteX6" fmla="*/ 112515 w 225029"/>
                <a:gd name="connsiteY6" fmla="*/ 0 h 22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5029" h="225029">
                  <a:moveTo>
                    <a:pt x="112515" y="0"/>
                  </a:moveTo>
                  <a:cubicBezTo>
                    <a:pt x="50087" y="0"/>
                    <a:pt x="0" y="18148"/>
                    <a:pt x="0" y="40650"/>
                  </a:cubicBezTo>
                  <a:lnTo>
                    <a:pt x="0" y="184016"/>
                  </a:lnTo>
                  <a:cubicBezTo>
                    <a:pt x="0" y="206882"/>
                    <a:pt x="50087" y="225029"/>
                    <a:pt x="112515" y="225029"/>
                  </a:cubicBezTo>
                  <a:cubicBezTo>
                    <a:pt x="174942" y="225029"/>
                    <a:pt x="225029" y="206882"/>
                    <a:pt x="225029" y="184379"/>
                  </a:cubicBezTo>
                  <a:lnTo>
                    <a:pt x="225029" y="40650"/>
                  </a:lnTo>
                  <a:cubicBezTo>
                    <a:pt x="225029" y="18148"/>
                    <a:pt x="174942" y="0"/>
                    <a:pt x="112515" y="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38" name="4. Footnote">
            <a:extLst>
              <a:ext uri="{FF2B5EF4-FFF2-40B4-BE49-F238E27FC236}">
                <a16:creationId xmlns:a16="http://schemas.microsoft.com/office/drawing/2014/main" id="{E8327344-E9FC-48DD-9A7C-675D8A723B29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>
                <a:latin typeface="+mn-lt"/>
                <a:ea typeface="+mn-ea"/>
                <a:cs typeface="+mn-cs"/>
                <a:sym typeface="+mn-lt"/>
              </a:rPr>
              <a:t>1.	ГИС "Реестр домовладений", доступна на сайте "Дома Москвы"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0AA43DD9-9C05-4564-B9AD-3CAF0D2EB6F8}"/>
              </a:ext>
            </a:extLst>
          </p:cNvPr>
          <p:cNvSpPr/>
          <p:nvPr/>
        </p:nvSpPr>
        <p:spPr>
          <a:xfrm>
            <a:off x="3795901" y="4994902"/>
            <a:ext cx="327390" cy="3273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EA42CFC-4A84-4C1C-A204-393DBBD2D181}"/>
              </a:ext>
            </a:extLst>
          </p:cNvPr>
          <p:cNvGrpSpPr>
            <a:grpSpLocks/>
          </p:cNvGrpSpPr>
          <p:nvPr/>
        </p:nvGrpSpPr>
        <p:grpSpPr>
          <a:xfrm>
            <a:off x="11439238" y="3861701"/>
            <a:ext cx="244800" cy="246221"/>
            <a:chOff x="9224208" y="2060372"/>
            <a:chExt cx="248140" cy="248140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15C14035-29D4-4E47-AF69-048F6219480F}"/>
                </a:ext>
              </a:extLst>
            </p:cNvPr>
            <p:cNvSpPr/>
            <p:nvPr/>
          </p:nvSpPr>
          <p:spPr>
            <a:xfrm>
              <a:off x="9224208" y="2060372"/>
              <a:ext cx="248140" cy="248140"/>
            </a:xfrm>
            <a:prstGeom prst="ellipse">
              <a:avLst/>
            </a:prstGeom>
            <a:solidFill>
              <a:srgbClr val="FFC000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56" name="Graphic 377">
              <a:extLst>
                <a:ext uri="{FF2B5EF4-FFF2-40B4-BE49-F238E27FC236}">
                  <a16:creationId xmlns:a16="http://schemas.microsoft.com/office/drawing/2014/main" id="{6B090CF0-8DDA-4E11-851B-07DB77F50B11}"/>
                </a:ext>
              </a:extLst>
            </p:cNvPr>
            <p:cNvSpPr/>
            <p:nvPr/>
          </p:nvSpPr>
          <p:spPr>
            <a:xfrm>
              <a:off x="9279768" y="2125191"/>
              <a:ext cx="137020" cy="118503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C770B282-C8DA-4BA4-A53C-E413AE945EC7}"/>
              </a:ext>
            </a:extLst>
          </p:cNvPr>
          <p:cNvSpPr/>
          <p:nvPr/>
        </p:nvSpPr>
        <p:spPr>
          <a:xfrm>
            <a:off x="3790734" y="4387753"/>
            <a:ext cx="1351983" cy="1477099"/>
          </a:xfrm>
          <a:prstGeom prst="roundRect">
            <a:avLst>
              <a:gd name="adj" fmla="val 7606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36000" rIns="36000" bIns="36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r>
              <a:rPr lang="ru-RU" sz="1000" b="1" dirty="0">
                <a:cs typeface="Arial" panose="020B0604020202020204" pitchFamily="34" charset="0"/>
              </a:rPr>
              <a:t>Предоставление жителю контактных данных УК из системы ГИС РД</a:t>
            </a:r>
            <a:r>
              <a:rPr lang="ru-RU" sz="1000" b="1" baseline="30000" dirty="0"/>
              <a:t>2</a:t>
            </a:r>
            <a:endParaRPr lang="ru-RU" sz="1000" b="1" dirty="0">
              <a:cs typeface="Arial" panose="020B0604020202020204" pitchFamily="34" charset="0"/>
            </a:endParaRPr>
          </a:p>
        </p:txBody>
      </p:sp>
      <p:grpSp>
        <p:nvGrpSpPr>
          <p:cNvPr id="158" name="CustomIcon">
            <a:extLst>
              <a:ext uri="{FF2B5EF4-FFF2-40B4-BE49-F238E27FC236}">
                <a16:creationId xmlns:a16="http://schemas.microsoft.com/office/drawing/2014/main" id="{108D6A59-CC0D-460A-86DA-F9BC12A2566F}"/>
              </a:ext>
            </a:extLst>
          </p:cNvPr>
          <p:cNvGrpSpPr/>
          <p:nvPr/>
        </p:nvGrpSpPr>
        <p:grpSpPr>
          <a:xfrm>
            <a:off x="4621082" y="5522952"/>
            <a:ext cx="232288" cy="232288"/>
            <a:chOff x="11085092" y="855109"/>
            <a:chExt cx="232288" cy="232288"/>
          </a:xfrm>
        </p:grpSpPr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9D7A5283-1B6C-45E5-9AAC-7C30C757C161}"/>
                </a:ext>
              </a:extLst>
            </p:cNvPr>
            <p:cNvSpPr/>
            <p:nvPr/>
          </p:nvSpPr>
          <p:spPr>
            <a:xfrm>
              <a:off x="11088721" y="948024"/>
              <a:ext cx="225029" cy="40650"/>
            </a:xfrm>
            <a:custGeom>
              <a:avLst/>
              <a:gdLst>
                <a:gd name="connsiteX0" fmla="*/ 225029 w 225029"/>
                <a:gd name="connsiteY0" fmla="*/ 0 h 40650"/>
                <a:gd name="connsiteX1" fmla="*/ 112515 w 225029"/>
                <a:gd name="connsiteY1" fmla="*/ 40650 h 40650"/>
                <a:gd name="connsiteX2" fmla="*/ 0 w 225029"/>
                <a:gd name="connsiteY2" fmla="*/ 0 h 4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029" h="40650">
                  <a:moveTo>
                    <a:pt x="225029" y="0"/>
                  </a:moveTo>
                  <a:cubicBezTo>
                    <a:pt x="225029" y="22503"/>
                    <a:pt x="174942" y="40650"/>
                    <a:pt x="112515" y="40650"/>
                  </a:cubicBezTo>
                  <a:cubicBezTo>
                    <a:pt x="50087" y="40650"/>
                    <a:pt x="0" y="2250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A7030CCD-7F25-4672-BA1F-48CBA5363AE0}"/>
                </a:ext>
              </a:extLst>
            </p:cNvPr>
            <p:cNvSpPr/>
            <p:nvPr/>
          </p:nvSpPr>
          <p:spPr>
            <a:xfrm>
              <a:off x="11088721" y="858738"/>
              <a:ext cx="225029" cy="81300"/>
            </a:xfrm>
            <a:custGeom>
              <a:avLst/>
              <a:gdLst>
                <a:gd name="connsiteX0" fmla="*/ 225029 w 225029"/>
                <a:gd name="connsiteY0" fmla="*/ 40650 h 81300"/>
                <a:gd name="connsiteX1" fmla="*/ 112515 w 225029"/>
                <a:gd name="connsiteY1" fmla="*/ 81301 h 81300"/>
                <a:gd name="connsiteX2" fmla="*/ 0 w 225029"/>
                <a:gd name="connsiteY2" fmla="*/ 40650 h 81300"/>
                <a:gd name="connsiteX3" fmla="*/ 112515 w 225029"/>
                <a:gd name="connsiteY3" fmla="*/ 0 h 81300"/>
                <a:gd name="connsiteX4" fmla="*/ 225029 w 225029"/>
                <a:gd name="connsiteY4" fmla="*/ 40650 h 8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029" h="81300">
                  <a:moveTo>
                    <a:pt x="225029" y="40650"/>
                  </a:moveTo>
                  <a:cubicBezTo>
                    <a:pt x="225029" y="63101"/>
                    <a:pt x="174655" y="81301"/>
                    <a:pt x="112515" y="81301"/>
                  </a:cubicBezTo>
                  <a:cubicBezTo>
                    <a:pt x="50374" y="81301"/>
                    <a:pt x="0" y="63101"/>
                    <a:pt x="0" y="40650"/>
                  </a:cubicBezTo>
                  <a:cubicBezTo>
                    <a:pt x="0" y="18200"/>
                    <a:pt x="50374" y="0"/>
                    <a:pt x="112515" y="0"/>
                  </a:cubicBezTo>
                  <a:cubicBezTo>
                    <a:pt x="174655" y="0"/>
                    <a:pt x="225029" y="18200"/>
                    <a:pt x="225029" y="4065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090DA723-1A89-473A-938E-4DD86FDCAB6E}"/>
                </a:ext>
              </a:extLst>
            </p:cNvPr>
            <p:cNvSpPr/>
            <p:nvPr/>
          </p:nvSpPr>
          <p:spPr>
            <a:xfrm>
              <a:off x="11088721" y="996659"/>
              <a:ext cx="225029" cy="40650"/>
            </a:xfrm>
            <a:custGeom>
              <a:avLst/>
              <a:gdLst>
                <a:gd name="connsiteX0" fmla="*/ 225029 w 225029"/>
                <a:gd name="connsiteY0" fmla="*/ 0 h 40650"/>
                <a:gd name="connsiteX1" fmla="*/ 112515 w 225029"/>
                <a:gd name="connsiteY1" fmla="*/ 40650 h 40650"/>
                <a:gd name="connsiteX2" fmla="*/ 0 w 225029"/>
                <a:gd name="connsiteY2" fmla="*/ 0 h 4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029" h="40650">
                  <a:moveTo>
                    <a:pt x="225029" y="0"/>
                  </a:moveTo>
                  <a:cubicBezTo>
                    <a:pt x="225029" y="22503"/>
                    <a:pt x="174942" y="40650"/>
                    <a:pt x="112515" y="40650"/>
                  </a:cubicBezTo>
                  <a:cubicBezTo>
                    <a:pt x="50087" y="40650"/>
                    <a:pt x="0" y="2214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FE39F003-DC81-4B75-A6FF-2BBB90EB2926}"/>
                </a:ext>
              </a:extLst>
            </p:cNvPr>
            <p:cNvSpPr/>
            <p:nvPr/>
          </p:nvSpPr>
          <p:spPr>
            <a:xfrm>
              <a:off x="11088721" y="858738"/>
              <a:ext cx="225029" cy="225029"/>
            </a:xfrm>
            <a:custGeom>
              <a:avLst/>
              <a:gdLst>
                <a:gd name="connsiteX0" fmla="*/ 112515 w 225029"/>
                <a:gd name="connsiteY0" fmla="*/ 0 h 225029"/>
                <a:gd name="connsiteX1" fmla="*/ 0 w 225029"/>
                <a:gd name="connsiteY1" fmla="*/ 40650 h 225029"/>
                <a:gd name="connsiteX2" fmla="*/ 0 w 225029"/>
                <a:gd name="connsiteY2" fmla="*/ 184016 h 225029"/>
                <a:gd name="connsiteX3" fmla="*/ 112515 w 225029"/>
                <a:gd name="connsiteY3" fmla="*/ 225029 h 225029"/>
                <a:gd name="connsiteX4" fmla="*/ 225029 w 225029"/>
                <a:gd name="connsiteY4" fmla="*/ 184379 h 225029"/>
                <a:gd name="connsiteX5" fmla="*/ 225029 w 225029"/>
                <a:gd name="connsiteY5" fmla="*/ 40650 h 225029"/>
                <a:gd name="connsiteX6" fmla="*/ 112515 w 225029"/>
                <a:gd name="connsiteY6" fmla="*/ 0 h 22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5029" h="225029">
                  <a:moveTo>
                    <a:pt x="112515" y="0"/>
                  </a:moveTo>
                  <a:cubicBezTo>
                    <a:pt x="50087" y="0"/>
                    <a:pt x="0" y="18148"/>
                    <a:pt x="0" y="40650"/>
                  </a:cubicBezTo>
                  <a:lnTo>
                    <a:pt x="0" y="184016"/>
                  </a:lnTo>
                  <a:cubicBezTo>
                    <a:pt x="0" y="206882"/>
                    <a:pt x="50087" y="225029"/>
                    <a:pt x="112515" y="225029"/>
                  </a:cubicBezTo>
                  <a:cubicBezTo>
                    <a:pt x="174942" y="225029"/>
                    <a:pt x="225029" y="206882"/>
                    <a:pt x="225029" y="184379"/>
                  </a:cubicBezTo>
                  <a:lnTo>
                    <a:pt x="225029" y="40650"/>
                  </a:lnTo>
                  <a:cubicBezTo>
                    <a:pt x="225029" y="18148"/>
                    <a:pt x="174942" y="0"/>
                    <a:pt x="112515" y="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954769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4B0560D2-2773-48BB-B8AD-3506A7AC7F2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162640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75" name="think-cell Slide" r:id="rId12" imgW="395" imgH="396" progId="TCLayout.ActiveDocument.1">
                  <p:embed/>
                </p:oleObj>
              </mc:Choice>
              <mc:Fallback>
                <p:oleObj name="think-cell Slide" r:id="rId12" imgW="395" imgH="396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4B0560D2-2773-48BB-B8AD-3506A7AC7F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LineSpecialityArrow 73">
            <a:extLst>
              <a:ext uri="{FF2B5EF4-FFF2-40B4-BE49-F238E27FC236}">
                <a16:creationId xmlns:a16="http://schemas.microsoft.com/office/drawing/2014/main" id="{ACCEDDC3-701C-4A1C-9BC8-587BDAFA5A65}"/>
              </a:ext>
            </a:extLst>
          </p:cNvPr>
          <p:cNvCxnSpPr>
            <a:cxnSpLocks/>
            <a:stCxn id="138" idx="3"/>
            <a:endCxn id="139" idx="1"/>
          </p:cNvCxnSpPr>
          <p:nvPr>
            <p:custDataLst>
              <p:tags r:id="rId3"/>
            </p:custDataLst>
          </p:nvPr>
        </p:nvCxnSpPr>
        <p:spPr>
          <a:xfrm>
            <a:off x="1815803" y="3644322"/>
            <a:ext cx="466805" cy="0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LineSpecialityArrow 73">
            <a:extLst>
              <a:ext uri="{FF2B5EF4-FFF2-40B4-BE49-F238E27FC236}">
                <a16:creationId xmlns:a16="http://schemas.microsoft.com/office/drawing/2014/main" id="{D2B6CDC0-56C0-4237-AD72-F5898B37131D}"/>
              </a:ext>
            </a:extLst>
          </p:cNvPr>
          <p:cNvCxnSpPr>
            <a:cxnSpLocks/>
            <a:stCxn id="164" idx="3"/>
            <a:endCxn id="159" idx="1"/>
          </p:cNvCxnSpPr>
          <p:nvPr>
            <p:custDataLst>
              <p:tags r:id="rId4"/>
            </p:custDataLst>
          </p:nvPr>
        </p:nvCxnSpPr>
        <p:spPr>
          <a:xfrm>
            <a:off x="5768451" y="3644322"/>
            <a:ext cx="1107426" cy="1339471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EF6920E-789C-428A-B5B5-7C3655DE652A}"/>
              </a:ext>
            </a:extLst>
          </p:cNvPr>
          <p:cNvSpPr txBox="1">
            <a:spLocks/>
          </p:cNvSpPr>
          <p:nvPr/>
        </p:nvSpPr>
        <p:spPr>
          <a:xfrm>
            <a:off x="6470187" y="2274811"/>
            <a:ext cx="237244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dirty="0"/>
              <a:t>Да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668B96-0A75-46D7-89DA-A8C834B095FA}"/>
              </a:ext>
            </a:extLst>
          </p:cNvPr>
          <p:cNvSpPr txBox="1">
            <a:spLocks/>
          </p:cNvSpPr>
          <p:nvPr/>
        </p:nvSpPr>
        <p:spPr>
          <a:xfrm>
            <a:off x="6470187" y="5090848"/>
            <a:ext cx="237244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dirty="0"/>
              <a:t>Нет</a:t>
            </a:r>
          </a:p>
        </p:txBody>
      </p:sp>
      <p:cxnSp>
        <p:nvCxnSpPr>
          <p:cNvPr id="51" name="LineSpecialityArrow 73">
            <a:extLst>
              <a:ext uri="{FF2B5EF4-FFF2-40B4-BE49-F238E27FC236}">
                <a16:creationId xmlns:a16="http://schemas.microsoft.com/office/drawing/2014/main" id="{E484F507-0C7A-47E0-B65B-ED2020EAF254}"/>
              </a:ext>
            </a:extLst>
          </p:cNvPr>
          <p:cNvCxnSpPr>
            <a:cxnSpLocks/>
            <a:stCxn id="164" idx="3"/>
            <a:endCxn id="171" idx="1"/>
          </p:cNvCxnSpPr>
          <p:nvPr>
            <p:custDataLst>
              <p:tags r:id="rId5"/>
            </p:custDataLst>
          </p:nvPr>
        </p:nvCxnSpPr>
        <p:spPr>
          <a:xfrm flipV="1">
            <a:off x="5768451" y="2535755"/>
            <a:ext cx="1107426" cy="1108567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AB0BD3-DEA6-41C9-92D7-7C80FFBFF673}"/>
              </a:ext>
            </a:extLst>
          </p:cNvPr>
          <p:cNvGrpSpPr/>
          <p:nvPr/>
        </p:nvGrpSpPr>
        <p:grpSpPr>
          <a:xfrm>
            <a:off x="4172420" y="3080041"/>
            <a:ext cx="1596031" cy="1128563"/>
            <a:chOff x="4172420" y="3080041"/>
            <a:chExt cx="1596031" cy="1128563"/>
          </a:xfrm>
        </p:grpSpPr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356E6272-D34A-4A07-B70D-8CD6C95727AF}"/>
                </a:ext>
              </a:extLst>
            </p:cNvPr>
            <p:cNvSpPr/>
            <p:nvPr/>
          </p:nvSpPr>
          <p:spPr>
            <a:xfrm>
              <a:off x="4172420" y="3480627"/>
              <a:ext cx="327390" cy="327390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78610DF2-A01D-43D7-9250-9874E43D3D3C}"/>
                </a:ext>
              </a:extLst>
            </p:cNvPr>
            <p:cNvSpPr/>
            <p:nvPr/>
          </p:nvSpPr>
          <p:spPr>
            <a:xfrm>
              <a:off x="5441061" y="3480627"/>
              <a:ext cx="327390" cy="327390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036D2F00-052D-4174-A653-2CC3800F4156}"/>
                </a:ext>
              </a:extLst>
            </p:cNvPr>
            <p:cNvSpPr>
              <a:spLocks/>
            </p:cNvSpPr>
            <p:nvPr/>
          </p:nvSpPr>
          <p:spPr>
            <a:xfrm rot="2700000">
              <a:off x="4406154" y="3080041"/>
              <a:ext cx="1128563" cy="1128563"/>
            </a:xfrm>
            <a:prstGeom prst="roundRect">
              <a:avLst>
                <a:gd name="adj" fmla="val 11756"/>
              </a:avLst>
            </a:prstGeom>
            <a:solidFill>
              <a:schemeClr val="bg1"/>
            </a:solidFill>
            <a:effectLst>
              <a:outerShdw blurRad="101600" algn="ctr" rotWithShape="0">
                <a:schemeClr val="tx1">
                  <a:alpha val="12000"/>
                </a:schemeClr>
              </a:outerShdw>
            </a:effectLst>
          </p:spPr>
          <p:txBody>
            <a:bodyPr vert="horz" wrap="square" lIns="36000" tIns="180000" rIns="36000" bIns="118800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SzPct val="100000"/>
                <a:buFont typeface="Segoe UI" panose="020B0502040204020203" pitchFamily="34" charset="0"/>
                <a:buChar char="​"/>
              </a:pPr>
              <a:endParaRPr lang="ru-RU" sz="1000" b="1" dirty="0">
                <a:solidFill>
                  <a:schemeClr val="tx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248B725-91E0-4013-B80A-EE3ABDDED34B}"/>
                </a:ext>
              </a:extLst>
            </p:cNvPr>
            <p:cNvSpPr txBox="1"/>
            <p:nvPr/>
          </p:nvSpPr>
          <p:spPr>
            <a:xfrm>
              <a:off x="4349232" y="3409173"/>
              <a:ext cx="1242407" cy="61555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1000" b="1" dirty="0"/>
                <a:t>Возможность принимать заявки через ЕДЦ?</a:t>
              </a:r>
            </a:p>
          </p:txBody>
        </p: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A4770205-9B3A-4FA7-9078-5FC4580680AA}"/>
              </a:ext>
            </a:extLst>
          </p:cNvPr>
          <p:cNvSpPr txBox="1">
            <a:spLocks/>
          </p:cNvSpPr>
          <p:nvPr/>
        </p:nvSpPr>
        <p:spPr>
          <a:xfrm>
            <a:off x="0" y="1268453"/>
            <a:ext cx="12192000" cy="391815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76200" tIns="76200" rIns="76200" bIns="7620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endParaRPr lang="ru-RU" sz="1800" b="1" dirty="0">
              <a:solidFill>
                <a:srgbClr val="FFFFFF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66B1383-C322-45F1-8410-663A7629DE2A}"/>
              </a:ext>
            </a:extLst>
          </p:cNvPr>
          <p:cNvSpPr txBox="1"/>
          <p:nvPr/>
        </p:nvSpPr>
        <p:spPr>
          <a:xfrm>
            <a:off x="554737" y="1372027"/>
            <a:ext cx="4187685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600" lvl="1" indent="0">
              <a:buClr>
                <a:srgbClr val="FFFFFF"/>
              </a:buClr>
              <a:buNone/>
            </a:pPr>
            <a:r>
              <a:rPr lang="ru-RU" sz="1200" b="1" dirty="0">
                <a:solidFill>
                  <a:srgbClr val="FFFFFF"/>
                </a:solidFill>
              </a:rPr>
              <a:t>ЦЕЛЕВОЙ ПРОЦЕСС ОБРАБОТКИ ОБРАЩЕНИЙ </a:t>
            </a: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72031191-60FC-40E0-99C7-521D6532B31A}"/>
              </a:ext>
            </a:extLst>
          </p:cNvPr>
          <p:cNvSpPr>
            <a:spLocks/>
          </p:cNvSpPr>
          <p:nvPr/>
        </p:nvSpPr>
        <p:spPr>
          <a:xfrm>
            <a:off x="6875877" y="2013609"/>
            <a:ext cx="1678671" cy="1044292"/>
          </a:xfrm>
          <a:prstGeom prst="roundRect">
            <a:avLst>
              <a:gd name="adj" fmla="val 8516"/>
            </a:avLst>
          </a:prstGeom>
          <a:solidFill>
            <a:srgbClr val="E6E6E6">
              <a:alpha val="50000"/>
            </a:srgbClr>
          </a:solidFill>
          <a:ln w="9525" cap="sq">
            <a:solidFill>
              <a:srgbClr val="F2F2F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89BB5D-12DB-41C0-B90B-2EED886EB084}"/>
              </a:ext>
            </a:extLst>
          </p:cNvPr>
          <p:cNvSpPr txBox="1">
            <a:spLocks/>
          </p:cNvSpPr>
          <p:nvPr/>
        </p:nvSpPr>
        <p:spPr>
          <a:xfrm>
            <a:off x="6995551" y="2227979"/>
            <a:ext cx="1366831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Оформление заявки в обслуживающую компанию через ЕДЦ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305A4BE8-42D9-4B69-BD7C-ADD7D8DD6D1C}"/>
              </a:ext>
            </a:extLst>
          </p:cNvPr>
          <p:cNvGrpSpPr>
            <a:grpSpLocks/>
          </p:cNvGrpSpPr>
          <p:nvPr/>
        </p:nvGrpSpPr>
        <p:grpSpPr>
          <a:xfrm>
            <a:off x="8405831" y="2411685"/>
            <a:ext cx="248140" cy="248140"/>
            <a:chOff x="9224208" y="2060372"/>
            <a:chExt cx="248140" cy="248140"/>
          </a:xfrm>
          <a:solidFill>
            <a:srgbClr val="00B050"/>
          </a:solidFill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CAB1AE2-3AF7-42AF-962C-404BD36E3F6C}"/>
                </a:ext>
              </a:extLst>
            </p:cNvPr>
            <p:cNvSpPr/>
            <p:nvPr/>
          </p:nvSpPr>
          <p:spPr>
            <a:xfrm>
              <a:off x="9224208" y="2060372"/>
              <a:ext cx="248140" cy="248140"/>
            </a:xfrm>
            <a:prstGeom prst="ellipse">
              <a:avLst/>
            </a:pr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88" name="Graphic 377">
              <a:extLst>
                <a:ext uri="{FF2B5EF4-FFF2-40B4-BE49-F238E27FC236}">
                  <a16:creationId xmlns:a16="http://schemas.microsoft.com/office/drawing/2014/main" id="{EC813690-4C9E-420E-86BD-1FA6F266E3B9}"/>
                </a:ext>
              </a:extLst>
            </p:cNvPr>
            <p:cNvSpPr/>
            <p:nvPr/>
          </p:nvSpPr>
          <p:spPr>
            <a:xfrm>
              <a:off x="9279768" y="2125191"/>
              <a:ext cx="137020" cy="118503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AD8BBF95-212A-4D13-AC44-9780E6E49E99}"/>
              </a:ext>
            </a:extLst>
          </p:cNvPr>
          <p:cNvSpPr>
            <a:spLocks/>
          </p:cNvSpPr>
          <p:nvPr/>
        </p:nvSpPr>
        <p:spPr>
          <a:xfrm>
            <a:off x="6875877" y="4461647"/>
            <a:ext cx="1678671" cy="1044292"/>
          </a:xfrm>
          <a:prstGeom prst="roundRect">
            <a:avLst>
              <a:gd name="adj" fmla="val 8516"/>
            </a:avLst>
          </a:prstGeom>
          <a:solidFill>
            <a:srgbClr val="E6E6E6">
              <a:alpha val="50000"/>
            </a:srgbClr>
          </a:solidFill>
          <a:ln w="9525" cap="sq">
            <a:solidFill>
              <a:srgbClr val="F2F2F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BE7BBB-4387-41E7-9422-8B2C9846D099}"/>
              </a:ext>
            </a:extLst>
          </p:cNvPr>
          <p:cNvSpPr txBox="1">
            <a:spLocks/>
          </p:cNvSpPr>
          <p:nvPr/>
        </p:nvSpPr>
        <p:spPr>
          <a:xfrm>
            <a:off x="6995551" y="4599073"/>
            <a:ext cx="1366831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Предоставление актуальных контактов обслуживающей организации</a:t>
            </a:r>
          </a:p>
        </p:txBody>
      </p:sp>
      <p:cxnSp>
        <p:nvCxnSpPr>
          <p:cNvPr id="88" name="LineSpecialityArrow 73">
            <a:extLst>
              <a:ext uri="{FF2B5EF4-FFF2-40B4-BE49-F238E27FC236}">
                <a16:creationId xmlns:a16="http://schemas.microsoft.com/office/drawing/2014/main" id="{E3310BDB-9634-412B-8B7A-51BC0427994D}"/>
              </a:ext>
            </a:extLst>
          </p:cNvPr>
          <p:cNvCxnSpPr>
            <a:cxnSpLocks/>
            <a:stCxn id="139" idx="3"/>
            <a:endCxn id="163" idx="1"/>
          </p:cNvCxnSpPr>
          <p:nvPr>
            <p:custDataLst>
              <p:tags r:id="rId6"/>
            </p:custDataLst>
          </p:nvPr>
        </p:nvCxnSpPr>
        <p:spPr>
          <a:xfrm>
            <a:off x="3739552" y="3644322"/>
            <a:ext cx="432868" cy="0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A680EB59-321F-4AE3-A205-42F4B873CE08}"/>
              </a:ext>
            </a:extLst>
          </p:cNvPr>
          <p:cNvSpPr>
            <a:spLocks/>
          </p:cNvSpPr>
          <p:nvPr/>
        </p:nvSpPr>
        <p:spPr>
          <a:xfrm>
            <a:off x="2038985" y="5244736"/>
            <a:ext cx="1984267" cy="567112"/>
          </a:xfrm>
          <a:prstGeom prst="roundRect">
            <a:avLst>
              <a:gd name="adj" fmla="val 12527"/>
            </a:avLst>
          </a:prstGeom>
          <a:solidFill>
            <a:schemeClr val="tx2">
              <a:lumMod val="20000"/>
              <a:lumOff val="80000"/>
              <a:alpha val="50000"/>
            </a:schemeClr>
          </a:solidFill>
          <a:ln w="9525" cap="sq">
            <a:solidFill>
              <a:schemeClr val="tx2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7B0A3D7-7E9E-4F05-8171-DBC321E4E183}"/>
              </a:ext>
            </a:extLst>
          </p:cNvPr>
          <p:cNvSpPr txBox="1"/>
          <p:nvPr/>
        </p:nvSpPr>
        <p:spPr>
          <a:xfrm>
            <a:off x="2183766" y="5297460"/>
            <a:ext cx="1681120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Требуется создать базу данных обслуживающих антенны организаций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06A84162-D594-4F2D-A026-EE85CDAC3634}"/>
              </a:ext>
            </a:extLst>
          </p:cNvPr>
          <p:cNvSpPr>
            <a:spLocks/>
          </p:cNvSpPr>
          <p:nvPr/>
        </p:nvSpPr>
        <p:spPr>
          <a:xfrm>
            <a:off x="9145424" y="2013609"/>
            <a:ext cx="2352138" cy="1044292"/>
          </a:xfrm>
          <a:prstGeom prst="roundRect">
            <a:avLst>
              <a:gd name="adj" fmla="val 9024"/>
            </a:avLst>
          </a:prstGeom>
          <a:solidFill>
            <a:schemeClr val="tx2">
              <a:lumMod val="20000"/>
              <a:lumOff val="80000"/>
              <a:alpha val="50000"/>
            </a:schemeClr>
          </a:solidFill>
          <a:ln w="9525" cap="sq">
            <a:solidFill>
              <a:schemeClr val="tx2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361FD09-55E8-4ED8-8057-3ABC12260EB0}"/>
              </a:ext>
            </a:extLst>
          </p:cNvPr>
          <p:cNvSpPr txBox="1">
            <a:spLocks/>
          </p:cNvSpPr>
          <p:nvPr/>
        </p:nvSpPr>
        <p:spPr>
          <a:xfrm>
            <a:off x="9270729" y="2069685"/>
            <a:ext cx="2083706" cy="9233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Требуется проработать модель взаимодействия ЕДЦ и обслуживающих организаций (напр. создание личного кабинета или системная интеграция через </a:t>
            </a:r>
            <a:r>
              <a:rPr lang="en-US" sz="1000" dirty="0"/>
              <a:t>API)</a:t>
            </a:r>
            <a:endParaRPr lang="ru-RU" sz="1000" dirty="0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A7640E59-A103-4DAE-BB20-0BE89EBDE920}"/>
              </a:ext>
            </a:extLst>
          </p:cNvPr>
          <p:cNvSpPr>
            <a:spLocks/>
          </p:cNvSpPr>
          <p:nvPr/>
        </p:nvSpPr>
        <p:spPr>
          <a:xfrm>
            <a:off x="9145424" y="4733299"/>
            <a:ext cx="2352138" cy="578929"/>
          </a:xfrm>
          <a:prstGeom prst="roundRect">
            <a:avLst>
              <a:gd name="adj" fmla="val 12527"/>
            </a:avLst>
          </a:prstGeom>
          <a:solidFill>
            <a:schemeClr val="tx2">
              <a:lumMod val="20000"/>
              <a:lumOff val="80000"/>
              <a:alpha val="50000"/>
            </a:schemeClr>
          </a:solidFill>
          <a:ln w="9525" cap="sq">
            <a:solidFill>
              <a:schemeClr val="tx2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CF2ECEA-4D6C-47F3-9D95-CC9025351DD9}"/>
              </a:ext>
            </a:extLst>
          </p:cNvPr>
          <p:cNvSpPr txBox="1">
            <a:spLocks/>
          </p:cNvSpPr>
          <p:nvPr/>
        </p:nvSpPr>
        <p:spPr>
          <a:xfrm>
            <a:off x="9270729" y="4800791"/>
            <a:ext cx="2083706" cy="4616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Требуется разработать механизм актуализации данных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20F34EF-9829-4E24-92A8-E6DB08B8E609}"/>
              </a:ext>
            </a:extLst>
          </p:cNvPr>
          <p:cNvGrpSpPr/>
          <p:nvPr/>
        </p:nvGrpSpPr>
        <p:grpSpPr>
          <a:xfrm>
            <a:off x="4906262" y="718304"/>
            <a:ext cx="5747334" cy="369332"/>
            <a:chOff x="4906262" y="718304"/>
            <a:chExt cx="5747334" cy="369332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C5F17A0-E69F-44E9-8BC5-C17499F55F39}"/>
                </a:ext>
              </a:extLst>
            </p:cNvPr>
            <p:cNvSpPr txBox="1"/>
            <p:nvPr/>
          </p:nvSpPr>
          <p:spPr>
            <a:xfrm>
              <a:off x="7742195" y="718304"/>
              <a:ext cx="529982" cy="36933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Проблема </a:t>
              </a:r>
              <a:br>
                <a:rPr lang="en-US" sz="800" dirty="0"/>
              </a:br>
              <a:r>
                <a:rPr lang="ru-RU" sz="800" dirty="0"/>
                <a:t>жителя </a:t>
              </a:r>
              <a:br>
                <a:rPr lang="en-US" sz="800" dirty="0"/>
              </a:br>
              <a:r>
                <a:rPr lang="ru-RU" sz="800" dirty="0"/>
                <a:t>решена</a:t>
              </a: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62922912-7921-4B94-A7DA-30EDBAA4CB05}"/>
                </a:ext>
              </a:extLst>
            </p:cNvPr>
            <p:cNvGrpSpPr>
              <a:grpSpLocks/>
            </p:cNvGrpSpPr>
            <p:nvPr/>
          </p:nvGrpSpPr>
          <p:grpSpPr>
            <a:xfrm>
              <a:off x="7373950" y="779860"/>
              <a:ext cx="244800" cy="246221"/>
              <a:chOff x="9224208" y="2060372"/>
              <a:chExt cx="248140" cy="248140"/>
            </a:xfrm>
          </p:grpSpPr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7BD0F2F8-DD3B-44DC-B8A4-D29439D622C0}"/>
                  </a:ext>
                </a:extLst>
              </p:cNvPr>
              <p:cNvSpPr/>
              <p:nvPr/>
            </p:nvSpPr>
            <p:spPr>
              <a:xfrm>
                <a:off x="9224208" y="2060372"/>
                <a:ext cx="248140" cy="248140"/>
              </a:xfrm>
              <a:prstGeom prst="ellipse">
                <a:avLst/>
              </a:prstGeom>
              <a:solidFill>
                <a:srgbClr val="00B050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GB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Graphic 377">
                <a:extLst>
                  <a:ext uri="{FF2B5EF4-FFF2-40B4-BE49-F238E27FC236}">
                    <a16:creationId xmlns:a16="http://schemas.microsoft.com/office/drawing/2014/main" id="{151E5829-252D-49F3-B7AC-D4358ACCC93F}"/>
                  </a:ext>
                </a:extLst>
              </p:cNvPr>
              <p:cNvSpPr/>
              <p:nvPr/>
            </p:nvSpPr>
            <p:spPr>
              <a:xfrm>
                <a:off x="9279768" y="2125191"/>
                <a:ext cx="137020" cy="118503"/>
              </a:xfrm>
              <a:custGeom>
                <a:avLst/>
                <a:gdLst>
                  <a:gd name="connsiteX0" fmla="*/ 165847 w 165847"/>
                  <a:gd name="connsiteY0" fmla="*/ 0 h 143435"/>
                  <a:gd name="connsiteX1" fmla="*/ 58271 w 165847"/>
                  <a:gd name="connsiteY1" fmla="*/ 143435 h 143435"/>
                  <a:gd name="connsiteX2" fmla="*/ 0 w 165847"/>
                  <a:gd name="connsiteY2" fmla="*/ 86285 h 143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5847" h="143435">
                    <a:moveTo>
                      <a:pt x="165847" y="0"/>
                    </a:moveTo>
                    <a:lnTo>
                      <a:pt x="58271" y="143435"/>
                    </a:lnTo>
                    <a:lnTo>
                      <a:pt x="0" y="86285"/>
                    </a:lnTo>
                  </a:path>
                </a:pathLst>
              </a:custGeom>
              <a:no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48987CD0-5166-444B-8870-357D76C366D7}"/>
                </a:ext>
              </a:extLst>
            </p:cNvPr>
            <p:cNvSpPr txBox="1"/>
            <p:nvPr/>
          </p:nvSpPr>
          <p:spPr>
            <a:xfrm>
              <a:off x="8763867" y="718304"/>
              <a:ext cx="832180" cy="36933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Проблема </a:t>
              </a:r>
              <a:br>
                <a:rPr lang="en-US" sz="800" dirty="0"/>
              </a:br>
              <a:r>
                <a:rPr lang="ru-RU" sz="800" dirty="0"/>
                <a:t>жителя решена </a:t>
              </a:r>
              <a:br>
                <a:rPr lang="en-US" sz="800" dirty="0"/>
              </a:br>
              <a:r>
                <a:rPr lang="ru-RU" sz="800" dirty="0"/>
                <a:t>частично</a:t>
              </a: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020E6A6C-D815-43AC-9DEA-5D1FB37A34F0}"/>
                </a:ext>
              </a:extLst>
            </p:cNvPr>
            <p:cNvGrpSpPr>
              <a:grpSpLocks/>
            </p:cNvGrpSpPr>
            <p:nvPr/>
          </p:nvGrpSpPr>
          <p:grpSpPr>
            <a:xfrm>
              <a:off x="8395622" y="779860"/>
              <a:ext cx="244800" cy="246221"/>
              <a:chOff x="9224208" y="2060372"/>
              <a:chExt cx="248140" cy="248140"/>
            </a:xfrm>
          </p:grpSpPr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ED6A6164-C852-40D3-9959-8D2FC65E9258}"/>
                  </a:ext>
                </a:extLst>
              </p:cNvPr>
              <p:cNvSpPr/>
              <p:nvPr/>
            </p:nvSpPr>
            <p:spPr>
              <a:xfrm>
                <a:off x="9224208" y="2060372"/>
                <a:ext cx="248140" cy="248140"/>
              </a:xfrm>
              <a:prstGeom prst="ellipse">
                <a:avLst/>
              </a:prstGeom>
              <a:solidFill>
                <a:srgbClr val="FFC000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GB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Graphic 377">
                <a:extLst>
                  <a:ext uri="{FF2B5EF4-FFF2-40B4-BE49-F238E27FC236}">
                    <a16:creationId xmlns:a16="http://schemas.microsoft.com/office/drawing/2014/main" id="{175FAE02-8F4E-4377-A2C0-15A525D21D66}"/>
                  </a:ext>
                </a:extLst>
              </p:cNvPr>
              <p:cNvSpPr/>
              <p:nvPr/>
            </p:nvSpPr>
            <p:spPr>
              <a:xfrm>
                <a:off x="9279768" y="2125191"/>
                <a:ext cx="137020" cy="118503"/>
              </a:xfrm>
              <a:custGeom>
                <a:avLst/>
                <a:gdLst>
                  <a:gd name="connsiteX0" fmla="*/ 165847 w 165847"/>
                  <a:gd name="connsiteY0" fmla="*/ 0 h 143435"/>
                  <a:gd name="connsiteX1" fmla="*/ 58271 w 165847"/>
                  <a:gd name="connsiteY1" fmla="*/ 143435 h 143435"/>
                  <a:gd name="connsiteX2" fmla="*/ 0 w 165847"/>
                  <a:gd name="connsiteY2" fmla="*/ 86285 h 143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5847" h="143435">
                    <a:moveTo>
                      <a:pt x="165847" y="0"/>
                    </a:moveTo>
                    <a:lnTo>
                      <a:pt x="58271" y="143435"/>
                    </a:lnTo>
                    <a:lnTo>
                      <a:pt x="0" y="86285"/>
                    </a:lnTo>
                  </a:path>
                </a:pathLst>
              </a:custGeom>
              <a:no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2BA09896-8340-4274-ADB4-C9D236161CE2}"/>
                </a:ext>
              </a:extLst>
            </p:cNvPr>
            <p:cNvSpPr txBox="1"/>
            <p:nvPr/>
          </p:nvSpPr>
          <p:spPr>
            <a:xfrm>
              <a:off x="10087735" y="718304"/>
              <a:ext cx="565861" cy="369332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Проблема </a:t>
              </a:r>
              <a:br>
                <a:rPr lang="en-US" sz="800" dirty="0"/>
              </a:br>
              <a:r>
                <a:rPr lang="ru-RU" sz="800" dirty="0"/>
                <a:t>жителя </a:t>
              </a:r>
              <a:br>
                <a:rPr lang="ru-RU" sz="800" dirty="0"/>
              </a:br>
              <a:r>
                <a:rPr lang="ru-RU" sz="800" dirty="0"/>
                <a:t>не решена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873F570D-6DE3-4717-B887-09FE479B8F1E}"/>
                </a:ext>
              </a:extLst>
            </p:cNvPr>
            <p:cNvGrpSpPr>
              <a:grpSpLocks/>
            </p:cNvGrpSpPr>
            <p:nvPr/>
          </p:nvGrpSpPr>
          <p:grpSpPr>
            <a:xfrm>
              <a:off x="9719492" y="779860"/>
              <a:ext cx="244800" cy="246221"/>
              <a:chOff x="10097600" y="2224806"/>
              <a:chExt cx="396228" cy="396228"/>
            </a:xfrm>
          </p:grpSpPr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CB615298-CDDB-4E95-93E9-E31B4C29A815}"/>
                  </a:ext>
                </a:extLst>
              </p:cNvPr>
              <p:cNvSpPr/>
              <p:nvPr/>
            </p:nvSpPr>
            <p:spPr>
              <a:xfrm>
                <a:off x="10097600" y="2224806"/>
                <a:ext cx="396228" cy="396228"/>
              </a:xfrm>
              <a:prstGeom prst="ellipse">
                <a:avLst/>
              </a:prstGeom>
              <a:solidFill>
                <a:schemeClr val="tx2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39503B18-C304-4B31-9716-46AD734D267E}"/>
                  </a:ext>
                </a:extLst>
              </p:cNvPr>
              <p:cNvGrpSpPr/>
              <p:nvPr/>
            </p:nvGrpSpPr>
            <p:grpSpPr>
              <a:xfrm>
                <a:off x="10193928" y="2321134"/>
                <a:ext cx="203573" cy="203573"/>
                <a:chOff x="10228478" y="2355684"/>
                <a:chExt cx="134470" cy="134470"/>
              </a:xfrm>
            </p:grpSpPr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F68FB6BA-6207-423C-9588-6C956F3EEFCB}"/>
                    </a:ext>
                  </a:extLst>
                </p:cNvPr>
                <p:cNvSpPr/>
                <p:nvPr/>
              </p:nvSpPr>
              <p:spPr>
                <a:xfrm>
                  <a:off x="10228478" y="2355684"/>
                  <a:ext cx="134470" cy="134470"/>
                </a:xfrm>
                <a:custGeom>
                  <a:avLst/>
                  <a:gdLst>
                    <a:gd name="connsiteX0" fmla="*/ 0 w 134470"/>
                    <a:gd name="connsiteY0" fmla="*/ 0 h 134470"/>
                    <a:gd name="connsiteX1" fmla="*/ 134471 w 134470"/>
                    <a:gd name="connsiteY1" fmla="*/ 134471 h 13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470" h="134470">
                      <a:moveTo>
                        <a:pt x="0" y="0"/>
                      </a:moveTo>
                      <a:lnTo>
                        <a:pt x="134471" y="134471"/>
                      </a:lnTo>
                    </a:path>
                  </a:pathLst>
                </a:custGeom>
                <a:ln w="9525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F210CD0A-71BA-4601-B61A-D225C6CE2BF9}"/>
                    </a:ext>
                  </a:extLst>
                </p:cNvPr>
                <p:cNvSpPr/>
                <p:nvPr/>
              </p:nvSpPr>
              <p:spPr>
                <a:xfrm>
                  <a:off x="10228478" y="2355684"/>
                  <a:ext cx="134470" cy="134470"/>
                </a:xfrm>
                <a:custGeom>
                  <a:avLst/>
                  <a:gdLst>
                    <a:gd name="connsiteX0" fmla="*/ 134471 w 134470"/>
                    <a:gd name="connsiteY0" fmla="*/ 0 h 134470"/>
                    <a:gd name="connsiteX1" fmla="*/ 0 w 134470"/>
                    <a:gd name="connsiteY1" fmla="*/ 134471 h 134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470" h="134470">
                      <a:moveTo>
                        <a:pt x="134471" y="0"/>
                      </a:moveTo>
                      <a:lnTo>
                        <a:pt x="0" y="134471"/>
                      </a:lnTo>
                    </a:path>
                  </a:pathLst>
                </a:custGeom>
                <a:ln w="9525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65E8AE2-303E-45E3-BBAF-7E63E87D7B59}"/>
                </a:ext>
              </a:extLst>
            </p:cNvPr>
            <p:cNvSpPr txBox="1"/>
            <p:nvPr/>
          </p:nvSpPr>
          <p:spPr>
            <a:xfrm>
              <a:off x="5261995" y="779860"/>
              <a:ext cx="907300" cy="246221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Взаимодействие </a:t>
              </a:r>
              <a:br>
                <a:rPr lang="en-US" sz="800" dirty="0"/>
              </a:br>
              <a:r>
                <a:rPr lang="ru-RU" sz="800" dirty="0"/>
                <a:t>с городскими ИС</a:t>
              </a:r>
            </a:p>
          </p:txBody>
        </p:sp>
        <p:grpSp>
          <p:nvGrpSpPr>
            <p:cNvPr id="108" name="CustomIcon">
              <a:extLst>
                <a:ext uri="{FF2B5EF4-FFF2-40B4-BE49-F238E27FC236}">
                  <a16:creationId xmlns:a16="http://schemas.microsoft.com/office/drawing/2014/main" id="{5A9BD4B2-B722-4EDA-99CC-D3723A6D95E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06262" y="786826"/>
              <a:ext cx="232288" cy="232288"/>
              <a:chOff x="11085092" y="855109"/>
              <a:chExt cx="232288" cy="232288"/>
            </a:xfrm>
          </p:grpSpPr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EDF5CD48-4F4A-4362-8B57-0CAE27B18898}"/>
                  </a:ext>
                </a:extLst>
              </p:cNvPr>
              <p:cNvSpPr/>
              <p:nvPr/>
            </p:nvSpPr>
            <p:spPr>
              <a:xfrm>
                <a:off x="11088721" y="948024"/>
                <a:ext cx="225029" cy="40650"/>
              </a:xfrm>
              <a:custGeom>
                <a:avLst/>
                <a:gdLst>
                  <a:gd name="connsiteX0" fmla="*/ 225029 w 225029"/>
                  <a:gd name="connsiteY0" fmla="*/ 0 h 40650"/>
                  <a:gd name="connsiteX1" fmla="*/ 112515 w 225029"/>
                  <a:gd name="connsiteY1" fmla="*/ 40650 h 40650"/>
                  <a:gd name="connsiteX2" fmla="*/ 0 w 225029"/>
                  <a:gd name="connsiteY2" fmla="*/ 0 h 4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5029" h="40650">
                    <a:moveTo>
                      <a:pt x="225029" y="0"/>
                    </a:moveTo>
                    <a:cubicBezTo>
                      <a:pt x="225029" y="22503"/>
                      <a:pt x="174942" y="40650"/>
                      <a:pt x="112515" y="40650"/>
                    </a:cubicBezTo>
                    <a:cubicBezTo>
                      <a:pt x="50087" y="40650"/>
                      <a:pt x="0" y="22503"/>
                      <a:pt x="0" y="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DBDBF57B-F5F5-4CA8-B789-23CE3FEBD9C8}"/>
                  </a:ext>
                </a:extLst>
              </p:cNvPr>
              <p:cNvSpPr/>
              <p:nvPr/>
            </p:nvSpPr>
            <p:spPr>
              <a:xfrm>
                <a:off x="11088721" y="858738"/>
                <a:ext cx="225029" cy="81300"/>
              </a:xfrm>
              <a:custGeom>
                <a:avLst/>
                <a:gdLst>
                  <a:gd name="connsiteX0" fmla="*/ 225029 w 225029"/>
                  <a:gd name="connsiteY0" fmla="*/ 40650 h 81300"/>
                  <a:gd name="connsiteX1" fmla="*/ 112515 w 225029"/>
                  <a:gd name="connsiteY1" fmla="*/ 81301 h 81300"/>
                  <a:gd name="connsiteX2" fmla="*/ 0 w 225029"/>
                  <a:gd name="connsiteY2" fmla="*/ 40650 h 81300"/>
                  <a:gd name="connsiteX3" fmla="*/ 112515 w 225029"/>
                  <a:gd name="connsiteY3" fmla="*/ 0 h 81300"/>
                  <a:gd name="connsiteX4" fmla="*/ 225029 w 225029"/>
                  <a:gd name="connsiteY4" fmla="*/ 40650 h 8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5029" h="81300">
                    <a:moveTo>
                      <a:pt x="225029" y="40650"/>
                    </a:moveTo>
                    <a:cubicBezTo>
                      <a:pt x="225029" y="63101"/>
                      <a:pt x="174655" y="81301"/>
                      <a:pt x="112515" y="81301"/>
                    </a:cubicBezTo>
                    <a:cubicBezTo>
                      <a:pt x="50374" y="81301"/>
                      <a:pt x="0" y="63101"/>
                      <a:pt x="0" y="40650"/>
                    </a:cubicBezTo>
                    <a:cubicBezTo>
                      <a:pt x="0" y="18200"/>
                      <a:pt x="50374" y="0"/>
                      <a:pt x="112515" y="0"/>
                    </a:cubicBezTo>
                    <a:cubicBezTo>
                      <a:pt x="174655" y="0"/>
                      <a:pt x="225029" y="18200"/>
                      <a:pt x="225029" y="40650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10E3F463-6FAA-4E68-B014-0C3810BAACBC}"/>
                  </a:ext>
                </a:extLst>
              </p:cNvPr>
              <p:cNvSpPr/>
              <p:nvPr/>
            </p:nvSpPr>
            <p:spPr>
              <a:xfrm>
                <a:off x="11088721" y="996659"/>
                <a:ext cx="225029" cy="40650"/>
              </a:xfrm>
              <a:custGeom>
                <a:avLst/>
                <a:gdLst>
                  <a:gd name="connsiteX0" fmla="*/ 225029 w 225029"/>
                  <a:gd name="connsiteY0" fmla="*/ 0 h 40650"/>
                  <a:gd name="connsiteX1" fmla="*/ 112515 w 225029"/>
                  <a:gd name="connsiteY1" fmla="*/ 40650 h 40650"/>
                  <a:gd name="connsiteX2" fmla="*/ 0 w 225029"/>
                  <a:gd name="connsiteY2" fmla="*/ 0 h 4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5029" h="40650">
                    <a:moveTo>
                      <a:pt x="225029" y="0"/>
                    </a:moveTo>
                    <a:cubicBezTo>
                      <a:pt x="225029" y="22503"/>
                      <a:pt x="174942" y="40650"/>
                      <a:pt x="112515" y="40650"/>
                    </a:cubicBezTo>
                    <a:cubicBezTo>
                      <a:pt x="50087" y="40650"/>
                      <a:pt x="0" y="22140"/>
                      <a:pt x="0" y="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181A76F2-93E3-4410-B458-3EADB6AEBD35}"/>
                  </a:ext>
                </a:extLst>
              </p:cNvPr>
              <p:cNvSpPr/>
              <p:nvPr/>
            </p:nvSpPr>
            <p:spPr>
              <a:xfrm>
                <a:off x="11088721" y="858738"/>
                <a:ext cx="225029" cy="225029"/>
              </a:xfrm>
              <a:custGeom>
                <a:avLst/>
                <a:gdLst>
                  <a:gd name="connsiteX0" fmla="*/ 112515 w 225029"/>
                  <a:gd name="connsiteY0" fmla="*/ 0 h 225029"/>
                  <a:gd name="connsiteX1" fmla="*/ 0 w 225029"/>
                  <a:gd name="connsiteY1" fmla="*/ 40650 h 225029"/>
                  <a:gd name="connsiteX2" fmla="*/ 0 w 225029"/>
                  <a:gd name="connsiteY2" fmla="*/ 184016 h 225029"/>
                  <a:gd name="connsiteX3" fmla="*/ 112515 w 225029"/>
                  <a:gd name="connsiteY3" fmla="*/ 225029 h 225029"/>
                  <a:gd name="connsiteX4" fmla="*/ 225029 w 225029"/>
                  <a:gd name="connsiteY4" fmla="*/ 184379 h 225029"/>
                  <a:gd name="connsiteX5" fmla="*/ 225029 w 225029"/>
                  <a:gd name="connsiteY5" fmla="*/ 40650 h 225029"/>
                  <a:gd name="connsiteX6" fmla="*/ 112515 w 225029"/>
                  <a:gd name="connsiteY6" fmla="*/ 0 h 225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5029" h="225029">
                    <a:moveTo>
                      <a:pt x="112515" y="0"/>
                    </a:moveTo>
                    <a:cubicBezTo>
                      <a:pt x="50087" y="0"/>
                      <a:pt x="0" y="18148"/>
                      <a:pt x="0" y="40650"/>
                    </a:cubicBezTo>
                    <a:lnTo>
                      <a:pt x="0" y="184016"/>
                    </a:lnTo>
                    <a:cubicBezTo>
                      <a:pt x="0" y="206882"/>
                      <a:pt x="50087" y="225029"/>
                      <a:pt x="112515" y="225029"/>
                    </a:cubicBezTo>
                    <a:cubicBezTo>
                      <a:pt x="174942" y="225029"/>
                      <a:pt x="225029" y="206882"/>
                      <a:pt x="225029" y="184379"/>
                    </a:cubicBezTo>
                    <a:lnTo>
                      <a:pt x="225029" y="40650"/>
                    </a:lnTo>
                    <a:cubicBezTo>
                      <a:pt x="225029" y="18148"/>
                      <a:pt x="174942" y="0"/>
                      <a:pt x="112515" y="0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6A2A384A-506D-45AD-B216-2D9447167BB8}"/>
                </a:ext>
              </a:extLst>
            </p:cNvPr>
            <p:cNvSpPr>
              <a:spLocks/>
            </p:cNvSpPr>
            <p:nvPr/>
          </p:nvSpPr>
          <p:spPr>
            <a:xfrm>
              <a:off x="6292740" y="786826"/>
              <a:ext cx="232288" cy="232288"/>
            </a:xfrm>
            <a:prstGeom prst="roundRect">
              <a:avLst>
                <a:gd name="adj" fmla="val 12527"/>
              </a:avLst>
            </a:prstGeom>
            <a:solidFill>
              <a:schemeClr val="tx2">
                <a:lumMod val="20000"/>
                <a:lumOff val="80000"/>
                <a:alpha val="50000"/>
              </a:schemeClr>
            </a:solidFill>
            <a:ln w="9525" cap="sq">
              <a:solidFill>
                <a:schemeClr val="tx2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814ABE5-0C72-4728-97EB-64CCAC0F8E0F}"/>
                </a:ext>
              </a:extLst>
            </p:cNvPr>
            <p:cNvSpPr txBox="1"/>
            <p:nvPr/>
          </p:nvSpPr>
          <p:spPr>
            <a:xfrm>
              <a:off x="6648473" y="779860"/>
              <a:ext cx="602032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Требуемые </a:t>
              </a:r>
              <a:br>
                <a:rPr lang="ru-RU" sz="800" dirty="0"/>
              </a:br>
              <a:r>
                <a:rPr lang="ru-RU" sz="800" dirty="0"/>
                <a:t>действия</a:t>
              </a:r>
            </a:p>
          </p:txBody>
        </p:sp>
      </p:grp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F456E4E3-FF2C-4910-AB21-32B1C60063E9}"/>
              </a:ext>
            </a:extLst>
          </p:cNvPr>
          <p:cNvSpPr>
            <a:spLocks/>
          </p:cNvSpPr>
          <p:nvPr/>
        </p:nvSpPr>
        <p:spPr>
          <a:xfrm>
            <a:off x="554736" y="2274811"/>
            <a:ext cx="1261067" cy="2739022"/>
          </a:xfrm>
          <a:prstGeom prst="roundRect">
            <a:avLst>
              <a:gd name="adj" fmla="val 5547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36000" rIns="36000" bIns="36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r>
              <a:rPr lang="ru-RU" sz="1000" b="1" dirty="0">
                <a:solidFill>
                  <a:schemeClr val="tx1"/>
                </a:solidFill>
                <a:cs typeface="Arial" panose="020B0604020202020204" pitchFamily="34" charset="0"/>
              </a:rPr>
              <a:t>Обращение жителя в ЕДЦ </a:t>
            </a:r>
            <a:br>
              <a:rPr lang="ru-RU" sz="100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ru-RU" sz="1000" b="1" dirty="0">
                <a:solidFill>
                  <a:schemeClr val="tx1"/>
                </a:solidFill>
                <a:cs typeface="Arial" panose="020B0604020202020204" pitchFamily="34" charset="0"/>
              </a:rPr>
              <a:t>с вопросом по обслуживанию антенны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E1266A17-F92D-4E38-A1DA-88D9C6A10576}"/>
              </a:ext>
            </a:extLst>
          </p:cNvPr>
          <p:cNvSpPr>
            <a:spLocks/>
          </p:cNvSpPr>
          <p:nvPr/>
        </p:nvSpPr>
        <p:spPr>
          <a:xfrm>
            <a:off x="2282608" y="2274811"/>
            <a:ext cx="1456944" cy="2739022"/>
          </a:xfrm>
          <a:prstGeom prst="roundRect">
            <a:avLst>
              <a:gd name="adj" fmla="val 5547"/>
            </a:avLst>
          </a:prstGeom>
          <a:solidFill>
            <a:schemeClr val="bg1"/>
          </a:solidFill>
          <a:effectLst>
            <a:outerShdw blurRad="101600" algn="ctr" rotWithShape="0">
              <a:schemeClr val="tx1">
                <a:alpha val="12000"/>
              </a:schemeClr>
            </a:outerShdw>
          </a:effectLst>
        </p:spPr>
        <p:txBody>
          <a:bodyPr vert="horz" wrap="square" lIns="36000" tIns="36000" rIns="36000" bIns="36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r>
              <a:rPr lang="ru-RU" sz="1000" b="1" dirty="0">
                <a:solidFill>
                  <a:schemeClr val="tx1"/>
                </a:solidFill>
                <a:cs typeface="Arial" panose="020B0604020202020204" pitchFamily="34" charset="0"/>
              </a:rPr>
              <a:t>Определение соответствующей обслуживающей организации</a:t>
            </a:r>
          </a:p>
        </p:txBody>
      </p:sp>
      <p:sp>
        <p:nvSpPr>
          <p:cNvPr id="63" name="2. Slide Title">
            <a:extLst>
              <a:ext uri="{FF2B5EF4-FFF2-40B4-BE49-F238E27FC236}">
                <a16:creationId xmlns:a16="http://schemas.microsoft.com/office/drawing/2014/main" id="{2EBD752E-4D87-44C2-8B30-7FF7D21CE4E1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819150" y="267006"/>
            <a:ext cx="10818112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Обработка обращений по обслуживанию телеантенн</a:t>
            </a:r>
          </a:p>
        </p:txBody>
      </p:sp>
      <p:sp>
        <p:nvSpPr>
          <p:cNvPr id="64" name="TrackerAlphaBlue">
            <a:extLst>
              <a:ext uri="{FF2B5EF4-FFF2-40B4-BE49-F238E27FC236}">
                <a16:creationId xmlns:a16="http://schemas.microsoft.com/office/drawing/2014/main" id="{C822CEC3-AC3E-404C-B9ED-D5848E35020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4412" y="200449"/>
            <a:ext cx="471667" cy="471667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2600" b="1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Б</a:t>
            </a:r>
            <a:endParaRPr lang="en-US" sz="2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2" name="CustomIcon">
            <a:extLst>
              <a:ext uri="{FF2B5EF4-FFF2-40B4-BE49-F238E27FC236}">
                <a16:creationId xmlns:a16="http://schemas.microsoft.com/office/drawing/2014/main" id="{FC9A55F8-D060-4C09-993F-FB637A721817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0469" y="4225678"/>
            <a:ext cx="609600" cy="609600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172E793D-06DC-4023-8733-CCB649EAA187}"/>
              </a:ext>
            </a:extLst>
          </p:cNvPr>
          <p:cNvGrpSpPr>
            <a:grpSpLocks/>
          </p:cNvGrpSpPr>
          <p:nvPr/>
        </p:nvGrpSpPr>
        <p:grpSpPr>
          <a:xfrm>
            <a:off x="8405831" y="4899652"/>
            <a:ext cx="244800" cy="246221"/>
            <a:chOff x="9224208" y="2060372"/>
            <a:chExt cx="248140" cy="248140"/>
          </a:xfrm>
          <a:solidFill>
            <a:srgbClr val="00B050"/>
          </a:solidFill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68DC773-3E7D-4F94-86B2-0A332599700B}"/>
                </a:ext>
              </a:extLst>
            </p:cNvPr>
            <p:cNvSpPr/>
            <p:nvPr/>
          </p:nvSpPr>
          <p:spPr>
            <a:xfrm>
              <a:off x="9224208" y="2060372"/>
              <a:ext cx="248140" cy="248140"/>
            </a:xfrm>
            <a:prstGeom prst="ellipse">
              <a:avLst/>
            </a:pr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6" name="Graphic 377">
              <a:extLst>
                <a:ext uri="{FF2B5EF4-FFF2-40B4-BE49-F238E27FC236}">
                  <a16:creationId xmlns:a16="http://schemas.microsoft.com/office/drawing/2014/main" id="{4ACDF190-C113-4850-85C6-6D435A1F9784}"/>
                </a:ext>
              </a:extLst>
            </p:cNvPr>
            <p:cNvSpPr/>
            <p:nvPr/>
          </p:nvSpPr>
          <p:spPr>
            <a:xfrm>
              <a:off x="9279768" y="2125191"/>
              <a:ext cx="137020" cy="118503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68672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E9A24DF3-2E7C-41F4-9F1A-FD13CA08D63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87344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99" name="think-cell Slide" r:id="rId11" imgW="395" imgH="396" progId="TCLayout.ActiveDocument.1">
                  <p:embed/>
                </p:oleObj>
              </mc:Choice>
              <mc:Fallback>
                <p:oleObj name="think-cell Slide" r:id="rId11" imgW="395" imgH="396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E9A24DF3-2E7C-41F4-9F1A-FD13CA08D6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2. Slide Title">
            <a:extLst>
              <a:ext uri="{FF2B5EF4-FFF2-40B4-BE49-F238E27FC236}">
                <a16:creationId xmlns:a16="http://schemas.microsoft.com/office/drawing/2014/main" id="{C6D67D3C-A06B-4CE1-9BDC-21DE92F2799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19150" y="305832"/>
            <a:ext cx="10818112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Обработка обращений по обслуживанию телеантенн</a:t>
            </a:r>
          </a:p>
        </p:txBody>
      </p:sp>
      <p:sp>
        <p:nvSpPr>
          <p:cNvPr id="108" name="TrackerAlphaBlue">
            <a:extLst>
              <a:ext uri="{FF2B5EF4-FFF2-40B4-BE49-F238E27FC236}">
                <a16:creationId xmlns:a16="http://schemas.microsoft.com/office/drawing/2014/main" id="{C4D409C0-3786-4F59-8481-FB3BCAB0C2A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4412" y="211698"/>
            <a:ext cx="471667" cy="471667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2600" b="1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Б</a:t>
            </a:r>
            <a:endParaRPr lang="en-US" sz="2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2EF401-CA47-4358-A117-895329296339}"/>
              </a:ext>
            </a:extLst>
          </p:cNvPr>
          <p:cNvSpPr txBox="1">
            <a:spLocks/>
          </p:cNvSpPr>
          <p:nvPr/>
        </p:nvSpPr>
        <p:spPr>
          <a:xfrm>
            <a:off x="0" y="1259955"/>
            <a:ext cx="12192000" cy="391815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76200" tIns="76200" rIns="76200" bIns="7620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endParaRPr lang="ru-RU" sz="1800" b="1" dirty="0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69587-BCBE-490F-8A5A-B969090FB06F}"/>
              </a:ext>
            </a:extLst>
          </p:cNvPr>
          <p:cNvSpPr txBox="1"/>
          <p:nvPr/>
        </p:nvSpPr>
        <p:spPr>
          <a:xfrm>
            <a:off x="554737" y="1363529"/>
            <a:ext cx="5381281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  <a:buNone/>
            </a:pPr>
            <a:r>
              <a:rPr lang="ru-RU" sz="1200" b="1" dirty="0">
                <a:solidFill>
                  <a:srgbClr val="FFFFFF"/>
                </a:solidFill>
              </a:rPr>
              <a:t>ТРЕБУЕМЫЕ ДЕЙСТВИЯ ДЛЯ РЕАЛИЗАЦИИ ЦЕЛЕВОЙ СХЕМЫ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BF006B-5248-48F3-B912-1A3834FEFD36}"/>
              </a:ext>
            </a:extLst>
          </p:cNvPr>
          <p:cNvSpPr txBox="1"/>
          <p:nvPr/>
        </p:nvSpPr>
        <p:spPr>
          <a:xfrm>
            <a:off x="9098662" y="1396655"/>
            <a:ext cx="2442976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  <a:buNone/>
            </a:pPr>
            <a:r>
              <a:rPr lang="ru-RU" sz="1200" b="1" dirty="0">
                <a:solidFill>
                  <a:srgbClr val="FFFFFF"/>
                </a:solidFill>
              </a:rPr>
              <a:t>ОТВЕТСТВЕННАЯ СТОРОНА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7F37EE0-68DD-48B8-90AD-A518313840B2}"/>
              </a:ext>
            </a:extLst>
          </p:cNvPr>
          <p:cNvGrpSpPr/>
          <p:nvPr/>
        </p:nvGrpSpPr>
        <p:grpSpPr>
          <a:xfrm>
            <a:off x="545197" y="1733896"/>
            <a:ext cx="11170541" cy="564706"/>
            <a:chOff x="554734" y="2059754"/>
            <a:chExt cx="11170541" cy="56470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A6357BD-C9B8-4504-A0B9-D8E7A486CAB7}"/>
                </a:ext>
              </a:extLst>
            </p:cNvPr>
            <p:cNvCxnSpPr>
              <a:cxnSpLocks/>
            </p:cNvCxnSpPr>
            <p:nvPr/>
          </p:nvCxnSpPr>
          <p:spPr>
            <a:xfrm>
              <a:off x="586725" y="2624460"/>
              <a:ext cx="11138550" cy="0"/>
            </a:xfrm>
            <a:prstGeom prst="line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</a:ln>
            <a:effectLst/>
          </p:spPr>
        </p:cxnSp>
        <p:sp>
          <p:nvSpPr>
            <p:cNvPr id="15" name="TrackerNumBlue">
              <a:extLst>
                <a:ext uri="{FF2B5EF4-FFF2-40B4-BE49-F238E27FC236}">
                  <a16:creationId xmlns:a16="http://schemas.microsoft.com/office/drawing/2014/main" id="{4A186515-E7C4-4D66-9F4A-F7B48D496F6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54734" y="2059754"/>
              <a:ext cx="365760" cy="365760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>
                <a:spcBef>
                  <a:spcPts val="300"/>
                </a:spcBef>
                <a:spcAft>
                  <a:spcPts val="300"/>
                </a:spcAft>
              </a:pPr>
              <a:r>
                <a:rPr lang="ru-RU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6961D19-5C1E-42FD-987D-80293ADE8FA7}"/>
                </a:ext>
              </a:extLst>
            </p:cNvPr>
            <p:cNvSpPr txBox="1">
              <a:spLocks/>
            </p:cNvSpPr>
            <p:nvPr/>
          </p:nvSpPr>
          <p:spPr>
            <a:xfrm>
              <a:off x="586725" y="2059755"/>
              <a:ext cx="8166750" cy="461130"/>
            </a:xfrm>
            <a:prstGeom prst="rect">
              <a:avLst/>
            </a:prstGeom>
          </p:spPr>
          <p:txBody>
            <a:bodyPr vert="horz" wrap="square" lIns="45720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Организация сбора данных по всем организациям, обслуживающим</a:t>
              </a:r>
              <a:r>
                <a:rPr lang="en-US" sz="1600" dirty="0"/>
                <a:t> </a:t>
              </a:r>
              <a:r>
                <a:rPr lang="ru-RU" sz="1600" dirty="0"/>
                <a:t>телеантенны в домах Москвы (в т.ч. контакты их колл-центров)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F5552AD-0B20-412E-94BB-72232215F89B}"/>
                </a:ext>
              </a:extLst>
            </p:cNvPr>
            <p:cNvSpPr txBox="1"/>
            <p:nvPr/>
          </p:nvSpPr>
          <p:spPr>
            <a:xfrm>
              <a:off x="9098662" y="2059755"/>
              <a:ext cx="2442976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ДЖКХ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10D20D-6155-4A41-A94B-5ADC6D9F5601}"/>
              </a:ext>
            </a:extLst>
          </p:cNvPr>
          <p:cNvGrpSpPr/>
          <p:nvPr/>
        </p:nvGrpSpPr>
        <p:grpSpPr>
          <a:xfrm>
            <a:off x="545197" y="3410990"/>
            <a:ext cx="11170541" cy="564706"/>
            <a:chOff x="545197" y="2839369"/>
            <a:chExt cx="11170541" cy="564706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6AC1AA-231B-4260-99F1-42C335410A63}"/>
                </a:ext>
              </a:extLst>
            </p:cNvPr>
            <p:cNvCxnSpPr>
              <a:cxnSpLocks/>
            </p:cNvCxnSpPr>
            <p:nvPr/>
          </p:nvCxnSpPr>
          <p:spPr>
            <a:xfrm>
              <a:off x="577188" y="3404075"/>
              <a:ext cx="11138550" cy="0"/>
            </a:xfrm>
            <a:prstGeom prst="line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</a:ln>
            <a:effectLst/>
          </p:spPr>
        </p:cxnSp>
        <p:sp>
          <p:nvSpPr>
            <p:cNvPr id="20" name="TrackerNumBlue">
              <a:extLst>
                <a:ext uri="{FF2B5EF4-FFF2-40B4-BE49-F238E27FC236}">
                  <a16:creationId xmlns:a16="http://schemas.microsoft.com/office/drawing/2014/main" id="{0D29053D-DB07-48CC-86CB-2981A99485C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45197" y="2839369"/>
              <a:ext cx="365760" cy="365760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>
                <a:spcBef>
                  <a:spcPts val="300"/>
                </a:spcBef>
                <a:spcAft>
                  <a:spcPts val="300"/>
                </a:spcAft>
              </a:pPr>
              <a:r>
                <a:rPr lang="ru-RU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3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C98B4C6-60A4-4E18-B72D-5E4780DAC99C}"/>
                </a:ext>
              </a:extLst>
            </p:cNvPr>
            <p:cNvSpPr txBox="1">
              <a:spLocks/>
            </p:cNvSpPr>
            <p:nvPr/>
          </p:nvSpPr>
          <p:spPr>
            <a:xfrm>
              <a:off x="577188" y="2839370"/>
              <a:ext cx="8166750" cy="461130"/>
            </a:xfrm>
            <a:prstGeom prst="rect">
              <a:avLst/>
            </a:prstGeom>
          </p:spPr>
          <p:txBody>
            <a:bodyPr vert="horz" wrap="square" lIns="45720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Проработка бизнес-процесса актуализации перечня организаций и их контактных данных в базе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0911CA2-CED7-4878-BED6-AA21A5A1B444}"/>
                </a:ext>
              </a:extLst>
            </p:cNvPr>
            <p:cNvSpPr txBox="1"/>
            <p:nvPr/>
          </p:nvSpPr>
          <p:spPr>
            <a:xfrm>
              <a:off x="9089125" y="2839370"/>
              <a:ext cx="2442976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ДЖКХ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9115F31-1711-49F0-B4E3-8FB315C89193}"/>
              </a:ext>
            </a:extLst>
          </p:cNvPr>
          <p:cNvGrpSpPr/>
          <p:nvPr/>
        </p:nvGrpSpPr>
        <p:grpSpPr>
          <a:xfrm>
            <a:off x="545197" y="4249537"/>
            <a:ext cx="11170541" cy="564706"/>
            <a:chOff x="567663" y="4534934"/>
            <a:chExt cx="11170541" cy="564706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BE151A6-C973-4CB4-A463-030FBA2FFE3B}"/>
                </a:ext>
              </a:extLst>
            </p:cNvPr>
            <p:cNvCxnSpPr>
              <a:cxnSpLocks/>
            </p:cNvCxnSpPr>
            <p:nvPr/>
          </p:nvCxnSpPr>
          <p:spPr>
            <a:xfrm>
              <a:off x="599654" y="5099640"/>
              <a:ext cx="11138550" cy="0"/>
            </a:xfrm>
            <a:prstGeom prst="line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</a:ln>
            <a:effectLst/>
          </p:spPr>
        </p:cxnSp>
        <p:sp>
          <p:nvSpPr>
            <p:cNvPr id="31" name="TrackerNumBlue">
              <a:extLst>
                <a:ext uri="{FF2B5EF4-FFF2-40B4-BE49-F238E27FC236}">
                  <a16:creationId xmlns:a16="http://schemas.microsoft.com/office/drawing/2014/main" id="{0E092650-FB8C-44D9-8A3E-667CFC06E4F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67663" y="4534934"/>
              <a:ext cx="365760" cy="365760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>
                <a:spcBef>
                  <a:spcPts val="300"/>
                </a:spcBef>
                <a:spcAft>
                  <a:spcPts val="300"/>
                </a:spcAft>
              </a:pPr>
              <a:r>
                <a:rPr lang="ru-RU" dirty="0">
                  <a:solidFill>
                    <a:schemeClr val="bg1"/>
                  </a:solidFill>
                  <a:sym typeface="+mn-lt"/>
                </a:rPr>
                <a:t>4</a:t>
              </a:r>
              <a:endParaRPr lang="ru-RU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437E04B-EECD-4965-B2C0-F4BBAA4E3FEC}"/>
                </a:ext>
              </a:extLst>
            </p:cNvPr>
            <p:cNvSpPr txBox="1">
              <a:spLocks/>
            </p:cNvSpPr>
            <p:nvPr/>
          </p:nvSpPr>
          <p:spPr>
            <a:xfrm>
              <a:off x="599654" y="4534935"/>
              <a:ext cx="8166750" cy="461130"/>
            </a:xfrm>
            <a:prstGeom prst="rect">
              <a:avLst/>
            </a:prstGeom>
          </p:spPr>
          <p:txBody>
            <a:bodyPr vert="horz" wrap="square" lIns="45720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Переговоры с обслуживающими</a:t>
              </a:r>
              <a:r>
                <a:rPr lang="en-US" sz="1600" dirty="0"/>
                <a:t> </a:t>
              </a:r>
              <a:r>
                <a:rPr lang="ru-RU" sz="1600" dirty="0"/>
                <a:t>организациями и определение способа взаимодействия с ЕДЦ (интеграция через </a:t>
              </a:r>
              <a:r>
                <a:rPr lang="en-US" sz="1600" dirty="0"/>
                <a:t>API, </a:t>
              </a:r>
              <a:r>
                <a:rPr lang="ru-RU" sz="1600" dirty="0"/>
                <a:t>личный кабинет)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1518823-7BEA-4DD7-BFE8-E0C040C25AEE}"/>
                </a:ext>
              </a:extLst>
            </p:cNvPr>
            <p:cNvSpPr txBox="1"/>
            <p:nvPr/>
          </p:nvSpPr>
          <p:spPr>
            <a:xfrm>
              <a:off x="9111591" y="4534935"/>
              <a:ext cx="2442976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ДЖКХ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736BBD2-46BD-4B89-B9D6-7645E7DDE09C}"/>
              </a:ext>
            </a:extLst>
          </p:cNvPr>
          <p:cNvGrpSpPr/>
          <p:nvPr/>
        </p:nvGrpSpPr>
        <p:grpSpPr>
          <a:xfrm>
            <a:off x="545197" y="5088083"/>
            <a:ext cx="10986904" cy="509962"/>
            <a:chOff x="599654" y="5382628"/>
            <a:chExt cx="10986904" cy="509962"/>
          </a:xfrm>
        </p:grpSpPr>
        <p:sp>
          <p:nvSpPr>
            <p:cNvPr id="35" name="TrackerNumBlue">
              <a:extLst>
                <a:ext uri="{FF2B5EF4-FFF2-40B4-BE49-F238E27FC236}">
                  <a16:creationId xmlns:a16="http://schemas.microsoft.com/office/drawing/2014/main" id="{827BE1A0-FDC5-42D9-8035-433325F3E65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99654" y="5382628"/>
              <a:ext cx="365760" cy="365760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>
                <a:spcBef>
                  <a:spcPts val="300"/>
                </a:spcBef>
                <a:spcAft>
                  <a:spcPts val="300"/>
                </a:spcAft>
              </a:pPr>
              <a:r>
                <a:rPr lang="ru-RU" dirty="0">
                  <a:solidFill>
                    <a:schemeClr val="bg1"/>
                  </a:solidFill>
                  <a:sym typeface="+mn-lt"/>
                </a:rPr>
                <a:t>5</a:t>
              </a:r>
              <a:endParaRPr lang="ru-RU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7E7D245-5A48-4940-B1BA-7F7C4114FA8C}"/>
                </a:ext>
              </a:extLst>
            </p:cNvPr>
            <p:cNvSpPr txBox="1">
              <a:spLocks/>
            </p:cNvSpPr>
            <p:nvPr/>
          </p:nvSpPr>
          <p:spPr>
            <a:xfrm>
              <a:off x="631645" y="5431460"/>
              <a:ext cx="8166750" cy="461130"/>
            </a:xfrm>
            <a:prstGeom prst="rect">
              <a:avLst/>
            </a:prstGeom>
          </p:spPr>
          <p:txBody>
            <a:bodyPr vert="horz" wrap="square" lIns="45720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Реализация выбранного способа взаимодействия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E078F22-C8FE-44FB-AE90-1FF0C4611B48}"/>
                </a:ext>
              </a:extLst>
            </p:cNvPr>
            <p:cNvSpPr txBox="1"/>
            <p:nvPr/>
          </p:nvSpPr>
          <p:spPr>
            <a:xfrm>
              <a:off x="9143582" y="5382629"/>
              <a:ext cx="2442976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ДИТ (Продукт КГХ) </a:t>
              </a:r>
            </a:p>
          </p:txBody>
        </p:sp>
      </p:grp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7ED5FB9-100D-41EE-9342-11BA5F6AD0D3}"/>
              </a:ext>
            </a:extLst>
          </p:cNvPr>
          <p:cNvSpPr>
            <a:spLocks/>
          </p:cNvSpPr>
          <p:nvPr/>
        </p:nvSpPr>
        <p:spPr>
          <a:xfrm>
            <a:off x="1111681" y="5598045"/>
            <a:ext cx="10069563" cy="443320"/>
          </a:xfrm>
          <a:prstGeom prst="roundRect">
            <a:avLst>
              <a:gd name="adj" fmla="val 19032"/>
            </a:avLst>
          </a:prstGeom>
          <a:solidFill>
            <a:schemeClr val="tx2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SzPct val="100000"/>
            </a:pPr>
            <a:r>
              <a:rPr lang="ru-RU" sz="1400" b="1" dirty="0">
                <a:solidFill>
                  <a:schemeClr val="bg1"/>
                </a:solidFill>
                <a:cs typeface="Arial" panose="020B0604020202020204" pitchFamily="34" charset="0"/>
              </a:rPr>
              <a:t>Перечень ответственных является предварительным и требует уточнения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F79FFFD-51A3-4505-9041-19AB694D8321}"/>
              </a:ext>
            </a:extLst>
          </p:cNvPr>
          <p:cNvGrpSpPr/>
          <p:nvPr/>
        </p:nvGrpSpPr>
        <p:grpSpPr>
          <a:xfrm>
            <a:off x="545197" y="2572443"/>
            <a:ext cx="11170541" cy="564706"/>
            <a:chOff x="545197" y="2839369"/>
            <a:chExt cx="11170541" cy="564706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28B8B2F-E8EA-43BC-A4FA-A129AAABA3A2}"/>
                </a:ext>
              </a:extLst>
            </p:cNvPr>
            <p:cNvCxnSpPr>
              <a:cxnSpLocks/>
            </p:cNvCxnSpPr>
            <p:nvPr/>
          </p:nvCxnSpPr>
          <p:spPr>
            <a:xfrm>
              <a:off x="577188" y="3404075"/>
              <a:ext cx="11138550" cy="0"/>
            </a:xfrm>
            <a:prstGeom prst="line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</a:ln>
            <a:effectLst/>
          </p:spPr>
        </p:cxnSp>
        <p:sp>
          <p:nvSpPr>
            <p:cNvPr id="42" name="TrackerNumBlue">
              <a:extLst>
                <a:ext uri="{FF2B5EF4-FFF2-40B4-BE49-F238E27FC236}">
                  <a16:creationId xmlns:a16="http://schemas.microsoft.com/office/drawing/2014/main" id="{F6B6D480-FAEB-4332-A52C-00B8BCFCED62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45197" y="2839369"/>
              <a:ext cx="365760" cy="365760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>
                <a:spcBef>
                  <a:spcPts val="300"/>
                </a:spcBef>
                <a:spcAft>
                  <a:spcPts val="300"/>
                </a:spcAft>
              </a:pPr>
              <a:r>
                <a:rPr lang="en-US" dirty="0">
                  <a:solidFill>
                    <a:schemeClr val="bg1"/>
                  </a:solidFill>
                  <a:sym typeface="+mn-lt"/>
                </a:rPr>
                <a:t>2</a:t>
              </a:r>
              <a:endParaRPr lang="ru-RU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7512B03-1F96-42B1-A2C4-743A0422DB87}"/>
                </a:ext>
              </a:extLst>
            </p:cNvPr>
            <p:cNvSpPr txBox="1">
              <a:spLocks/>
            </p:cNvSpPr>
            <p:nvPr/>
          </p:nvSpPr>
          <p:spPr>
            <a:xfrm>
              <a:off x="577188" y="2839370"/>
              <a:ext cx="8166750" cy="461130"/>
            </a:xfrm>
            <a:prstGeom prst="rect">
              <a:avLst/>
            </a:prstGeom>
          </p:spPr>
          <p:txBody>
            <a:bodyPr vert="horz" wrap="square" lIns="45720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Создание базы данных и техническая организация процесса передачи информация из базы в ЕДЦ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3645052-DD9C-416A-A7B8-27BA7BEDFEC0}"/>
                </a:ext>
              </a:extLst>
            </p:cNvPr>
            <p:cNvSpPr txBox="1"/>
            <p:nvPr/>
          </p:nvSpPr>
          <p:spPr>
            <a:xfrm>
              <a:off x="9089125" y="2839370"/>
              <a:ext cx="2442976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dirty="0"/>
                <a:t>ДИТ (Продукт КГХ)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8430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D9F120E6-2635-416D-9569-369B2BB15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590636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23"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D9F120E6-2635-416D-9569-369B2BB15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70F6DA80-D55C-41F7-ADDC-57A15A8DFF2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ru-RU" dirty="0">
                <a:cs typeface="Arial" panose="020B0604020202020204" pitchFamily="34" charset="0"/>
              </a:rPr>
              <a:t>Дальнейшие шаги для улучшения клиентского опыта при обращениях по вопросам по ЖКУ 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BFC59F-18D7-417A-94F8-B98511A5B0C3}"/>
              </a:ext>
            </a:extLst>
          </p:cNvPr>
          <p:cNvSpPr txBox="1">
            <a:spLocks/>
          </p:cNvSpPr>
          <p:nvPr/>
        </p:nvSpPr>
        <p:spPr>
          <a:xfrm>
            <a:off x="2359219" y="2855240"/>
            <a:ext cx="9278043" cy="16850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Разработка </a:t>
            </a:r>
            <a:r>
              <a:rPr lang="ru-RU" sz="1600" b="1" dirty="0">
                <a:solidFill>
                  <a:schemeClr val="accent3"/>
                </a:solidFill>
              </a:rPr>
              <a:t>единой базы данных</a:t>
            </a:r>
            <a:r>
              <a:rPr lang="ru-RU" sz="1600" b="1" baseline="30000" dirty="0">
                <a:solidFill>
                  <a:schemeClr val="accent3"/>
                </a:solidFill>
              </a:rPr>
              <a:t>1</a:t>
            </a:r>
            <a:r>
              <a:rPr lang="ru-RU" sz="1600" b="1" dirty="0">
                <a:solidFill>
                  <a:schemeClr val="accent3"/>
                </a:solidFill>
              </a:rPr>
              <a:t> </a:t>
            </a:r>
            <a:r>
              <a:rPr lang="ru-RU" sz="1600" dirty="0"/>
              <a:t>по вопросам ЖКУ на основе ГИС РД: </a:t>
            </a:r>
          </a:p>
          <a:p>
            <a:pPr lvl="1"/>
            <a:r>
              <a:rPr lang="ru-RU" sz="1600" b="1" dirty="0">
                <a:solidFill>
                  <a:schemeClr val="tx2"/>
                </a:solidFill>
              </a:rPr>
              <a:t>Какие данные нужны </a:t>
            </a:r>
            <a:r>
              <a:rPr lang="ru-RU" sz="1600" dirty="0"/>
              <a:t>- формирование метаданных и создание реестра данных</a:t>
            </a:r>
          </a:p>
          <a:p>
            <a:pPr lvl="1"/>
            <a:r>
              <a:rPr lang="ru-RU" sz="1600" b="1" dirty="0">
                <a:solidFill>
                  <a:schemeClr val="tx2"/>
                </a:solidFill>
              </a:rPr>
              <a:t>Как они передаются в базу</a:t>
            </a:r>
            <a:r>
              <a:rPr lang="ru-RU" sz="1600" dirty="0"/>
              <a:t> - организация оптимального бизнес-процесса для предоставления информации </a:t>
            </a:r>
          </a:p>
          <a:p>
            <a:pPr lvl="1"/>
            <a:r>
              <a:rPr lang="ru-RU" sz="1600" b="1" dirty="0">
                <a:solidFill>
                  <a:schemeClr val="tx2"/>
                </a:solidFill>
              </a:rPr>
              <a:t>Как они обновляются </a:t>
            </a:r>
            <a:r>
              <a:rPr lang="ru-RU" sz="1600" dirty="0"/>
              <a:t>- создание процесса актуализации данных и их передачи в ЕДЦ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F7F0D9-9417-4CE6-988B-F6485F2A8DB9}"/>
              </a:ext>
            </a:extLst>
          </p:cNvPr>
          <p:cNvSpPr txBox="1">
            <a:spLocks/>
          </p:cNvSpPr>
          <p:nvPr/>
        </p:nvSpPr>
        <p:spPr>
          <a:xfrm>
            <a:off x="2359219" y="1351692"/>
            <a:ext cx="9278043" cy="134084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600" b="1" dirty="0">
                <a:solidFill>
                  <a:schemeClr val="tx2"/>
                </a:solidFill>
              </a:rPr>
              <a:t>Детализация текущих и целевых процессов </a:t>
            </a:r>
            <a:r>
              <a:rPr lang="ru-RU" sz="1600" dirty="0"/>
              <a:t>по всем проблемным категориям, определение дальнейших шагов для внедрения целевой схемы</a:t>
            </a:r>
            <a:r>
              <a:rPr lang="en-US" sz="1600" dirty="0"/>
              <a:t>, </a:t>
            </a:r>
            <a:r>
              <a:rPr lang="ru-RU" sz="1600" b="1" dirty="0">
                <a:solidFill>
                  <a:schemeClr val="tx2"/>
                </a:solidFill>
              </a:rPr>
              <a:t>назначение ответственных </a:t>
            </a:r>
            <a:r>
              <a:rPr lang="ru-RU" sz="1600" dirty="0"/>
              <a:t>и </a:t>
            </a:r>
            <a:r>
              <a:rPr lang="ru-RU" sz="1600" b="1" dirty="0">
                <a:solidFill>
                  <a:schemeClr val="tx2"/>
                </a:solidFill>
              </a:rPr>
              <a:t>внедрение целевых процессов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9EB19D-C3E7-48B9-A6E2-063402D3C714}"/>
              </a:ext>
            </a:extLst>
          </p:cNvPr>
          <p:cNvSpPr txBox="1">
            <a:spLocks/>
          </p:cNvSpPr>
          <p:nvPr/>
        </p:nvSpPr>
        <p:spPr>
          <a:xfrm>
            <a:off x="2359219" y="4530905"/>
            <a:ext cx="9278043" cy="134084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Создания единого подхода к </a:t>
            </a:r>
            <a:r>
              <a:rPr lang="ru-RU" sz="1600" b="1" dirty="0">
                <a:solidFill>
                  <a:schemeClr val="accent3"/>
                </a:solidFill>
              </a:rPr>
              <a:t>работе с коммерческими организациями</a:t>
            </a:r>
            <a:r>
              <a:rPr lang="en-US" sz="1600" dirty="0"/>
              <a:t>/</a:t>
            </a:r>
            <a:r>
              <a:rPr lang="ru-RU" sz="1600" dirty="0"/>
              <a:t>сервисными компаниями и выстраивание </a:t>
            </a:r>
            <a:r>
              <a:rPr lang="ru-RU" sz="1600" b="1" dirty="0">
                <a:solidFill>
                  <a:schemeClr val="accent3"/>
                </a:solidFill>
              </a:rPr>
              <a:t>взаимодействия</a:t>
            </a:r>
            <a:r>
              <a:rPr lang="ru-RU" sz="1600" dirty="0"/>
              <a:t> с ними для обработки заявок напрямую через ЕДЦ</a:t>
            </a:r>
          </a:p>
        </p:txBody>
      </p:sp>
      <p:sp>
        <p:nvSpPr>
          <p:cNvPr id="38" name="Прямоугольник 81">
            <a:extLst>
              <a:ext uri="{FF2B5EF4-FFF2-40B4-BE49-F238E27FC236}">
                <a16:creationId xmlns:a16="http://schemas.microsoft.com/office/drawing/2014/main" id="{33B1B2AF-4738-4CD5-8F0D-A28275EDBC87}"/>
              </a:ext>
            </a:extLst>
          </p:cNvPr>
          <p:cNvSpPr>
            <a:spLocks/>
          </p:cNvSpPr>
          <p:nvPr/>
        </p:nvSpPr>
        <p:spPr>
          <a:xfrm>
            <a:off x="0" y="1261296"/>
            <a:ext cx="1626325" cy="4915984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989" tIns="53494" rIns="106989" bIns="5349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u-RU" sz="800" b="1" dirty="0">
              <a:solidFill>
                <a:schemeClr val="accent3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C91644-E125-42B9-BE06-5C4D58A5A029}"/>
              </a:ext>
            </a:extLst>
          </p:cNvPr>
          <p:cNvSpPr txBox="1"/>
          <p:nvPr/>
        </p:nvSpPr>
        <p:spPr>
          <a:xfrm>
            <a:off x="554734" y="1745113"/>
            <a:ext cx="328615" cy="553998"/>
          </a:xfrm>
          <a:prstGeom prst="rect">
            <a:avLst/>
          </a:prstGeom>
        </p:spPr>
        <p:txBody>
          <a:bodyPr vert="horz" wrap="none" lIns="0" tIns="0" rIns="0" bIns="0" rtlCol="0" anchor="ctr" anchorCtr="1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r>
              <a:rPr lang="ru-RU" sz="3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8B18EC-0A58-4DDC-B5CC-BF717569E7AD}"/>
              </a:ext>
            </a:extLst>
          </p:cNvPr>
          <p:cNvSpPr txBox="1"/>
          <p:nvPr/>
        </p:nvSpPr>
        <p:spPr>
          <a:xfrm>
            <a:off x="554734" y="3248661"/>
            <a:ext cx="328615" cy="553998"/>
          </a:xfrm>
          <a:prstGeom prst="rect">
            <a:avLst/>
          </a:prstGeom>
        </p:spPr>
        <p:txBody>
          <a:bodyPr vert="horz" wrap="none" lIns="0" tIns="0" rIns="0" bIns="0" rtlCol="0" anchor="ctr" anchorCtr="1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r>
              <a:rPr lang="ru-RU" sz="3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3C8D41-A788-4147-8B90-522D279252B6}"/>
              </a:ext>
            </a:extLst>
          </p:cNvPr>
          <p:cNvSpPr txBox="1"/>
          <p:nvPr/>
        </p:nvSpPr>
        <p:spPr>
          <a:xfrm>
            <a:off x="554734" y="4924327"/>
            <a:ext cx="328615" cy="553998"/>
          </a:xfrm>
          <a:prstGeom prst="rect">
            <a:avLst/>
          </a:prstGeom>
        </p:spPr>
        <p:txBody>
          <a:bodyPr vert="horz" wrap="none" lIns="0" tIns="0" rIns="0" bIns="0" rtlCol="0" anchor="ctr" anchorCtr="1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r>
              <a:rPr lang="ru-RU" sz="3600" b="1" dirty="0">
                <a:solidFill>
                  <a:srgbClr val="FFFFFF"/>
                </a:solidFill>
              </a:rPr>
              <a:t>3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87B2C8E-58C4-43CB-B3A9-444053636D2F}"/>
              </a:ext>
            </a:extLst>
          </p:cNvPr>
          <p:cNvGrpSpPr>
            <a:grpSpLocks/>
          </p:cNvGrpSpPr>
          <p:nvPr/>
        </p:nvGrpSpPr>
        <p:grpSpPr>
          <a:xfrm>
            <a:off x="1067009" y="2971385"/>
            <a:ext cx="1108550" cy="1108550"/>
            <a:chOff x="12751052" y="4136534"/>
            <a:chExt cx="898272" cy="89827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8C184DC-07B4-4B00-B1E6-B771CAD2E6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751052" y="4136534"/>
              <a:ext cx="898272" cy="898272"/>
            </a:xfrm>
            <a:prstGeom prst="ellipse">
              <a:avLst/>
            </a:prstGeom>
            <a:solidFill>
              <a:schemeClr val="bg1"/>
            </a:solidFill>
            <a:effectLst>
              <a:outerShdw blurRad="101600" algn="ctr" rotWithShape="0">
                <a:schemeClr val="tx2">
                  <a:lumMod val="50000"/>
                  <a:alpha val="18000"/>
                </a:schemeClr>
              </a:outerShdw>
            </a:effectLst>
          </p:spPr>
          <p:txBody>
            <a:bodyPr vert="horz" wrap="square" lIns="36000" tIns="180000" rIns="36000" bIns="118800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SzPct val="100000"/>
                <a:buFont typeface="Segoe UI" panose="020B0502040204020203" pitchFamily="34" charset="0"/>
                <a:buChar char="​"/>
              </a:pPr>
              <a:endParaRPr lang="ru-RU" sz="1100" b="1" dirty="0" err="1">
                <a:solidFill>
                  <a:schemeClr val="tx2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6FEE68F-29EC-44E0-A308-512DFCAC0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931713" y="4317195"/>
              <a:ext cx="536950" cy="53695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340A16D-9895-4AA2-84F7-E31BDCF74E70}"/>
              </a:ext>
            </a:extLst>
          </p:cNvPr>
          <p:cNvGrpSpPr>
            <a:grpSpLocks/>
          </p:cNvGrpSpPr>
          <p:nvPr/>
        </p:nvGrpSpPr>
        <p:grpSpPr>
          <a:xfrm>
            <a:off x="1067009" y="4647051"/>
            <a:ext cx="1108550" cy="1108550"/>
            <a:chOff x="12751052" y="1348259"/>
            <a:chExt cx="898272" cy="898272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2D38FEC-1A6C-4AFD-9CF6-481B21AFCC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751052" y="1348259"/>
              <a:ext cx="898272" cy="898272"/>
            </a:xfrm>
            <a:prstGeom prst="ellipse">
              <a:avLst/>
            </a:prstGeom>
            <a:solidFill>
              <a:schemeClr val="bg1"/>
            </a:solidFill>
            <a:effectLst>
              <a:outerShdw blurRad="101600" algn="ctr" rotWithShape="0">
                <a:schemeClr val="tx2">
                  <a:lumMod val="50000"/>
                  <a:alpha val="18000"/>
                </a:schemeClr>
              </a:outerShdw>
            </a:effectLst>
          </p:spPr>
          <p:txBody>
            <a:bodyPr vert="horz" wrap="square" lIns="36000" tIns="180000" rIns="36000" bIns="118800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SzPct val="100000"/>
                <a:buFont typeface="Segoe UI" panose="020B0502040204020203" pitchFamily="34" charset="0"/>
                <a:buChar char="​"/>
              </a:pPr>
              <a:endParaRPr lang="ru-RU" sz="1100" b="1" dirty="0" err="1">
                <a:solidFill>
                  <a:schemeClr val="tx2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381B18D5-0D57-491E-B0AA-38F0FBCFD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931713" y="1528920"/>
              <a:ext cx="536950" cy="53695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DDF3E10-634F-4EAF-8CD4-86A420BBE643}"/>
              </a:ext>
            </a:extLst>
          </p:cNvPr>
          <p:cNvGrpSpPr/>
          <p:nvPr/>
        </p:nvGrpSpPr>
        <p:grpSpPr>
          <a:xfrm>
            <a:off x="1067009" y="1467837"/>
            <a:ext cx="1108550" cy="1108550"/>
            <a:chOff x="12751053" y="2430131"/>
            <a:chExt cx="898272" cy="898272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E45149-D3BA-4AF6-926A-398F3DB296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751053" y="2430131"/>
              <a:ext cx="898272" cy="898272"/>
            </a:xfrm>
            <a:prstGeom prst="ellipse">
              <a:avLst/>
            </a:prstGeom>
            <a:solidFill>
              <a:schemeClr val="bg1"/>
            </a:solidFill>
            <a:effectLst>
              <a:outerShdw blurRad="101600" algn="ctr" rotWithShape="0">
                <a:schemeClr val="tx2">
                  <a:lumMod val="50000"/>
                  <a:alpha val="18000"/>
                </a:schemeClr>
              </a:outerShdw>
            </a:effectLst>
          </p:spPr>
          <p:txBody>
            <a:bodyPr vert="horz" wrap="square" lIns="36000" tIns="180000" rIns="36000" bIns="118800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SzPct val="100000"/>
                <a:buFont typeface="Segoe UI" panose="020B0502040204020203" pitchFamily="34" charset="0"/>
                <a:buChar char="​"/>
              </a:pPr>
              <a:endParaRPr lang="ru-RU" sz="1100" b="1" dirty="0" err="1">
                <a:solidFill>
                  <a:schemeClr val="tx2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EF447A68-FE90-40CC-BECD-110F02DA0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931714" y="2610792"/>
              <a:ext cx="536950" cy="536950"/>
            </a:xfrm>
            <a:prstGeom prst="rect">
              <a:avLst/>
            </a:prstGeom>
          </p:spPr>
        </p:pic>
      </p:grpSp>
      <p:sp>
        <p:nvSpPr>
          <p:cNvPr id="23" name="4. Footnote">
            <a:extLst>
              <a:ext uri="{FF2B5EF4-FFF2-40B4-BE49-F238E27FC236}">
                <a16:creationId xmlns:a16="http://schemas.microsoft.com/office/drawing/2014/main" id="{8E9E52E3-868D-40E0-BC36-E92679CA451F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6" y="64069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1.	База данных должна включать актуальную информацию по работе (в т.ч. графикам работы и контактным данным) всех </a:t>
            </a:r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упарвляющих</a:t>
            </a:r>
            <a:r>
              <a:rPr lang="ru-RU" dirty="0">
                <a:latin typeface="+mn-lt"/>
                <a:ea typeface="+mn-ea"/>
                <a:cs typeface="+mn-cs"/>
                <a:sym typeface="+mn-lt"/>
              </a:rPr>
              <a:t> компаний, реестр коммерческих и сервисных компаний</a:t>
            </a:r>
          </a:p>
        </p:txBody>
      </p:sp>
    </p:spTree>
    <p:extLst>
      <p:ext uri="{BB962C8B-B14F-4D97-AF65-F5344CB8AC3E}">
        <p14:creationId xmlns:p14="http://schemas.microsoft.com/office/powerpoint/2010/main" val="1220979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5A37F7D-236A-408E-8714-4156B0E4022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313789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25" name="think-cell Slide" r:id="rId10" imgW="395" imgH="396" progId="TCLayout.ActiveDocument.1">
                  <p:embed/>
                </p:oleObj>
              </mc:Choice>
              <mc:Fallback>
                <p:oleObj name="think-cell Slide" r:id="rId10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Rectangle 73">
            <a:extLst>
              <a:ext uri="{FF2B5EF4-FFF2-40B4-BE49-F238E27FC236}">
                <a16:creationId xmlns:a16="http://schemas.microsoft.com/office/drawing/2014/main" id="{FDD44830-31CD-46A9-BDEB-9799C019BBA4}"/>
              </a:ext>
            </a:extLst>
          </p:cNvPr>
          <p:cNvSpPr/>
          <p:nvPr/>
        </p:nvSpPr>
        <p:spPr>
          <a:xfrm>
            <a:off x="2838893" y="1937433"/>
            <a:ext cx="9353107" cy="10991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EAF8B6-AFF8-45AC-BC23-7572919F37F3}"/>
              </a:ext>
            </a:extLst>
          </p:cNvPr>
          <p:cNvSpPr txBox="1">
            <a:spLocks/>
          </p:cNvSpPr>
          <p:nvPr/>
        </p:nvSpPr>
        <p:spPr>
          <a:xfrm>
            <a:off x="0" y="1266825"/>
            <a:ext cx="12192000" cy="729624"/>
          </a:xfrm>
          <a:prstGeom prst="round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76200" tIns="76200" rIns="76200" bIns="7620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endParaRPr lang="ru-RU" sz="1800" b="1" dirty="0">
              <a:solidFill>
                <a:srgbClr val="FFFFFF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5306248-3644-40E8-BE19-C56B5B3F2EFB}"/>
              </a:ext>
            </a:extLst>
          </p:cNvPr>
          <p:cNvGrpSpPr>
            <a:grpSpLocks/>
          </p:cNvGrpSpPr>
          <p:nvPr/>
        </p:nvGrpSpPr>
        <p:grpSpPr>
          <a:xfrm>
            <a:off x="5487237" y="1266825"/>
            <a:ext cx="974407" cy="729624"/>
            <a:chOff x="5395913" y="1266825"/>
            <a:chExt cx="974407" cy="613810"/>
          </a:xfrm>
          <a:gradFill flip="none" rotWithShape="1">
            <a:gsLst>
              <a:gs pos="1200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0" scaled="1"/>
            <a:tileRect/>
          </a:gradFill>
        </p:grpSpPr>
        <p:sp>
          <p:nvSpPr>
            <p:cNvPr id="41" name="Arrow: Chevron 40">
              <a:extLst>
                <a:ext uri="{FF2B5EF4-FFF2-40B4-BE49-F238E27FC236}">
                  <a16:creationId xmlns:a16="http://schemas.microsoft.com/office/drawing/2014/main" id="{821EBBB5-5F94-4B36-82F6-F6E8DF5D3687}"/>
                </a:ext>
              </a:extLst>
            </p:cNvPr>
            <p:cNvSpPr/>
            <p:nvPr/>
          </p:nvSpPr>
          <p:spPr>
            <a:xfrm>
              <a:off x="5395913" y="1266825"/>
              <a:ext cx="341165" cy="613810"/>
            </a:xfrm>
            <a:prstGeom prst="chevron">
              <a:avLst/>
            </a:pr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7" name="Arrow: Chevron 46">
              <a:extLst>
                <a:ext uri="{FF2B5EF4-FFF2-40B4-BE49-F238E27FC236}">
                  <a16:creationId xmlns:a16="http://schemas.microsoft.com/office/drawing/2014/main" id="{C67D8B99-1301-401C-9748-46686FFF1150}"/>
                </a:ext>
              </a:extLst>
            </p:cNvPr>
            <p:cNvSpPr/>
            <p:nvPr/>
          </p:nvSpPr>
          <p:spPr>
            <a:xfrm>
              <a:off x="5712534" y="1266825"/>
              <a:ext cx="341165" cy="613810"/>
            </a:xfrm>
            <a:prstGeom prst="chevron">
              <a:avLst/>
            </a:pr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8" name="Arrow: Chevron 47">
              <a:extLst>
                <a:ext uri="{FF2B5EF4-FFF2-40B4-BE49-F238E27FC236}">
                  <a16:creationId xmlns:a16="http://schemas.microsoft.com/office/drawing/2014/main" id="{26F16BCA-0498-46DB-B7D9-2AC604A0DBEE}"/>
                </a:ext>
              </a:extLst>
            </p:cNvPr>
            <p:cNvSpPr/>
            <p:nvPr/>
          </p:nvSpPr>
          <p:spPr>
            <a:xfrm>
              <a:off x="6029155" y="1266825"/>
              <a:ext cx="341165" cy="613810"/>
            </a:xfrm>
            <a:prstGeom prst="chevron">
              <a:avLst/>
            </a:pr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8" name="Arrow: Pentagon 37">
            <a:extLst>
              <a:ext uri="{FF2B5EF4-FFF2-40B4-BE49-F238E27FC236}">
                <a16:creationId xmlns:a16="http://schemas.microsoft.com/office/drawing/2014/main" id="{D679231B-D6DE-4D41-94E6-AA82F96D5E0F}"/>
              </a:ext>
            </a:extLst>
          </p:cNvPr>
          <p:cNvSpPr>
            <a:spLocks/>
          </p:cNvSpPr>
          <p:nvPr/>
        </p:nvSpPr>
        <p:spPr>
          <a:xfrm>
            <a:off x="-9526" y="1266825"/>
            <a:ext cx="5668531" cy="4911725"/>
          </a:xfrm>
          <a:prstGeom prst="homePlate">
            <a:avLst>
              <a:gd name="adj" fmla="val 0"/>
            </a:avLst>
          </a:prstGeom>
          <a:solidFill>
            <a:schemeClr val="tx2"/>
          </a:solidFill>
          <a:ln w="6350" cap="sq">
            <a:noFill/>
            <a:miter lim="800000"/>
          </a:ln>
          <a:effectLst>
            <a:outerShdw blurRad="279400" dist="381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C9F5232-D406-4E95-8636-1111A1E705A0}"/>
              </a:ext>
            </a:extLst>
          </p:cNvPr>
          <p:cNvSpPr>
            <a:spLocks/>
          </p:cNvSpPr>
          <p:nvPr/>
        </p:nvSpPr>
        <p:spPr>
          <a:xfrm>
            <a:off x="554734" y="2119598"/>
            <a:ext cx="4857238" cy="800219"/>
          </a:xfrm>
          <a:prstGeom prst="roundRect">
            <a:avLst>
              <a:gd name="adj" fmla="val 14008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BDE9D94-BEF5-4DD6-914B-095DECD9297B}"/>
              </a:ext>
            </a:extLst>
          </p:cNvPr>
          <p:cNvSpPr>
            <a:spLocks/>
          </p:cNvSpPr>
          <p:nvPr/>
        </p:nvSpPr>
        <p:spPr>
          <a:xfrm>
            <a:off x="554734" y="3153299"/>
            <a:ext cx="4857238" cy="800219"/>
          </a:xfrm>
          <a:prstGeom prst="roundRect">
            <a:avLst>
              <a:gd name="adj" fmla="val 14008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7D00252-96CD-4365-AB3A-FDB046C2EAF3}"/>
              </a:ext>
            </a:extLst>
          </p:cNvPr>
          <p:cNvSpPr>
            <a:spLocks/>
          </p:cNvSpPr>
          <p:nvPr/>
        </p:nvSpPr>
        <p:spPr>
          <a:xfrm>
            <a:off x="554734" y="4187000"/>
            <a:ext cx="4857238" cy="800219"/>
          </a:xfrm>
          <a:prstGeom prst="roundRect">
            <a:avLst>
              <a:gd name="adj" fmla="val 14008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7205050-D75A-4C21-9410-F917FEECA33E}"/>
              </a:ext>
            </a:extLst>
          </p:cNvPr>
          <p:cNvSpPr>
            <a:spLocks/>
          </p:cNvSpPr>
          <p:nvPr/>
        </p:nvSpPr>
        <p:spPr>
          <a:xfrm>
            <a:off x="553444" y="5220701"/>
            <a:ext cx="4857238" cy="800219"/>
          </a:xfrm>
          <a:prstGeom prst="roundRect">
            <a:avLst>
              <a:gd name="adj" fmla="val 14008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CBA7A304-2893-45A0-8AE0-0A5EC708FAE6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>
            <a:noAutofit/>
          </a:bodyPr>
          <a:lstStyle/>
          <a:p>
            <a:r>
              <a:rPr lang="ru-RU" dirty="0"/>
              <a:t>Реализация концепции требует выделение дополнительных ресурсов только для сбора данных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A2783E-3778-4CFF-9502-F813ABA222B8}"/>
              </a:ext>
            </a:extLst>
          </p:cNvPr>
          <p:cNvSpPr txBox="1">
            <a:spLocks/>
          </p:cNvSpPr>
          <p:nvPr/>
        </p:nvSpPr>
        <p:spPr>
          <a:xfrm>
            <a:off x="554734" y="1516221"/>
            <a:ext cx="4857238" cy="23083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500" b="1" dirty="0">
                <a:solidFill>
                  <a:srgbClr val="FFFFFF"/>
                </a:solidFill>
              </a:rPr>
              <a:t>Элемент концепции ЕЦИ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4382E3-A268-492C-A723-7E96FA3BC0C0}"/>
              </a:ext>
            </a:extLst>
          </p:cNvPr>
          <p:cNvSpPr txBox="1"/>
          <p:nvPr/>
        </p:nvSpPr>
        <p:spPr>
          <a:xfrm>
            <a:off x="6022948" y="1400805"/>
            <a:ext cx="244095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500" b="1" dirty="0">
                <a:solidFill>
                  <a:srgbClr val="FFFFFF"/>
                </a:solidFill>
              </a:rPr>
              <a:t>Потребность в допол-нительных ресурсах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AEA070-1265-4AB8-84E3-F2162511C157}"/>
              </a:ext>
            </a:extLst>
          </p:cNvPr>
          <p:cNvSpPr txBox="1">
            <a:spLocks/>
          </p:cNvSpPr>
          <p:nvPr/>
        </p:nvSpPr>
        <p:spPr>
          <a:xfrm>
            <a:off x="8704448" y="1516221"/>
            <a:ext cx="2932814" cy="23083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500" b="1" dirty="0">
                <a:solidFill>
                  <a:srgbClr val="FFFFFF"/>
                </a:solidFill>
              </a:rPr>
              <a:t>Комментарий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B3E4A1-4B8E-42CC-AF01-C14B0F9E2DD9}"/>
              </a:ext>
            </a:extLst>
          </p:cNvPr>
          <p:cNvSpPr txBox="1"/>
          <p:nvPr/>
        </p:nvSpPr>
        <p:spPr>
          <a:xfrm>
            <a:off x="2073348" y="2219625"/>
            <a:ext cx="3159327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b="1" dirty="0">
                <a:solidFill>
                  <a:schemeClr val="accent3"/>
                </a:solidFill>
              </a:rPr>
              <a:t>Бизнес-процесс по наполнению </a:t>
            </a:r>
            <a:br>
              <a:rPr lang="ru-RU" sz="1300" b="1" dirty="0">
                <a:solidFill>
                  <a:schemeClr val="accent3"/>
                </a:solidFill>
              </a:rPr>
            </a:br>
            <a:r>
              <a:rPr lang="ru-RU" sz="1300" b="1" dirty="0">
                <a:solidFill>
                  <a:schemeClr val="accent3"/>
                </a:solidFill>
              </a:rPr>
              <a:t>и актуализации </a:t>
            </a:r>
            <a:r>
              <a:rPr lang="ru-RU" sz="1300" dirty="0"/>
              <a:t>информации </a:t>
            </a:r>
            <a:br>
              <a:rPr lang="ru-RU" sz="1300" dirty="0"/>
            </a:br>
            <a:r>
              <a:rPr lang="ru-RU" sz="1300" dirty="0"/>
              <a:t>по всем категориям обращений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F5CE3A-815E-463C-B808-5FABA73BFC79}"/>
              </a:ext>
            </a:extLst>
          </p:cNvPr>
          <p:cNvSpPr txBox="1"/>
          <p:nvPr/>
        </p:nvSpPr>
        <p:spPr>
          <a:xfrm>
            <a:off x="2073348" y="3253326"/>
            <a:ext cx="3159327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300" b="1" dirty="0">
                <a:solidFill>
                  <a:schemeClr val="accent3"/>
                </a:solidFill>
              </a:rPr>
              <a:t>Техническая организация наполнения </a:t>
            </a:r>
            <a:r>
              <a:rPr lang="ru-RU" sz="1300" dirty="0"/>
              <a:t>базы данных (в т.ч. обработки и хранения информации)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41B581-EE41-4695-94F6-8BE9C4228FF4}"/>
              </a:ext>
            </a:extLst>
          </p:cNvPr>
          <p:cNvSpPr txBox="1"/>
          <p:nvPr/>
        </p:nvSpPr>
        <p:spPr>
          <a:xfrm>
            <a:off x="2073348" y="4287027"/>
            <a:ext cx="3159327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300" b="1" dirty="0">
                <a:solidFill>
                  <a:schemeClr val="accent3"/>
                </a:solidFill>
              </a:rPr>
              <a:t>Процесс передачи информации </a:t>
            </a:r>
            <a:br>
              <a:rPr lang="ru-RU" sz="1300" dirty="0"/>
            </a:br>
            <a:r>
              <a:rPr lang="ru-RU" sz="1300" dirty="0"/>
              <a:t>в сервисы для взаимодействия </a:t>
            </a:r>
            <a:br>
              <a:rPr lang="ru-RU" sz="1300" dirty="0"/>
            </a:br>
            <a:r>
              <a:rPr lang="ru-RU" sz="1300" dirty="0"/>
              <a:t>с жителями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F0379D-E24B-4F19-B63B-0FD58B884C41}"/>
              </a:ext>
            </a:extLst>
          </p:cNvPr>
          <p:cNvSpPr txBox="1"/>
          <p:nvPr/>
        </p:nvSpPr>
        <p:spPr>
          <a:xfrm>
            <a:off x="2073348" y="5320728"/>
            <a:ext cx="3159327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b="1" dirty="0">
                <a:solidFill>
                  <a:schemeClr val="accent3"/>
                </a:solidFill>
              </a:rPr>
              <a:t>Интеграция систем </a:t>
            </a:r>
            <a:r>
              <a:rPr lang="ru-RU" sz="1300" dirty="0"/>
              <a:t>коммерческих </a:t>
            </a:r>
            <a:br>
              <a:rPr lang="ru-RU" sz="1300" dirty="0"/>
            </a:br>
            <a:r>
              <a:rPr lang="ru-RU" sz="1300" dirty="0"/>
              <a:t>и обслуживающих компаний </a:t>
            </a:r>
            <a:br>
              <a:rPr lang="ru-RU" sz="1300" dirty="0"/>
            </a:br>
            <a:r>
              <a:rPr lang="ru-RU" sz="1300" dirty="0"/>
              <a:t>для обработки </a:t>
            </a:r>
            <a:r>
              <a:rPr lang="ru-RU" sz="1300"/>
              <a:t>заявок жителей</a:t>
            </a:r>
            <a:endParaRPr lang="ru-RU" sz="13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F2B1E6-8DAD-4E18-A782-EB7A1CBE8E31}"/>
              </a:ext>
            </a:extLst>
          </p:cNvPr>
          <p:cNvSpPr txBox="1">
            <a:spLocks/>
          </p:cNvSpPr>
          <p:nvPr/>
        </p:nvSpPr>
        <p:spPr>
          <a:xfrm>
            <a:off x="8704448" y="2119598"/>
            <a:ext cx="2932814" cy="80021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Требуется оценка необходимых ресурсов от смежных департаментов – см. Приложение 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157758-BF50-427A-830E-22CB3983F267}"/>
              </a:ext>
            </a:extLst>
          </p:cNvPr>
          <p:cNvSpPr txBox="1">
            <a:spLocks/>
          </p:cNvSpPr>
          <p:nvPr/>
        </p:nvSpPr>
        <p:spPr>
          <a:xfrm>
            <a:off x="8704448" y="3153299"/>
            <a:ext cx="2932814" cy="80021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300" dirty="0"/>
              <a:t>Элемент может быть реализован на базе системы ЕХД (Единое хранилище данных) в рамках текущего бюджета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2461A2-034C-42DA-BEF8-767D1851385F}"/>
              </a:ext>
            </a:extLst>
          </p:cNvPr>
          <p:cNvSpPr txBox="1">
            <a:spLocks/>
          </p:cNvSpPr>
          <p:nvPr/>
        </p:nvSpPr>
        <p:spPr>
          <a:xfrm>
            <a:off x="8704448" y="4187000"/>
            <a:ext cx="2932814" cy="80021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300" dirty="0"/>
              <a:t>Элемент может быть реализован на основе имеющихся системных решений (</a:t>
            </a:r>
            <a:r>
              <a:rPr lang="en-US" sz="1300" dirty="0"/>
              <a:t>API)</a:t>
            </a:r>
            <a:r>
              <a:rPr lang="ru-RU" sz="1300" dirty="0"/>
              <a:t> системы ЕХД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D1A071-D2FC-4AB0-B19E-2D16FC226A30}"/>
              </a:ext>
            </a:extLst>
          </p:cNvPr>
          <p:cNvSpPr txBox="1">
            <a:spLocks/>
          </p:cNvSpPr>
          <p:nvPr/>
        </p:nvSpPr>
        <p:spPr>
          <a:xfrm>
            <a:off x="8704448" y="5220701"/>
            <a:ext cx="2932814" cy="80021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300" dirty="0"/>
              <a:t>Элемент может быть реализован на основе имеющихся системных решений (</a:t>
            </a:r>
            <a:r>
              <a:rPr lang="en-US" sz="1300" dirty="0"/>
              <a:t>API)</a:t>
            </a:r>
            <a:r>
              <a:rPr lang="ru-RU" sz="1300" dirty="0"/>
              <a:t> продукта ЕДЦ (Единый диспетчерский центр)</a:t>
            </a:r>
          </a:p>
        </p:txBody>
      </p:sp>
      <p:cxnSp>
        <p:nvCxnSpPr>
          <p:cNvPr id="45" name="LineBasicStrong 19">
            <a:extLst>
              <a:ext uri="{FF2B5EF4-FFF2-40B4-BE49-F238E27FC236}">
                <a16:creationId xmlns:a16="http://schemas.microsoft.com/office/drawing/2014/main" id="{939DCC61-F3DE-4D07-81A9-E19EB32486D8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6022948" y="4070259"/>
            <a:ext cx="5614314" cy="0"/>
          </a:xfrm>
          <a:prstGeom prst="straightConnector1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46" name="LineBasicStrong 19">
            <a:extLst>
              <a:ext uri="{FF2B5EF4-FFF2-40B4-BE49-F238E27FC236}">
                <a16:creationId xmlns:a16="http://schemas.microsoft.com/office/drawing/2014/main" id="{AE6A5B84-13D4-4E21-AC8A-CBD7A91799FC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022948" y="5103960"/>
            <a:ext cx="5614314" cy="0"/>
          </a:xfrm>
          <a:prstGeom prst="straightConnector1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184C3B9-EC85-4F50-9F72-67734F17E622}"/>
              </a:ext>
            </a:extLst>
          </p:cNvPr>
          <p:cNvGrpSpPr>
            <a:grpSpLocks/>
          </p:cNvGrpSpPr>
          <p:nvPr/>
        </p:nvGrpSpPr>
        <p:grpSpPr>
          <a:xfrm>
            <a:off x="554734" y="3036558"/>
            <a:ext cx="4857238" cy="2067402"/>
            <a:chOff x="6022948" y="3036558"/>
            <a:chExt cx="5614314" cy="2067402"/>
          </a:xfrm>
        </p:grpSpPr>
        <p:cxnSp>
          <p:nvCxnSpPr>
            <p:cNvPr id="55" name="LineBasicStrong 19">
              <a:extLst>
                <a:ext uri="{FF2B5EF4-FFF2-40B4-BE49-F238E27FC236}">
                  <a16:creationId xmlns:a16="http://schemas.microsoft.com/office/drawing/2014/main" id="{CD775E8A-0B73-4D71-9207-0BF390115FCB}"/>
                </a:ext>
              </a:extLst>
            </p:cNvPr>
            <p:cNvCxnSpPr>
              <a:cxnSpLocks/>
            </p:cNvCxnSpPr>
            <p:nvPr>
              <p:custDataLst>
                <p:tags r:id="rId6"/>
              </p:custDataLst>
            </p:nvPr>
          </p:nvCxnSpPr>
          <p:spPr>
            <a:xfrm>
              <a:off x="6022948" y="3036558"/>
              <a:ext cx="5614314" cy="0"/>
            </a:xfrm>
            <a:prstGeom prst="straightConnector1">
              <a:avLst/>
            </a:prstGeom>
            <a:noFill/>
            <a:ln w="6350" cap="flat" cmpd="sng" algn="ctr">
              <a:solidFill>
                <a:schemeClr val="bg2"/>
              </a:solidFill>
              <a:prstDash val="solid"/>
            </a:ln>
            <a:effectLst/>
          </p:spPr>
        </p:cxnSp>
        <p:cxnSp>
          <p:nvCxnSpPr>
            <p:cNvPr id="56" name="LineBasicStrong 19">
              <a:extLst>
                <a:ext uri="{FF2B5EF4-FFF2-40B4-BE49-F238E27FC236}">
                  <a16:creationId xmlns:a16="http://schemas.microsoft.com/office/drawing/2014/main" id="{05AD3DF1-16FB-490F-AB8B-55951BC11D50}"/>
                </a:ext>
              </a:extLst>
            </p:cNvPr>
            <p:cNvCxnSpPr>
              <a:cxnSpLocks/>
            </p:cNvCxnSpPr>
            <p:nvPr>
              <p:custDataLst>
                <p:tags r:id="rId7"/>
              </p:custDataLst>
            </p:nvPr>
          </p:nvCxnSpPr>
          <p:spPr>
            <a:xfrm>
              <a:off x="6022948" y="4070259"/>
              <a:ext cx="5614314" cy="0"/>
            </a:xfrm>
            <a:prstGeom prst="straightConnector1">
              <a:avLst/>
            </a:prstGeom>
            <a:noFill/>
            <a:ln w="6350" cap="flat" cmpd="sng" algn="ctr">
              <a:solidFill>
                <a:schemeClr val="bg2"/>
              </a:solidFill>
              <a:prstDash val="solid"/>
            </a:ln>
            <a:effectLst/>
          </p:spPr>
        </p:cxnSp>
        <p:cxnSp>
          <p:nvCxnSpPr>
            <p:cNvPr id="57" name="LineBasicStrong 19">
              <a:extLst>
                <a:ext uri="{FF2B5EF4-FFF2-40B4-BE49-F238E27FC236}">
                  <a16:creationId xmlns:a16="http://schemas.microsoft.com/office/drawing/2014/main" id="{2EC59133-449D-4CDD-892F-2974A94F8092}"/>
                </a:ext>
              </a:extLst>
            </p:cNvPr>
            <p:cNvCxnSpPr>
              <a:cxnSpLocks/>
            </p:cNvCxnSpPr>
            <p:nvPr>
              <p:custDataLst>
                <p:tags r:id="rId8"/>
              </p:custDataLst>
            </p:nvPr>
          </p:nvCxnSpPr>
          <p:spPr>
            <a:xfrm>
              <a:off x="6022948" y="5103960"/>
              <a:ext cx="5614314" cy="0"/>
            </a:xfrm>
            <a:prstGeom prst="straightConnector1">
              <a:avLst/>
            </a:prstGeom>
            <a:noFill/>
            <a:ln w="6350" cap="flat" cmpd="sng" algn="ctr">
              <a:solidFill>
                <a:schemeClr val="bg2"/>
              </a:solidFill>
              <a:prstDash val="solid"/>
            </a:ln>
            <a:effectLst/>
          </p:spPr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B29304FF-D92A-4527-9B5D-5D29E635E764}"/>
              </a:ext>
            </a:extLst>
          </p:cNvPr>
          <p:cNvSpPr txBox="1">
            <a:spLocks/>
          </p:cNvSpPr>
          <p:nvPr/>
        </p:nvSpPr>
        <p:spPr>
          <a:xfrm>
            <a:off x="661905" y="2119598"/>
            <a:ext cx="474489" cy="800219"/>
          </a:xfrm>
          <a:prstGeom prst="rect">
            <a:avLst/>
          </a:prstGeom>
        </p:spPr>
        <p:txBody>
          <a:bodyPr vert="horz" wrap="none" lIns="0" tIns="0" rIns="0" bIns="0" rtlCol="0" anchor="ctr" anchorCtr="1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5200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9D1285-0680-4A7A-B010-927C4DA9A1C4}"/>
              </a:ext>
            </a:extLst>
          </p:cNvPr>
          <p:cNvSpPr txBox="1">
            <a:spLocks/>
          </p:cNvSpPr>
          <p:nvPr/>
        </p:nvSpPr>
        <p:spPr>
          <a:xfrm>
            <a:off x="661905" y="3153299"/>
            <a:ext cx="474489" cy="800219"/>
          </a:xfrm>
          <a:prstGeom prst="rect">
            <a:avLst/>
          </a:prstGeom>
        </p:spPr>
        <p:txBody>
          <a:bodyPr vert="horz" wrap="none" lIns="0" tIns="0" rIns="0" bIns="0" rtlCol="0" anchor="ctr" anchorCtr="1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5200" b="1" dirty="0">
                <a:solidFill>
                  <a:schemeClr val="accent1"/>
                </a:solidFill>
              </a:rPr>
              <a:t>2</a:t>
            </a:r>
            <a:endParaRPr lang="en-US" sz="5200" b="1" dirty="0">
              <a:solidFill>
                <a:schemeClr val="accent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EF2F5D-8E09-4F55-A9C3-21103D765BC6}"/>
              </a:ext>
            </a:extLst>
          </p:cNvPr>
          <p:cNvSpPr txBox="1">
            <a:spLocks/>
          </p:cNvSpPr>
          <p:nvPr/>
        </p:nvSpPr>
        <p:spPr>
          <a:xfrm>
            <a:off x="661905" y="4187000"/>
            <a:ext cx="474489" cy="800219"/>
          </a:xfrm>
          <a:prstGeom prst="rect">
            <a:avLst/>
          </a:prstGeom>
        </p:spPr>
        <p:txBody>
          <a:bodyPr vert="horz" wrap="none" lIns="0" tIns="0" rIns="0" bIns="0" rtlCol="0" anchor="ctr" anchorCtr="1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5200" b="1" dirty="0">
                <a:solidFill>
                  <a:schemeClr val="accent1"/>
                </a:solidFill>
              </a:rPr>
              <a:t>3</a:t>
            </a:r>
            <a:endParaRPr lang="en-US" sz="5200" b="1" dirty="0">
              <a:solidFill>
                <a:schemeClr val="accent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602226-6C3A-4E49-AF93-3B8C7337A653}"/>
              </a:ext>
            </a:extLst>
          </p:cNvPr>
          <p:cNvSpPr txBox="1">
            <a:spLocks/>
          </p:cNvSpPr>
          <p:nvPr/>
        </p:nvSpPr>
        <p:spPr>
          <a:xfrm>
            <a:off x="660615" y="5220701"/>
            <a:ext cx="474489" cy="800219"/>
          </a:xfrm>
          <a:prstGeom prst="rect">
            <a:avLst/>
          </a:prstGeom>
        </p:spPr>
        <p:txBody>
          <a:bodyPr vert="horz" wrap="none" lIns="0" tIns="0" rIns="0" bIns="0" rtlCol="0" anchor="ctr" anchorCtr="1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5200" b="1" dirty="0">
                <a:solidFill>
                  <a:schemeClr val="accent1"/>
                </a:solidFill>
              </a:rPr>
              <a:t>4</a:t>
            </a:r>
            <a:endParaRPr lang="en-US" sz="5200" b="1" dirty="0">
              <a:solidFill>
                <a:schemeClr val="accent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3150DB-A1AE-4821-B245-3F32A9B0668F}"/>
              </a:ext>
            </a:extLst>
          </p:cNvPr>
          <p:cNvGrpSpPr/>
          <p:nvPr/>
        </p:nvGrpSpPr>
        <p:grpSpPr>
          <a:xfrm>
            <a:off x="6966769" y="2243053"/>
            <a:ext cx="553310" cy="553310"/>
            <a:chOff x="6966769" y="2243053"/>
            <a:chExt cx="553310" cy="553310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4BE626E-B724-416A-A627-D61A81720522}"/>
                </a:ext>
              </a:extLst>
            </p:cNvPr>
            <p:cNvSpPr>
              <a:spLocks/>
            </p:cNvSpPr>
            <p:nvPr/>
          </p:nvSpPr>
          <p:spPr>
            <a:xfrm>
              <a:off x="6966769" y="2243053"/>
              <a:ext cx="553310" cy="553310"/>
            </a:xfrm>
            <a:prstGeom prst="ellipse">
              <a:avLst/>
            </a:pr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4" name="Graphic 377">
              <a:extLst>
                <a:ext uri="{FF2B5EF4-FFF2-40B4-BE49-F238E27FC236}">
                  <a16:creationId xmlns:a16="http://schemas.microsoft.com/office/drawing/2014/main" id="{4810DB7F-C49D-418F-8E4F-9AE0BE06AF97}"/>
                </a:ext>
              </a:extLst>
            </p:cNvPr>
            <p:cNvSpPr/>
            <p:nvPr/>
          </p:nvSpPr>
          <p:spPr>
            <a:xfrm>
              <a:off x="7090659" y="2387588"/>
              <a:ext cx="305531" cy="264242"/>
            </a:xfrm>
            <a:custGeom>
              <a:avLst/>
              <a:gdLst>
                <a:gd name="connsiteX0" fmla="*/ 165847 w 165847"/>
                <a:gd name="connsiteY0" fmla="*/ 0 h 143435"/>
                <a:gd name="connsiteX1" fmla="*/ 58271 w 165847"/>
                <a:gd name="connsiteY1" fmla="*/ 143435 h 143435"/>
                <a:gd name="connsiteX2" fmla="*/ 0 w 165847"/>
                <a:gd name="connsiteY2" fmla="*/ 86285 h 1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847" h="143435">
                  <a:moveTo>
                    <a:pt x="165847" y="0"/>
                  </a:moveTo>
                  <a:lnTo>
                    <a:pt x="58271" y="143435"/>
                  </a:lnTo>
                  <a:lnTo>
                    <a:pt x="0" y="86285"/>
                  </a:lnTo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F793F-E33A-4B4E-9320-27D8A1592CFD}"/>
              </a:ext>
            </a:extLst>
          </p:cNvPr>
          <p:cNvGrpSpPr/>
          <p:nvPr/>
        </p:nvGrpSpPr>
        <p:grpSpPr>
          <a:xfrm>
            <a:off x="6966769" y="3276753"/>
            <a:ext cx="553310" cy="553310"/>
            <a:chOff x="6965060" y="4111601"/>
            <a:chExt cx="553310" cy="553310"/>
          </a:xfrm>
        </p:grpSpPr>
        <p:sp>
          <p:nvSpPr>
            <p:cNvPr id="66" name="Oval 43">
              <a:extLst>
                <a:ext uri="{FF2B5EF4-FFF2-40B4-BE49-F238E27FC236}">
                  <a16:creationId xmlns:a16="http://schemas.microsoft.com/office/drawing/2014/main" id="{4557BBEC-AF1E-4E8B-8B9E-76DA9AC42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5060" y="4111601"/>
              <a:ext cx="553310" cy="553310"/>
            </a:xfrm>
            <a:prstGeom prst="ellipse">
              <a:avLst/>
            </a:prstGeom>
            <a:solidFill>
              <a:srgbClr val="00B050"/>
            </a:solidFill>
            <a:ln w="12700" cap="rnd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67" name="Line 44">
              <a:extLst>
                <a:ext uri="{FF2B5EF4-FFF2-40B4-BE49-F238E27FC236}">
                  <a16:creationId xmlns:a16="http://schemas.microsoft.com/office/drawing/2014/main" id="{476FD821-C773-4546-833E-01F36F12D4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0535" y="4388256"/>
              <a:ext cx="222360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180BB45-A43E-4D36-B160-3587B492FD2A}"/>
              </a:ext>
            </a:extLst>
          </p:cNvPr>
          <p:cNvGrpSpPr/>
          <p:nvPr/>
        </p:nvGrpSpPr>
        <p:grpSpPr>
          <a:xfrm>
            <a:off x="6966769" y="4310454"/>
            <a:ext cx="553310" cy="553310"/>
            <a:chOff x="6965060" y="4111601"/>
            <a:chExt cx="553310" cy="553310"/>
          </a:xfrm>
        </p:grpSpPr>
        <p:sp>
          <p:nvSpPr>
            <p:cNvPr id="69" name="Oval 43">
              <a:extLst>
                <a:ext uri="{FF2B5EF4-FFF2-40B4-BE49-F238E27FC236}">
                  <a16:creationId xmlns:a16="http://schemas.microsoft.com/office/drawing/2014/main" id="{466E293D-8703-4A2A-82E4-F0BBBCC0F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5060" y="4111601"/>
              <a:ext cx="553310" cy="553310"/>
            </a:xfrm>
            <a:prstGeom prst="ellipse">
              <a:avLst/>
            </a:prstGeom>
            <a:solidFill>
              <a:srgbClr val="00B050"/>
            </a:solidFill>
            <a:ln w="12700" cap="rnd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70" name="Line 44">
              <a:extLst>
                <a:ext uri="{FF2B5EF4-FFF2-40B4-BE49-F238E27FC236}">
                  <a16:creationId xmlns:a16="http://schemas.microsoft.com/office/drawing/2014/main" id="{37569FE1-2D48-498E-8F9C-96CB7ED646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0535" y="4388256"/>
              <a:ext cx="222360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2D5E1E0-D88B-463B-B819-992AF057993C}"/>
              </a:ext>
            </a:extLst>
          </p:cNvPr>
          <p:cNvGrpSpPr/>
          <p:nvPr/>
        </p:nvGrpSpPr>
        <p:grpSpPr>
          <a:xfrm>
            <a:off x="6966769" y="5344155"/>
            <a:ext cx="553310" cy="553310"/>
            <a:chOff x="6965060" y="4111601"/>
            <a:chExt cx="553310" cy="553310"/>
          </a:xfrm>
        </p:grpSpPr>
        <p:sp>
          <p:nvSpPr>
            <p:cNvPr id="72" name="Oval 43">
              <a:extLst>
                <a:ext uri="{FF2B5EF4-FFF2-40B4-BE49-F238E27FC236}">
                  <a16:creationId xmlns:a16="http://schemas.microsoft.com/office/drawing/2014/main" id="{6379A20B-D687-49FF-8E47-C632118C2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5060" y="4111601"/>
              <a:ext cx="553310" cy="553310"/>
            </a:xfrm>
            <a:prstGeom prst="ellipse">
              <a:avLst/>
            </a:prstGeom>
            <a:solidFill>
              <a:srgbClr val="00B050"/>
            </a:solidFill>
            <a:ln w="12700" cap="rnd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73" name="Line 44">
              <a:extLst>
                <a:ext uri="{FF2B5EF4-FFF2-40B4-BE49-F238E27FC236}">
                  <a16:creationId xmlns:a16="http://schemas.microsoft.com/office/drawing/2014/main" id="{BD7C75A6-1D99-4E4F-98DD-27CDD72DB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0535" y="4388256"/>
              <a:ext cx="222360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4B3A944-E384-45FB-81EC-07B29D194016}"/>
              </a:ext>
            </a:extLst>
          </p:cNvPr>
          <p:cNvGrpSpPr/>
          <p:nvPr/>
        </p:nvGrpSpPr>
        <p:grpSpPr>
          <a:xfrm>
            <a:off x="1310330" y="5343108"/>
            <a:ext cx="587793" cy="555404"/>
            <a:chOff x="1943763" y="2296132"/>
            <a:chExt cx="365319" cy="345189"/>
          </a:xfrm>
        </p:grpSpPr>
        <p:sp>
          <p:nvSpPr>
            <p:cNvPr id="76" name="Freeform 152">
              <a:extLst>
                <a:ext uri="{FF2B5EF4-FFF2-40B4-BE49-F238E27FC236}">
                  <a16:creationId xmlns:a16="http://schemas.microsoft.com/office/drawing/2014/main" id="{27F38A5B-6BDC-4568-B19D-4258CBE8C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2969" y="2378143"/>
              <a:ext cx="90211" cy="49206"/>
            </a:xfrm>
            <a:custGeom>
              <a:avLst/>
              <a:gdLst>
                <a:gd name="T0" fmla="*/ 0 w 121"/>
                <a:gd name="T1" fmla="*/ 0 h 66"/>
                <a:gd name="T2" fmla="*/ 44 w 121"/>
                <a:gd name="T3" fmla="*/ 0 h 66"/>
                <a:gd name="T4" fmla="*/ 88 w 121"/>
                <a:gd name="T5" fmla="*/ 66 h 66"/>
                <a:gd name="T6" fmla="*/ 121 w 121"/>
                <a:gd name="T7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" h="66">
                  <a:moveTo>
                    <a:pt x="0" y="0"/>
                  </a:moveTo>
                  <a:lnTo>
                    <a:pt x="44" y="0"/>
                  </a:lnTo>
                  <a:lnTo>
                    <a:pt x="88" y="66"/>
                  </a:lnTo>
                  <a:lnTo>
                    <a:pt x="121" y="66"/>
                  </a:lnTo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7" name="Line 153">
              <a:extLst>
                <a:ext uri="{FF2B5EF4-FFF2-40B4-BE49-F238E27FC236}">
                  <a16:creationId xmlns:a16="http://schemas.microsoft.com/office/drawing/2014/main" id="{6A012E93-E42A-4474-BC9F-2309A3391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2969" y="2469099"/>
              <a:ext cx="123015" cy="0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8" name="Oval 154">
              <a:extLst>
                <a:ext uri="{FF2B5EF4-FFF2-40B4-BE49-F238E27FC236}">
                  <a16:creationId xmlns:a16="http://schemas.microsoft.com/office/drawing/2014/main" id="{6432DAA0-989C-452A-A050-8AA9FA242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3763" y="2353539"/>
              <a:ext cx="49206" cy="49206"/>
            </a:xfrm>
            <a:prstGeom prst="ellipse">
              <a:avLst/>
            </a:pr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9" name="Oval 155">
              <a:extLst>
                <a:ext uri="{FF2B5EF4-FFF2-40B4-BE49-F238E27FC236}">
                  <a16:creationId xmlns:a16="http://schemas.microsoft.com/office/drawing/2014/main" id="{0A54D4A8-E877-42D0-AE17-2C22D6106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3763" y="2443751"/>
              <a:ext cx="49206" cy="49952"/>
            </a:xfrm>
            <a:prstGeom prst="ellipse">
              <a:avLst/>
            </a:pr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0" name="Freeform 156">
              <a:extLst>
                <a:ext uri="{FF2B5EF4-FFF2-40B4-BE49-F238E27FC236}">
                  <a16:creationId xmlns:a16="http://schemas.microsoft.com/office/drawing/2014/main" id="{B9CD0DC0-8B94-4DA5-B353-064F82065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8577" y="2337137"/>
              <a:ext cx="73809" cy="49206"/>
            </a:xfrm>
            <a:custGeom>
              <a:avLst/>
              <a:gdLst>
                <a:gd name="T0" fmla="*/ 0 w 99"/>
                <a:gd name="T1" fmla="*/ 0 h 66"/>
                <a:gd name="T2" fmla="*/ 44 w 99"/>
                <a:gd name="T3" fmla="*/ 66 h 66"/>
                <a:gd name="T4" fmla="*/ 99 w 99"/>
                <a:gd name="T5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66">
                  <a:moveTo>
                    <a:pt x="0" y="0"/>
                  </a:moveTo>
                  <a:lnTo>
                    <a:pt x="44" y="66"/>
                  </a:lnTo>
                  <a:lnTo>
                    <a:pt x="99" y="66"/>
                  </a:lnTo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1" name="Oval 157">
              <a:extLst>
                <a:ext uri="{FF2B5EF4-FFF2-40B4-BE49-F238E27FC236}">
                  <a16:creationId xmlns:a16="http://schemas.microsoft.com/office/drawing/2014/main" id="{B953A9BE-75E7-4543-8E2C-D85B079A3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572" y="2296132"/>
              <a:ext cx="49206" cy="49206"/>
            </a:xfrm>
            <a:prstGeom prst="ellipse">
              <a:avLst/>
            </a:pr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" name="Oval 158">
              <a:extLst>
                <a:ext uri="{FF2B5EF4-FFF2-40B4-BE49-F238E27FC236}">
                  <a16:creationId xmlns:a16="http://schemas.microsoft.com/office/drawing/2014/main" id="{9D000C24-DC5A-4162-AB31-8FE935A22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3763" y="2534708"/>
              <a:ext cx="49206" cy="49206"/>
            </a:xfrm>
            <a:prstGeom prst="ellipse">
              <a:avLst/>
            </a:pr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3" name="Freeform 159">
              <a:extLst>
                <a:ext uri="{FF2B5EF4-FFF2-40B4-BE49-F238E27FC236}">
                  <a16:creationId xmlns:a16="http://schemas.microsoft.com/office/drawing/2014/main" id="{2B4068C4-977E-4C61-9D23-4E474FD5A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8577" y="2551110"/>
              <a:ext cx="73809" cy="49206"/>
            </a:xfrm>
            <a:custGeom>
              <a:avLst/>
              <a:gdLst>
                <a:gd name="T0" fmla="*/ 0 w 99"/>
                <a:gd name="T1" fmla="*/ 66 h 66"/>
                <a:gd name="T2" fmla="*/ 44 w 99"/>
                <a:gd name="T3" fmla="*/ 0 h 66"/>
                <a:gd name="T4" fmla="*/ 99 w 99"/>
                <a:gd name="T5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66">
                  <a:moveTo>
                    <a:pt x="0" y="66"/>
                  </a:moveTo>
                  <a:lnTo>
                    <a:pt x="44" y="0"/>
                  </a:lnTo>
                  <a:lnTo>
                    <a:pt x="99" y="0"/>
                  </a:lnTo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4" name="Oval 160">
              <a:extLst>
                <a:ext uri="{FF2B5EF4-FFF2-40B4-BE49-F238E27FC236}">
                  <a16:creationId xmlns:a16="http://schemas.microsoft.com/office/drawing/2014/main" id="{43AA7F55-1D72-4125-B930-1C96343AD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572" y="2592115"/>
              <a:ext cx="49206" cy="49206"/>
            </a:xfrm>
            <a:prstGeom prst="ellipse">
              <a:avLst/>
            </a:pr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5" name="Line 161">
              <a:extLst>
                <a:ext uri="{FF2B5EF4-FFF2-40B4-BE49-F238E27FC236}">
                  <a16:creationId xmlns:a16="http://schemas.microsoft.com/office/drawing/2014/main" id="{73D76DFF-98C7-471E-BDB0-0BDE91EA0E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5985" y="2469099"/>
              <a:ext cx="16402" cy="0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" name="Freeform 162">
              <a:extLst>
                <a:ext uri="{FF2B5EF4-FFF2-40B4-BE49-F238E27FC236}">
                  <a16:creationId xmlns:a16="http://schemas.microsoft.com/office/drawing/2014/main" id="{686054CC-4CBD-4DC8-8335-961650839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2969" y="2402746"/>
              <a:ext cx="316113" cy="156565"/>
            </a:xfrm>
            <a:custGeom>
              <a:avLst/>
              <a:gdLst>
                <a:gd name="T0" fmla="*/ 0 w 424"/>
                <a:gd name="T1" fmla="*/ 210 h 210"/>
                <a:gd name="T2" fmla="*/ 44 w 424"/>
                <a:gd name="T3" fmla="*/ 210 h 210"/>
                <a:gd name="T4" fmla="*/ 88 w 424"/>
                <a:gd name="T5" fmla="*/ 144 h 210"/>
                <a:gd name="T6" fmla="*/ 297 w 424"/>
                <a:gd name="T7" fmla="*/ 144 h 210"/>
                <a:gd name="T8" fmla="*/ 297 w 424"/>
                <a:gd name="T9" fmla="*/ 177 h 210"/>
                <a:gd name="T10" fmla="*/ 424 w 424"/>
                <a:gd name="T11" fmla="*/ 89 h 210"/>
                <a:gd name="T12" fmla="*/ 297 w 424"/>
                <a:gd name="T13" fmla="*/ 0 h 210"/>
                <a:gd name="T14" fmla="*/ 297 w 424"/>
                <a:gd name="T15" fmla="*/ 33 h 210"/>
                <a:gd name="T16" fmla="*/ 187 w 424"/>
                <a:gd name="T17" fmla="*/ 33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4" h="210">
                  <a:moveTo>
                    <a:pt x="0" y="210"/>
                  </a:moveTo>
                  <a:lnTo>
                    <a:pt x="44" y="210"/>
                  </a:lnTo>
                  <a:lnTo>
                    <a:pt x="88" y="144"/>
                  </a:lnTo>
                  <a:lnTo>
                    <a:pt x="297" y="144"/>
                  </a:lnTo>
                  <a:lnTo>
                    <a:pt x="297" y="177"/>
                  </a:lnTo>
                  <a:lnTo>
                    <a:pt x="424" y="89"/>
                  </a:lnTo>
                  <a:lnTo>
                    <a:pt x="297" y="0"/>
                  </a:lnTo>
                  <a:lnTo>
                    <a:pt x="297" y="33"/>
                  </a:lnTo>
                  <a:lnTo>
                    <a:pt x="187" y="33"/>
                  </a:lnTo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" name="Line 163">
              <a:extLst>
                <a:ext uri="{FF2B5EF4-FFF2-40B4-BE49-F238E27FC236}">
                  <a16:creationId xmlns:a16="http://schemas.microsoft.com/office/drawing/2014/main" id="{687D7191-B5C4-44E3-A2C3-3D1DE8763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1593" y="2469099"/>
              <a:ext cx="16402" cy="0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8" name="Line 164">
              <a:extLst>
                <a:ext uri="{FF2B5EF4-FFF2-40B4-BE49-F238E27FC236}">
                  <a16:creationId xmlns:a16="http://schemas.microsoft.com/office/drawing/2014/main" id="{806CE170-B45D-4407-B18B-172E731131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8789" y="2469099"/>
              <a:ext cx="16402" cy="0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" name="Line 165">
              <a:extLst>
                <a:ext uri="{FF2B5EF4-FFF2-40B4-BE49-F238E27FC236}">
                  <a16:creationId xmlns:a16="http://schemas.microsoft.com/office/drawing/2014/main" id="{EE657076-B3FA-4346-AAD9-56778FA22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8789" y="2386344"/>
              <a:ext cx="16402" cy="0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" name="Line 166">
              <a:extLst>
                <a:ext uri="{FF2B5EF4-FFF2-40B4-BE49-F238E27FC236}">
                  <a16:creationId xmlns:a16="http://schemas.microsoft.com/office/drawing/2014/main" id="{6C0DB837-A6A5-4A59-9624-908ECE7AF7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8789" y="2551110"/>
              <a:ext cx="16402" cy="0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1" name="Line 167">
              <a:extLst>
                <a:ext uri="{FF2B5EF4-FFF2-40B4-BE49-F238E27FC236}">
                  <a16:creationId xmlns:a16="http://schemas.microsoft.com/office/drawing/2014/main" id="{2B4E135B-B5D2-4B10-BE42-FCEA1821BC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99583" y="2427349"/>
              <a:ext cx="16402" cy="0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ACF0019-8FE7-4BAA-9A05-F7CC4E6796E8}"/>
              </a:ext>
            </a:extLst>
          </p:cNvPr>
          <p:cNvGrpSpPr/>
          <p:nvPr/>
        </p:nvGrpSpPr>
        <p:grpSpPr>
          <a:xfrm>
            <a:off x="1352431" y="4342430"/>
            <a:ext cx="504881" cy="489358"/>
            <a:chOff x="4292240" y="4043465"/>
            <a:chExt cx="504881" cy="489358"/>
          </a:xfrm>
        </p:grpSpPr>
        <p:sp>
          <p:nvSpPr>
            <p:cNvPr id="93" name="Oval 447">
              <a:extLst>
                <a:ext uri="{FF2B5EF4-FFF2-40B4-BE49-F238E27FC236}">
                  <a16:creationId xmlns:a16="http://schemas.microsoft.com/office/drawing/2014/main" id="{7947F5BD-4F27-4C55-80C4-7FFE03B3D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2240" y="4043465"/>
              <a:ext cx="276465" cy="122709"/>
            </a:xfrm>
            <a:prstGeom prst="ellipse">
              <a:avLst/>
            </a:pr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4" name="Freeform 448">
              <a:extLst>
                <a:ext uri="{FF2B5EF4-FFF2-40B4-BE49-F238E27FC236}">
                  <a16:creationId xmlns:a16="http://schemas.microsoft.com/office/drawing/2014/main" id="{7628C7A7-4CC7-4174-879D-64063E39A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240" y="4239356"/>
              <a:ext cx="178889" cy="162626"/>
            </a:xfrm>
            <a:custGeom>
              <a:avLst/>
              <a:gdLst>
                <a:gd name="T0" fmla="*/ 88 w 88"/>
                <a:gd name="T1" fmla="*/ 79 h 80"/>
                <a:gd name="T2" fmla="*/ 68 w 88"/>
                <a:gd name="T3" fmla="*/ 80 h 80"/>
                <a:gd name="T4" fmla="*/ 0 w 88"/>
                <a:gd name="T5" fmla="*/ 46 h 80"/>
                <a:gd name="T6" fmla="*/ 0 w 88"/>
                <a:gd name="T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8" h="80">
                  <a:moveTo>
                    <a:pt x="88" y="79"/>
                  </a:moveTo>
                  <a:cubicBezTo>
                    <a:pt x="82" y="80"/>
                    <a:pt x="75" y="80"/>
                    <a:pt x="68" y="80"/>
                  </a:cubicBezTo>
                  <a:cubicBezTo>
                    <a:pt x="30" y="80"/>
                    <a:pt x="0" y="66"/>
                    <a:pt x="0" y="4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5" name="Freeform 449">
              <a:extLst>
                <a:ext uri="{FF2B5EF4-FFF2-40B4-BE49-F238E27FC236}">
                  <a16:creationId xmlns:a16="http://schemas.microsoft.com/office/drawing/2014/main" id="{37B822F4-498F-4C42-9023-73163C276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240" y="4174305"/>
              <a:ext cx="178889" cy="154495"/>
            </a:xfrm>
            <a:custGeom>
              <a:avLst/>
              <a:gdLst>
                <a:gd name="T0" fmla="*/ 88 w 88"/>
                <a:gd name="T1" fmla="*/ 74 h 76"/>
                <a:gd name="T2" fmla="*/ 68 w 88"/>
                <a:gd name="T3" fmla="*/ 76 h 76"/>
                <a:gd name="T4" fmla="*/ 0 w 88"/>
                <a:gd name="T5" fmla="*/ 41 h 76"/>
                <a:gd name="T6" fmla="*/ 0 w 88"/>
                <a:gd name="T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8" h="76">
                  <a:moveTo>
                    <a:pt x="88" y="74"/>
                  </a:moveTo>
                  <a:cubicBezTo>
                    <a:pt x="82" y="75"/>
                    <a:pt x="75" y="76"/>
                    <a:pt x="68" y="76"/>
                  </a:cubicBezTo>
                  <a:cubicBezTo>
                    <a:pt x="30" y="76"/>
                    <a:pt x="0" y="61"/>
                    <a:pt x="0" y="4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6" name="Freeform 450">
              <a:extLst>
                <a:ext uri="{FF2B5EF4-FFF2-40B4-BE49-F238E27FC236}">
                  <a16:creationId xmlns:a16="http://schemas.microsoft.com/office/drawing/2014/main" id="{D66986B0-0F49-4FD2-B7D9-F635D2C56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240" y="4109255"/>
              <a:ext cx="178889" cy="138232"/>
            </a:xfrm>
            <a:custGeom>
              <a:avLst/>
              <a:gdLst>
                <a:gd name="T0" fmla="*/ 88 w 88"/>
                <a:gd name="T1" fmla="*/ 66 h 68"/>
                <a:gd name="T2" fmla="*/ 68 w 88"/>
                <a:gd name="T3" fmla="*/ 68 h 68"/>
                <a:gd name="T4" fmla="*/ 0 w 88"/>
                <a:gd name="T5" fmla="*/ 31 h 68"/>
                <a:gd name="T6" fmla="*/ 0 w 88"/>
                <a:gd name="T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8" h="68">
                  <a:moveTo>
                    <a:pt x="88" y="66"/>
                  </a:moveTo>
                  <a:cubicBezTo>
                    <a:pt x="82" y="67"/>
                    <a:pt x="75" y="68"/>
                    <a:pt x="68" y="68"/>
                  </a:cubicBezTo>
                  <a:cubicBezTo>
                    <a:pt x="30" y="68"/>
                    <a:pt x="0" y="51"/>
                    <a:pt x="0" y="3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7" name="Line 451">
              <a:extLst>
                <a:ext uri="{FF2B5EF4-FFF2-40B4-BE49-F238E27FC236}">
                  <a16:creationId xmlns:a16="http://schemas.microsoft.com/office/drawing/2014/main" id="{E46D644F-FF26-4E30-A6A1-512120BB06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705" y="4109255"/>
              <a:ext cx="0" cy="32525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8" name="Oval 452">
              <a:extLst>
                <a:ext uri="{FF2B5EF4-FFF2-40B4-BE49-F238E27FC236}">
                  <a16:creationId xmlns:a16="http://schemas.microsoft.com/office/drawing/2014/main" id="{F652AA15-4807-42BA-BE4E-0325F6A1E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917" y="4174305"/>
              <a:ext cx="277204" cy="121970"/>
            </a:xfrm>
            <a:prstGeom prst="ellipse">
              <a:avLst/>
            </a:prstGeom>
            <a:noFill/>
            <a:ln w="9525" cap="flat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9" name="Freeform 453">
              <a:extLst>
                <a:ext uri="{FF2B5EF4-FFF2-40B4-BE49-F238E27FC236}">
                  <a16:creationId xmlns:a16="http://schemas.microsoft.com/office/drawing/2014/main" id="{AC717BCC-263D-4521-B49A-064427D92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917" y="4369457"/>
              <a:ext cx="277204" cy="163366"/>
            </a:xfrm>
            <a:custGeom>
              <a:avLst/>
              <a:gdLst>
                <a:gd name="T0" fmla="*/ 136 w 136"/>
                <a:gd name="T1" fmla="*/ 0 h 80"/>
                <a:gd name="T2" fmla="*/ 136 w 136"/>
                <a:gd name="T3" fmla="*/ 46 h 80"/>
                <a:gd name="T4" fmla="*/ 68 w 136"/>
                <a:gd name="T5" fmla="*/ 80 h 80"/>
                <a:gd name="T6" fmla="*/ 0 w 136"/>
                <a:gd name="T7" fmla="*/ 46 h 80"/>
                <a:gd name="T8" fmla="*/ 0 w 136"/>
                <a:gd name="T9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80">
                  <a:moveTo>
                    <a:pt x="136" y="0"/>
                  </a:moveTo>
                  <a:cubicBezTo>
                    <a:pt x="136" y="46"/>
                    <a:pt x="136" y="46"/>
                    <a:pt x="136" y="46"/>
                  </a:cubicBezTo>
                  <a:cubicBezTo>
                    <a:pt x="136" y="66"/>
                    <a:pt x="106" y="80"/>
                    <a:pt x="68" y="80"/>
                  </a:cubicBezTo>
                  <a:cubicBezTo>
                    <a:pt x="30" y="80"/>
                    <a:pt x="0" y="66"/>
                    <a:pt x="0" y="4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0" name="Freeform 454">
              <a:extLst>
                <a:ext uri="{FF2B5EF4-FFF2-40B4-BE49-F238E27FC236}">
                  <a16:creationId xmlns:a16="http://schemas.microsoft.com/office/drawing/2014/main" id="{D61B3D63-E45E-4924-B534-64288AA6D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917" y="4304406"/>
              <a:ext cx="277204" cy="155234"/>
            </a:xfrm>
            <a:custGeom>
              <a:avLst/>
              <a:gdLst>
                <a:gd name="T0" fmla="*/ 136 w 136"/>
                <a:gd name="T1" fmla="*/ 0 h 76"/>
                <a:gd name="T2" fmla="*/ 136 w 136"/>
                <a:gd name="T3" fmla="*/ 41 h 76"/>
                <a:gd name="T4" fmla="*/ 68 w 136"/>
                <a:gd name="T5" fmla="*/ 76 h 76"/>
                <a:gd name="T6" fmla="*/ 0 w 136"/>
                <a:gd name="T7" fmla="*/ 41 h 76"/>
                <a:gd name="T8" fmla="*/ 0 w 136"/>
                <a:gd name="T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76">
                  <a:moveTo>
                    <a:pt x="136" y="0"/>
                  </a:moveTo>
                  <a:cubicBezTo>
                    <a:pt x="136" y="41"/>
                    <a:pt x="136" y="41"/>
                    <a:pt x="136" y="41"/>
                  </a:cubicBezTo>
                  <a:cubicBezTo>
                    <a:pt x="136" y="61"/>
                    <a:pt x="106" y="76"/>
                    <a:pt x="68" y="76"/>
                  </a:cubicBezTo>
                  <a:cubicBezTo>
                    <a:pt x="30" y="76"/>
                    <a:pt x="0" y="61"/>
                    <a:pt x="0" y="4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1" name="Freeform 455">
              <a:extLst>
                <a:ext uri="{FF2B5EF4-FFF2-40B4-BE49-F238E27FC236}">
                  <a16:creationId xmlns:a16="http://schemas.microsoft.com/office/drawing/2014/main" id="{9CEB0C14-1EC9-4120-9165-A693A4A38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917" y="4239356"/>
              <a:ext cx="277204" cy="138232"/>
            </a:xfrm>
            <a:custGeom>
              <a:avLst/>
              <a:gdLst>
                <a:gd name="T0" fmla="*/ 136 w 136"/>
                <a:gd name="T1" fmla="*/ 0 h 68"/>
                <a:gd name="T2" fmla="*/ 136 w 136"/>
                <a:gd name="T3" fmla="*/ 31 h 68"/>
                <a:gd name="T4" fmla="*/ 68 w 136"/>
                <a:gd name="T5" fmla="*/ 68 h 68"/>
                <a:gd name="T6" fmla="*/ 0 w 136"/>
                <a:gd name="T7" fmla="*/ 31 h 68"/>
                <a:gd name="T8" fmla="*/ 0 w 136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68">
                  <a:moveTo>
                    <a:pt x="136" y="0"/>
                  </a:moveTo>
                  <a:cubicBezTo>
                    <a:pt x="136" y="31"/>
                    <a:pt x="136" y="31"/>
                    <a:pt x="136" y="31"/>
                  </a:cubicBezTo>
                  <a:cubicBezTo>
                    <a:pt x="136" y="51"/>
                    <a:pt x="106" y="68"/>
                    <a:pt x="68" y="68"/>
                  </a:cubicBezTo>
                  <a:cubicBezTo>
                    <a:pt x="30" y="68"/>
                    <a:pt x="0" y="51"/>
                    <a:pt x="0" y="3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2" name="Freeform 456">
              <a:extLst>
                <a:ext uri="{FF2B5EF4-FFF2-40B4-BE49-F238E27FC236}">
                  <a16:creationId xmlns:a16="http://schemas.microsoft.com/office/drawing/2014/main" id="{78DED0A8-3406-4D0C-A0BF-ED6A75486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362" y="4084121"/>
              <a:ext cx="49527" cy="49527"/>
            </a:xfrm>
            <a:custGeom>
              <a:avLst/>
              <a:gdLst>
                <a:gd name="T0" fmla="*/ 24 w 24"/>
                <a:gd name="T1" fmla="*/ 24 h 24"/>
                <a:gd name="T2" fmla="*/ 24 w 24"/>
                <a:gd name="T3" fmla="*/ 12 h 24"/>
                <a:gd name="T4" fmla="*/ 12 w 24"/>
                <a:gd name="T5" fmla="*/ 0 h 24"/>
                <a:gd name="T6" fmla="*/ 0 w 24"/>
                <a:gd name="T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4">
                  <a:moveTo>
                    <a:pt x="24" y="24"/>
                  </a:moveTo>
                  <a:cubicBezTo>
                    <a:pt x="24" y="12"/>
                    <a:pt x="24" y="12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sq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" name="Freeform 457">
              <a:extLst>
                <a:ext uri="{FF2B5EF4-FFF2-40B4-BE49-F238E27FC236}">
                  <a16:creationId xmlns:a16="http://schemas.microsoft.com/office/drawing/2014/main" id="{5B72A6F3-A0EF-4567-9A01-584D4513F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0473" y="4435247"/>
              <a:ext cx="56919" cy="56919"/>
            </a:xfrm>
            <a:custGeom>
              <a:avLst/>
              <a:gdLst>
                <a:gd name="T0" fmla="*/ 0 w 28"/>
                <a:gd name="T1" fmla="*/ 0 h 28"/>
                <a:gd name="T2" fmla="*/ 0 w 28"/>
                <a:gd name="T3" fmla="*/ 16 h 28"/>
                <a:gd name="T4" fmla="*/ 12 w 28"/>
                <a:gd name="T5" fmla="*/ 28 h 28"/>
                <a:gd name="T6" fmla="*/ 28 w 28"/>
                <a:gd name="T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28">
                  <a:moveTo>
                    <a:pt x="0" y="0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23"/>
                    <a:pt x="5" y="28"/>
                    <a:pt x="12" y="28"/>
                  </a:cubicBezTo>
                  <a:cubicBezTo>
                    <a:pt x="28" y="28"/>
                    <a:pt x="28" y="28"/>
                    <a:pt x="28" y="28"/>
                  </a:cubicBezTo>
                </a:path>
              </a:pathLst>
            </a:custGeom>
            <a:noFill/>
            <a:ln w="9525" cap="flat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1E64EE4-AB9E-48C8-9454-640E26672F62}"/>
              </a:ext>
            </a:extLst>
          </p:cNvPr>
          <p:cNvGrpSpPr/>
          <p:nvPr/>
        </p:nvGrpSpPr>
        <p:grpSpPr>
          <a:xfrm>
            <a:off x="1352430" y="3300598"/>
            <a:ext cx="504882" cy="505620"/>
            <a:chOff x="5211819" y="2405373"/>
            <a:chExt cx="504882" cy="505620"/>
          </a:xfrm>
        </p:grpSpPr>
        <p:sp>
          <p:nvSpPr>
            <p:cNvPr id="105" name="Oval 521">
              <a:extLst>
                <a:ext uri="{FF2B5EF4-FFF2-40B4-BE49-F238E27FC236}">
                  <a16:creationId xmlns:a16="http://schemas.microsoft.com/office/drawing/2014/main" id="{B479324A-A3FB-4313-807E-5A1B1C640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1819" y="2487425"/>
              <a:ext cx="276465" cy="121970"/>
            </a:xfrm>
            <a:prstGeom prst="ellipse">
              <a:avLst/>
            </a:prstGeom>
            <a:noFill/>
            <a:ln w="9525" cap="flat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" name="Freeform 522">
              <a:extLst>
                <a:ext uri="{FF2B5EF4-FFF2-40B4-BE49-F238E27FC236}">
                  <a16:creationId xmlns:a16="http://schemas.microsoft.com/office/drawing/2014/main" id="{822B4A2A-3525-4C41-B745-9D325AAD6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1819" y="2682577"/>
              <a:ext cx="276465" cy="163366"/>
            </a:xfrm>
            <a:custGeom>
              <a:avLst/>
              <a:gdLst>
                <a:gd name="T0" fmla="*/ 0 w 136"/>
                <a:gd name="T1" fmla="*/ 0 h 80"/>
                <a:gd name="T2" fmla="*/ 0 w 136"/>
                <a:gd name="T3" fmla="*/ 46 h 80"/>
                <a:gd name="T4" fmla="*/ 68 w 136"/>
                <a:gd name="T5" fmla="*/ 80 h 80"/>
                <a:gd name="T6" fmla="*/ 136 w 136"/>
                <a:gd name="T7" fmla="*/ 46 h 80"/>
                <a:gd name="T8" fmla="*/ 136 w 136"/>
                <a:gd name="T9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80">
                  <a:moveTo>
                    <a:pt x="0" y="0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66"/>
                    <a:pt x="30" y="80"/>
                    <a:pt x="68" y="80"/>
                  </a:cubicBezTo>
                  <a:cubicBezTo>
                    <a:pt x="106" y="80"/>
                    <a:pt x="136" y="66"/>
                    <a:pt x="136" y="46"/>
                  </a:cubicBezTo>
                  <a:cubicBezTo>
                    <a:pt x="136" y="0"/>
                    <a:pt x="136" y="0"/>
                    <a:pt x="136" y="0"/>
                  </a:cubicBezTo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" name="Freeform 523">
              <a:extLst>
                <a:ext uri="{FF2B5EF4-FFF2-40B4-BE49-F238E27FC236}">
                  <a16:creationId xmlns:a16="http://schemas.microsoft.com/office/drawing/2014/main" id="{C60B2319-4060-4BFC-BB6F-251AFF6A5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1819" y="2617526"/>
              <a:ext cx="276465" cy="155234"/>
            </a:xfrm>
            <a:custGeom>
              <a:avLst/>
              <a:gdLst>
                <a:gd name="T0" fmla="*/ 0 w 136"/>
                <a:gd name="T1" fmla="*/ 0 h 76"/>
                <a:gd name="T2" fmla="*/ 0 w 136"/>
                <a:gd name="T3" fmla="*/ 41 h 76"/>
                <a:gd name="T4" fmla="*/ 68 w 136"/>
                <a:gd name="T5" fmla="*/ 76 h 76"/>
                <a:gd name="T6" fmla="*/ 136 w 136"/>
                <a:gd name="T7" fmla="*/ 41 h 76"/>
                <a:gd name="T8" fmla="*/ 136 w 136"/>
                <a:gd name="T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76">
                  <a:moveTo>
                    <a:pt x="0" y="0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61"/>
                    <a:pt x="30" y="76"/>
                    <a:pt x="68" y="76"/>
                  </a:cubicBezTo>
                  <a:cubicBezTo>
                    <a:pt x="106" y="76"/>
                    <a:pt x="136" y="61"/>
                    <a:pt x="136" y="41"/>
                  </a:cubicBezTo>
                  <a:cubicBezTo>
                    <a:pt x="136" y="0"/>
                    <a:pt x="136" y="0"/>
                    <a:pt x="136" y="0"/>
                  </a:cubicBezTo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" name="Freeform 524">
              <a:extLst>
                <a:ext uri="{FF2B5EF4-FFF2-40B4-BE49-F238E27FC236}">
                  <a16:creationId xmlns:a16="http://schemas.microsoft.com/office/drawing/2014/main" id="{ED10EFA2-4198-4162-AEC6-F9D1DB57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1819" y="2552476"/>
              <a:ext cx="276465" cy="138232"/>
            </a:xfrm>
            <a:custGeom>
              <a:avLst/>
              <a:gdLst>
                <a:gd name="T0" fmla="*/ 0 w 136"/>
                <a:gd name="T1" fmla="*/ 0 h 68"/>
                <a:gd name="T2" fmla="*/ 0 w 136"/>
                <a:gd name="T3" fmla="*/ 31 h 68"/>
                <a:gd name="T4" fmla="*/ 68 w 136"/>
                <a:gd name="T5" fmla="*/ 68 h 68"/>
                <a:gd name="T6" fmla="*/ 136 w 136"/>
                <a:gd name="T7" fmla="*/ 31 h 68"/>
                <a:gd name="T8" fmla="*/ 136 w 136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68">
                  <a:moveTo>
                    <a:pt x="0" y="0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51"/>
                    <a:pt x="30" y="68"/>
                    <a:pt x="68" y="68"/>
                  </a:cubicBezTo>
                  <a:cubicBezTo>
                    <a:pt x="106" y="68"/>
                    <a:pt x="136" y="51"/>
                    <a:pt x="136" y="31"/>
                  </a:cubicBezTo>
                  <a:cubicBezTo>
                    <a:pt x="136" y="0"/>
                    <a:pt x="136" y="0"/>
                    <a:pt x="136" y="0"/>
                  </a:cubicBezTo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9" name="Freeform 525">
              <a:extLst>
                <a:ext uri="{FF2B5EF4-FFF2-40B4-BE49-F238E27FC236}">
                  <a16:creationId xmlns:a16="http://schemas.microsoft.com/office/drawing/2014/main" id="{AB349D29-4DE9-4AC6-AAD7-463BB503C7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5203" y="2454900"/>
              <a:ext cx="24394" cy="407305"/>
            </a:xfrm>
            <a:custGeom>
              <a:avLst/>
              <a:gdLst>
                <a:gd name="T0" fmla="*/ 33 w 33"/>
                <a:gd name="T1" fmla="*/ 0 h 551"/>
                <a:gd name="T2" fmla="*/ 0 w 33"/>
                <a:gd name="T3" fmla="*/ 0 h 551"/>
                <a:gd name="T4" fmla="*/ 0 w 33"/>
                <a:gd name="T5" fmla="*/ 551 h 551"/>
                <a:gd name="T6" fmla="*/ 33 w 33"/>
                <a:gd name="T7" fmla="*/ 551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551">
                  <a:moveTo>
                    <a:pt x="33" y="0"/>
                  </a:moveTo>
                  <a:lnTo>
                    <a:pt x="0" y="0"/>
                  </a:lnTo>
                  <a:lnTo>
                    <a:pt x="0" y="551"/>
                  </a:lnTo>
                  <a:lnTo>
                    <a:pt x="33" y="551"/>
                  </a:lnTo>
                </a:path>
              </a:pathLst>
            </a:custGeom>
            <a:noFill/>
            <a:ln w="9525" cap="sq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0" name="Line 526">
              <a:extLst>
                <a:ext uri="{FF2B5EF4-FFF2-40B4-BE49-F238E27FC236}">
                  <a16:creationId xmlns:a16="http://schemas.microsoft.com/office/drawing/2014/main" id="{3A1F546F-D7E3-4543-AD08-128387368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0809" y="2585001"/>
              <a:ext cx="24394" cy="0"/>
            </a:xfrm>
            <a:prstGeom prst="line">
              <a:avLst/>
            </a:prstGeom>
            <a:noFill/>
            <a:ln w="9525" cap="sq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1" name="Line 527">
              <a:extLst>
                <a:ext uri="{FF2B5EF4-FFF2-40B4-BE49-F238E27FC236}">
                  <a16:creationId xmlns:a16="http://schemas.microsoft.com/office/drawing/2014/main" id="{BA4713B1-0B72-410D-B7D6-D4D1411C6C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0809" y="2739496"/>
              <a:ext cx="24394" cy="0"/>
            </a:xfrm>
            <a:prstGeom prst="line">
              <a:avLst/>
            </a:prstGeom>
            <a:noFill/>
            <a:ln w="9525" cap="sq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2" name="Line 528">
              <a:extLst>
                <a:ext uri="{FF2B5EF4-FFF2-40B4-BE49-F238E27FC236}">
                  <a16:creationId xmlns:a16="http://schemas.microsoft.com/office/drawing/2014/main" id="{901A23BF-5155-4DC7-88D0-DFFCF453C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5203" y="2658183"/>
              <a:ext cx="24394" cy="0"/>
            </a:xfrm>
            <a:prstGeom prst="line">
              <a:avLst/>
            </a:prstGeom>
            <a:noFill/>
            <a:ln w="9525" cap="sq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" name="Freeform 529">
              <a:extLst>
                <a:ext uri="{FF2B5EF4-FFF2-40B4-BE49-F238E27FC236}">
                  <a16:creationId xmlns:a16="http://schemas.microsoft.com/office/drawing/2014/main" id="{D527BCD0-8400-4600-94A5-5A5012773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2123" y="2405373"/>
              <a:ext cx="114578" cy="98315"/>
            </a:xfrm>
            <a:custGeom>
              <a:avLst/>
              <a:gdLst>
                <a:gd name="T0" fmla="*/ 52 w 56"/>
                <a:gd name="T1" fmla="*/ 48 h 48"/>
                <a:gd name="T2" fmla="*/ 4 w 56"/>
                <a:gd name="T3" fmla="*/ 48 h 48"/>
                <a:gd name="T4" fmla="*/ 0 w 56"/>
                <a:gd name="T5" fmla="*/ 44 h 48"/>
                <a:gd name="T6" fmla="*/ 0 w 56"/>
                <a:gd name="T7" fmla="*/ 4 h 48"/>
                <a:gd name="T8" fmla="*/ 4 w 56"/>
                <a:gd name="T9" fmla="*/ 0 h 48"/>
                <a:gd name="T10" fmla="*/ 52 w 56"/>
                <a:gd name="T11" fmla="*/ 0 h 48"/>
                <a:gd name="T12" fmla="*/ 56 w 56"/>
                <a:gd name="T13" fmla="*/ 4 h 48"/>
                <a:gd name="T14" fmla="*/ 56 w 56"/>
                <a:gd name="T15" fmla="*/ 44 h 48"/>
                <a:gd name="T16" fmla="*/ 52 w 56"/>
                <a:gd name="T17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48">
                  <a:moveTo>
                    <a:pt x="52" y="48"/>
                  </a:move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46"/>
                    <a:pt x="0" y="4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4" y="0"/>
                    <a:pt x="56" y="2"/>
                    <a:pt x="56" y="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46"/>
                    <a:pt x="54" y="48"/>
                    <a:pt x="52" y="48"/>
                  </a:cubicBezTo>
                  <a:close/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" name="Line 530">
              <a:extLst>
                <a:ext uri="{FF2B5EF4-FFF2-40B4-BE49-F238E27FC236}">
                  <a16:creationId xmlns:a16="http://schemas.microsoft.com/office/drawing/2014/main" id="{82F124FE-7938-4964-8ACD-808CB171DD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4648" y="2454900"/>
              <a:ext cx="16263" cy="0"/>
            </a:xfrm>
            <a:prstGeom prst="line">
              <a:avLst/>
            </a:prstGeom>
            <a:noFill/>
            <a:ln w="9525" cap="sq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" name="Freeform 531">
              <a:extLst>
                <a:ext uri="{FF2B5EF4-FFF2-40B4-BE49-F238E27FC236}">
                  <a16:creationId xmlns:a16="http://schemas.microsoft.com/office/drawing/2014/main" id="{FA0C40BF-5C3A-42A1-BF77-48EE68146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2123" y="2609395"/>
              <a:ext cx="114578" cy="97576"/>
            </a:xfrm>
            <a:custGeom>
              <a:avLst/>
              <a:gdLst>
                <a:gd name="T0" fmla="*/ 52 w 56"/>
                <a:gd name="T1" fmla="*/ 48 h 48"/>
                <a:gd name="T2" fmla="*/ 4 w 56"/>
                <a:gd name="T3" fmla="*/ 48 h 48"/>
                <a:gd name="T4" fmla="*/ 0 w 56"/>
                <a:gd name="T5" fmla="*/ 44 h 48"/>
                <a:gd name="T6" fmla="*/ 0 w 56"/>
                <a:gd name="T7" fmla="*/ 4 h 48"/>
                <a:gd name="T8" fmla="*/ 4 w 56"/>
                <a:gd name="T9" fmla="*/ 0 h 48"/>
                <a:gd name="T10" fmla="*/ 52 w 56"/>
                <a:gd name="T11" fmla="*/ 0 h 48"/>
                <a:gd name="T12" fmla="*/ 56 w 56"/>
                <a:gd name="T13" fmla="*/ 4 h 48"/>
                <a:gd name="T14" fmla="*/ 56 w 56"/>
                <a:gd name="T15" fmla="*/ 44 h 48"/>
                <a:gd name="T16" fmla="*/ 52 w 56"/>
                <a:gd name="T17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48">
                  <a:moveTo>
                    <a:pt x="52" y="48"/>
                  </a:move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46"/>
                    <a:pt x="0" y="4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4" y="0"/>
                    <a:pt x="56" y="2"/>
                    <a:pt x="56" y="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46"/>
                    <a:pt x="54" y="48"/>
                    <a:pt x="52" y="48"/>
                  </a:cubicBezTo>
                  <a:close/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" name="Line 532">
              <a:extLst>
                <a:ext uri="{FF2B5EF4-FFF2-40B4-BE49-F238E27FC236}">
                  <a16:creationId xmlns:a16="http://schemas.microsoft.com/office/drawing/2014/main" id="{C225EEEA-ADD2-4A76-8B10-97AC65F00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4648" y="2658183"/>
              <a:ext cx="16263" cy="0"/>
            </a:xfrm>
            <a:prstGeom prst="line">
              <a:avLst/>
            </a:prstGeom>
            <a:noFill/>
            <a:ln w="9525" cap="sq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" name="Freeform 533">
              <a:extLst>
                <a:ext uri="{FF2B5EF4-FFF2-40B4-BE49-F238E27FC236}">
                  <a16:creationId xmlns:a16="http://schemas.microsoft.com/office/drawing/2014/main" id="{0D3EC821-06F1-4788-97A6-02C489BCF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2123" y="2813417"/>
              <a:ext cx="114578" cy="97576"/>
            </a:xfrm>
            <a:custGeom>
              <a:avLst/>
              <a:gdLst>
                <a:gd name="T0" fmla="*/ 52 w 56"/>
                <a:gd name="T1" fmla="*/ 48 h 48"/>
                <a:gd name="T2" fmla="*/ 4 w 56"/>
                <a:gd name="T3" fmla="*/ 48 h 48"/>
                <a:gd name="T4" fmla="*/ 0 w 56"/>
                <a:gd name="T5" fmla="*/ 44 h 48"/>
                <a:gd name="T6" fmla="*/ 0 w 56"/>
                <a:gd name="T7" fmla="*/ 4 h 48"/>
                <a:gd name="T8" fmla="*/ 4 w 56"/>
                <a:gd name="T9" fmla="*/ 0 h 48"/>
                <a:gd name="T10" fmla="*/ 52 w 56"/>
                <a:gd name="T11" fmla="*/ 0 h 48"/>
                <a:gd name="T12" fmla="*/ 56 w 56"/>
                <a:gd name="T13" fmla="*/ 4 h 48"/>
                <a:gd name="T14" fmla="*/ 56 w 56"/>
                <a:gd name="T15" fmla="*/ 44 h 48"/>
                <a:gd name="T16" fmla="*/ 52 w 56"/>
                <a:gd name="T17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48">
                  <a:moveTo>
                    <a:pt x="52" y="48"/>
                  </a:move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46"/>
                    <a:pt x="0" y="4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4" y="0"/>
                    <a:pt x="56" y="2"/>
                    <a:pt x="56" y="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46"/>
                    <a:pt x="54" y="48"/>
                    <a:pt x="52" y="48"/>
                  </a:cubicBezTo>
                  <a:close/>
                </a:path>
              </a:pathLst>
            </a:custGeom>
            <a:noFill/>
            <a:ln w="9525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" name="Line 534">
              <a:extLst>
                <a:ext uri="{FF2B5EF4-FFF2-40B4-BE49-F238E27FC236}">
                  <a16:creationId xmlns:a16="http://schemas.microsoft.com/office/drawing/2014/main" id="{E0BB6F46-0F04-4F4B-BE5A-326AAABD5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4648" y="2862205"/>
              <a:ext cx="16263" cy="0"/>
            </a:xfrm>
            <a:prstGeom prst="line">
              <a:avLst/>
            </a:prstGeom>
            <a:noFill/>
            <a:ln w="9525" cap="sq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A9BD666-D2D3-4E28-B972-9534846BF8A9}"/>
              </a:ext>
            </a:extLst>
          </p:cNvPr>
          <p:cNvGrpSpPr/>
          <p:nvPr/>
        </p:nvGrpSpPr>
        <p:grpSpPr>
          <a:xfrm>
            <a:off x="1328987" y="2268486"/>
            <a:ext cx="551768" cy="502442"/>
            <a:chOff x="5166586" y="1532155"/>
            <a:chExt cx="624739" cy="568889"/>
          </a:xfrm>
        </p:grpSpPr>
        <p:sp>
          <p:nvSpPr>
            <p:cNvPr id="120" name="Freeform 49">
              <a:extLst>
                <a:ext uri="{FF2B5EF4-FFF2-40B4-BE49-F238E27FC236}">
                  <a16:creationId xmlns:a16="http://schemas.microsoft.com/office/drawing/2014/main" id="{7037ADDB-7623-4807-B697-93ADFCAD3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6586" y="1532155"/>
              <a:ext cx="493557" cy="397443"/>
            </a:xfrm>
            <a:custGeom>
              <a:avLst/>
              <a:gdLst>
                <a:gd name="T0" fmla="*/ 102 w 161"/>
                <a:gd name="T1" fmla="*/ 0 h 130"/>
                <a:gd name="T2" fmla="*/ 9 w 161"/>
                <a:gd name="T3" fmla="*/ 93 h 130"/>
                <a:gd name="T4" fmla="*/ 9 w 161"/>
                <a:gd name="T5" fmla="*/ 98 h 130"/>
                <a:gd name="T6" fmla="*/ 0 w 161"/>
                <a:gd name="T7" fmla="*/ 98 h 130"/>
                <a:gd name="T8" fmla="*/ 23 w 161"/>
                <a:gd name="T9" fmla="*/ 130 h 130"/>
                <a:gd name="T10" fmla="*/ 42 w 161"/>
                <a:gd name="T11" fmla="*/ 98 h 130"/>
                <a:gd name="T12" fmla="*/ 32 w 161"/>
                <a:gd name="T13" fmla="*/ 98 h 130"/>
                <a:gd name="T14" fmla="*/ 32 w 161"/>
                <a:gd name="T15" fmla="*/ 93 h 130"/>
                <a:gd name="T16" fmla="*/ 102 w 161"/>
                <a:gd name="T17" fmla="*/ 24 h 130"/>
                <a:gd name="T18" fmla="*/ 161 w 161"/>
                <a:gd name="T19" fmla="*/ 5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1" h="130">
                  <a:moveTo>
                    <a:pt x="102" y="0"/>
                  </a:moveTo>
                  <a:cubicBezTo>
                    <a:pt x="51" y="0"/>
                    <a:pt x="9" y="42"/>
                    <a:pt x="9" y="93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2" y="93"/>
                    <a:pt x="32" y="93"/>
                    <a:pt x="32" y="93"/>
                  </a:cubicBezTo>
                  <a:cubicBezTo>
                    <a:pt x="32" y="55"/>
                    <a:pt x="64" y="24"/>
                    <a:pt x="102" y="24"/>
                  </a:cubicBezTo>
                  <a:cubicBezTo>
                    <a:pt x="127" y="24"/>
                    <a:pt x="149" y="37"/>
                    <a:pt x="161" y="56"/>
                  </a:cubicBezTo>
                </a:path>
              </a:pathLst>
            </a:custGeom>
            <a:noFill/>
            <a:ln w="952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" name="Freeform 50">
              <a:extLst>
                <a:ext uri="{FF2B5EF4-FFF2-40B4-BE49-F238E27FC236}">
                  <a16:creationId xmlns:a16="http://schemas.microsoft.com/office/drawing/2014/main" id="{8EC9F496-DBC5-43C3-929B-30DD42A18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3775" y="1571120"/>
              <a:ext cx="27276" cy="18184"/>
            </a:xfrm>
            <a:custGeom>
              <a:avLst/>
              <a:gdLst>
                <a:gd name="T0" fmla="*/ 0 w 9"/>
                <a:gd name="T1" fmla="*/ 0 h 6"/>
                <a:gd name="T2" fmla="*/ 9 w 9"/>
                <a:gd name="T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6">
                  <a:moveTo>
                    <a:pt x="0" y="0"/>
                  </a:moveTo>
                  <a:cubicBezTo>
                    <a:pt x="3" y="2"/>
                    <a:pt x="6" y="4"/>
                    <a:pt x="9" y="6"/>
                  </a:cubicBezTo>
                </a:path>
              </a:pathLst>
            </a:custGeom>
            <a:noFill/>
            <a:ln w="952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" name="Freeform 51">
              <a:extLst>
                <a:ext uri="{FF2B5EF4-FFF2-40B4-BE49-F238E27FC236}">
                  <a16:creationId xmlns:a16="http://schemas.microsoft.com/office/drawing/2014/main" id="{8BA8972C-5DE2-4828-807E-0A74E0591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5328" y="1546442"/>
              <a:ext cx="27276" cy="10391"/>
            </a:xfrm>
            <a:custGeom>
              <a:avLst/>
              <a:gdLst>
                <a:gd name="T0" fmla="*/ 0 w 9"/>
                <a:gd name="T1" fmla="*/ 0 h 3"/>
                <a:gd name="T2" fmla="*/ 9 w 9"/>
                <a:gd name="T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3">
                  <a:moveTo>
                    <a:pt x="0" y="0"/>
                  </a:moveTo>
                  <a:cubicBezTo>
                    <a:pt x="3" y="1"/>
                    <a:pt x="6" y="2"/>
                    <a:pt x="9" y="3"/>
                  </a:cubicBezTo>
                </a:path>
              </a:pathLst>
            </a:custGeom>
            <a:noFill/>
            <a:ln w="952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" name="Freeform 52">
              <a:extLst>
                <a:ext uri="{FF2B5EF4-FFF2-40B4-BE49-F238E27FC236}">
                  <a16:creationId xmlns:a16="http://schemas.microsoft.com/office/drawing/2014/main" id="{469091B0-E0FC-453E-BD4C-C570B30F3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6880" y="1534753"/>
              <a:ext cx="27276" cy="2598"/>
            </a:xfrm>
            <a:custGeom>
              <a:avLst/>
              <a:gdLst>
                <a:gd name="T0" fmla="*/ 0 w 9"/>
                <a:gd name="T1" fmla="*/ 0 h 1"/>
                <a:gd name="T2" fmla="*/ 9 w 9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1">
                  <a:moveTo>
                    <a:pt x="0" y="0"/>
                  </a:moveTo>
                  <a:cubicBezTo>
                    <a:pt x="3" y="0"/>
                    <a:pt x="6" y="1"/>
                    <a:pt x="9" y="1"/>
                  </a:cubicBezTo>
                </a:path>
              </a:pathLst>
            </a:custGeom>
            <a:noFill/>
            <a:ln w="952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" name="Freeform 53">
              <a:extLst>
                <a:ext uri="{FF2B5EF4-FFF2-40B4-BE49-F238E27FC236}">
                  <a16:creationId xmlns:a16="http://schemas.microsoft.com/office/drawing/2014/main" id="{B04FD6FE-13A2-43E3-9BD2-E07241CF2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1665" y="1703601"/>
              <a:ext cx="489660" cy="397443"/>
            </a:xfrm>
            <a:custGeom>
              <a:avLst/>
              <a:gdLst>
                <a:gd name="T0" fmla="*/ 58 w 160"/>
                <a:gd name="T1" fmla="*/ 130 h 130"/>
                <a:gd name="T2" fmla="*/ 151 w 160"/>
                <a:gd name="T3" fmla="*/ 37 h 130"/>
                <a:gd name="T4" fmla="*/ 151 w 160"/>
                <a:gd name="T5" fmla="*/ 33 h 130"/>
                <a:gd name="T6" fmla="*/ 160 w 160"/>
                <a:gd name="T7" fmla="*/ 33 h 130"/>
                <a:gd name="T8" fmla="*/ 137 w 160"/>
                <a:gd name="T9" fmla="*/ 0 h 130"/>
                <a:gd name="T10" fmla="*/ 118 w 160"/>
                <a:gd name="T11" fmla="*/ 33 h 130"/>
                <a:gd name="T12" fmla="*/ 128 w 160"/>
                <a:gd name="T13" fmla="*/ 33 h 130"/>
                <a:gd name="T14" fmla="*/ 128 w 160"/>
                <a:gd name="T15" fmla="*/ 37 h 130"/>
                <a:gd name="T16" fmla="*/ 59 w 160"/>
                <a:gd name="T17" fmla="*/ 107 h 130"/>
                <a:gd name="T18" fmla="*/ 0 w 160"/>
                <a:gd name="T19" fmla="*/ 7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0" h="130">
                  <a:moveTo>
                    <a:pt x="58" y="130"/>
                  </a:moveTo>
                  <a:cubicBezTo>
                    <a:pt x="110" y="130"/>
                    <a:pt x="151" y="88"/>
                    <a:pt x="151" y="37"/>
                  </a:cubicBezTo>
                  <a:cubicBezTo>
                    <a:pt x="151" y="33"/>
                    <a:pt x="151" y="33"/>
                    <a:pt x="151" y="33"/>
                  </a:cubicBezTo>
                  <a:cubicBezTo>
                    <a:pt x="160" y="33"/>
                    <a:pt x="160" y="33"/>
                    <a:pt x="160" y="33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8" y="37"/>
                    <a:pt x="128" y="37"/>
                    <a:pt x="128" y="37"/>
                  </a:cubicBezTo>
                  <a:cubicBezTo>
                    <a:pt x="128" y="76"/>
                    <a:pt x="97" y="107"/>
                    <a:pt x="59" y="107"/>
                  </a:cubicBezTo>
                  <a:cubicBezTo>
                    <a:pt x="34" y="107"/>
                    <a:pt x="12" y="94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" name="Freeform 54">
              <a:extLst>
                <a:ext uri="{FF2B5EF4-FFF2-40B4-BE49-F238E27FC236}">
                  <a16:creationId xmlns:a16="http://schemas.microsoft.com/office/drawing/2014/main" id="{96552237-DAE5-4A05-866A-3383C70D7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159" y="2042596"/>
              <a:ext cx="29873" cy="19483"/>
            </a:xfrm>
            <a:custGeom>
              <a:avLst/>
              <a:gdLst>
                <a:gd name="T0" fmla="*/ 10 w 10"/>
                <a:gd name="T1" fmla="*/ 6 h 6"/>
                <a:gd name="T2" fmla="*/ 0 w 10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" h="6">
                  <a:moveTo>
                    <a:pt x="10" y="6"/>
                  </a:moveTo>
                  <a:cubicBezTo>
                    <a:pt x="6" y="4"/>
                    <a:pt x="3" y="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6" name="Freeform 55">
              <a:extLst>
                <a:ext uri="{FF2B5EF4-FFF2-40B4-BE49-F238E27FC236}">
                  <a16:creationId xmlns:a16="http://schemas.microsoft.com/office/drawing/2014/main" id="{1A06656F-0B03-48F9-BBFA-3A5DBEAF9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606" y="2076366"/>
              <a:ext cx="27276" cy="12988"/>
            </a:xfrm>
            <a:custGeom>
              <a:avLst/>
              <a:gdLst>
                <a:gd name="T0" fmla="*/ 9 w 9"/>
                <a:gd name="T1" fmla="*/ 4 h 4"/>
                <a:gd name="T2" fmla="*/ 0 w 9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4">
                  <a:moveTo>
                    <a:pt x="9" y="4"/>
                  </a:moveTo>
                  <a:cubicBezTo>
                    <a:pt x="6" y="3"/>
                    <a:pt x="3" y="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" name="Freeform 56">
              <a:extLst>
                <a:ext uri="{FF2B5EF4-FFF2-40B4-BE49-F238E27FC236}">
                  <a16:creationId xmlns:a16="http://schemas.microsoft.com/office/drawing/2014/main" id="{A5002EAE-BEF9-4962-9508-68B7DA376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3755" y="2094550"/>
              <a:ext cx="28574" cy="3897"/>
            </a:xfrm>
            <a:custGeom>
              <a:avLst/>
              <a:gdLst>
                <a:gd name="T0" fmla="*/ 9 w 9"/>
                <a:gd name="T1" fmla="*/ 1 h 1"/>
                <a:gd name="T2" fmla="*/ 0 w 9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1">
                  <a:moveTo>
                    <a:pt x="9" y="1"/>
                  </a:moveTo>
                  <a:cubicBezTo>
                    <a:pt x="6" y="1"/>
                    <a:pt x="3" y="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8" name="Oval 57">
              <a:extLst>
                <a:ext uri="{FF2B5EF4-FFF2-40B4-BE49-F238E27FC236}">
                  <a16:creationId xmlns:a16="http://schemas.microsoft.com/office/drawing/2014/main" id="{6D7DD2D8-BB58-4C59-A097-D340184D2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6743" y="1773738"/>
              <a:ext cx="85723" cy="85723"/>
            </a:xfrm>
            <a:prstGeom prst="ellipse">
              <a:avLst/>
            </a:prstGeom>
            <a:noFill/>
            <a:ln w="9525" cap="flat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9" name="Freeform 58">
              <a:extLst>
                <a:ext uri="{FF2B5EF4-FFF2-40B4-BE49-F238E27FC236}">
                  <a16:creationId xmlns:a16="http://schemas.microsoft.com/office/drawing/2014/main" id="{B9209344-1C11-4598-B363-D1012A687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3618" y="1688015"/>
              <a:ext cx="251974" cy="257169"/>
            </a:xfrm>
            <a:custGeom>
              <a:avLst/>
              <a:gdLst>
                <a:gd name="T0" fmla="*/ 74 w 82"/>
                <a:gd name="T1" fmla="*/ 42 h 84"/>
                <a:gd name="T2" fmla="*/ 73 w 82"/>
                <a:gd name="T3" fmla="*/ 35 h 84"/>
                <a:gd name="T4" fmla="*/ 82 w 82"/>
                <a:gd name="T5" fmla="*/ 29 h 84"/>
                <a:gd name="T6" fmla="*/ 73 w 82"/>
                <a:gd name="T7" fmla="*/ 13 h 84"/>
                <a:gd name="T8" fmla="*/ 63 w 82"/>
                <a:gd name="T9" fmla="*/ 19 h 84"/>
                <a:gd name="T10" fmla="*/ 50 w 82"/>
                <a:gd name="T11" fmla="*/ 11 h 84"/>
                <a:gd name="T12" fmla="*/ 50 w 82"/>
                <a:gd name="T13" fmla="*/ 0 h 84"/>
                <a:gd name="T14" fmla="*/ 32 w 82"/>
                <a:gd name="T15" fmla="*/ 0 h 84"/>
                <a:gd name="T16" fmla="*/ 32 w 82"/>
                <a:gd name="T17" fmla="*/ 11 h 84"/>
                <a:gd name="T18" fmla="*/ 19 w 82"/>
                <a:gd name="T19" fmla="*/ 19 h 84"/>
                <a:gd name="T20" fmla="*/ 9 w 82"/>
                <a:gd name="T21" fmla="*/ 13 h 84"/>
                <a:gd name="T22" fmla="*/ 0 w 82"/>
                <a:gd name="T23" fmla="*/ 29 h 84"/>
                <a:gd name="T24" fmla="*/ 10 w 82"/>
                <a:gd name="T25" fmla="*/ 35 h 84"/>
                <a:gd name="T26" fmla="*/ 9 w 82"/>
                <a:gd name="T27" fmla="*/ 42 h 84"/>
                <a:gd name="T28" fmla="*/ 10 w 82"/>
                <a:gd name="T29" fmla="*/ 50 h 84"/>
                <a:gd name="T30" fmla="*/ 0 w 82"/>
                <a:gd name="T31" fmla="*/ 55 h 84"/>
                <a:gd name="T32" fmla="*/ 9 w 82"/>
                <a:gd name="T33" fmla="*/ 71 h 84"/>
                <a:gd name="T34" fmla="*/ 19 w 82"/>
                <a:gd name="T35" fmla="*/ 66 h 84"/>
                <a:gd name="T36" fmla="*/ 32 w 82"/>
                <a:gd name="T37" fmla="*/ 73 h 84"/>
                <a:gd name="T38" fmla="*/ 32 w 82"/>
                <a:gd name="T39" fmla="*/ 84 h 84"/>
                <a:gd name="T40" fmla="*/ 50 w 82"/>
                <a:gd name="T41" fmla="*/ 84 h 84"/>
                <a:gd name="T42" fmla="*/ 50 w 82"/>
                <a:gd name="T43" fmla="*/ 73 h 84"/>
                <a:gd name="T44" fmla="*/ 63 w 82"/>
                <a:gd name="T45" fmla="*/ 66 h 84"/>
                <a:gd name="T46" fmla="*/ 73 w 82"/>
                <a:gd name="T47" fmla="*/ 71 h 84"/>
                <a:gd name="T48" fmla="*/ 82 w 82"/>
                <a:gd name="T49" fmla="*/ 55 h 84"/>
                <a:gd name="T50" fmla="*/ 73 w 82"/>
                <a:gd name="T51" fmla="*/ 50 h 84"/>
                <a:gd name="T52" fmla="*/ 74 w 82"/>
                <a:gd name="T53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2" h="84">
                  <a:moveTo>
                    <a:pt x="74" y="42"/>
                  </a:moveTo>
                  <a:cubicBezTo>
                    <a:pt x="74" y="40"/>
                    <a:pt x="73" y="37"/>
                    <a:pt x="73" y="35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63" y="19"/>
                    <a:pt x="63" y="19"/>
                    <a:pt x="63" y="19"/>
                  </a:cubicBezTo>
                  <a:cubicBezTo>
                    <a:pt x="60" y="15"/>
                    <a:pt x="55" y="12"/>
                    <a:pt x="50" y="11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27" y="13"/>
                    <a:pt x="22" y="15"/>
                    <a:pt x="19" y="19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9" y="37"/>
                    <a:pt x="9" y="40"/>
                    <a:pt x="9" y="42"/>
                  </a:cubicBezTo>
                  <a:cubicBezTo>
                    <a:pt x="9" y="45"/>
                    <a:pt x="9" y="47"/>
                    <a:pt x="10" y="50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9" y="71"/>
                    <a:pt x="9" y="71"/>
                    <a:pt x="9" y="71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22" y="69"/>
                    <a:pt x="27" y="72"/>
                    <a:pt x="32" y="73"/>
                  </a:cubicBezTo>
                  <a:cubicBezTo>
                    <a:pt x="32" y="84"/>
                    <a:pt x="32" y="84"/>
                    <a:pt x="32" y="84"/>
                  </a:cubicBezTo>
                  <a:cubicBezTo>
                    <a:pt x="50" y="84"/>
                    <a:pt x="50" y="84"/>
                    <a:pt x="50" y="8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5" y="72"/>
                    <a:pt x="60" y="69"/>
                    <a:pt x="63" y="66"/>
                  </a:cubicBezTo>
                  <a:cubicBezTo>
                    <a:pt x="73" y="71"/>
                    <a:pt x="73" y="71"/>
                    <a:pt x="73" y="71"/>
                  </a:cubicBezTo>
                  <a:cubicBezTo>
                    <a:pt x="82" y="55"/>
                    <a:pt x="82" y="55"/>
                    <a:pt x="82" y="55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47"/>
                    <a:pt x="74" y="45"/>
                    <a:pt x="74" y="42"/>
                  </a:cubicBezTo>
                  <a:close/>
                </a:path>
              </a:pathLst>
            </a:custGeom>
            <a:noFill/>
            <a:ln w="952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6368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22B0A0A-AA5F-4792-B76A-D0899A03690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03796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7"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22B0A0A-AA5F-4792-B76A-D0899A0369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5172825-9D13-4EAC-9274-B8329FF6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altLang="en-US" dirty="0">
                <a:effectLst/>
                <a:latin typeface="+mn-lt"/>
              </a:rPr>
              <a:t>Приложение</a:t>
            </a:r>
            <a:endParaRPr lang="ru-RU" dirty="0">
              <a:latin typeface="+mn-lt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1EE69C1-6F2A-40A4-8751-CD6F2B6E25F1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4017963" y="2897189"/>
            <a:ext cx="4156075" cy="3540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71438" tIns="69850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en-US" b="1" dirty="0">
                <a:solidFill>
                  <a:schemeClr val="tx2"/>
                </a:solidFill>
                <a:effectLst/>
              </a:rPr>
              <a:t>Приложение 1 – оценка ресурсов</a:t>
            </a:r>
            <a:endParaRPr lang="ru-RU" b="1" dirty="0">
              <a:solidFill>
                <a:schemeClr val="tx2"/>
              </a:solidFill>
            </a:endParaRPr>
          </a:p>
        </p:txBody>
      </p:sp>
      <p:sp>
        <p:nvSpPr>
          <p:cNvPr id="4" name="Text Placeholder 4">
            <a:hlinkClick r:id="rId9" action="ppaction://hlinksldjump"/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4017963" y="3251200"/>
            <a:ext cx="415607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71438" tIns="71438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/>
              <a:t>Приложение 2 – текущий процесс ЕХД</a:t>
            </a:r>
          </a:p>
        </p:txBody>
      </p:sp>
      <p:sp>
        <p:nvSpPr>
          <p:cNvPr id="7" name="Text Placeholder 4">
            <a:hlinkClick r:id="rId10" action="ppaction://hlinksldjump"/>
            <a:extLst>
              <a:ext uri="{FF2B5EF4-FFF2-40B4-BE49-F238E27FC236}">
                <a16:creationId xmlns:a16="http://schemas.microsoft.com/office/drawing/2014/main" id="{4ABF373E-B212-423C-B656-9766E63F91A6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4017963" y="3606801"/>
            <a:ext cx="41560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71438" tIns="71438" rIns="0" bIns="6985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en-US" dirty="0">
                <a:effectLst/>
              </a:rPr>
              <a:t>Приложение 3 –продуктовые замеры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2414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A4D04119-5D12-481B-B737-B4E5431AB1D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66664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8" name="think-cell Slide" r:id="rId6" imgW="306" imgH="308" progId="TCLayout.ActiveDocument.1">
                  <p:embed/>
                </p:oleObj>
              </mc:Choice>
              <mc:Fallback>
                <p:oleObj name="think-cell Slide" r:id="rId6" imgW="306" imgH="308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A4D04119-5D12-481B-B737-B4E5431AB1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DBD48095-CA00-4207-916A-9659FE019480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Требуется оценка требуемых ресурсов</a:t>
            </a:r>
          </a:p>
        </p:txBody>
      </p:sp>
      <p:sp>
        <p:nvSpPr>
          <p:cNvPr id="286" name="4. Footnote">
            <a:extLst>
              <a:ext uri="{FF2B5EF4-FFF2-40B4-BE49-F238E27FC236}">
                <a16:creationId xmlns:a16="http://schemas.microsoft.com/office/drawing/2014/main" id="{61324591-59A7-4C91-832C-10B3FF8E289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6" y="6238460"/>
            <a:ext cx="11082528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marL="0" lvl="0" indent="0">
              <a:buAutoNum type="arabicPeriod"/>
            </a:pPr>
            <a:r>
              <a:rPr lang="ru-RU" sz="700" dirty="0">
                <a:cs typeface="+mn-cs"/>
                <a:sym typeface="+mn-lt"/>
              </a:rPr>
              <a:t>Предварительная оценка объема базы от ЕДЦ</a:t>
            </a:r>
          </a:p>
          <a:p>
            <a:pPr marL="0" lvl="0" indent="0">
              <a:buAutoNum type="arabicPeriod"/>
            </a:pPr>
            <a:r>
              <a:rPr lang="ru-RU" sz="700" dirty="0">
                <a:cs typeface="+mn-cs"/>
                <a:sym typeface="+mn-lt"/>
              </a:rPr>
              <a:t>Всего 128 ГБУ, 450 коммерческих компаний (ЗАО, АО, ООО) и 2400 ТСЖ</a:t>
            </a:r>
            <a:r>
              <a:rPr lang="en-US" sz="700" dirty="0">
                <a:cs typeface="+mn-cs"/>
                <a:sym typeface="+mn-lt"/>
              </a:rPr>
              <a:t>/</a:t>
            </a:r>
            <a:r>
              <a:rPr lang="ru-RU" sz="700" dirty="0">
                <a:cs typeface="+mn-cs"/>
                <a:sym typeface="+mn-lt"/>
              </a:rPr>
              <a:t>ЖСК</a:t>
            </a:r>
            <a:r>
              <a:rPr lang="en-US" sz="700" dirty="0">
                <a:cs typeface="+mn-cs"/>
                <a:sym typeface="+mn-lt"/>
              </a:rPr>
              <a:t>/</a:t>
            </a:r>
            <a:r>
              <a:rPr lang="ru-RU" sz="700" dirty="0">
                <a:cs typeface="+mn-cs"/>
                <a:sym typeface="+mn-lt"/>
              </a:rPr>
              <a:t>ТСН</a:t>
            </a:r>
            <a:r>
              <a:rPr lang="en-US" sz="700" dirty="0">
                <a:cs typeface="+mn-cs"/>
                <a:sym typeface="+mn-lt"/>
              </a:rPr>
              <a:t>/</a:t>
            </a:r>
            <a:r>
              <a:rPr lang="ru-RU" sz="700" dirty="0">
                <a:cs typeface="+mn-cs"/>
                <a:sym typeface="+mn-lt"/>
              </a:rPr>
              <a:t>ЖК 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95D6F74-72E8-44B6-B0BF-9FBB5EC5FA4A}"/>
              </a:ext>
            </a:extLst>
          </p:cNvPr>
          <p:cNvSpPr txBox="1">
            <a:spLocks/>
          </p:cNvSpPr>
          <p:nvPr/>
        </p:nvSpPr>
        <p:spPr>
          <a:xfrm>
            <a:off x="0" y="1016525"/>
            <a:ext cx="12192000" cy="331001"/>
          </a:xfrm>
          <a:prstGeom prst="round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76200" tIns="76200" rIns="76200" bIns="7620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endParaRPr lang="ru-RU" sz="800" b="1" dirty="0">
              <a:solidFill>
                <a:srgbClr val="FFFFFF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BBA2624-8362-4EC2-8571-CE8EB481FD63}"/>
              </a:ext>
            </a:extLst>
          </p:cNvPr>
          <p:cNvSpPr>
            <a:spLocks/>
          </p:cNvSpPr>
          <p:nvPr/>
        </p:nvSpPr>
        <p:spPr>
          <a:xfrm>
            <a:off x="10742294" y="1058915"/>
            <a:ext cx="890905" cy="246221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Оценка трудозатрат</a:t>
            </a:r>
          </a:p>
        </p:txBody>
      </p: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54C0B7C8-CE4A-4B7B-A56E-186A7ABDD178}"/>
              </a:ext>
            </a:extLst>
          </p:cNvPr>
          <p:cNvCxnSpPr>
            <a:cxnSpLocks/>
          </p:cNvCxnSpPr>
          <p:nvPr/>
        </p:nvCxnSpPr>
        <p:spPr>
          <a:xfrm>
            <a:off x="558800" y="1812903"/>
            <a:ext cx="10039073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EF5E0A34-3D43-4250-8488-27B2BEC9067F}"/>
              </a:ext>
            </a:extLst>
          </p:cNvPr>
          <p:cNvCxnSpPr>
            <a:cxnSpLocks/>
          </p:cNvCxnSpPr>
          <p:nvPr/>
        </p:nvCxnSpPr>
        <p:spPr>
          <a:xfrm>
            <a:off x="558800" y="2150823"/>
            <a:ext cx="10039073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A7804374-3374-47CF-9BDD-6A056D419473}"/>
              </a:ext>
            </a:extLst>
          </p:cNvPr>
          <p:cNvCxnSpPr>
            <a:cxnSpLocks/>
          </p:cNvCxnSpPr>
          <p:nvPr/>
        </p:nvCxnSpPr>
        <p:spPr>
          <a:xfrm>
            <a:off x="558800" y="2488743"/>
            <a:ext cx="10039073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1E871D2D-8340-45DF-B8A0-DC263B918713}"/>
              </a:ext>
            </a:extLst>
          </p:cNvPr>
          <p:cNvCxnSpPr>
            <a:cxnSpLocks/>
          </p:cNvCxnSpPr>
          <p:nvPr/>
        </p:nvCxnSpPr>
        <p:spPr>
          <a:xfrm>
            <a:off x="558800" y="2954120"/>
            <a:ext cx="10039073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59E0E3B5-6A9A-43B9-9ACA-5C963203C599}"/>
              </a:ext>
            </a:extLst>
          </p:cNvPr>
          <p:cNvCxnSpPr>
            <a:cxnSpLocks/>
          </p:cNvCxnSpPr>
          <p:nvPr/>
        </p:nvCxnSpPr>
        <p:spPr>
          <a:xfrm>
            <a:off x="558800" y="3283347"/>
            <a:ext cx="10039073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99A3F4CD-E132-47C2-980F-2C2CBAE361D7}"/>
              </a:ext>
            </a:extLst>
          </p:cNvPr>
          <p:cNvCxnSpPr>
            <a:cxnSpLocks/>
          </p:cNvCxnSpPr>
          <p:nvPr/>
        </p:nvCxnSpPr>
        <p:spPr>
          <a:xfrm>
            <a:off x="558800" y="3981906"/>
            <a:ext cx="10039073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AF8844BA-BFA2-4AAB-A0E0-68587C8EB98A}"/>
              </a:ext>
            </a:extLst>
          </p:cNvPr>
          <p:cNvCxnSpPr>
            <a:cxnSpLocks/>
          </p:cNvCxnSpPr>
          <p:nvPr/>
        </p:nvCxnSpPr>
        <p:spPr>
          <a:xfrm>
            <a:off x="558800" y="4447283"/>
            <a:ext cx="10039073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40A0062E-B348-4AA5-8690-2867B9D785AF}"/>
              </a:ext>
            </a:extLst>
          </p:cNvPr>
          <p:cNvCxnSpPr>
            <a:cxnSpLocks/>
          </p:cNvCxnSpPr>
          <p:nvPr/>
        </p:nvCxnSpPr>
        <p:spPr>
          <a:xfrm>
            <a:off x="558800" y="5040118"/>
            <a:ext cx="10039073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D056C74B-69DF-48B2-98F7-6C3987801CF7}"/>
              </a:ext>
            </a:extLst>
          </p:cNvPr>
          <p:cNvCxnSpPr>
            <a:cxnSpLocks/>
          </p:cNvCxnSpPr>
          <p:nvPr/>
        </p:nvCxnSpPr>
        <p:spPr>
          <a:xfrm>
            <a:off x="558800" y="5492456"/>
            <a:ext cx="10039073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9AD284CC-9198-4086-8D5E-A824DEBB8FA6}"/>
              </a:ext>
            </a:extLst>
          </p:cNvPr>
          <p:cNvCxnSpPr>
            <a:cxnSpLocks/>
          </p:cNvCxnSpPr>
          <p:nvPr/>
        </p:nvCxnSpPr>
        <p:spPr>
          <a:xfrm>
            <a:off x="558800" y="5823227"/>
            <a:ext cx="10039073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sp>
        <p:nvSpPr>
          <p:cNvPr id="412" name="TextBox 411">
            <a:extLst>
              <a:ext uri="{FF2B5EF4-FFF2-40B4-BE49-F238E27FC236}">
                <a16:creationId xmlns:a16="http://schemas.microsoft.com/office/drawing/2014/main" id="{8EEFE99E-554D-4F54-BAF1-E600B246B33F}"/>
              </a:ext>
            </a:extLst>
          </p:cNvPr>
          <p:cNvSpPr txBox="1">
            <a:spLocks/>
          </p:cNvSpPr>
          <p:nvPr/>
        </p:nvSpPr>
        <p:spPr>
          <a:xfrm>
            <a:off x="10742294" y="1389029"/>
            <a:ext cx="890905" cy="4730623"/>
          </a:xfrm>
          <a:prstGeom prst="roundRect">
            <a:avLst>
              <a:gd name="adj" fmla="val 6403"/>
            </a:avLst>
          </a:prstGeom>
          <a:solidFill>
            <a:schemeClr val="accent3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38100" rIns="381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1000" i="1">
                <a:solidFill>
                  <a:srgbClr val="000000"/>
                </a:solidFill>
                <a:latin typeface="Verdan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ru-RU" sz="800" dirty="0"/>
              <a:t>Необходима оценка от ГИС РД</a:t>
            </a: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A40726B9-8DDD-4C40-93AA-A1E78C71954F}"/>
              </a:ext>
            </a:extLst>
          </p:cNvPr>
          <p:cNvSpPr txBox="1">
            <a:spLocks/>
          </p:cNvSpPr>
          <p:nvPr/>
        </p:nvSpPr>
        <p:spPr>
          <a:xfrm>
            <a:off x="5277740" y="4810791"/>
            <a:ext cx="2028096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 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62E80C-AD69-45D4-8E1B-B854F3C22141}"/>
              </a:ext>
            </a:extLst>
          </p:cNvPr>
          <p:cNvSpPr>
            <a:spLocks/>
          </p:cNvSpPr>
          <p:nvPr/>
        </p:nvSpPr>
        <p:spPr>
          <a:xfrm>
            <a:off x="558800" y="1182025"/>
            <a:ext cx="2116398" cy="123111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Категория обращений </a:t>
            </a:r>
            <a:endParaRPr lang="ru-RU" sz="800" b="1" dirty="0" err="1">
              <a:solidFill>
                <a:srgbClr val="FFFFFF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BEF36E9-134F-4516-AF1E-BA16B1F875DD}"/>
              </a:ext>
            </a:extLst>
          </p:cNvPr>
          <p:cNvSpPr>
            <a:spLocks/>
          </p:cNvSpPr>
          <p:nvPr/>
        </p:nvSpPr>
        <p:spPr>
          <a:xfrm>
            <a:off x="5277740" y="1182025"/>
            <a:ext cx="2028096" cy="123111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sym typeface="+mn-lt"/>
              </a:rPr>
              <a:t>База данных</a:t>
            </a:r>
            <a:r>
              <a:rPr lang="ru-RU" sz="800" b="1" baseline="30000" dirty="0">
                <a:solidFill>
                  <a:srgbClr val="FFFFFF"/>
                </a:solidFill>
                <a:sym typeface="+mn-lt"/>
              </a:rPr>
              <a:t>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3269FD3-BD86-4A74-8453-8BDCAB1F233E}"/>
              </a:ext>
            </a:extLst>
          </p:cNvPr>
          <p:cNvSpPr>
            <a:spLocks/>
          </p:cNvSpPr>
          <p:nvPr/>
        </p:nvSpPr>
        <p:spPr>
          <a:xfrm>
            <a:off x="9492149" y="1058915"/>
            <a:ext cx="1105724" cy="246221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Регулярность обновления 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6ED07584-525D-45BA-925A-1B8C238A5CC9}"/>
              </a:ext>
            </a:extLst>
          </p:cNvPr>
          <p:cNvSpPr txBox="1">
            <a:spLocks/>
          </p:cNvSpPr>
          <p:nvPr/>
        </p:nvSpPr>
        <p:spPr>
          <a:xfrm>
            <a:off x="9492149" y="4810791"/>
            <a:ext cx="1105724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 </a:t>
            </a: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54A46167-06B7-4D6A-91CE-B24367D5E5D8}"/>
              </a:ext>
            </a:extLst>
          </p:cNvPr>
          <p:cNvSpPr>
            <a:spLocks/>
          </p:cNvSpPr>
          <p:nvPr/>
        </p:nvSpPr>
        <p:spPr>
          <a:xfrm>
            <a:off x="7450258" y="1182025"/>
            <a:ext cx="1897469" cy="123111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sym typeface="+mn-lt"/>
              </a:rPr>
              <a:t>Параметры для заполнения</a:t>
            </a: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EED091CF-49DF-41B4-A8CA-9EA596A0D775}"/>
              </a:ext>
            </a:extLst>
          </p:cNvPr>
          <p:cNvSpPr txBox="1">
            <a:spLocks/>
          </p:cNvSpPr>
          <p:nvPr/>
        </p:nvSpPr>
        <p:spPr>
          <a:xfrm>
            <a:off x="7450258" y="4810791"/>
            <a:ext cx="1897469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 </a:t>
            </a: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BBDD5C67-696C-4370-ABE7-ADC5A56E6C11}"/>
              </a:ext>
            </a:extLst>
          </p:cNvPr>
          <p:cNvSpPr>
            <a:spLocks/>
          </p:cNvSpPr>
          <p:nvPr/>
        </p:nvSpPr>
        <p:spPr>
          <a:xfrm>
            <a:off x="3064603" y="1058915"/>
            <a:ext cx="2068715" cy="246221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Необходимые действия со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 </a:t>
            </a: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стороны ДЖКХ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1079307-7BF0-4192-B8C1-FBEB36E3D91E}"/>
              </a:ext>
            </a:extLst>
          </p:cNvPr>
          <p:cNvGrpSpPr/>
          <p:nvPr/>
        </p:nvGrpSpPr>
        <p:grpSpPr>
          <a:xfrm>
            <a:off x="583825" y="1854406"/>
            <a:ext cx="199004" cy="199002"/>
            <a:chOff x="583825" y="1854406"/>
            <a:chExt cx="199004" cy="199002"/>
          </a:xfrm>
        </p:grpSpPr>
        <p:sp>
          <p:nvSpPr>
            <p:cNvPr id="189" name="Oval 327">
              <a:extLst>
                <a:ext uri="{FF2B5EF4-FFF2-40B4-BE49-F238E27FC236}">
                  <a16:creationId xmlns:a16="http://schemas.microsoft.com/office/drawing/2014/main" id="{E13E3CC2-8DC6-4FFB-AE47-20D04AA16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825" y="1854406"/>
              <a:ext cx="199004" cy="199002"/>
            </a:xfrm>
            <a:prstGeom prst="ellips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90" name="Oval 328">
              <a:extLst>
                <a:ext uri="{FF2B5EF4-FFF2-40B4-BE49-F238E27FC236}">
                  <a16:creationId xmlns:a16="http://schemas.microsoft.com/office/drawing/2014/main" id="{3D85BBBB-45D5-4360-9099-21E407CB0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039" y="1868621"/>
              <a:ext cx="170575" cy="170189"/>
            </a:xfrm>
            <a:prstGeom prst="ellips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91" name="Rectangle 329">
              <a:extLst>
                <a:ext uri="{FF2B5EF4-FFF2-40B4-BE49-F238E27FC236}">
                  <a16:creationId xmlns:a16="http://schemas.microsoft.com/office/drawing/2014/main" id="{B9B68417-700E-43B8-8253-BBB6E8EDB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683" y="1919331"/>
              <a:ext cx="85287" cy="27276"/>
            </a:xfrm>
            <a:prstGeom prst="rect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92" name="Line 330">
              <a:extLst>
                <a:ext uri="{FF2B5EF4-FFF2-40B4-BE49-F238E27FC236}">
                  <a16:creationId xmlns:a16="http://schemas.microsoft.com/office/drawing/2014/main" id="{40348472-D84B-42C3-A33B-423BFA3F1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451" y="1919331"/>
              <a:ext cx="0" cy="27276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93" name="Line 331">
              <a:extLst>
                <a:ext uri="{FF2B5EF4-FFF2-40B4-BE49-F238E27FC236}">
                  <a16:creationId xmlns:a16="http://schemas.microsoft.com/office/drawing/2014/main" id="{E4A095CB-C3ED-4231-9944-C00C348B2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547" y="1919331"/>
              <a:ext cx="0" cy="27276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94" name="Line 332">
              <a:extLst>
                <a:ext uri="{FF2B5EF4-FFF2-40B4-BE49-F238E27FC236}">
                  <a16:creationId xmlns:a16="http://schemas.microsoft.com/office/drawing/2014/main" id="{317371C5-36E4-4550-B334-E54DEA6F75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107" y="1919331"/>
              <a:ext cx="0" cy="27276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95" name="Line 333">
              <a:extLst>
                <a:ext uri="{FF2B5EF4-FFF2-40B4-BE49-F238E27FC236}">
                  <a16:creationId xmlns:a16="http://schemas.microsoft.com/office/drawing/2014/main" id="{A2940EB1-E9C5-4C63-9C86-595E16778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203" y="1919331"/>
              <a:ext cx="0" cy="27276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96" name="Rectangle 334">
              <a:extLst>
                <a:ext uri="{FF2B5EF4-FFF2-40B4-BE49-F238E27FC236}">
                  <a16:creationId xmlns:a16="http://schemas.microsoft.com/office/drawing/2014/main" id="{635DAE82-3F81-4C30-85DE-4FE12376B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683" y="1986562"/>
              <a:ext cx="85287" cy="12678"/>
            </a:xfrm>
            <a:prstGeom prst="rect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97" name="Line 335">
              <a:extLst>
                <a:ext uri="{FF2B5EF4-FFF2-40B4-BE49-F238E27FC236}">
                  <a16:creationId xmlns:a16="http://schemas.microsoft.com/office/drawing/2014/main" id="{E24A0333-22D1-4748-B19F-34633F8FF7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451" y="1986562"/>
              <a:ext cx="0" cy="12678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98" name="Line 336">
              <a:extLst>
                <a:ext uri="{FF2B5EF4-FFF2-40B4-BE49-F238E27FC236}">
                  <a16:creationId xmlns:a16="http://schemas.microsoft.com/office/drawing/2014/main" id="{778A3090-5BE4-4FE6-A49E-08735F1BB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547" y="1986562"/>
              <a:ext cx="0" cy="12678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99" name="Line 337">
              <a:extLst>
                <a:ext uri="{FF2B5EF4-FFF2-40B4-BE49-F238E27FC236}">
                  <a16:creationId xmlns:a16="http://schemas.microsoft.com/office/drawing/2014/main" id="{70D05899-7544-4E57-B199-3FF14FA830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107" y="1986562"/>
              <a:ext cx="0" cy="12678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00" name="Line 338">
              <a:extLst>
                <a:ext uri="{FF2B5EF4-FFF2-40B4-BE49-F238E27FC236}">
                  <a16:creationId xmlns:a16="http://schemas.microsoft.com/office/drawing/2014/main" id="{98BF5D05-F9F9-489A-A8BC-BB4F81EAF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203" y="1986562"/>
              <a:ext cx="0" cy="12678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01" name="Line 339">
              <a:extLst>
                <a:ext uri="{FF2B5EF4-FFF2-40B4-BE49-F238E27FC236}">
                  <a16:creationId xmlns:a16="http://schemas.microsoft.com/office/drawing/2014/main" id="{ABE09A37-CBA0-48A5-A774-BCD02D96B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993" y="2013454"/>
              <a:ext cx="0" cy="922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02" name="Line 340">
              <a:extLst>
                <a:ext uri="{FF2B5EF4-FFF2-40B4-BE49-F238E27FC236}">
                  <a16:creationId xmlns:a16="http://schemas.microsoft.com/office/drawing/2014/main" id="{DCAC4425-E92E-45EE-B037-1325389E11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773" y="2013454"/>
              <a:ext cx="0" cy="922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03" name="Line 341">
              <a:extLst>
                <a:ext uri="{FF2B5EF4-FFF2-40B4-BE49-F238E27FC236}">
                  <a16:creationId xmlns:a16="http://schemas.microsoft.com/office/drawing/2014/main" id="{DBEB30D5-0439-4B32-9B6F-4FAB9A45FE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937" y="2013454"/>
              <a:ext cx="0" cy="922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04" name="Line 342">
              <a:extLst>
                <a:ext uri="{FF2B5EF4-FFF2-40B4-BE49-F238E27FC236}">
                  <a16:creationId xmlns:a16="http://schemas.microsoft.com/office/drawing/2014/main" id="{ECECED30-B2DB-410A-AD43-130279BF9B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717" y="2013454"/>
              <a:ext cx="0" cy="922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05" name="Line 343">
              <a:extLst>
                <a:ext uri="{FF2B5EF4-FFF2-40B4-BE49-F238E27FC236}">
                  <a16:creationId xmlns:a16="http://schemas.microsoft.com/office/drawing/2014/main" id="{D373F312-2E35-466F-AE25-A381932CBB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881" y="2013454"/>
              <a:ext cx="0" cy="922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06" name="Line 344">
              <a:extLst>
                <a:ext uri="{FF2B5EF4-FFF2-40B4-BE49-F238E27FC236}">
                  <a16:creationId xmlns:a16="http://schemas.microsoft.com/office/drawing/2014/main" id="{807DBFFF-9B59-465F-8539-40343D2B5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661" y="2013454"/>
              <a:ext cx="0" cy="922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07" name="Line 345">
              <a:extLst>
                <a:ext uri="{FF2B5EF4-FFF2-40B4-BE49-F238E27FC236}">
                  <a16:creationId xmlns:a16="http://schemas.microsoft.com/office/drawing/2014/main" id="{CEB23761-CAA0-4F67-B678-8ECAC6D117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6039" y="1892055"/>
              <a:ext cx="34576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08" name="Line 346">
              <a:extLst>
                <a:ext uri="{FF2B5EF4-FFF2-40B4-BE49-F238E27FC236}">
                  <a16:creationId xmlns:a16="http://schemas.microsoft.com/office/drawing/2014/main" id="{E7B14FCB-D55D-4DF2-B5B9-CC38D52C5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628" y="1966585"/>
              <a:ext cx="121400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</p:grpSp>
      <p:sp>
        <p:nvSpPr>
          <p:cNvPr id="324" name="TextBox 323">
            <a:extLst>
              <a:ext uri="{FF2B5EF4-FFF2-40B4-BE49-F238E27FC236}">
                <a16:creationId xmlns:a16="http://schemas.microsoft.com/office/drawing/2014/main" id="{2AC2189A-55C3-4724-8E08-FDFCE88710A1}"/>
              </a:ext>
            </a:extLst>
          </p:cNvPr>
          <p:cNvSpPr txBox="1">
            <a:spLocks/>
          </p:cNvSpPr>
          <p:nvPr/>
        </p:nvSpPr>
        <p:spPr>
          <a:xfrm>
            <a:off x="882613" y="1854406"/>
            <a:ext cx="2037568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Индивидуальные приборы учета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AB97C9D4-9FD8-4022-AF8D-AD6D5BCA0095}"/>
              </a:ext>
            </a:extLst>
          </p:cNvPr>
          <p:cNvSpPr txBox="1">
            <a:spLocks/>
          </p:cNvSpPr>
          <p:nvPr/>
        </p:nvSpPr>
        <p:spPr>
          <a:xfrm>
            <a:off x="5277740" y="1854406"/>
            <a:ext cx="2028096" cy="25491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Компании, обслуживающие ИПУ (~1</a:t>
            </a:r>
            <a:r>
              <a:rPr lang="en-US" sz="800" dirty="0"/>
              <a:t> </a:t>
            </a:r>
            <a:r>
              <a:rPr lang="ru-RU" sz="800" dirty="0"/>
              <a:t>000 штук)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A0FA2DAD-05E9-434D-9E9E-C7BB8BDE3F5E}"/>
              </a:ext>
            </a:extLst>
          </p:cNvPr>
          <p:cNvSpPr txBox="1">
            <a:spLocks/>
          </p:cNvSpPr>
          <p:nvPr/>
        </p:nvSpPr>
        <p:spPr>
          <a:xfrm>
            <a:off x="9492149" y="1854406"/>
            <a:ext cx="1105724" cy="25491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Еженедельно/</a:t>
            </a:r>
            <a:br>
              <a:rPr lang="en-US" sz="800" dirty="0"/>
            </a:br>
            <a:r>
              <a:rPr lang="ru-RU" sz="800" dirty="0"/>
              <a:t>ежемесячно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69D97CC2-5332-449D-B273-22DA70F52DF9}"/>
              </a:ext>
            </a:extLst>
          </p:cNvPr>
          <p:cNvSpPr txBox="1">
            <a:spLocks/>
          </p:cNvSpPr>
          <p:nvPr/>
        </p:nvSpPr>
        <p:spPr>
          <a:xfrm>
            <a:off x="7450258" y="1854406"/>
            <a:ext cx="1897469" cy="25491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График работы, контактные данные, адреса обслуживания</a:t>
            </a: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4AB40B3F-A8E0-402D-AD6F-1FC767BBF158}"/>
              </a:ext>
            </a:extLst>
          </p:cNvPr>
          <p:cNvSpPr txBox="1">
            <a:spLocks/>
          </p:cNvSpPr>
          <p:nvPr/>
        </p:nvSpPr>
        <p:spPr>
          <a:xfrm>
            <a:off x="3064603" y="1854406"/>
            <a:ext cx="2068715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Наполнение базы данных</a:t>
            </a:r>
          </a:p>
        </p:txBody>
      </p: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02FC1032-4D3A-45DA-97A3-8F888A067972}"/>
              </a:ext>
            </a:extLst>
          </p:cNvPr>
          <p:cNvGrpSpPr>
            <a:grpSpLocks/>
          </p:cNvGrpSpPr>
          <p:nvPr/>
        </p:nvGrpSpPr>
        <p:grpSpPr>
          <a:xfrm>
            <a:off x="564524" y="2192326"/>
            <a:ext cx="237606" cy="247765"/>
            <a:chOff x="3314778" y="663558"/>
            <a:chExt cx="668354" cy="696895"/>
          </a:xfrm>
        </p:grpSpPr>
        <p:sp>
          <p:nvSpPr>
            <p:cNvPr id="273" name="Freeform 28">
              <a:extLst>
                <a:ext uri="{FF2B5EF4-FFF2-40B4-BE49-F238E27FC236}">
                  <a16:creationId xmlns:a16="http://schemas.microsoft.com/office/drawing/2014/main" id="{032CAAB8-72C1-4198-B7CE-39EE4A1C5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492" y="765156"/>
              <a:ext cx="401646" cy="446076"/>
            </a:xfrm>
            <a:custGeom>
              <a:avLst/>
              <a:gdLst>
                <a:gd name="T0" fmla="*/ 118 w 144"/>
                <a:gd name="T1" fmla="*/ 95 h 160"/>
                <a:gd name="T2" fmla="*/ 136 w 144"/>
                <a:gd name="T3" fmla="*/ 151 h 160"/>
                <a:gd name="T4" fmla="*/ 54 w 144"/>
                <a:gd name="T5" fmla="*/ 95 h 160"/>
                <a:gd name="T6" fmla="*/ 11 w 144"/>
                <a:gd name="T7" fmla="*/ 6 h 160"/>
                <a:gd name="T8" fmla="*/ 61 w 144"/>
                <a:gd name="T9" fmla="*/ 3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160">
                  <a:moveTo>
                    <a:pt x="118" y="95"/>
                  </a:moveTo>
                  <a:cubicBezTo>
                    <a:pt x="136" y="122"/>
                    <a:pt x="144" y="144"/>
                    <a:pt x="136" y="151"/>
                  </a:cubicBezTo>
                  <a:cubicBezTo>
                    <a:pt x="126" y="160"/>
                    <a:pt x="89" y="135"/>
                    <a:pt x="54" y="95"/>
                  </a:cubicBezTo>
                  <a:cubicBezTo>
                    <a:pt x="20" y="55"/>
                    <a:pt x="0" y="15"/>
                    <a:pt x="11" y="6"/>
                  </a:cubicBezTo>
                  <a:cubicBezTo>
                    <a:pt x="18" y="0"/>
                    <a:pt x="38" y="10"/>
                    <a:pt x="61" y="30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74" name="Freeform 29">
              <a:extLst>
                <a:ext uri="{FF2B5EF4-FFF2-40B4-BE49-F238E27FC236}">
                  <a16:creationId xmlns:a16="http://schemas.microsoft.com/office/drawing/2014/main" id="{83A92DEC-76D1-4568-8898-686B3EA92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196" y="1182658"/>
              <a:ext cx="242894" cy="80961"/>
            </a:xfrm>
            <a:custGeom>
              <a:avLst/>
              <a:gdLst>
                <a:gd name="T0" fmla="*/ 0 w 87"/>
                <a:gd name="T1" fmla="*/ 23 h 29"/>
                <a:gd name="T2" fmla="*/ 87 w 87"/>
                <a:gd name="T3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7" h="29">
                  <a:moveTo>
                    <a:pt x="0" y="23"/>
                  </a:moveTo>
                  <a:cubicBezTo>
                    <a:pt x="29" y="29"/>
                    <a:pt x="62" y="21"/>
                    <a:pt x="87" y="0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75" name="Freeform 30">
              <a:extLst>
                <a:ext uri="{FF2B5EF4-FFF2-40B4-BE49-F238E27FC236}">
                  <a16:creationId xmlns:a16="http://schemas.microsoft.com/office/drawing/2014/main" id="{FFD112ED-897F-4084-92C0-3926C31A1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892" y="781029"/>
              <a:ext cx="131766" cy="376227"/>
            </a:xfrm>
            <a:custGeom>
              <a:avLst/>
              <a:gdLst>
                <a:gd name="T0" fmla="*/ 47 w 47"/>
                <a:gd name="T1" fmla="*/ 0 h 135"/>
                <a:gd name="T2" fmla="*/ 33 w 47"/>
                <a:gd name="T3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" h="135">
                  <a:moveTo>
                    <a:pt x="47" y="0"/>
                  </a:moveTo>
                  <a:cubicBezTo>
                    <a:pt x="6" y="35"/>
                    <a:pt x="0" y="95"/>
                    <a:pt x="33" y="135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76" name="Freeform 31">
              <a:extLst>
                <a:ext uri="{FF2B5EF4-FFF2-40B4-BE49-F238E27FC236}">
                  <a16:creationId xmlns:a16="http://schemas.microsoft.com/office/drawing/2014/main" id="{4355C833-9438-4E0F-A41C-986C5C4B4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1144" y="939776"/>
              <a:ext cx="7938" cy="103185"/>
            </a:xfrm>
            <a:custGeom>
              <a:avLst/>
              <a:gdLst>
                <a:gd name="T0" fmla="*/ 3 w 3"/>
                <a:gd name="T1" fmla="*/ 0 h 37"/>
                <a:gd name="T2" fmla="*/ 1 w 3"/>
                <a:gd name="T3" fmla="*/ 12 h 37"/>
                <a:gd name="T4" fmla="*/ 3 w 3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7">
                  <a:moveTo>
                    <a:pt x="3" y="0"/>
                  </a:moveTo>
                  <a:cubicBezTo>
                    <a:pt x="2" y="4"/>
                    <a:pt x="2" y="8"/>
                    <a:pt x="1" y="12"/>
                  </a:cubicBezTo>
                  <a:cubicBezTo>
                    <a:pt x="0" y="21"/>
                    <a:pt x="1" y="29"/>
                    <a:pt x="3" y="37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77" name="Freeform 32">
              <a:extLst>
                <a:ext uri="{FF2B5EF4-FFF2-40B4-BE49-F238E27FC236}">
                  <a16:creationId xmlns:a16="http://schemas.microsoft.com/office/drawing/2014/main" id="{7082386D-8250-4497-B4E2-3FE141F4D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628" y="742930"/>
              <a:ext cx="111128" cy="126997"/>
            </a:xfrm>
            <a:custGeom>
              <a:avLst/>
              <a:gdLst>
                <a:gd name="T0" fmla="*/ 0 w 40"/>
                <a:gd name="T1" fmla="*/ 0 h 46"/>
                <a:gd name="T2" fmla="*/ 29 w 40"/>
                <a:gd name="T3" fmla="*/ 16 h 46"/>
                <a:gd name="T4" fmla="*/ 39 w 40"/>
                <a:gd name="T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46">
                  <a:moveTo>
                    <a:pt x="0" y="0"/>
                  </a:moveTo>
                  <a:cubicBezTo>
                    <a:pt x="11" y="2"/>
                    <a:pt x="21" y="7"/>
                    <a:pt x="29" y="16"/>
                  </a:cubicBezTo>
                  <a:cubicBezTo>
                    <a:pt x="36" y="25"/>
                    <a:pt x="40" y="35"/>
                    <a:pt x="39" y="46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78" name="Freeform 33">
              <a:extLst>
                <a:ext uri="{FF2B5EF4-FFF2-40B4-BE49-F238E27FC236}">
                  <a16:creationId xmlns:a16="http://schemas.microsoft.com/office/drawing/2014/main" id="{BC7455A5-85E6-4B46-A447-04529D5E7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90" y="663558"/>
              <a:ext cx="173042" cy="204783"/>
            </a:xfrm>
            <a:custGeom>
              <a:avLst/>
              <a:gdLst>
                <a:gd name="T0" fmla="*/ 0 w 62"/>
                <a:gd name="T1" fmla="*/ 0 h 73"/>
                <a:gd name="T2" fmla="*/ 45 w 62"/>
                <a:gd name="T3" fmla="*/ 25 h 73"/>
                <a:gd name="T4" fmla="*/ 62 w 62"/>
                <a:gd name="T5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" h="73">
                  <a:moveTo>
                    <a:pt x="0" y="0"/>
                  </a:moveTo>
                  <a:cubicBezTo>
                    <a:pt x="17" y="3"/>
                    <a:pt x="33" y="11"/>
                    <a:pt x="45" y="25"/>
                  </a:cubicBezTo>
                  <a:cubicBezTo>
                    <a:pt x="57" y="39"/>
                    <a:pt x="62" y="56"/>
                    <a:pt x="62" y="73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79" name="Line 34">
              <a:extLst>
                <a:ext uri="{FF2B5EF4-FFF2-40B4-BE49-F238E27FC236}">
                  <a16:creationId xmlns:a16="http://schemas.microsoft.com/office/drawing/2014/main" id="{D0641AEF-8195-4E6B-96B7-D734A411CF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910" y="881041"/>
              <a:ext cx="180980" cy="25399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80" name="Line 35">
              <a:extLst>
                <a:ext uri="{FF2B5EF4-FFF2-40B4-BE49-F238E27FC236}">
                  <a16:creationId xmlns:a16="http://schemas.microsoft.com/office/drawing/2014/main" id="{615EF073-50EA-41C3-A76E-594B848011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3086" y="909615"/>
              <a:ext cx="68265" cy="15081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81" name="Freeform 36">
              <a:extLst>
                <a:ext uri="{FF2B5EF4-FFF2-40B4-BE49-F238E27FC236}">
                  <a16:creationId xmlns:a16="http://schemas.microsoft.com/office/drawing/2014/main" id="{C9850984-450C-447E-801C-56764CDBF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116" y="1120747"/>
              <a:ext cx="257180" cy="239706"/>
            </a:xfrm>
            <a:custGeom>
              <a:avLst/>
              <a:gdLst>
                <a:gd name="T0" fmla="*/ 92 w 92"/>
                <a:gd name="T1" fmla="*/ 86 h 86"/>
                <a:gd name="T2" fmla="*/ 68 w 92"/>
                <a:gd name="T3" fmla="*/ 17 h 86"/>
                <a:gd name="T4" fmla="*/ 46 w 92"/>
                <a:gd name="T5" fmla="*/ 0 h 86"/>
                <a:gd name="T6" fmla="*/ 24 w 92"/>
                <a:gd name="T7" fmla="*/ 17 h 86"/>
                <a:gd name="T8" fmla="*/ 0 w 92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6">
                  <a:moveTo>
                    <a:pt x="92" y="86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5" y="8"/>
                    <a:pt x="55" y="0"/>
                    <a:pt x="46" y="0"/>
                  </a:cubicBezTo>
                  <a:cubicBezTo>
                    <a:pt x="37" y="0"/>
                    <a:pt x="27" y="8"/>
                    <a:pt x="24" y="17"/>
                  </a:cubicBezTo>
                  <a:cubicBezTo>
                    <a:pt x="0" y="86"/>
                    <a:pt x="0" y="86"/>
                    <a:pt x="0" y="86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82" name="Line 37">
              <a:extLst>
                <a:ext uri="{FF2B5EF4-FFF2-40B4-BE49-F238E27FC236}">
                  <a16:creationId xmlns:a16="http://schemas.microsoft.com/office/drawing/2014/main" id="{54ED6D98-25DF-4E0C-A55A-A7DAFF40E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778" y="1360453"/>
              <a:ext cx="333384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83" name="Freeform 38">
              <a:extLst>
                <a:ext uri="{FF2B5EF4-FFF2-40B4-BE49-F238E27FC236}">
                  <a16:creationId xmlns:a16="http://schemas.microsoft.com/office/drawing/2014/main" id="{5D840DBB-2A52-4869-A715-A6C373771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714" y="823889"/>
              <a:ext cx="95252" cy="96836"/>
            </a:xfrm>
            <a:custGeom>
              <a:avLst/>
              <a:gdLst>
                <a:gd name="T0" fmla="*/ 33 w 34"/>
                <a:gd name="T1" fmla="*/ 19 h 35"/>
                <a:gd name="T2" fmla="*/ 15 w 34"/>
                <a:gd name="T3" fmla="*/ 33 h 35"/>
                <a:gd name="T4" fmla="*/ 1 w 34"/>
                <a:gd name="T5" fmla="*/ 15 h 35"/>
                <a:gd name="T6" fmla="*/ 19 w 34"/>
                <a:gd name="T7" fmla="*/ 1 h 35"/>
                <a:gd name="T8" fmla="*/ 33 w 34"/>
                <a:gd name="T9" fmla="*/ 1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5">
                  <a:moveTo>
                    <a:pt x="33" y="19"/>
                  </a:moveTo>
                  <a:cubicBezTo>
                    <a:pt x="32" y="28"/>
                    <a:pt x="24" y="35"/>
                    <a:pt x="15" y="33"/>
                  </a:cubicBezTo>
                  <a:cubicBezTo>
                    <a:pt x="6" y="32"/>
                    <a:pt x="0" y="24"/>
                    <a:pt x="1" y="15"/>
                  </a:cubicBezTo>
                  <a:cubicBezTo>
                    <a:pt x="2" y="6"/>
                    <a:pt x="10" y="0"/>
                    <a:pt x="19" y="1"/>
                  </a:cubicBezTo>
                  <a:cubicBezTo>
                    <a:pt x="28" y="2"/>
                    <a:pt x="34" y="11"/>
                    <a:pt x="33" y="19"/>
                  </a:cubicBez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84" name="Oval 39">
              <a:extLst>
                <a:ext uri="{FF2B5EF4-FFF2-40B4-BE49-F238E27FC236}">
                  <a16:creationId xmlns:a16="http://schemas.microsoft.com/office/drawing/2014/main" id="{94C6D83B-D2FC-4809-92FB-9125A0C4A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514" y="1189037"/>
              <a:ext cx="20638" cy="15875"/>
            </a:xfrm>
            <a:prstGeom prst="ellips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</p:grpSp>
      <p:sp>
        <p:nvSpPr>
          <p:cNvPr id="326" name="TextBox 325">
            <a:extLst>
              <a:ext uri="{FF2B5EF4-FFF2-40B4-BE49-F238E27FC236}">
                <a16:creationId xmlns:a16="http://schemas.microsoft.com/office/drawing/2014/main" id="{1C9EA39B-9798-4C2C-BB94-6DD6D35A5004}"/>
              </a:ext>
            </a:extLst>
          </p:cNvPr>
          <p:cNvSpPr txBox="1">
            <a:spLocks/>
          </p:cNvSpPr>
          <p:nvPr/>
        </p:nvSpPr>
        <p:spPr>
          <a:xfrm>
            <a:off x="882613" y="2192326"/>
            <a:ext cx="2037568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Телеантенны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E3492461-FB6D-42A1-87DD-97011884DF94}"/>
              </a:ext>
            </a:extLst>
          </p:cNvPr>
          <p:cNvSpPr txBox="1">
            <a:spLocks/>
          </p:cNvSpPr>
          <p:nvPr/>
        </p:nvSpPr>
        <p:spPr>
          <a:xfrm>
            <a:off x="5277740" y="2192326"/>
            <a:ext cx="2028096" cy="25491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Компании, обслуживающие телеантенны (~300 штук)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ECD941EF-7251-45DB-AA73-589D5395D133}"/>
              </a:ext>
            </a:extLst>
          </p:cNvPr>
          <p:cNvSpPr txBox="1">
            <a:spLocks/>
          </p:cNvSpPr>
          <p:nvPr/>
        </p:nvSpPr>
        <p:spPr>
          <a:xfrm>
            <a:off x="9492149" y="2192326"/>
            <a:ext cx="1105724" cy="25491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Еженедельно/</a:t>
            </a:r>
            <a:br>
              <a:rPr lang="en-US" sz="800" dirty="0"/>
            </a:br>
            <a:r>
              <a:rPr lang="ru-RU" sz="800" dirty="0"/>
              <a:t>ежемесячно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FD1A8776-7334-45DD-A6DB-8FF6F21EA674}"/>
              </a:ext>
            </a:extLst>
          </p:cNvPr>
          <p:cNvSpPr txBox="1">
            <a:spLocks/>
          </p:cNvSpPr>
          <p:nvPr/>
        </p:nvSpPr>
        <p:spPr>
          <a:xfrm>
            <a:off x="7450258" y="2192326"/>
            <a:ext cx="1897469" cy="25491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График работы, контактные данные, адреса обслуживания</a:t>
            </a: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1FBF52AB-FE08-4B8E-9FF0-598779E94839}"/>
              </a:ext>
            </a:extLst>
          </p:cNvPr>
          <p:cNvSpPr txBox="1">
            <a:spLocks/>
          </p:cNvSpPr>
          <p:nvPr/>
        </p:nvSpPr>
        <p:spPr>
          <a:xfrm>
            <a:off x="3064603" y="2192326"/>
            <a:ext cx="2068715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Наполнение базы данных</a:t>
            </a: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61252DB6-473E-41FB-B1F4-383D1F76C2AA}"/>
              </a:ext>
            </a:extLst>
          </p:cNvPr>
          <p:cNvGrpSpPr>
            <a:grpSpLocks/>
          </p:cNvGrpSpPr>
          <p:nvPr/>
        </p:nvGrpSpPr>
        <p:grpSpPr>
          <a:xfrm>
            <a:off x="585682" y="2530246"/>
            <a:ext cx="195290" cy="199002"/>
            <a:chOff x="3117866" y="896938"/>
            <a:chExt cx="711203" cy="717549"/>
          </a:xfrm>
        </p:grpSpPr>
        <p:sp>
          <p:nvSpPr>
            <p:cNvPr id="210" name="Freeform 157">
              <a:extLst>
                <a:ext uri="{FF2B5EF4-FFF2-40B4-BE49-F238E27FC236}">
                  <a16:creationId xmlns:a16="http://schemas.microsoft.com/office/drawing/2014/main" id="{6D04A60C-4534-4CBD-A5FE-1A8562E5E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866" y="1117598"/>
              <a:ext cx="711203" cy="496889"/>
            </a:xfrm>
            <a:custGeom>
              <a:avLst/>
              <a:gdLst>
                <a:gd name="T0" fmla="*/ 190 w 190"/>
                <a:gd name="T1" fmla="*/ 0 h 133"/>
                <a:gd name="T2" fmla="*/ 190 w 190"/>
                <a:gd name="T3" fmla="*/ 120 h 133"/>
                <a:gd name="T4" fmla="*/ 178 w 190"/>
                <a:gd name="T5" fmla="*/ 133 h 133"/>
                <a:gd name="T6" fmla="*/ 12 w 190"/>
                <a:gd name="T7" fmla="*/ 133 h 133"/>
                <a:gd name="T8" fmla="*/ 0 w 190"/>
                <a:gd name="T9" fmla="*/ 120 h 133"/>
                <a:gd name="T10" fmla="*/ 0 w 190"/>
                <a:gd name="T1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0" h="133">
                  <a:moveTo>
                    <a:pt x="190" y="0"/>
                  </a:moveTo>
                  <a:cubicBezTo>
                    <a:pt x="190" y="120"/>
                    <a:pt x="190" y="120"/>
                    <a:pt x="190" y="120"/>
                  </a:cubicBezTo>
                  <a:cubicBezTo>
                    <a:pt x="190" y="127"/>
                    <a:pt x="185" y="133"/>
                    <a:pt x="178" y="133"/>
                  </a:cubicBezTo>
                  <a:cubicBezTo>
                    <a:pt x="12" y="133"/>
                    <a:pt x="12" y="133"/>
                    <a:pt x="12" y="133"/>
                  </a:cubicBezTo>
                  <a:cubicBezTo>
                    <a:pt x="5" y="133"/>
                    <a:pt x="0" y="127"/>
                    <a:pt x="0" y="12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11" name="Line 158">
              <a:extLst>
                <a:ext uri="{FF2B5EF4-FFF2-40B4-BE49-F238E27FC236}">
                  <a16:creationId xmlns:a16="http://schemas.microsoft.com/office/drawing/2014/main" id="{253BFCED-6679-4BE1-9468-AB6BD391B2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7866" y="1076323"/>
              <a:ext cx="66674" cy="41275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12" name="Freeform 159">
              <a:extLst>
                <a:ext uri="{FF2B5EF4-FFF2-40B4-BE49-F238E27FC236}">
                  <a16:creationId xmlns:a16="http://schemas.microsoft.com/office/drawing/2014/main" id="{C5F4E82B-DCDD-4463-9078-954D46D64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9643" y="896938"/>
              <a:ext cx="242888" cy="69850"/>
            </a:xfrm>
            <a:custGeom>
              <a:avLst/>
              <a:gdLst>
                <a:gd name="T0" fmla="*/ 65 w 65"/>
                <a:gd name="T1" fmla="*/ 19 h 19"/>
                <a:gd name="T2" fmla="*/ 39 w 65"/>
                <a:gd name="T3" fmla="*/ 3 h 19"/>
                <a:gd name="T4" fmla="*/ 26 w 65"/>
                <a:gd name="T5" fmla="*/ 3 h 19"/>
                <a:gd name="T6" fmla="*/ 0 w 65"/>
                <a:gd name="T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9">
                  <a:moveTo>
                    <a:pt x="65" y="19"/>
                  </a:moveTo>
                  <a:cubicBezTo>
                    <a:pt x="39" y="3"/>
                    <a:pt x="39" y="3"/>
                    <a:pt x="39" y="3"/>
                  </a:cubicBezTo>
                  <a:cubicBezTo>
                    <a:pt x="35" y="0"/>
                    <a:pt x="30" y="0"/>
                    <a:pt x="26" y="3"/>
                  </a:cubicBezTo>
                  <a:cubicBezTo>
                    <a:pt x="0" y="19"/>
                    <a:pt x="0" y="19"/>
                    <a:pt x="0" y="19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13" name="Line 160">
              <a:extLst>
                <a:ext uri="{FF2B5EF4-FFF2-40B4-BE49-F238E27FC236}">
                  <a16:creationId xmlns:a16="http://schemas.microsoft.com/office/drawing/2014/main" id="{3466C907-A7F1-473D-A5EB-02CCA80E78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0807" y="1076323"/>
              <a:ext cx="68262" cy="41275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14" name="Freeform 161">
              <a:extLst>
                <a:ext uri="{FF2B5EF4-FFF2-40B4-BE49-F238E27FC236}">
                  <a16:creationId xmlns:a16="http://schemas.microsoft.com/office/drawing/2014/main" id="{BF1B1C3C-D7FF-4F94-AD4B-3EF9BAA1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866" y="1269998"/>
              <a:ext cx="711203" cy="222251"/>
            </a:xfrm>
            <a:custGeom>
              <a:avLst/>
              <a:gdLst>
                <a:gd name="T0" fmla="*/ 190 w 190"/>
                <a:gd name="T1" fmla="*/ 0 h 59"/>
                <a:gd name="T2" fmla="*/ 101 w 190"/>
                <a:gd name="T3" fmla="*/ 56 h 59"/>
                <a:gd name="T4" fmla="*/ 88 w 190"/>
                <a:gd name="T5" fmla="*/ 56 h 59"/>
                <a:gd name="T6" fmla="*/ 0 w 190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0" h="59">
                  <a:moveTo>
                    <a:pt x="190" y="0"/>
                  </a:moveTo>
                  <a:cubicBezTo>
                    <a:pt x="101" y="56"/>
                    <a:pt x="101" y="56"/>
                    <a:pt x="101" y="56"/>
                  </a:cubicBezTo>
                  <a:cubicBezTo>
                    <a:pt x="97" y="58"/>
                    <a:pt x="92" y="59"/>
                    <a:pt x="88" y="5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15" name="Freeform 162">
              <a:extLst>
                <a:ext uri="{FF2B5EF4-FFF2-40B4-BE49-F238E27FC236}">
                  <a16:creationId xmlns:a16="http://schemas.microsoft.com/office/drawing/2014/main" id="{C18EE05A-F893-49CC-830C-4DD95FA13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4540" y="966788"/>
              <a:ext cx="576264" cy="277812"/>
            </a:xfrm>
            <a:custGeom>
              <a:avLst/>
              <a:gdLst>
                <a:gd name="T0" fmla="*/ 0 w 154"/>
                <a:gd name="T1" fmla="*/ 74 h 74"/>
                <a:gd name="T2" fmla="*/ 0 w 154"/>
                <a:gd name="T3" fmla="*/ 13 h 74"/>
                <a:gd name="T4" fmla="*/ 12 w 154"/>
                <a:gd name="T5" fmla="*/ 0 h 74"/>
                <a:gd name="T6" fmla="*/ 142 w 154"/>
                <a:gd name="T7" fmla="*/ 0 h 74"/>
                <a:gd name="T8" fmla="*/ 154 w 154"/>
                <a:gd name="T9" fmla="*/ 13 h 74"/>
                <a:gd name="T10" fmla="*/ 154 w 154"/>
                <a:gd name="T1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4" h="74">
                  <a:moveTo>
                    <a:pt x="0" y="74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48" y="0"/>
                    <a:pt x="154" y="6"/>
                    <a:pt x="154" y="13"/>
                  </a:cubicBezTo>
                  <a:cubicBezTo>
                    <a:pt x="154" y="74"/>
                    <a:pt x="154" y="74"/>
                    <a:pt x="154" y="74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16" name="Freeform 163">
              <a:extLst>
                <a:ext uri="{FF2B5EF4-FFF2-40B4-BE49-F238E27FC236}">
                  <a16:creationId xmlns:a16="http://schemas.microsoft.com/office/drawing/2014/main" id="{47183CC4-D903-415A-B6E9-42750260E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540" y="1046161"/>
              <a:ext cx="311150" cy="317500"/>
            </a:xfrm>
            <a:custGeom>
              <a:avLst/>
              <a:gdLst>
                <a:gd name="T0" fmla="*/ 51 w 83"/>
                <a:gd name="T1" fmla="*/ 85 h 85"/>
                <a:gd name="T2" fmla="*/ 19 w 83"/>
                <a:gd name="T3" fmla="*/ 76 h 85"/>
                <a:gd name="T4" fmla="*/ 9 w 83"/>
                <a:gd name="T5" fmla="*/ 23 h 85"/>
                <a:gd name="T6" fmla="*/ 53 w 83"/>
                <a:gd name="T7" fmla="*/ 4 h 85"/>
                <a:gd name="T8" fmla="*/ 83 w 83"/>
                <a:gd name="T9" fmla="*/ 38 h 85"/>
                <a:gd name="T10" fmla="*/ 83 w 83"/>
                <a:gd name="T11" fmla="*/ 39 h 85"/>
                <a:gd name="T12" fmla="*/ 55 w 83"/>
                <a:gd name="T13" fmla="*/ 53 h 85"/>
                <a:gd name="T14" fmla="*/ 55 w 83"/>
                <a:gd name="T15" fmla="*/ 2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" h="85">
                  <a:moveTo>
                    <a:pt x="51" y="85"/>
                  </a:moveTo>
                  <a:cubicBezTo>
                    <a:pt x="40" y="85"/>
                    <a:pt x="28" y="83"/>
                    <a:pt x="19" y="76"/>
                  </a:cubicBezTo>
                  <a:cubicBezTo>
                    <a:pt x="3" y="64"/>
                    <a:pt x="0" y="41"/>
                    <a:pt x="9" y="23"/>
                  </a:cubicBezTo>
                  <a:cubicBezTo>
                    <a:pt x="17" y="8"/>
                    <a:pt x="36" y="0"/>
                    <a:pt x="53" y="4"/>
                  </a:cubicBezTo>
                  <a:cubicBezTo>
                    <a:pt x="70" y="7"/>
                    <a:pt x="82" y="22"/>
                    <a:pt x="83" y="38"/>
                  </a:cubicBezTo>
                  <a:cubicBezTo>
                    <a:pt x="83" y="38"/>
                    <a:pt x="83" y="39"/>
                    <a:pt x="83" y="39"/>
                  </a:cubicBezTo>
                  <a:cubicBezTo>
                    <a:pt x="83" y="75"/>
                    <a:pt x="55" y="62"/>
                    <a:pt x="55" y="53"/>
                  </a:cubicBezTo>
                  <a:cubicBezTo>
                    <a:pt x="55" y="22"/>
                    <a:pt x="55" y="22"/>
                    <a:pt x="55" y="22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17" name="Freeform 164">
              <a:extLst>
                <a:ext uri="{FF2B5EF4-FFF2-40B4-BE49-F238E27FC236}">
                  <a16:creationId xmlns:a16="http://schemas.microsoft.com/office/drawing/2014/main" id="{54871FB1-3B70-46A3-A4BA-AF9BF9425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013" y="1131888"/>
              <a:ext cx="112713" cy="153987"/>
            </a:xfrm>
            <a:custGeom>
              <a:avLst/>
              <a:gdLst>
                <a:gd name="T0" fmla="*/ 28 w 30"/>
                <a:gd name="T1" fmla="*/ 2 h 41"/>
                <a:gd name="T2" fmla="*/ 13 w 30"/>
                <a:gd name="T3" fmla="*/ 2 h 41"/>
                <a:gd name="T4" fmla="*/ 2 w 30"/>
                <a:gd name="T5" fmla="*/ 28 h 41"/>
                <a:gd name="T6" fmla="*/ 12 w 30"/>
                <a:gd name="T7" fmla="*/ 38 h 41"/>
                <a:gd name="T8" fmla="*/ 30 w 30"/>
                <a:gd name="T9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41">
                  <a:moveTo>
                    <a:pt x="28" y="2"/>
                  </a:moveTo>
                  <a:cubicBezTo>
                    <a:pt x="23" y="1"/>
                    <a:pt x="18" y="0"/>
                    <a:pt x="13" y="2"/>
                  </a:cubicBezTo>
                  <a:cubicBezTo>
                    <a:pt x="3" y="7"/>
                    <a:pt x="0" y="19"/>
                    <a:pt x="2" y="28"/>
                  </a:cubicBezTo>
                  <a:cubicBezTo>
                    <a:pt x="4" y="33"/>
                    <a:pt x="7" y="37"/>
                    <a:pt x="12" y="38"/>
                  </a:cubicBezTo>
                  <a:cubicBezTo>
                    <a:pt x="22" y="41"/>
                    <a:pt x="28" y="36"/>
                    <a:pt x="30" y="29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</p:grpSp>
      <p:sp>
        <p:nvSpPr>
          <p:cNvPr id="328" name="TextBox 327">
            <a:extLst>
              <a:ext uri="{FF2B5EF4-FFF2-40B4-BE49-F238E27FC236}">
                <a16:creationId xmlns:a16="http://schemas.microsoft.com/office/drawing/2014/main" id="{67D71B1E-C81E-4125-AF07-7682E93D6BF1}"/>
              </a:ext>
            </a:extLst>
          </p:cNvPr>
          <p:cNvSpPr txBox="1">
            <a:spLocks/>
          </p:cNvSpPr>
          <p:nvPr/>
        </p:nvSpPr>
        <p:spPr>
          <a:xfrm>
            <a:off x="882613" y="2530246"/>
            <a:ext cx="2037568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Контакты организаций </a:t>
            </a:r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ADF820A6-7890-453D-ADF0-62C6BDBAB145}"/>
              </a:ext>
            </a:extLst>
          </p:cNvPr>
          <p:cNvSpPr txBox="1">
            <a:spLocks/>
          </p:cNvSpPr>
          <p:nvPr/>
        </p:nvSpPr>
        <p:spPr>
          <a:xfrm>
            <a:off x="5277740" y="2530246"/>
            <a:ext cx="2028096" cy="25491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Бюджетные обслуживающие организации и </a:t>
            </a:r>
            <a:r>
              <a:rPr lang="ru-RU" sz="800" dirty="0" err="1"/>
              <a:t>ОИВы</a:t>
            </a:r>
            <a:r>
              <a:rPr lang="ru-RU" sz="800" dirty="0"/>
              <a:t> (~100 штук)</a:t>
            </a: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980DC56F-8B89-4671-96DD-6933C48F25DA}"/>
              </a:ext>
            </a:extLst>
          </p:cNvPr>
          <p:cNvSpPr txBox="1">
            <a:spLocks/>
          </p:cNvSpPr>
          <p:nvPr/>
        </p:nvSpPr>
        <p:spPr>
          <a:xfrm>
            <a:off x="9492149" y="2530246"/>
            <a:ext cx="1105724" cy="25491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Еженедельно/</a:t>
            </a:r>
            <a:br>
              <a:rPr lang="en-US" sz="800" dirty="0"/>
            </a:br>
            <a:r>
              <a:rPr lang="ru-RU" sz="800" dirty="0"/>
              <a:t>ежемесячно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1BAD3E2C-B467-44AF-9555-D1DAC49F96B5}"/>
              </a:ext>
            </a:extLst>
          </p:cNvPr>
          <p:cNvSpPr txBox="1">
            <a:spLocks/>
          </p:cNvSpPr>
          <p:nvPr/>
        </p:nvSpPr>
        <p:spPr>
          <a:xfrm>
            <a:off x="7450258" y="2530246"/>
            <a:ext cx="1897469" cy="38237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Адрес, график работы (в т.ч. нерабочие дни), контактные данные, адреса обслуживания</a:t>
            </a: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00524D22-1301-48D2-9425-7315E4F2B629}"/>
              </a:ext>
            </a:extLst>
          </p:cNvPr>
          <p:cNvSpPr txBox="1">
            <a:spLocks/>
          </p:cNvSpPr>
          <p:nvPr/>
        </p:nvSpPr>
        <p:spPr>
          <a:xfrm>
            <a:off x="3064603" y="2530246"/>
            <a:ext cx="2068715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Наполнение базы данных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40F40486-2CA6-4086-8951-A2C32109FF88}"/>
              </a:ext>
            </a:extLst>
          </p:cNvPr>
          <p:cNvGrpSpPr>
            <a:grpSpLocks/>
          </p:cNvGrpSpPr>
          <p:nvPr/>
        </p:nvGrpSpPr>
        <p:grpSpPr>
          <a:xfrm>
            <a:off x="570676" y="2995622"/>
            <a:ext cx="225304" cy="224783"/>
            <a:chOff x="9937575" y="4364420"/>
            <a:chExt cx="732252" cy="730573"/>
          </a:xfrm>
        </p:grpSpPr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094F8001-7D9A-42D9-BD39-090282AD80AE}"/>
                </a:ext>
              </a:extLst>
            </p:cNvPr>
            <p:cNvSpPr/>
            <p:nvPr/>
          </p:nvSpPr>
          <p:spPr>
            <a:xfrm>
              <a:off x="9937575" y="4440892"/>
              <a:ext cx="654095" cy="654101"/>
            </a:xfrm>
            <a:custGeom>
              <a:avLst/>
              <a:gdLst>
                <a:gd name="connsiteX0" fmla="*/ 634764 w 654098"/>
                <a:gd name="connsiteY0" fmla="*/ 518139 h 654098"/>
                <a:gd name="connsiteX1" fmla="*/ 531355 w 654098"/>
                <a:gd name="connsiteY1" fmla="*/ 414729 h 654098"/>
                <a:gd name="connsiteX2" fmla="*/ 479027 w 654098"/>
                <a:gd name="connsiteY2" fmla="*/ 414729 h 654098"/>
                <a:gd name="connsiteX3" fmla="*/ 427321 w 654098"/>
                <a:gd name="connsiteY3" fmla="*/ 466434 h 654098"/>
                <a:gd name="connsiteX4" fmla="*/ 378732 w 654098"/>
                <a:gd name="connsiteY4" fmla="*/ 472041 h 654098"/>
                <a:gd name="connsiteX5" fmla="*/ 187485 w 654098"/>
                <a:gd name="connsiteY5" fmla="*/ 281418 h 654098"/>
                <a:gd name="connsiteX6" fmla="*/ 193092 w 654098"/>
                <a:gd name="connsiteY6" fmla="*/ 232828 h 654098"/>
                <a:gd name="connsiteX7" fmla="*/ 245420 w 654098"/>
                <a:gd name="connsiteY7" fmla="*/ 180500 h 654098"/>
                <a:gd name="connsiteX8" fmla="*/ 245420 w 654098"/>
                <a:gd name="connsiteY8" fmla="*/ 128172 h 654098"/>
                <a:gd name="connsiteX9" fmla="*/ 142010 w 654098"/>
                <a:gd name="connsiteY9" fmla="*/ 24762 h 654098"/>
                <a:gd name="connsiteX10" fmla="*/ 89682 w 654098"/>
                <a:gd name="connsiteY10" fmla="*/ 24762 h 654098"/>
                <a:gd name="connsiteX11" fmla="*/ 28633 w 654098"/>
                <a:gd name="connsiteY11" fmla="*/ 85811 h 654098"/>
                <a:gd name="connsiteX12" fmla="*/ 16797 w 654098"/>
                <a:gd name="connsiteY12" fmla="*/ 138139 h 654098"/>
                <a:gd name="connsiteX13" fmla="*/ 520764 w 654098"/>
                <a:gd name="connsiteY13" fmla="*/ 642106 h 654098"/>
                <a:gd name="connsiteX14" fmla="*/ 573092 w 654098"/>
                <a:gd name="connsiteY14" fmla="*/ 630270 h 654098"/>
                <a:gd name="connsiteX15" fmla="*/ 634141 w 654098"/>
                <a:gd name="connsiteY15" fmla="*/ 569221 h 654098"/>
                <a:gd name="connsiteX16" fmla="*/ 634764 w 654098"/>
                <a:gd name="connsiteY16" fmla="*/ 518139 h 654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54098" h="654098">
                  <a:moveTo>
                    <a:pt x="634764" y="518139"/>
                  </a:moveTo>
                  <a:lnTo>
                    <a:pt x="531355" y="414729"/>
                  </a:lnTo>
                  <a:cubicBezTo>
                    <a:pt x="517026" y="400401"/>
                    <a:pt x="493355" y="400401"/>
                    <a:pt x="479027" y="414729"/>
                  </a:cubicBezTo>
                  <a:lnTo>
                    <a:pt x="427321" y="466434"/>
                  </a:lnTo>
                  <a:cubicBezTo>
                    <a:pt x="414240" y="479516"/>
                    <a:pt x="393683" y="482008"/>
                    <a:pt x="378732" y="472041"/>
                  </a:cubicBezTo>
                  <a:cubicBezTo>
                    <a:pt x="301486" y="422828"/>
                    <a:pt x="236076" y="358041"/>
                    <a:pt x="187485" y="281418"/>
                  </a:cubicBezTo>
                  <a:cubicBezTo>
                    <a:pt x="177518" y="265844"/>
                    <a:pt x="180010" y="245910"/>
                    <a:pt x="193092" y="232828"/>
                  </a:cubicBezTo>
                  <a:lnTo>
                    <a:pt x="245420" y="180500"/>
                  </a:lnTo>
                  <a:cubicBezTo>
                    <a:pt x="259748" y="166172"/>
                    <a:pt x="259748" y="142500"/>
                    <a:pt x="245420" y="128172"/>
                  </a:cubicBezTo>
                  <a:lnTo>
                    <a:pt x="142010" y="24762"/>
                  </a:lnTo>
                  <a:cubicBezTo>
                    <a:pt x="127682" y="10434"/>
                    <a:pt x="104010" y="10434"/>
                    <a:pt x="89682" y="24762"/>
                  </a:cubicBezTo>
                  <a:lnTo>
                    <a:pt x="28633" y="85811"/>
                  </a:lnTo>
                  <a:cubicBezTo>
                    <a:pt x="14928" y="99516"/>
                    <a:pt x="10568" y="120074"/>
                    <a:pt x="16797" y="138139"/>
                  </a:cubicBezTo>
                  <a:cubicBezTo>
                    <a:pt x="102764" y="372369"/>
                    <a:pt x="287157" y="556762"/>
                    <a:pt x="520764" y="642106"/>
                  </a:cubicBezTo>
                  <a:cubicBezTo>
                    <a:pt x="538830" y="648959"/>
                    <a:pt x="559387" y="643975"/>
                    <a:pt x="573092" y="630270"/>
                  </a:cubicBezTo>
                  <a:lnTo>
                    <a:pt x="634141" y="569221"/>
                  </a:lnTo>
                  <a:cubicBezTo>
                    <a:pt x="649092" y="556139"/>
                    <a:pt x="649092" y="532467"/>
                    <a:pt x="634764" y="518139"/>
                  </a:cubicBez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CE91E71E-E4D3-4E33-AD26-EC667D71B59A}"/>
                </a:ext>
              </a:extLst>
            </p:cNvPr>
            <p:cNvSpPr/>
            <p:nvPr/>
          </p:nvSpPr>
          <p:spPr>
            <a:xfrm>
              <a:off x="10588842" y="4364423"/>
              <a:ext cx="80985" cy="80983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049 w 80983"/>
                <a:gd name="connsiteY1" fmla="*/ 4672 h 80983"/>
                <a:gd name="connsiteX2" fmla="*/ 80049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049" y="4672"/>
                  </a:lnTo>
                  <a:lnTo>
                    <a:pt x="80049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2CE7C5BC-510F-4509-A5EE-B7FC6D2E9966}"/>
                </a:ext>
              </a:extLst>
            </p:cNvPr>
            <p:cNvSpPr/>
            <p:nvPr/>
          </p:nvSpPr>
          <p:spPr>
            <a:xfrm>
              <a:off x="10311010" y="4364423"/>
              <a:ext cx="80985" cy="80983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049 w 80983"/>
                <a:gd name="connsiteY1" fmla="*/ 4672 h 80983"/>
                <a:gd name="connsiteX2" fmla="*/ 80049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049" y="4672"/>
                  </a:lnTo>
                  <a:lnTo>
                    <a:pt x="80049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F2A592-CD70-463E-89FA-4B4549632DFF}"/>
                </a:ext>
              </a:extLst>
            </p:cNvPr>
            <p:cNvSpPr/>
            <p:nvPr/>
          </p:nvSpPr>
          <p:spPr>
            <a:xfrm>
              <a:off x="10449928" y="4364420"/>
              <a:ext cx="80985" cy="80983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672 w 80983"/>
                <a:gd name="connsiteY1" fmla="*/ 4672 h 80983"/>
                <a:gd name="connsiteX2" fmla="*/ 80672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672" y="4672"/>
                  </a:lnTo>
                  <a:lnTo>
                    <a:pt x="80672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499E2DE1-A571-4577-BFE9-E55F8B7327B8}"/>
                </a:ext>
              </a:extLst>
            </p:cNvPr>
            <p:cNvSpPr/>
            <p:nvPr/>
          </p:nvSpPr>
          <p:spPr>
            <a:xfrm>
              <a:off x="10588842" y="4503340"/>
              <a:ext cx="80985" cy="80983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049 w 80983"/>
                <a:gd name="connsiteY1" fmla="*/ 4672 h 80983"/>
                <a:gd name="connsiteX2" fmla="*/ 80049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049" y="4672"/>
                  </a:lnTo>
                  <a:lnTo>
                    <a:pt x="80049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FBD1613B-1D24-4512-91AE-EF78F7AE0681}"/>
                </a:ext>
              </a:extLst>
            </p:cNvPr>
            <p:cNvSpPr/>
            <p:nvPr/>
          </p:nvSpPr>
          <p:spPr>
            <a:xfrm>
              <a:off x="10310994" y="4503340"/>
              <a:ext cx="80985" cy="80983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049 w 80983"/>
                <a:gd name="connsiteY1" fmla="*/ 4672 h 80983"/>
                <a:gd name="connsiteX2" fmla="*/ 80049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049" y="4672"/>
                  </a:lnTo>
                  <a:lnTo>
                    <a:pt x="80049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BD0B4B6C-2F49-4F78-A4EC-AEE5760CB420}"/>
                </a:ext>
              </a:extLst>
            </p:cNvPr>
            <p:cNvSpPr/>
            <p:nvPr/>
          </p:nvSpPr>
          <p:spPr>
            <a:xfrm>
              <a:off x="10449912" y="4503337"/>
              <a:ext cx="80985" cy="80983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672 w 80983"/>
                <a:gd name="connsiteY1" fmla="*/ 4672 h 80983"/>
                <a:gd name="connsiteX2" fmla="*/ 80672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672" y="4672"/>
                  </a:lnTo>
                  <a:lnTo>
                    <a:pt x="80672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C0F3166-238A-4A1D-9D07-8ADF0893A361}"/>
                </a:ext>
              </a:extLst>
            </p:cNvPr>
            <p:cNvSpPr/>
            <p:nvPr/>
          </p:nvSpPr>
          <p:spPr>
            <a:xfrm>
              <a:off x="10588816" y="4642254"/>
              <a:ext cx="80985" cy="80983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049 w 80983"/>
                <a:gd name="connsiteY1" fmla="*/ 4672 h 80983"/>
                <a:gd name="connsiteX2" fmla="*/ 80049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049" y="4672"/>
                  </a:lnTo>
                  <a:lnTo>
                    <a:pt x="80049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C0802D6-77D8-443F-9EE8-B02E6DD290BA}"/>
                </a:ext>
              </a:extLst>
            </p:cNvPr>
            <p:cNvSpPr/>
            <p:nvPr/>
          </p:nvSpPr>
          <p:spPr>
            <a:xfrm>
              <a:off x="10311001" y="4642241"/>
              <a:ext cx="80985" cy="80983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049 w 80983"/>
                <a:gd name="connsiteY1" fmla="*/ 4672 h 80983"/>
                <a:gd name="connsiteX2" fmla="*/ 80049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049" y="4672"/>
                  </a:lnTo>
                  <a:lnTo>
                    <a:pt x="80049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C39DB4C-FF6C-410E-805A-6F23CE3A8A31}"/>
                </a:ext>
              </a:extLst>
            </p:cNvPr>
            <p:cNvSpPr/>
            <p:nvPr/>
          </p:nvSpPr>
          <p:spPr>
            <a:xfrm>
              <a:off x="10449983" y="4642231"/>
              <a:ext cx="80985" cy="80983"/>
            </a:xfrm>
            <a:custGeom>
              <a:avLst/>
              <a:gdLst>
                <a:gd name="connsiteX0" fmla="*/ 4672 w 80983"/>
                <a:gd name="connsiteY0" fmla="*/ 4672 h 80983"/>
                <a:gd name="connsiteX1" fmla="*/ 80672 w 80983"/>
                <a:gd name="connsiteY1" fmla="*/ 4672 h 80983"/>
                <a:gd name="connsiteX2" fmla="*/ 80672 w 80983"/>
                <a:gd name="connsiteY2" fmla="*/ 80049 h 80983"/>
                <a:gd name="connsiteX3" fmla="*/ 4672 w 80983"/>
                <a:gd name="connsiteY3" fmla="*/ 80049 h 8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3" h="80983">
                  <a:moveTo>
                    <a:pt x="4672" y="4672"/>
                  </a:moveTo>
                  <a:lnTo>
                    <a:pt x="80672" y="4672"/>
                  </a:lnTo>
                  <a:lnTo>
                    <a:pt x="80672" y="80049"/>
                  </a:lnTo>
                  <a:lnTo>
                    <a:pt x="4672" y="80049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3B9045D8-E4B6-4263-9883-00DFD05BC192}"/>
              </a:ext>
            </a:extLst>
          </p:cNvPr>
          <p:cNvSpPr txBox="1">
            <a:spLocks/>
          </p:cNvSpPr>
          <p:nvPr/>
        </p:nvSpPr>
        <p:spPr>
          <a:xfrm>
            <a:off x="882613" y="2995623"/>
            <a:ext cx="2037568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Жалобы на работу УК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0531C1F6-9450-4F21-96F4-6FE2BE24F528}"/>
              </a:ext>
            </a:extLst>
          </p:cNvPr>
          <p:cNvSpPr txBox="1">
            <a:spLocks/>
          </p:cNvSpPr>
          <p:nvPr/>
        </p:nvSpPr>
        <p:spPr>
          <a:xfrm>
            <a:off x="5277740" y="2995623"/>
            <a:ext cx="5320133" cy="246221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38100" rIns="381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1000" i="1">
                <a:solidFill>
                  <a:srgbClr val="000000"/>
                </a:solidFill>
                <a:latin typeface="Verdan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ru-RU" sz="800"/>
              <a:t>Не применимо</a:t>
            </a:r>
            <a:endParaRPr lang="ru-RU" sz="800" dirty="0"/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51D4A7C2-D5CB-4E3E-A789-05F1DE0E98AF}"/>
              </a:ext>
            </a:extLst>
          </p:cNvPr>
          <p:cNvSpPr txBox="1">
            <a:spLocks/>
          </p:cNvSpPr>
          <p:nvPr/>
        </p:nvSpPr>
        <p:spPr>
          <a:xfrm>
            <a:off x="3064603" y="2995623"/>
            <a:ext cx="2068715" cy="24622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Проработка процесса по обработке жалоб на работу УК через ЕДЦ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2AB62179-D566-4BE6-B5B2-0D75A3C85359}"/>
              </a:ext>
            </a:extLst>
          </p:cNvPr>
          <p:cNvGrpSpPr>
            <a:grpSpLocks/>
          </p:cNvGrpSpPr>
          <p:nvPr/>
        </p:nvGrpSpPr>
        <p:grpSpPr>
          <a:xfrm>
            <a:off x="582264" y="3324849"/>
            <a:ext cx="202125" cy="199004"/>
            <a:chOff x="6637348" y="4491041"/>
            <a:chExt cx="719127" cy="708026"/>
          </a:xfrm>
        </p:grpSpPr>
        <p:sp>
          <p:nvSpPr>
            <p:cNvPr id="219" name="Freeform 204">
              <a:extLst>
                <a:ext uri="{FF2B5EF4-FFF2-40B4-BE49-F238E27FC236}">
                  <a16:creationId xmlns:a16="http://schemas.microsoft.com/office/drawing/2014/main" id="{50107C6B-2CBD-4D19-BC50-C4A363998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307" y="4491041"/>
              <a:ext cx="339727" cy="122237"/>
            </a:xfrm>
            <a:custGeom>
              <a:avLst/>
              <a:gdLst>
                <a:gd name="T0" fmla="*/ 0 w 214"/>
                <a:gd name="T1" fmla="*/ 77 h 77"/>
                <a:gd name="T2" fmla="*/ 181 w 214"/>
                <a:gd name="T3" fmla="*/ 0 h 77"/>
                <a:gd name="T4" fmla="*/ 214 w 214"/>
                <a:gd name="T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" h="77">
                  <a:moveTo>
                    <a:pt x="0" y="77"/>
                  </a:moveTo>
                  <a:lnTo>
                    <a:pt x="181" y="0"/>
                  </a:lnTo>
                  <a:lnTo>
                    <a:pt x="214" y="77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20" name="Freeform 205">
              <a:extLst>
                <a:ext uri="{FF2B5EF4-FFF2-40B4-BE49-F238E27FC236}">
                  <a16:creationId xmlns:a16="http://schemas.microsoft.com/office/drawing/2014/main" id="{8A3D021C-C0BE-49FF-9A8C-54C9C4317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7348" y="4675192"/>
              <a:ext cx="663575" cy="523875"/>
            </a:xfrm>
            <a:custGeom>
              <a:avLst/>
              <a:gdLst>
                <a:gd name="T0" fmla="*/ 201 w 201"/>
                <a:gd name="T1" fmla="*/ 113 h 159"/>
                <a:gd name="T2" fmla="*/ 201 w 201"/>
                <a:gd name="T3" fmla="*/ 139 h 159"/>
                <a:gd name="T4" fmla="*/ 181 w 201"/>
                <a:gd name="T5" fmla="*/ 159 h 159"/>
                <a:gd name="T6" fmla="*/ 20 w 201"/>
                <a:gd name="T7" fmla="*/ 159 h 159"/>
                <a:gd name="T8" fmla="*/ 0 w 201"/>
                <a:gd name="T9" fmla="*/ 139 h 159"/>
                <a:gd name="T10" fmla="*/ 0 w 201"/>
                <a:gd name="T11" fmla="*/ 20 h 159"/>
                <a:gd name="T12" fmla="*/ 20 w 201"/>
                <a:gd name="T13" fmla="*/ 0 h 159"/>
                <a:gd name="T14" fmla="*/ 181 w 201"/>
                <a:gd name="T15" fmla="*/ 0 h 159"/>
                <a:gd name="T16" fmla="*/ 201 w 201"/>
                <a:gd name="T17" fmla="*/ 20 h 159"/>
                <a:gd name="T18" fmla="*/ 201 w 201"/>
                <a:gd name="T19" fmla="*/ 4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" h="159">
                  <a:moveTo>
                    <a:pt x="201" y="113"/>
                  </a:moveTo>
                  <a:cubicBezTo>
                    <a:pt x="201" y="139"/>
                    <a:pt x="201" y="139"/>
                    <a:pt x="201" y="139"/>
                  </a:cubicBezTo>
                  <a:cubicBezTo>
                    <a:pt x="201" y="150"/>
                    <a:pt x="192" y="159"/>
                    <a:pt x="181" y="159"/>
                  </a:cubicBezTo>
                  <a:cubicBezTo>
                    <a:pt x="20" y="159"/>
                    <a:pt x="20" y="159"/>
                    <a:pt x="20" y="159"/>
                  </a:cubicBezTo>
                  <a:cubicBezTo>
                    <a:pt x="9" y="159"/>
                    <a:pt x="0" y="150"/>
                    <a:pt x="0" y="13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2" y="0"/>
                    <a:pt x="201" y="9"/>
                    <a:pt x="201" y="20"/>
                  </a:cubicBezTo>
                  <a:cubicBezTo>
                    <a:pt x="201" y="45"/>
                    <a:pt x="201" y="45"/>
                    <a:pt x="201" y="45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21" name="Oval 206">
              <a:extLst>
                <a:ext uri="{FF2B5EF4-FFF2-40B4-BE49-F238E27FC236}">
                  <a16:creationId xmlns:a16="http://schemas.microsoft.com/office/drawing/2014/main" id="{F3752E3C-44BC-4DB9-980C-755990099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10" y="4926016"/>
              <a:ext cx="22226" cy="22226"/>
            </a:xfrm>
            <a:prstGeom prst="ellips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22" name="Freeform 207">
              <a:extLst>
                <a:ext uri="{FF2B5EF4-FFF2-40B4-BE49-F238E27FC236}">
                  <a16:creationId xmlns:a16="http://schemas.microsoft.com/office/drawing/2014/main" id="{21147E19-6D6C-4C43-9229-58DE89B26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873" y="4830762"/>
              <a:ext cx="355602" cy="214314"/>
            </a:xfrm>
            <a:custGeom>
              <a:avLst/>
              <a:gdLst>
                <a:gd name="T0" fmla="*/ 20 w 108"/>
                <a:gd name="T1" fmla="*/ 65 h 65"/>
                <a:gd name="T2" fmla="*/ 0 w 108"/>
                <a:gd name="T3" fmla="*/ 45 h 65"/>
                <a:gd name="T4" fmla="*/ 0 w 108"/>
                <a:gd name="T5" fmla="*/ 20 h 65"/>
                <a:gd name="T6" fmla="*/ 20 w 108"/>
                <a:gd name="T7" fmla="*/ 0 h 65"/>
                <a:gd name="T8" fmla="*/ 108 w 108"/>
                <a:gd name="T9" fmla="*/ 0 h 65"/>
                <a:gd name="T10" fmla="*/ 108 w 108"/>
                <a:gd name="T11" fmla="*/ 65 h 65"/>
                <a:gd name="T12" fmla="*/ 20 w 108"/>
                <a:gd name="T1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" h="65">
                  <a:moveTo>
                    <a:pt x="20" y="65"/>
                  </a:moveTo>
                  <a:cubicBezTo>
                    <a:pt x="9" y="65"/>
                    <a:pt x="0" y="56"/>
                    <a:pt x="0" y="4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08" y="65"/>
                    <a:pt x="108" y="65"/>
                    <a:pt x="108" y="65"/>
                  </a:cubicBezTo>
                  <a:lnTo>
                    <a:pt x="20" y="65"/>
                  </a:ln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</p:grpSp>
      <p:sp>
        <p:nvSpPr>
          <p:cNvPr id="332" name="TextBox 331">
            <a:extLst>
              <a:ext uri="{FF2B5EF4-FFF2-40B4-BE49-F238E27FC236}">
                <a16:creationId xmlns:a16="http://schemas.microsoft.com/office/drawing/2014/main" id="{050D98E5-4A50-4C4E-A399-40D671DDE444}"/>
              </a:ext>
            </a:extLst>
          </p:cNvPr>
          <p:cNvSpPr txBox="1">
            <a:spLocks/>
          </p:cNvSpPr>
          <p:nvPr/>
        </p:nvSpPr>
        <p:spPr>
          <a:xfrm>
            <a:off x="882613" y="3324850"/>
            <a:ext cx="2037568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Оплата коммунальных услуг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3EF9EA1F-F94C-44BE-BBBE-D0B77F15FB22}"/>
              </a:ext>
            </a:extLst>
          </p:cNvPr>
          <p:cNvSpPr txBox="1">
            <a:spLocks/>
          </p:cNvSpPr>
          <p:nvPr/>
        </p:nvSpPr>
        <p:spPr>
          <a:xfrm>
            <a:off x="5277740" y="3324850"/>
            <a:ext cx="5320133" cy="615553"/>
          </a:xfrm>
          <a:prstGeom prst="roundRect">
            <a:avLst>
              <a:gd name="adj" fmla="val 9331"/>
            </a:avLst>
          </a:prstGeom>
          <a:solidFill>
            <a:schemeClr val="accent1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38100" rIns="381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1000" i="1">
                <a:solidFill>
                  <a:srgbClr val="000000"/>
                </a:solidFill>
                <a:latin typeface="Verdan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ru-RU" sz="800"/>
              <a:t>Не применимо</a:t>
            </a:r>
            <a:endParaRPr lang="ru-RU" sz="800" dirty="0"/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D1A3FA4A-C94A-49F0-B33B-EDF4CB84BFA2}"/>
              </a:ext>
            </a:extLst>
          </p:cNvPr>
          <p:cNvSpPr txBox="1">
            <a:spLocks/>
          </p:cNvSpPr>
          <p:nvPr/>
        </p:nvSpPr>
        <p:spPr>
          <a:xfrm>
            <a:off x="3064603" y="3324850"/>
            <a:ext cx="2068715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Проработка процесса по решению проблем с задолженностью для жителей – информирование о последствиях, способах оплаты, повторному подключению и проч.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7EE8D873-B0A2-41B0-86AA-330B468F0782}"/>
              </a:ext>
            </a:extLst>
          </p:cNvPr>
          <p:cNvSpPr txBox="1">
            <a:spLocks/>
          </p:cNvSpPr>
          <p:nvPr/>
        </p:nvSpPr>
        <p:spPr>
          <a:xfrm>
            <a:off x="5277740" y="4023409"/>
            <a:ext cx="5320133" cy="382371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38100" rIns="381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1000" i="1">
                <a:solidFill>
                  <a:srgbClr val="000000"/>
                </a:solidFill>
                <a:latin typeface="Verdan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ru-RU" sz="800"/>
              <a:t>Не применимо</a:t>
            </a:r>
            <a:endParaRPr lang="ru-RU" sz="800" dirty="0"/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9459E3C9-4CBA-46F3-BFD8-F5B543C08475}"/>
              </a:ext>
            </a:extLst>
          </p:cNvPr>
          <p:cNvGrpSpPr>
            <a:grpSpLocks/>
          </p:cNvGrpSpPr>
          <p:nvPr/>
        </p:nvGrpSpPr>
        <p:grpSpPr>
          <a:xfrm>
            <a:off x="562442" y="4023409"/>
            <a:ext cx="241770" cy="247765"/>
            <a:chOff x="12836622" y="4549077"/>
            <a:chExt cx="569450" cy="583569"/>
          </a:xfrm>
        </p:grpSpPr>
        <p:sp>
          <p:nvSpPr>
            <p:cNvPr id="255" name="Freeform 121">
              <a:extLst>
                <a:ext uri="{FF2B5EF4-FFF2-40B4-BE49-F238E27FC236}">
                  <a16:creationId xmlns:a16="http://schemas.microsoft.com/office/drawing/2014/main" id="{18118EB3-BBC2-4A06-95C3-69112C405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0752" y="4814977"/>
              <a:ext cx="375320" cy="227074"/>
            </a:xfrm>
            <a:custGeom>
              <a:avLst/>
              <a:gdLst>
                <a:gd name="T0" fmla="*/ 0 w 116"/>
                <a:gd name="T1" fmla="*/ 70 h 70"/>
                <a:gd name="T2" fmla="*/ 8 w 116"/>
                <a:gd name="T3" fmla="*/ 66 h 70"/>
                <a:gd name="T4" fmla="*/ 64 w 116"/>
                <a:gd name="T5" fmla="*/ 66 h 70"/>
                <a:gd name="T6" fmla="*/ 96 w 116"/>
                <a:gd name="T7" fmla="*/ 38 h 70"/>
                <a:gd name="T8" fmla="*/ 116 w 116"/>
                <a:gd name="T9" fmla="*/ 6 h 70"/>
                <a:gd name="T10" fmla="*/ 100 w 116"/>
                <a:gd name="T11" fmla="*/ 2 h 70"/>
                <a:gd name="T12" fmla="*/ 84 w 116"/>
                <a:gd name="T13" fmla="*/ 18 h 70"/>
                <a:gd name="T14" fmla="*/ 66 w 116"/>
                <a:gd name="T15" fmla="*/ 28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70">
                  <a:moveTo>
                    <a:pt x="0" y="70"/>
                  </a:moveTo>
                  <a:cubicBezTo>
                    <a:pt x="2" y="68"/>
                    <a:pt x="3" y="66"/>
                    <a:pt x="8" y="66"/>
                  </a:cubicBezTo>
                  <a:cubicBezTo>
                    <a:pt x="13" y="66"/>
                    <a:pt x="59" y="66"/>
                    <a:pt x="64" y="66"/>
                  </a:cubicBezTo>
                  <a:cubicBezTo>
                    <a:pt x="68" y="66"/>
                    <a:pt x="93" y="41"/>
                    <a:pt x="96" y="38"/>
                  </a:cubicBezTo>
                  <a:cubicBezTo>
                    <a:pt x="99" y="35"/>
                    <a:pt x="112" y="15"/>
                    <a:pt x="116" y="6"/>
                  </a:cubicBezTo>
                  <a:cubicBezTo>
                    <a:pt x="114" y="3"/>
                    <a:pt x="107" y="0"/>
                    <a:pt x="100" y="2"/>
                  </a:cubicBezTo>
                  <a:cubicBezTo>
                    <a:pt x="93" y="4"/>
                    <a:pt x="89" y="9"/>
                    <a:pt x="84" y="18"/>
                  </a:cubicBezTo>
                  <a:cubicBezTo>
                    <a:pt x="66" y="28"/>
                    <a:pt x="66" y="28"/>
                    <a:pt x="66" y="28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56" name="Freeform 122">
              <a:extLst>
                <a:ext uri="{FF2B5EF4-FFF2-40B4-BE49-F238E27FC236}">
                  <a16:creationId xmlns:a16="http://schemas.microsoft.com/office/drawing/2014/main" id="{A991C87B-E8F2-4804-8CB6-036F06827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7216" y="4859686"/>
              <a:ext cx="336493" cy="91771"/>
            </a:xfrm>
            <a:custGeom>
              <a:avLst/>
              <a:gdLst>
                <a:gd name="T0" fmla="*/ 56 w 104"/>
                <a:gd name="T1" fmla="*/ 28 h 28"/>
                <a:gd name="T2" fmla="*/ 88 w 104"/>
                <a:gd name="T3" fmla="*/ 28 h 28"/>
                <a:gd name="T4" fmla="*/ 88 w 104"/>
                <a:gd name="T5" fmla="*/ 8 h 28"/>
                <a:gd name="T6" fmla="*/ 67 w 104"/>
                <a:gd name="T7" fmla="*/ 8 h 28"/>
                <a:gd name="T8" fmla="*/ 52 w 104"/>
                <a:gd name="T9" fmla="*/ 0 h 28"/>
                <a:gd name="T10" fmla="*/ 32 w 104"/>
                <a:gd name="T11" fmla="*/ 0 h 28"/>
                <a:gd name="T12" fmla="*/ 16 w 104"/>
                <a:gd name="T13" fmla="*/ 8 h 28"/>
                <a:gd name="T14" fmla="*/ 0 w 104"/>
                <a:gd name="T15" fmla="*/ 2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28">
                  <a:moveTo>
                    <a:pt x="56" y="28"/>
                  </a:moveTo>
                  <a:cubicBezTo>
                    <a:pt x="56" y="28"/>
                    <a:pt x="84" y="28"/>
                    <a:pt x="88" y="28"/>
                  </a:cubicBezTo>
                  <a:cubicBezTo>
                    <a:pt x="104" y="28"/>
                    <a:pt x="104" y="8"/>
                    <a:pt x="88" y="8"/>
                  </a:cubicBezTo>
                  <a:cubicBezTo>
                    <a:pt x="84" y="8"/>
                    <a:pt x="78" y="8"/>
                    <a:pt x="67" y="8"/>
                  </a:cubicBezTo>
                  <a:cubicBezTo>
                    <a:pt x="64" y="8"/>
                    <a:pt x="57" y="0"/>
                    <a:pt x="52" y="0"/>
                  </a:cubicBezTo>
                  <a:cubicBezTo>
                    <a:pt x="50" y="0"/>
                    <a:pt x="37" y="0"/>
                    <a:pt x="32" y="0"/>
                  </a:cubicBezTo>
                  <a:cubicBezTo>
                    <a:pt x="27" y="0"/>
                    <a:pt x="20" y="4"/>
                    <a:pt x="16" y="8"/>
                  </a:cubicBezTo>
                  <a:cubicBezTo>
                    <a:pt x="10" y="14"/>
                    <a:pt x="0" y="24"/>
                    <a:pt x="0" y="24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57" name="Freeform 123">
              <a:extLst>
                <a:ext uri="{FF2B5EF4-FFF2-40B4-BE49-F238E27FC236}">
                  <a16:creationId xmlns:a16="http://schemas.microsoft.com/office/drawing/2014/main" id="{B50FCE3B-F76C-4A6F-B22D-34A873186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6622" y="4912631"/>
              <a:ext cx="220015" cy="220015"/>
            </a:xfrm>
            <a:custGeom>
              <a:avLst/>
              <a:gdLst>
                <a:gd name="T0" fmla="*/ 132 w 187"/>
                <a:gd name="T1" fmla="*/ 187 h 187"/>
                <a:gd name="T2" fmla="*/ 187 w 187"/>
                <a:gd name="T3" fmla="*/ 132 h 187"/>
                <a:gd name="T4" fmla="*/ 55 w 187"/>
                <a:gd name="T5" fmla="*/ 0 h 187"/>
                <a:gd name="T6" fmla="*/ 0 w 187"/>
                <a:gd name="T7" fmla="*/ 55 h 187"/>
                <a:gd name="T8" fmla="*/ 132 w 18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187">
                  <a:moveTo>
                    <a:pt x="132" y="187"/>
                  </a:moveTo>
                  <a:lnTo>
                    <a:pt x="187" y="132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132" y="187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58" name="Line 124">
              <a:extLst>
                <a:ext uri="{FF2B5EF4-FFF2-40B4-BE49-F238E27FC236}">
                  <a16:creationId xmlns:a16="http://schemas.microsoft.com/office/drawing/2014/main" id="{AA930608-FE37-452A-9216-7070D0812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01332" y="4977341"/>
              <a:ext cx="25884" cy="25884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59" name="Line 125">
              <a:extLst>
                <a:ext uri="{FF2B5EF4-FFF2-40B4-BE49-F238E27FC236}">
                  <a16:creationId xmlns:a16="http://schemas.microsoft.com/office/drawing/2014/main" id="{B8BA4D6C-3BA0-4061-8570-FBB14D987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02535" y="4678498"/>
              <a:ext cx="0" cy="181189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60" name="Line 126">
              <a:extLst>
                <a:ext uri="{FF2B5EF4-FFF2-40B4-BE49-F238E27FC236}">
                  <a16:creationId xmlns:a16="http://schemas.microsoft.com/office/drawing/2014/main" id="{3AC502B5-41D5-4A49-BDA7-E619EFC962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43694" y="4678498"/>
              <a:ext cx="0" cy="181189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61" name="Freeform 127">
              <a:extLst>
                <a:ext uri="{FF2B5EF4-FFF2-40B4-BE49-F238E27FC236}">
                  <a16:creationId xmlns:a16="http://schemas.microsoft.com/office/drawing/2014/main" id="{D6651E95-4A53-4118-9D29-A81A5903F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1926" y="4549077"/>
              <a:ext cx="362377" cy="181189"/>
            </a:xfrm>
            <a:custGeom>
              <a:avLst/>
              <a:gdLst>
                <a:gd name="T0" fmla="*/ 308 w 308"/>
                <a:gd name="T1" fmla="*/ 154 h 154"/>
                <a:gd name="T2" fmla="*/ 154 w 308"/>
                <a:gd name="T3" fmla="*/ 0 h 154"/>
                <a:gd name="T4" fmla="*/ 0 w 308"/>
                <a:gd name="T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8" h="154">
                  <a:moveTo>
                    <a:pt x="308" y="154"/>
                  </a:moveTo>
                  <a:lnTo>
                    <a:pt x="154" y="0"/>
                  </a:lnTo>
                  <a:lnTo>
                    <a:pt x="0" y="154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62" name="Line 128">
              <a:extLst>
                <a:ext uri="{FF2B5EF4-FFF2-40B4-BE49-F238E27FC236}">
                  <a16:creationId xmlns:a16="http://schemas.microsoft.com/office/drawing/2014/main" id="{139EC602-27B3-42BA-95D8-AB3F3A8DFB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82521" y="4574961"/>
              <a:ext cx="0" cy="6471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63" name="Freeform 129">
              <a:extLst>
                <a:ext uri="{FF2B5EF4-FFF2-40B4-BE49-F238E27FC236}">
                  <a16:creationId xmlns:a16="http://schemas.microsoft.com/office/drawing/2014/main" id="{87844ABB-1CF4-4A1A-B46D-493E18A5D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4289" y="4756150"/>
              <a:ext cx="77652" cy="129421"/>
            </a:xfrm>
            <a:custGeom>
              <a:avLst/>
              <a:gdLst>
                <a:gd name="T0" fmla="*/ 0 w 66"/>
                <a:gd name="T1" fmla="*/ 110 h 110"/>
                <a:gd name="T2" fmla="*/ 0 w 66"/>
                <a:gd name="T3" fmla="*/ 0 h 110"/>
                <a:gd name="T4" fmla="*/ 66 w 66"/>
                <a:gd name="T5" fmla="*/ 0 h 110"/>
                <a:gd name="T6" fmla="*/ 66 w 66"/>
                <a:gd name="T7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110">
                  <a:moveTo>
                    <a:pt x="0" y="110"/>
                  </a:moveTo>
                  <a:lnTo>
                    <a:pt x="0" y="0"/>
                  </a:lnTo>
                  <a:lnTo>
                    <a:pt x="66" y="0"/>
                  </a:lnTo>
                  <a:lnTo>
                    <a:pt x="66" y="11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</p:grpSp>
      <p:sp>
        <p:nvSpPr>
          <p:cNvPr id="334" name="TextBox 333">
            <a:extLst>
              <a:ext uri="{FF2B5EF4-FFF2-40B4-BE49-F238E27FC236}">
                <a16:creationId xmlns:a16="http://schemas.microsoft.com/office/drawing/2014/main" id="{C7FDF7DD-393E-4E32-A1D8-10DC91DE70B3}"/>
              </a:ext>
            </a:extLst>
          </p:cNvPr>
          <p:cNvSpPr txBox="1">
            <a:spLocks/>
          </p:cNvSpPr>
          <p:nvPr/>
        </p:nvSpPr>
        <p:spPr>
          <a:xfrm>
            <a:off x="882613" y="4023409"/>
            <a:ext cx="2037568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Обслуживание дома в ЕДЦ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0950ECA5-8806-41DF-B3B6-1DE5E3C3CE90}"/>
              </a:ext>
            </a:extLst>
          </p:cNvPr>
          <p:cNvSpPr txBox="1">
            <a:spLocks/>
          </p:cNvSpPr>
          <p:nvPr/>
        </p:nvSpPr>
        <p:spPr>
          <a:xfrm>
            <a:off x="3064603" y="4023409"/>
            <a:ext cx="2068715" cy="38237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Организация подключения УК к ЕДЦ и информирования жителей в неподключенных домах</a:t>
            </a:r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AF3135B1-4C48-4223-B235-04829D482D32}"/>
              </a:ext>
            </a:extLst>
          </p:cNvPr>
          <p:cNvGrpSpPr>
            <a:grpSpLocks/>
          </p:cNvGrpSpPr>
          <p:nvPr/>
        </p:nvGrpSpPr>
        <p:grpSpPr>
          <a:xfrm>
            <a:off x="582682" y="4488787"/>
            <a:ext cx="207875" cy="247764"/>
            <a:chOff x="117563" y="1930402"/>
            <a:chExt cx="207875" cy="685863"/>
          </a:xfrm>
        </p:grpSpPr>
        <p:sp>
          <p:nvSpPr>
            <p:cNvPr id="224" name="Freeform 20">
              <a:extLst>
                <a:ext uri="{FF2B5EF4-FFF2-40B4-BE49-F238E27FC236}">
                  <a16:creationId xmlns:a16="http://schemas.microsoft.com/office/drawing/2014/main" id="{541C1ED5-F73E-4366-8661-3B9951DD4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20" y="2459103"/>
              <a:ext cx="52760" cy="157162"/>
            </a:xfrm>
            <a:custGeom>
              <a:avLst/>
              <a:gdLst>
                <a:gd name="T0" fmla="*/ 40 w 54"/>
                <a:gd name="T1" fmla="*/ 20 h 58"/>
                <a:gd name="T2" fmla="*/ 27 w 54"/>
                <a:gd name="T3" fmla="*/ 0 h 58"/>
                <a:gd name="T4" fmla="*/ 27 w 54"/>
                <a:gd name="T5" fmla="*/ 0 h 58"/>
                <a:gd name="T6" fmla="*/ 14 w 54"/>
                <a:gd name="T7" fmla="*/ 20 h 58"/>
                <a:gd name="T8" fmla="*/ 27 w 54"/>
                <a:gd name="T9" fmla="*/ 58 h 58"/>
                <a:gd name="T10" fmla="*/ 27 w 54"/>
                <a:gd name="T11" fmla="*/ 58 h 58"/>
                <a:gd name="T12" fmla="*/ 40 w 54"/>
                <a:gd name="T13" fmla="*/ 2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58">
                  <a:moveTo>
                    <a:pt x="40" y="20"/>
                  </a:moveTo>
                  <a:cubicBezTo>
                    <a:pt x="28" y="5"/>
                    <a:pt x="27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6" y="5"/>
                    <a:pt x="14" y="20"/>
                  </a:cubicBezTo>
                  <a:cubicBezTo>
                    <a:pt x="0" y="36"/>
                    <a:pt x="8" y="58"/>
                    <a:pt x="27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46" y="58"/>
                    <a:pt x="54" y="36"/>
                    <a:pt x="40" y="20"/>
                  </a:cubicBez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25" name="Freeform 21">
              <a:extLst>
                <a:ext uri="{FF2B5EF4-FFF2-40B4-BE49-F238E27FC236}">
                  <a16:creationId xmlns:a16="http://schemas.microsoft.com/office/drawing/2014/main" id="{08FA73F7-93DB-4F25-901A-B79805579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63" y="2365374"/>
              <a:ext cx="152545" cy="68264"/>
            </a:xfrm>
            <a:custGeom>
              <a:avLst/>
              <a:gdLst>
                <a:gd name="T0" fmla="*/ 0 w 156"/>
                <a:gd name="T1" fmla="*/ 1 h 25"/>
                <a:gd name="T2" fmla="*/ 59 w 156"/>
                <a:gd name="T3" fmla="*/ 1 h 25"/>
                <a:gd name="T4" fmla="*/ 94 w 156"/>
                <a:gd name="T5" fmla="*/ 19 h 25"/>
                <a:gd name="T6" fmla="*/ 129 w 156"/>
                <a:gd name="T7" fmla="*/ 1 h 25"/>
                <a:gd name="T8" fmla="*/ 137 w 156"/>
                <a:gd name="T9" fmla="*/ 1 h 25"/>
                <a:gd name="T10" fmla="*/ 156 w 156"/>
                <a:gd name="T1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" h="25">
                  <a:moveTo>
                    <a:pt x="0" y="1"/>
                  </a:moveTo>
                  <a:cubicBezTo>
                    <a:pt x="59" y="1"/>
                    <a:pt x="59" y="1"/>
                    <a:pt x="59" y="1"/>
                  </a:cubicBezTo>
                  <a:cubicBezTo>
                    <a:pt x="67" y="12"/>
                    <a:pt x="80" y="19"/>
                    <a:pt x="94" y="19"/>
                  </a:cubicBezTo>
                  <a:cubicBezTo>
                    <a:pt x="108" y="19"/>
                    <a:pt x="121" y="12"/>
                    <a:pt x="129" y="1"/>
                  </a:cubicBezTo>
                  <a:cubicBezTo>
                    <a:pt x="137" y="1"/>
                    <a:pt x="137" y="1"/>
                    <a:pt x="137" y="1"/>
                  </a:cubicBezTo>
                  <a:cubicBezTo>
                    <a:pt x="137" y="1"/>
                    <a:pt x="156" y="0"/>
                    <a:pt x="156" y="25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26" name="Freeform 22">
              <a:extLst>
                <a:ext uri="{FF2B5EF4-FFF2-40B4-BE49-F238E27FC236}">
                  <a16:creationId xmlns:a16="http://schemas.microsoft.com/office/drawing/2014/main" id="{6E92B618-4336-4F9C-B190-8CEF81185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14" y="2149476"/>
              <a:ext cx="181219" cy="284163"/>
            </a:xfrm>
            <a:custGeom>
              <a:avLst/>
              <a:gdLst>
                <a:gd name="T0" fmla="*/ 178 w 185"/>
                <a:gd name="T1" fmla="*/ 105 h 105"/>
                <a:gd name="T2" fmla="*/ 109 w 185"/>
                <a:gd name="T3" fmla="*/ 33 h 105"/>
                <a:gd name="T4" fmla="*/ 109 w 185"/>
                <a:gd name="T5" fmla="*/ 33 h 105"/>
                <a:gd name="T6" fmla="*/ 109 w 185"/>
                <a:gd name="T7" fmla="*/ 0 h 105"/>
                <a:gd name="T8" fmla="*/ 46 w 185"/>
                <a:gd name="T9" fmla="*/ 0 h 105"/>
                <a:gd name="T10" fmla="*/ 46 w 185"/>
                <a:gd name="T11" fmla="*/ 32 h 105"/>
                <a:gd name="T12" fmla="*/ 0 w 185"/>
                <a:gd name="T13" fmla="*/ 32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5" h="105">
                  <a:moveTo>
                    <a:pt x="178" y="105"/>
                  </a:moveTo>
                  <a:cubicBezTo>
                    <a:pt x="178" y="105"/>
                    <a:pt x="185" y="41"/>
                    <a:pt x="109" y="33"/>
                  </a:cubicBezTo>
                  <a:cubicBezTo>
                    <a:pt x="109" y="33"/>
                    <a:pt x="109" y="33"/>
                    <a:pt x="109" y="33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32"/>
                    <a:pt x="46" y="32"/>
                    <a:pt x="46" y="32"/>
                  </a:cubicBezTo>
                  <a:cubicBezTo>
                    <a:pt x="0" y="32"/>
                    <a:pt x="0" y="32"/>
                    <a:pt x="0" y="32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27" name="Freeform 23">
              <a:extLst>
                <a:ext uri="{FF2B5EF4-FFF2-40B4-BE49-F238E27FC236}">
                  <a16:creationId xmlns:a16="http://schemas.microsoft.com/office/drawing/2014/main" id="{BFEEDD9B-EBCB-405A-AC64-B21D6D358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541" y="2084387"/>
              <a:ext cx="39570" cy="61914"/>
            </a:xfrm>
            <a:custGeom>
              <a:avLst/>
              <a:gdLst>
                <a:gd name="T0" fmla="*/ 0 w 69"/>
                <a:gd name="T1" fmla="*/ 0 h 39"/>
                <a:gd name="T2" fmla="*/ 69 w 69"/>
                <a:gd name="T3" fmla="*/ 0 h 39"/>
                <a:gd name="T4" fmla="*/ 69 w 6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39">
                  <a:moveTo>
                    <a:pt x="0" y="0"/>
                  </a:moveTo>
                  <a:lnTo>
                    <a:pt x="69" y="0"/>
                  </a:lnTo>
                  <a:lnTo>
                    <a:pt x="69" y="39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28" name="Freeform 24">
              <a:extLst>
                <a:ext uri="{FF2B5EF4-FFF2-40B4-BE49-F238E27FC236}">
                  <a16:creationId xmlns:a16="http://schemas.microsoft.com/office/drawing/2014/main" id="{09F45E9C-DE55-4960-8898-645ACE1E9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77" y="1933574"/>
              <a:ext cx="57348" cy="85726"/>
            </a:xfrm>
            <a:custGeom>
              <a:avLst/>
              <a:gdLst>
                <a:gd name="T0" fmla="*/ 0 w 59"/>
                <a:gd name="T1" fmla="*/ 26 h 32"/>
                <a:gd name="T2" fmla="*/ 44 w 59"/>
                <a:gd name="T3" fmla="*/ 31 h 32"/>
                <a:gd name="T4" fmla="*/ 59 w 59"/>
                <a:gd name="T5" fmla="*/ 18 h 32"/>
                <a:gd name="T6" fmla="*/ 59 w 59"/>
                <a:gd name="T7" fmla="*/ 15 h 32"/>
                <a:gd name="T8" fmla="*/ 44 w 59"/>
                <a:gd name="T9" fmla="*/ 1 h 32"/>
                <a:gd name="T10" fmla="*/ 0 w 59"/>
                <a:gd name="T11" fmla="*/ 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" h="32">
                  <a:moveTo>
                    <a:pt x="0" y="26"/>
                  </a:moveTo>
                  <a:cubicBezTo>
                    <a:pt x="44" y="31"/>
                    <a:pt x="44" y="31"/>
                    <a:pt x="44" y="31"/>
                  </a:cubicBezTo>
                  <a:cubicBezTo>
                    <a:pt x="52" y="32"/>
                    <a:pt x="59" y="26"/>
                    <a:pt x="59" y="18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9" y="7"/>
                    <a:pt x="52" y="0"/>
                    <a:pt x="44" y="1"/>
                  </a:cubicBezTo>
                  <a:cubicBezTo>
                    <a:pt x="0" y="6"/>
                    <a:pt x="0" y="6"/>
                    <a:pt x="0" y="6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29" name="Freeform 25">
              <a:extLst>
                <a:ext uri="{FF2B5EF4-FFF2-40B4-BE49-F238E27FC236}">
                  <a16:creationId xmlns:a16="http://schemas.microsoft.com/office/drawing/2014/main" id="{42E07E32-F7F0-4709-8B84-3C6D64A613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75" y="1933574"/>
              <a:ext cx="57348" cy="85726"/>
            </a:xfrm>
            <a:custGeom>
              <a:avLst/>
              <a:gdLst>
                <a:gd name="T0" fmla="*/ 59 w 59"/>
                <a:gd name="T1" fmla="*/ 6 h 32"/>
                <a:gd name="T2" fmla="*/ 15 w 59"/>
                <a:gd name="T3" fmla="*/ 1 h 32"/>
                <a:gd name="T4" fmla="*/ 0 w 59"/>
                <a:gd name="T5" fmla="*/ 15 h 32"/>
                <a:gd name="T6" fmla="*/ 0 w 59"/>
                <a:gd name="T7" fmla="*/ 18 h 32"/>
                <a:gd name="T8" fmla="*/ 15 w 59"/>
                <a:gd name="T9" fmla="*/ 31 h 32"/>
                <a:gd name="T10" fmla="*/ 59 w 59"/>
                <a:gd name="T11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" h="32">
                  <a:moveTo>
                    <a:pt x="59" y="6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26"/>
                    <a:pt x="7" y="32"/>
                    <a:pt x="15" y="31"/>
                  </a:cubicBezTo>
                  <a:cubicBezTo>
                    <a:pt x="59" y="26"/>
                    <a:pt x="59" y="26"/>
                    <a:pt x="59" y="26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30" name="Line 26">
              <a:extLst>
                <a:ext uri="{FF2B5EF4-FFF2-40B4-BE49-F238E27FC236}">
                  <a16:creationId xmlns:a16="http://schemas.microsoft.com/office/drawing/2014/main" id="{9749E77B-6DED-46A4-9CD2-25BD452C6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079" y="2436816"/>
              <a:ext cx="56774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31" name="Line 27">
              <a:extLst>
                <a:ext uri="{FF2B5EF4-FFF2-40B4-BE49-F238E27FC236}">
                  <a16:creationId xmlns:a16="http://schemas.microsoft.com/office/drawing/2014/main" id="{A71EE417-1241-4887-A302-C99BC7B70F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13" y="2022478"/>
              <a:ext cx="0" cy="60325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32" name="Oval 28">
              <a:extLst>
                <a:ext uri="{FF2B5EF4-FFF2-40B4-BE49-F238E27FC236}">
                  <a16:creationId xmlns:a16="http://schemas.microsoft.com/office/drawing/2014/main" id="{FDBA954E-E432-4DFA-8899-341147032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556" y="1930402"/>
              <a:ext cx="32688" cy="92076"/>
            </a:xfrm>
            <a:prstGeom prst="ellips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33" name="Line 29">
              <a:extLst>
                <a:ext uri="{FF2B5EF4-FFF2-40B4-BE49-F238E27FC236}">
                  <a16:creationId xmlns:a16="http://schemas.microsoft.com/office/drawing/2014/main" id="{98A73950-E3B3-4AAF-A96B-FD41D8CA8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38" y="2211387"/>
              <a:ext cx="0" cy="187325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</p:grpSp>
      <p:sp>
        <p:nvSpPr>
          <p:cNvPr id="336" name="TextBox 335">
            <a:extLst>
              <a:ext uri="{FF2B5EF4-FFF2-40B4-BE49-F238E27FC236}">
                <a16:creationId xmlns:a16="http://schemas.microsoft.com/office/drawing/2014/main" id="{0AB4027F-3DAD-4BC3-AD29-4AEED749B0CF}"/>
              </a:ext>
            </a:extLst>
          </p:cNvPr>
          <p:cNvSpPr txBox="1">
            <a:spLocks/>
          </p:cNvSpPr>
          <p:nvPr/>
        </p:nvSpPr>
        <p:spPr>
          <a:xfrm>
            <a:off x="882613" y="4488786"/>
            <a:ext cx="2037568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График отключения воды</a:t>
            </a: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C7643A8F-6B6C-409F-AC71-982A9AABA38C}"/>
              </a:ext>
            </a:extLst>
          </p:cNvPr>
          <p:cNvSpPr txBox="1">
            <a:spLocks/>
          </p:cNvSpPr>
          <p:nvPr/>
        </p:nvSpPr>
        <p:spPr>
          <a:xfrm>
            <a:off x="5277740" y="4488786"/>
            <a:ext cx="2028096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Дома Москвы (~35 000 штук)</a:t>
            </a: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C46C5F49-ED8F-46A2-8214-02CEDDCCDC6A}"/>
              </a:ext>
            </a:extLst>
          </p:cNvPr>
          <p:cNvSpPr txBox="1">
            <a:spLocks/>
          </p:cNvSpPr>
          <p:nvPr/>
        </p:nvSpPr>
        <p:spPr>
          <a:xfrm>
            <a:off x="9492149" y="4488786"/>
            <a:ext cx="1105724" cy="38237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Ежедневно/</a:t>
            </a:r>
            <a:br>
              <a:rPr lang="en-US" sz="800" dirty="0"/>
            </a:br>
            <a:r>
              <a:rPr lang="ru-RU" sz="800" dirty="0"/>
              <a:t>ежечасно в период отключения воды</a:t>
            </a: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2A0F6C2B-2185-45E6-B037-ACE7F161E30E}"/>
              </a:ext>
            </a:extLst>
          </p:cNvPr>
          <p:cNvSpPr txBox="1">
            <a:spLocks/>
          </p:cNvSpPr>
          <p:nvPr/>
        </p:nvSpPr>
        <p:spPr>
          <a:xfrm>
            <a:off x="7450258" y="4488786"/>
            <a:ext cx="1897469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График отключения воды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08EF5634-F581-4E43-8CA5-BA983FB23CBB}"/>
              </a:ext>
            </a:extLst>
          </p:cNvPr>
          <p:cNvSpPr txBox="1">
            <a:spLocks/>
          </p:cNvSpPr>
          <p:nvPr/>
        </p:nvSpPr>
        <p:spPr>
          <a:xfrm>
            <a:off x="3064603" y="4488786"/>
            <a:ext cx="2068715" cy="50982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Проработка процесса 1) актуализации базы и 2) координации всех сторон по использованию единого источника для информирования населения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5961CCA-5288-4F6B-B05D-7B6B11BCA6B6}"/>
              </a:ext>
            </a:extLst>
          </p:cNvPr>
          <p:cNvGrpSpPr>
            <a:grpSpLocks/>
          </p:cNvGrpSpPr>
          <p:nvPr/>
        </p:nvGrpSpPr>
        <p:grpSpPr>
          <a:xfrm>
            <a:off x="559996" y="5533959"/>
            <a:ext cx="246662" cy="247765"/>
            <a:chOff x="559996" y="5533959"/>
            <a:chExt cx="246662" cy="247765"/>
          </a:xfrm>
        </p:grpSpPr>
        <p:sp>
          <p:nvSpPr>
            <p:cNvPr id="265" name="Freeform 24">
              <a:extLst>
                <a:ext uri="{FF2B5EF4-FFF2-40B4-BE49-F238E27FC236}">
                  <a16:creationId xmlns:a16="http://schemas.microsoft.com/office/drawing/2014/main" id="{E9A7686E-C239-46EB-A4EE-AB0720F23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996" y="5533959"/>
              <a:ext cx="246662" cy="225741"/>
            </a:xfrm>
            <a:custGeom>
              <a:avLst/>
              <a:gdLst>
                <a:gd name="T0" fmla="*/ 135 w 190"/>
                <a:gd name="T1" fmla="*/ 167 h 174"/>
                <a:gd name="T2" fmla="*/ 142 w 190"/>
                <a:gd name="T3" fmla="*/ 168 h 174"/>
                <a:gd name="T4" fmla="*/ 145 w 190"/>
                <a:gd name="T5" fmla="*/ 172 h 174"/>
                <a:gd name="T6" fmla="*/ 154 w 190"/>
                <a:gd name="T7" fmla="*/ 172 h 174"/>
                <a:gd name="T8" fmla="*/ 171 w 190"/>
                <a:gd name="T9" fmla="*/ 154 h 174"/>
                <a:gd name="T10" fmla="*/ 171 w 190"/>
                <a:gd name="T11" fmla="*/ 145 h 174"/>
                <a:gd name="T12" fmla="*/ 168 w 190"/>
                <a:gd name="T13" fmla="*/ 142 h 174"/>
                <a:gd name="T14" fmla="*/ 167 w 190"/>
                <a:gd name="T15" fmla="*/ 136 h 174"/>
                <a:gd name="T16" fmla="*/ 174 w 190"/>
                <a:gd name="T17" fmla="*/ 118 h 174"/>
                <a:gd name="T18" fmla="*/ 180 w 190"/>
                <a:gd name="T19" fmla="*/ 114 h 174"/>
                <a:gd name="T20" fmla="*/ 184 w 190"/>
                <a:gd name="T21" fmla="*/ 114 h 174"/>
                <a:gd name="T22" fmla="*/ 190 w 190"/>
                <a:gd name="T23" fmla="*/ 108 h 174"/>
                <a:gd name="T24" fmla="*/ 190 w 190"/>
                <a:gd name="T25" fmla="*/ 83 h 174"/>
                <a:gd name="T26" fmla="*/ 184 w 190"/>
                <a:gd name="T27" fmla="*/ 77 h 174"/>
                <a:gd name="T28" fmla="*/ 180 w 190"/>
                <a:gd name="T29" fmla="*/ 77 h 174"/>
                <a:gd name="T30" fmla="*/ 174 w 190"/>
                <a:gd name="T31" fmla="*/ 73 h 174"/>
                <a:gd name="T32" fmla="*/ 167 w 190"/>
                <a:gd name="T33" fmla="*/ 55 h 174"/>
                <a:gd name="T34" fmla="*/ 168 w 190"/>
                <a:gd name="T35" fmla="*/ 48 h 174"/>
                <a:gd name="T36" fmla="*/ 171 w 190"/>
                <a:gd name="T37" fmla="*/ 45 h 174"/>
                <a:gd name="T38" fmla="*/ 171 w 190"/>
                <a:gd name="T39" fmla="*/ 37 h 174"/>
                <a:gd name="T40" fmla="*/ 154 w 190"/>
                <a:gd name="T41" fmla="*/ 19 h 174"/>
                <a:gd name="T42" fmla="*/ 145 w 190"/>
                <a:gd name="T43" fmla="*/ 19 h 174"/>
                <a:gd name="T44" fmla="*/ 142 w 190"/>
                <a:gd name="T45" fmla="*/ 22 h 174"/>
                <a:gd name="T46" fmla="*/ 135 w 190"/>
                <a:gd name="T47" fmla="*/ 24 h 174"/>
                <a:gd name="T48" fmla="*/ 117 w 190"/>
                <a:gd name="T49" fmla="*/ 16 h 174"/>
                <a:gd name="T50" fmla="*/ 113 w 190"/>
                <a:gd name="T51" fmla="*/ 10 h 174"/>
                <a:gd name="T52" fmla="*/ 113 w 190"/>
                <a:gd name="T53" fmla="*/ 6 h 174"/>
                <a:gd name="T54" fmla="*/ 107 w 190"/>
                <a:gd name="T55" fmla="*/ 0 h 174"/>
                <a:gd name="T56" fmla="*/ 83 w 190"/>
                <a:gd name="T57" fmla="*/ 0 h 174"/>
                <a:gd name="T58" fmla="*/ 77 w 190"/>
                <a:gd name="T59" fmla="*/ 6 h 174"/>
                <a:gd name="T60" fmla="*/ 77 w 190"/>
                <a:gd name="T61" fmla="*/ 10 h 174"/>
                <a:gd name="T62" fmla="*/ 73 w 190"/>
                <a:gd name="T63" fmla="*/ 16 h 174"/>
                <a:gd name="T64" fmla="*/ 55 w 190"/>
                <a:gd name="T65" fmla="*/ 24 h 174"/>
                <a:gd name="T66" fmla="*/ 48 w 190"/>
                <a:gd name="T67" fmla="*/ 22 h 174"/>
                <a:gd name="T68" fmla="*/ 45 w 190"/>
                <a:gd name="T69" fmla="*/ 19 h 174"/>
                <a:gd name="T70" fmla="*/ 36 w 190"/>
                <a:gd name="T71" fmla="*/ 19 h 174"/>
                <a:gd name="T72" fmla="*/ 19 w 190"/>
                <a:gd name="T73" fmla="*/ 37 h 174"/>
                <a:gd name="T74" fmla="*/ 19 w 190"/>
                <a:gd name="T75" fmla="*/ 45 h 174"/>
                <a:gd name="T76" fmla="*/ 22 w 190"/>
                <a:gd name="T77" fmla="*/ 48 h 174"/>
                <a:gd name="T78" fmla="*/ 23 w 190"/>
                <a:gd name="T79" fmla="*/ 55 h 174"/>
                <a:gd name="T80" fmla="*/ 16 w 190"/>
                <a:gd name="T81" fmla="*/ 73 h 174"/>
                <a:gd name="T82" fmla="*/ 10 w 190"/>
                <a:gd name="T83" fmla="*/ 77 h 174"/>
                <a:gd name="T84" fmla="*/ 6 w 190"/>
                <a:gd name="T85" fmla="*/ 77 h 174"/>
                <a:gd name="T86" fmla="*/ 0 w 190"/>
                <a:gd name="T87" fmla="*/ 83 h 174"/>
                <a:gd name="T88" fmla="*/ 0 w 190"/>
                <a:gd name="T89" fmla="*/ 108 h 174"/>
                <a:gd name="T90" fmla="*/ 6 w 190"/>
                <a:gd name="T91" fmla="*/ 114 h 174"/>
                <a:gd name="T92" fmla="*/ 10 w 190"/>
                <a:gd name="T93" fmla="*/ 114 h 174"/>
                <a:gd name="T94" fmla="*/ 16 w 190"/>
                <a:gd name="T95" fmla="*/ 118 h 174"/>
                <a:gd name="T96" fmla="*/ 23 w 190"/>
                <a:gd name="T97" fmla="*/ 136 h 174"/>
                <a:gd name="T98" fmla="*/ 22 w 190"/>
                <a:gd name="T99" fmla="*/ 142 h 174"/>
                <a:gd name="T100" fmla="*/ 19 w 190"/>
                <a:gd name="T101" fmla="*/ 145 h 174"/>
                <a:gd name="T102" fmla="*/ 19 w 190"/>
                <a:gd name="T103" fmla="*/ 154 h 174"/>
                <a:gd name="T104" fmla="*/ 36 w 190"/>
                <a:gd name="T105" fmla="*/ 172 h 174"/>
                <a:gd name="T106" fmla="*/ 45 w 190"/>
                <a:gd name="T107" fmla="*/ 172 h 174"/>
                <a:gd name="T108" fmla="*/ 48 w 190"/>
                <a:gd name="T109" fmla="*/ 168 h 174"/>
                <a:gd name="T110" fmla="*/ 55 w 190"/>
                <a:gd name="T111" fmla="*/ 167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0" h="174">
                  <a:moveTo>
                    <a:pt x="135" y="167"/>
                  </a:moveTo>
                  <a:cubicBezTo>
                    <a:pt x="138" y="166"/>
                    <a:pt x="140" y="167"/>
                    <a:pt x="142" y="168"/>
                  </a:cubicBezTo>
                  <a:cubicBezTo>
                    <a:pt x="145" y="172"/>
                    <a:pt x="145" y="172"/>
                    <a:pt x="145" y="172"/>
                  </a:cubicBezTo>
                  <a:cubicBezTo>
                    <a:pt x="147" y="174"/>
                    <a:pt x="151" y="174"/>
                    <a:pt x="154" y="172"/>
                  </a:cubicBezTo>
                  <a:cubicBezTo>
                    <a:pt x="171" y="154"/>
                    <a:pt x="171" y="154"/>
                    <a:pt x="171" y="154"/>
                  </a:cubicBezTo>
                  <a:cubicBezTo>
                    <a:pt x="174" y="152"/>
                    <a:pt x="174" y="148"/>
                    <a:pt x="171" y="145"/>
                  </a:cubicBezTo>
                  <a:cubicBezTo>
                    <a:pt x="168" y="142"/>
                    <a:pt x="168" y="142"/>
                    <a:pt x="168" y="142"/>
                  </a:cubicBezTo>
                  <a:cubicBezTo>
                    <a:pt x="166" y="141"/>
                    <a:pt x="166" y="138"/>
                    <a:pt x="167" y="136"/>
                  </a:cubicBezTo>
                  <a:cubicBezTo>
                    <a:pt x="174" y="118"/>
                    <a:pt x="174" y="118"/>
                    <a:pt x="174" y="118"/>
                  </a:cubicBezTo>
                  <a:cubicBezTo>
                    <a:pt x="175" y="115"/>
                    <a:pt x="177" y="114"/>
                    <a:pt x="180" y="114"/>
                  </a:cubicBezTo>
                  <a:cubicBezTo>
                    <a:pt x="184" y="114"/>
                    <a:pt x="184" y="114"/>
                    <a:pt x="184" y="114"/>
                  </a:cubicBezTo>
                  <a:cubicBezTo>
                    <a:pt x="188" y="114"/>
                    <a:pt x="190" y="111"/>
                    <a:pt x="190" y="108"/>
                  </a:cubicBezTo>
                  <a:cubicBezTo>
                    <a:pt x="190" y="83"/>
                    <a:pt x="190" y="83"/>
                    <a:pt x="190" y="83"/>
                  </a:cubicBezTo>
                  <a:cubicBezTo>
                    <a:pt x="190" y="80"/>
                    <a:pt x="188" y="77"/>
                    <a:pt x="184" y="77"/>
                  </a:cubicBezTo>
                  <a:cubicBezTo>
                    <a:pt x="180" y="77"/>
                    <a:pt x="180" y="77"/>
                    <a:pt x="180" y="77"/>
                  </a:cubicBezTo>
                  <a:cubicBezTo>
                    <a:pt x="177" y="77"/>
                    <a:pt x="175" y="75"/>
                    <a:pt x="174" y="73"/>
                  </a:cubicBezTo>
                  <a:cubicBezTo>
                    <a:pt x="167" y="55"/>
                    <a:pt x="167" y="55"/>
                    <a:pt x="167" y="55"/>
                  </a:cubicBezTo>
                  <a:cubicBezTo>
                    <a:pt x="166" y="53"/>
                    <a:pt x="166" y="50"/>
                    <a:pt x="168" y="48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74" y="43"/>
                    <a:pt x="174" y="39"/>
                    <a:pt x="171" y="37"/>
                  </a:cubicBezTo>
                  <a:cubicBezTo>
                    <a:pt x="154" y="19"/>
                    <a:pt x="154" y="19"/>
                    <a:pt x="154" y="19"/>
                  </a:cubicBezTo>
                  <a:cubicBezTo>
                    <a:pt x="151" y="17"/>
                    <a:pt x="147" y="17"/>
                    <a:pt x="145" y="19"/>
                  </a:cubicBezTo>
                  <a:cubicBezTo>
                    <a:pt x="142" y="22"/>
                    <a:pt x="142" y="22"/>
                    <a:pt x="142" y="22"/>
                  </a:cubicBezTo>
                  <a:cubicBezTo>
                    <a:pt x="140" y="24"/>
                    <a:pt x="138" y="25"/>
                    <a:pt x="135" y="24"/>
                  </a:cubicBezTo>
                  <a:cubicBezTo>
                    <a:pt x="117" y="16"/>
                    <a:pt x="117" y="16"/>
                    <a:pt x="117" y="16"/>
                  </a:cubicBezTo>
                  <a:cubicBezTo>
                    <a:pt x="115" y="15"/>
                    <a:pt x="113" y="13"/>
                    <a:pt x="113" y="10"/>
                  </a:cubicBezTo>
                  <a:cubicBezTo>
                    <a:pt x="113" y="6"/>
                    <a:pt x="113" y="6"/>
                    <a:pt x="113" y="6"/>
                  </a:cubicBezTo>
                  <a:cubicBezTo>
                    <a:pt x="113" y="3"/>
                    <a:pt x="111" y="0"/>
                    <a:pt x="10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79" y="0"/>
                    <a:pt x="77" y="3"/>
                    <a:pt x="77" y="6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3"/>
                    <a:pt x="75" y="15"/>
                    <a:pt x="73" y="16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2" y="25"/>
                    <a:pt x="50" y="24"/>
                    <a:pt x="48" y="22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3" y="17"/>
                    <a:pt x="39" y="17"/>
                    <a:pt x="36" y="19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6" y="39"/>
                    <a:pt x="16" y="43"/>
                    <a:pt x="19" y="45"/>
                  </a:cubicBezTo>
                  <a:cubicBezTo>
                    <a:pt x="22" y="48"/>
                    <a:pt x="22" y="48"/>
                    <a:pt x="22" y="48"/>
                  </a:cubicBezTo>
                  <a:cubicBezTo>
                    <a:pt x="24" y="50"/>
                    <a:pt x="24" y="53"/>
                    <a:pt x="23" y="55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15" y="75"/>
                    <a:pt x="13" y="77"/>
                    <a:pt x="10" y="77"/>
                  </a:cubicBezTo>
                  <a:cubicBezTo>
                    <a:pt x="6" y="77"/>
                    <a:pt x="6" y="77"/>
                    <a:pt x="6" y="77"/>
                  </a:cubicBezTo>
                  <a:cubicBezTo>
                    <a:pt x="2" y="77"/>
                    <a:pt x="0" y="80"/>
                    <a:pt x="0" y="83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2" y="114"/>
                    <a:pt x="6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3" y="114"/>
                    <a:pt x="15" y="115"/>
                    <a:pt x="16" y="118"/>
                  </a:cubicBezTo>
                  <a:cubicBezTo>
                    <a:pt x="23" y="136"/>
                    <a:pt x="23" y="136"/>
                    <a:pt x="23" y="136"/>
                  </a:cubicBezTo>
                  <a:cubicBezTo>
                    <a:pt x="24" y="138"/>
                    <a:pt x="24" y="141"/>
                    <a:pt x="22" y="142"/>
                  </a:cubicBezTo>
                  <a:cubicBezTo>
                    <a:pt x="19" y="145"/>
                    <a:pt x="19" y="145"/>
                    <a:pt x="19" y="145"/>
                  </a:cubicBezTo>
                  <a:cubicBezTo>
                    <a:pt x="16" y="148"/>
                    <a:pt x="16" y="152"/>
                    <a:pt x="19" y="154"/>
                  </a:cubicBezTo>
                  <a:cubicBezTo>
                    <a:pt x="36" y="172"/>
                    <a:pt x="36" y="172"/>
                    <a:pt x="36" y="172"/>
                  </a:cubicBezTo>
                  <a:cubicBezTo>
                    <a:pt x="39" y="174"/>
                    <a:pt x="43" y="174"/>
                    <a:pt x="45" y="172"/>
                  </a:cubicBezTo>
                  <a:cubicBezTo>
                    <a:pt x="48" y="168"/>
                    <a:pt x="48" y="168"/>
                    <a:pt x="48" y="168"/>
                  </a:cubicBezTo>
                  <a:cubicBezTo>
                    <a:pt x="50" y="167"/>
                    <a:pt x="52" y="166"/>
                    <a:pt x="55" y="167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66" name="Freeform 25">
              <a:extLst>
                <a:ext uri="{FF2B5EF4-FFF2-40B4-BE49-F238E27FC236}">
                  <a16:creationId xmlns:a16="http://schemas.microsoft.com/office/drawing/2014/main" id="{A91FEB68-8C20-49C8-A9C1-3B7C6ED67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751" y="5585714"/>
              <a:ext cx="143152" cy="126085"/>
            </a:xfrm>
            <a:custGeom>
              <a:avLst/>
              <a:gdLst>
                <a:gd name="T0" fmla="*/ 18 w 110"/>
                <a:gd name="T1" fmla="*/ 97 h 97"/>
                <a:gd name="T2" fmla="*/ 0 w 110"/>
                <a:gd name="T3" fmla="*/ 55 h 97"/>
                <a:gd name="T4" fmla="*/ 55 w 110"/>
                <a:gd name="T5" fmla="*/ 0 h 97"/>
                <a:gd name="T6" fmla="*/ 110 w 110"/>
                <a:gd name="T7" fmla="*/ 55 h 97"/>
                <a:gd name="T8" fmla="*/ 92 w 110"/>
                <a:gd name="T9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97">
                  <a:moveTo>
                    <a:pt x="18" y="97"/>
                  </a:moveTo>
                  <a:cubicBezTo>
                    <a:pt x="7" y="87"/>
                    <a:pt x="0" y="72"/>
                    <a:pt x="0" y="55"/>
                  </a:cubicBezTo>
                  <a:cubicBezTo>
                    <a:pt x="0" y="25"/>
                    <a:pt x="24" y="0"/>
                    <a:pt x="55" y="0"/>
                  </a:cubicBezTo>
                  <a:cubicBezTo>
                    <a:pt x="86" y="0"/>
                    <a:pt x="110" y="25"/>
                    <a:pt x="110" y="55"/>
                  </a:cubicBezTo>
                  <a:cubicBezTo>
                    <a:pt x="110" y="72"/>
                    <a:pt x="103" y="87"/>
                    <a:pt x="92" y="97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67" name="Freeform 26">
              <a:extLst>
                <a:ext uri="{FF2B5EF4-FFF2-40B4-BE49-F238E27FC236}">
                  <a16:creationId xmlns:a16="http://schemas.microsoft.com/office/drawing/2014/main" id="{D7459D5C-0A7E-43E6-B6AE-180431C65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63" y="5666100"/>
              <a:ext cx="44047" cy="115624"/>
            </a:xfrm>
            <a:custGeom>
              <a:avLst/>
              <a:gdLst>
                <a:gd name="T0" fmla="*/ 0 w 80"/>
                <a:gd name="T1" fmla="*/ 210 h 210"/>
                <a:gd name="T2" fmla="*/ 56 w 80"/>
                <a:gd name="T3" fmla="*/ 210 h 210"/>
                <a:gd name="T4" fmla="*/ 80 w 80"/>
                <a:gd name="T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0" h="210">
                  <a:moveTo>
                    <a:pt x="0" y="210"/>
                  </a:moveTo>
                  <a:lnTo>
                    <a:pt x="56" y="210"/>
                  </a:lnTo>
                  <a:lnTo>
                    <a:pt x="80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68" name="Freeform 27">
              <a:extLst>
                <a:ext uri="{FF2B5EF4-FFF2-40B4-BE49-F238E27FC236}">
                  <a16:creationId xmlns:a16="http://schemas.microsoft.com/office/drawing/2014/main" id="{3993A2AA-9338-4835-A63F-0FEF80200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742" y="5666100"/>
              <a:ext cx="44598" cy="115624"/>
            </a:xfrm>
            <a:custGeom>
              <a:avLst/>
              <a:gdLst>
                <a:gd name="T0" fmla="*/ 81 w 81"/>
                <a:gd name="T1" fmla="*/ 210 h 210"/>
                <a:gd name="T2" fmla="*/ 24 w 81"/>
                <a:gd name="T3" fmla="*/ 210 h 210"/>
                <a:gd name="T4" fmla="*/ 0 w 81"/>
                <a:gd name="T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" h="210">
                  <a:moveTo>
                    <a:pt x="81" y="210"/>
                  </a:moveTo>
                  <a:lnTo>
                    <a:pt x="24" y="210"/>
                  </a:lnTo>
                  <a:lnTo>
                    <a:pt x="0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69" name="Freeform 28">
              <a:extLst>
                <a:ext uri="{FF2B5EF4-FFF2-40B4-BE49-F238E27FC236}">
                  <a16:creationId xmlns:a16="http://schemas.microsoft.com/office/drawing/2014/main" id="{66E16A05-E88B-4A8B-9792-97A062F62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060" y="5693630"/>
              <a:ext cx="47901" cy="88094"/>
            </a:xfrm>
            <a:custGeom>
              <a:avLst/>
              <a:gdLst>
                <a:gd name="T0" fmla="*/ 87 w 87"/>
                <a:gd name="T1" fmla="*/ 160 h 160"/>
                <a:gd name="T2" fmla="*/ 0 w 87"/>
                <a:gd name="T3" fmla="*/ 66 h 160"/>
                <a:gd name="T4" fmla="*/ 63 w 87"/>
                <a:gd name="T5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7" h="160">
                  <a:moveTo>
                    <a:pt x="87" y="160"/>
                  </a:moveTo>
                  <a:lnTo>
                    <a:pt x="0" y="66"/>
                  </a:lnTo>
                  <a:lnTo>
                    <a:pt x="63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70" name="Freeform 29">
              <a:extLst>
                <a:ext uri="{FF2B5EF4-FFF2-40B4-BE49-F238E27FC236}">
                  <a16:creationId xmlns:a16="http://schemas.microsoft.com/office/drawing/2014/main" id="{82A94535-F29B-4834-A0C6-51957FBAE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015" y="5618199"/>
              <a:ext cx="28630" cy="31384"/>
            </a:xfrm>
            <a:custGeom>
              <a:avLst/>
              <a:gdLst>
                <a:gd name="T0" fmla="*/ 3 w 22"/>
                <a:gd name="T1" fmla="*/ 24 h 24"/>
                <a:gd name="T2" fmla="*/ 0 w 22"/>
                <a:gd name="T3" fmla="*/ 17 h 24"/>
                <a:gd name="T4" fmla="*/ 11 w 22"/>
                <a:gd name="T5" fmla="*/ 0 h 24"/>
                <a:gd name="T6" fmla="*/ 22 w 22"/>
                <a:gd name="T7" fmla="*/ 17 h 24"/>
                <a:gd name="T8" fmla="*/ 19 w 22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4">
                  <a:moveTo>
                    <a:pt x="3" y="24"/>
                  </a:moveTo>
                  <a:cubicBezTo>
                    <a:pt x="1" y="22"/>
                    <a:pt x="0" y="20"/>
                    <a:pt x="0" y="17"/>
                  </a:cubicBezTo>
                  <a:cubicBezTo>
                    <a:pt x="0" y="11"/>
                    <a:pt x="11" y="0"/>
                    <a:pt x="11" y="0"/>
                  </a:cubicBezTo>
                  <a:cubicBezTo>
                    <a:pt x="11" y="0"/>
                    <a:pt x="22" y="11"/>
                    <a:pt x="22" y="17"/>
                  </a:cubicBezTo>
                  <a:cubicBezTo>
                    <a:pt x="22" y="20"/>
                    <a:pt x="21" y="22"/>
                    <a:pt x="19" y="24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71" name="Line 30">
              <a:extLst>
                <a:ext uri="{FF2B5EF4-FFF2-40B4-BE49-F238E27FC236}">
                  <a16:creationId xmlns:a16="http://schemas.microsoft.com/office/drawing/2014/main" id="{9CF57625-859E-4CD7-968F-A26090AE5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4696" y="5781724"/>
              <a:ext cx="57261" cy="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</p:grpSp>
      <p:sp>
        <p:nvSpPr>
          <p:cNvPr id="384" name="TextBox 383">
            <a:extLst>
              <a:ext uri="{FF2B5EF4-FFF2-40B4-BE49-F238E27FC236}">
                <a16:creationId xmlns:a16="http://schemas.microsoft.com/office/drawing/2014/main" id="{A99E39C6-1776-417B-AE9B-91CD83293D32}"/>
              </a:ext>
            </a:extLst>
          </p:cNvPr>
          <p:cNvSpPr txBox="1">
            <a:spLocks/>
          </p:cNvSpPr>
          <p:nvPr/>
        </p:nvSpPr>
        <p:spPr>
          <a:xfrm>
            <a:off x="5277740" y="5533959"/>
            <a:ext cx="5320133" cy="247765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38100" rIns="381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1000" i="1">
                <a:solidFill>
                  <a:srgbClr val="000000"/>
                </a:solidFill>
                <a:latin typeface="Verdan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ru-RU" sz="800"/>
              <a:t>Не применимо</a:t>
            </a:r>
            <a:endParaRPr lang="ru-RU" sz="800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236B7D9E-8F5F-4D8E-AD75-856A08B0EFC4}"/>
              </a:ext>
            </a:extLst>
          </p:cNvPr>
          <p:cNvSpPr txBox="1">
            <a:spLocks/>
          </p:cNvSpPr>
          <p:nvPr/>
        </p:nvSpPr>
        <p:spPr>
          <a:xfrm>
            <a:off x="882613" y="5533959"/>
            <a:ext cx="2037568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Газоснабжение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124DD1C5-60E3-4B68-8A72-908AC63CEA6A}"/>
              </a:ext>
            </a:extLst>
          </p:cNvPr>
          <p:cNvSpPr txBox="1">
            <a:spLocks/>
          </p:cNvSpPr>
          <p:nvPr/>
        </p:nvSpPr>
        <p:spPr>
          <a:xfrm>
            <a:off x="3064603" y="5533959"/>
            <a:ext cx="2068715" cy="2462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Проработка процесса по оформлению  коммерческих заявок через ЕДЦ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BA7ACCB-555F-4958-874F-89F665631C82}"/>
              </a:ext>
            </a:extLst>
          </p:cNvPr>
          <p:cNvGrpSpPr>
            <a:grpSpLocks/>
          </p:cNvGrpSpPr>
          <p:nvPr/>
        </p:nvGrpSpPr>
        <p:grpSpPr>
          <a:xfrm>
            <a:off x="570895" y="1389028"/>
            <a:ext cx="224863" cy="184172"/>
            <a:chOff x="2760860" y="1360631"/>
            <a:chExt cx="400340" cy="327890"/>
          </a:xfrm>
        </p:grpSpPr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17C8B2F4-2D0C-4B9C-BC9D-737C71227AEC}"/>
                </a:ext>
              </a:extLst>
            </p:cNvPr>
            <p:cNvSpPr/>
            <p:nvPr/>
          </p:nvSpPr>
          <p:spPr>
            <a:xfrm>
              <a:off x="2760860" y="1459761"/>
              <a:ext cx="400338" cy="228760"/>
            </a:xfrm>
            <a:custGeom>
              <a:avLst/>
              <a:gdLst>
                <a:gd name="connsiteX0" fmla="*/ 203785 w 200025"/>
                <a:gd name="connsiteY0" fmla="*/ 3760 h 114300"/>
                <a:gd name="connsiteX1" fmla="*/ 203785 w 200025"/>
                <a:gd name="connsiteY1" fmla="*/ 107582 h 114300"/>
                <a:gd name="connsiteX2" fmla="*/ 194260 w 200025"/>
                <a:gd name="connsiteY2" fmla="*/ 117107 h 114300"/>
                <a:gd name="connsiteX3" fmla="*/ 13285 w 200025"/>
                <a:gd name="connsiteY3" fmla="*/ 117107 h 114300"/>
                <a:gd name="connsiteX4" fmla="*/ 3760 w 200025"/>
                <a:gd name="connsiteY4" fmla="*/ 107582 h 114300"/>
                <a:gd name="connsiteX5" fmla="*/ 3760 w 200025"/>
                <a:gd name="connsiteY5" fmla="*/ 376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0025" h="114300">
                  <a:moveTo>
                    <a:pt x="203785" y="3760"/>
                  </a:moveTo>
                  <a:lnTo>
                    <a:pt x="203785" y="107582"/>
                  </a:lnTo>
                  <a:cubicBezTo>
                    <a:pt x="203785" y="113297"/>
                    <a:pt x="199022" y="117107"/>
                    <a:pt x="194260" y="117107"/>
                  </a:cubicBezTo>
                  <a:lnTo>
                    <a:pt x="13285" y="117107"/>
                  </a:lnTo>
                  <a:cubicBezTo>
                    <a:pt x="7570" y="117107"/>
                    <a:pt x="3760" y="112345"/>
                    <a:pt x="3760" y="107582"/>
                  </a:cubicBezTo>
                  <a:lnTo>
                    <a:pt x="3760" y="376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95025F1-36FD-4F8E-9889-35ABCBC42174}"/>
                </a:ext>
              </a:extLst>
            </p:cNvPr>
            <p:cNvSpPr/>
            <p:nvPr/>
          </p:nvSpPr>
          <p:spPr>
            <a:xfrm>
              <a:off x="2827583" y="1396852"/>
              <a:ext cx="38127" cy="38126"/>
            </a:xfrm>
            <a:custGeom>
              <a:avLst/>
              <a:gdLst>
                <a:gd name="connsiteX0" fmla="*/ 4712 w 19050"/>
                <a:gd name="connsiteY0" fmla="*/ 3760 h 19050"/>
                <a:gd name="connsiteX1" fmla="*/ 3760 w 19050"/>
                <a:gd name="connsiteY1" fmla="*/ 7570 h 19050"/>
                <a:gd name="connsiteX2" fmla="*/ 13285 w 19050"/>
                <a:gd name="connsiteY2" fmla="*/ 17095 h 19050"/>
                <a:gd name="connsiteX3" fmla="*/ 22810 w 19050"/>
                <a:gd name="connsiteY3" fmla="*/ 7570 h 19050"/>
                <a:gd name="connsiteX4" fmla="*/ 21857 w 19050"/>
                <a:gd name="connsiteY4" fmla="*/ 37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4712" y="3760"/>
                  </a:moveTo>
                  <a:cubicBezTo>
                    <a:pt x="4712" y="4712"/>
                    <a:pt x="3760" y="5665"/>
                    <a:pt x="3760" y="7570"/>
                  </a:cubicBezTo>
                  <a:cubicBezTo>
                    <a:pt x="3760" y="12332"/>
                    <a:pt x="7570" y="17095"/>
                    <a:pt x="13285" y="17095"/>
                  </a:cubicBezTo>
                  <a:cubicBezTo>
                    <a:pt x="19000" y="17095"/>
                    <a:pt x="22810" y="13285"/>
                    <a:pt x="22810" y="7570"/>
                  </a:cubicBezTo>
                  <a:cubicBezTo>
                    <a:pt x="22810" y="6617"/>
                    <a:pt x="22810" y="4712"/>
                    <a:pt x="21857" y="376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9C03BD56-C4B6-470A-8904-01ED4090412B}"/>
                </a:ext>
              </a:extLst>
            </p:cNvPr>
            <p:cNvSpPr/>
            <p:nvPr/>
          </p:nvSpPr>
          <p:spPr>
            <a:xfrm>
              <a:off x="2846646" y="1360631"/>
              <a:ext cx="19064" cy="57190"/>
            </a:xfrm>
            <a:custGeom>
              <a:avLst/>
              <a:gdLst>
                <a:gd name="connsiteX0" fmla="*/ 3760 w 0"/>
                <a:gd name="connsiteY0" fmla="*/ 25667 h 28575"/>
                <a:gd name="connsiteX1" fmla="*/ 3760 w 0"/>
                <a:gd name="connsiteY1" fmla="*/ 376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8575">
                  <a:moveTo>
                    <a:pt x="3760" y="25667"/>
                  </a:moveTo>
                  <a:lnTo>
                    <a:pt x="3760" y="3760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4F1971E3-876C-47C6-894E-F4FEBEB1C1F1}"/>
                </a:ext>
              </a:extLst>
            </p:cNvPr>
            <p:cNvSpPr/>
            <p:nvPr/>
          </p:nvSpPr>
          <p:spPr>
            <a:xfrm>
              <a:off x="3056347" y="1396852"/>
              <a:ext cx="38127" cy="38126"/>
            </a:xfrm>
            <a:custGeom>
              <a:avLst/>
              <a:gdLst>
                <a:gd name="connsiteX0" fmla="*/ 21857 w 19050"/>
                <a:gd name="connsiteY0" fmla="*/ 3760 h 19050"/>
                <a:gd name="connsiteX1" fmla="*/ 22810 w 19050"/>
                <a:gd name="connsiteY1" fmla="*/ 7570 h 19050"/>
                <a:gd name="connsiteX2" fmla="*/ 13285 w 19050"/>
                <a:gd name="connsiteY2" fmla="*/ 17095 h 19050"/>
                <a:gd name="connsiteX3" fmla="*/ 3760 w 19050"/>
                <a:gd name="connsiteY3" fmla="*/ 7570 h 19050"/>
                <a:gd name="connsiteX4" fmla="*/ 4712 w 19050"/>
                <a:gd name="connsiteY4" fmla="*/ 37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1857" y="3760"/>
                  </a:moveTo>
                  <a:cubicBezTo>
                    <a:pt x="21857" y="4712"/>
                    <a:pt x="22810" y="5665"/>
                    <a:pt x="22810" y="7570"/>
                  </a:cubicBezTo>
                  <a:cubicBezTo>
                    <a:pt x="22810" y="12332"/>
                    <a:pt x="19000" y="17095"/>
                    <a:pt x="13285" y="17095"/>
                  </a:cubicBezTo>
                  <a:cubicBezTo>
                    <a:pt x="8522" y="17095"/>
                    <a:pt x="3760" y="13285"/>
                    <a:pt x="3760" y="7570"/>
                  </a:cubicBezTo>
                  <a:cubicBezTo>
                    <a:pt x="3760" y="6617"/>
                    <a:pt x="3760" y="4712"/>
                    <a:pt x="4712" y="376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FBFE8BBC-0296-4469-8038-A937E3778161}"/>
                </a:ext>
              </a:extLst>
            </p:cNvPr>
            <p:cNvSpPr/>
            <p:nvPr/>
          </p:nvSpPr>
          <p:spPr>
            <a:xfrm>
              <a:off x="3075411" y="1360631"/>
              <a:ext cx="19064" cy="57190"/>
            </a:xfrm>
            <a:custGeom>
              <a:avLst/>
              <a:gdLst>
                <a:gd name="connsiteX0" fmla="*/ 3760 w 0"/>
                <a:gd name="connsiteY0" fmla="*/ 25667 h 28575"/>
                <a:gd name="connsiteX1" fmla="*/ 3760 w 0"/>
                <a:gd name="connsiteY1" fmla="*/ 376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8575">
                  <a:moveTo>
                    <a:pt x="3760" y="25667"/>
                  </a:moveTo>
                  <a:lnTo>
                    <a:pt x="3760" y="3760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E893DEF1-27E1-45E5-80E2-9BAFAB043BCD}"/>
                </a:ext>
              </a:extLst>
            </p:cNvPr>
            <p:cNvSpPr/>
            <p:nvPr/>
          </p:nvSpPr>
          <p:spPr>
            <a:xfrm>
              <a:off x="2865710" y="1372068"/>
              <a:ext cx="190637" cy="19064"/>
            </a:xfrm>
            <a:custGeom>
              <a:avLst/>
              <a:gdLst>
                <a:gd name="connsiteX0" fmla="*/ 98057 w 95250"/>
                <a:gd name="connsiteY0" fmla="*/ 3760 h 0"/>
                <a:gd name="connsiteX1" fmla="*/ 3760 w 95250"/>
                <a:gd name="connsiteY1" fmla="*/ 37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0">
                  <a:moveTo>
                    <a:pt x="98057" y="3760"/>
                  </a:moveTo>
                  <a:lnTo>
                    <a:pt x="3760" y="3760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209586A-D851-4FFC-9A60-4FA9F970AEBA}"/>
                </a:ext>
              </a:extLst>
            </p:cNvPr>
            <p:cNvSpPr/>
            <p:nvPr/>
          </p:nvSpPr>
          <p:spPr>
            <a:xfrm>
              <a:off x="2760862" y="1372068"/>
              <a:ext cx="400338" cy="95316"/>
            </a:xfrm>
            <a:custGeom>
              <a:avLst/>
              <a:gdLst>
                <a:gd name="connsiteX0" fmla="*/ 36145 w 200025"/>
                <a:gd name="connsiteY0" fmla="*/ 3760 h 47625"/>
                <a:gd name="connsiteX1" fmla="*/ 13285 w 200025"/>
                <a:gd name="connsiteY1" fmla="*/ 3760 h 47625"/>
                <a:gd name="connsiteX2" fmla="*/ 3760 w 200025"/>
                <a:gd name="connsiteY2" fmla="*/ 13285 h 47625"/>
                <a:gd name="connsiteX3" fmla="*/ 3760 w 200025"/>
                <a:gd name="connsiteY3" fmla="*/ 46622 h 47625"/>
                <a:gd name="connsiteX4" fmla="*/ 203785 w 200025"/>
                <a:gd name="connsiteY4" fmla="*/ 46622 h 47625"/>
                <a:gd name="connsiteX5" fmla="*/ 203785 w 200025"/>
                <a:gd name="connsiteY5" fmla="*/ 13285 h 47625"/>
                <a:gd name="connsiteX6" fmla="*/ 194260 w 200025"/>
                <a:gd name="connsiteY6" fmla="*/ 3760 h 47625"/>
                <a:gd name="connsiteX7" fmla="*/ 171400 w 200025"/>
                <a:gd name="connsiteY7" fmla="*/ 376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025" h="47625">
                  <a:moveTo>
                    <a:pt x="36145" y="3760"/>
                  </a:moveTo>
                  <a:lnTo>
                    <a:pt x="13285" y="3760"/>
                  </a:lnTo>
                  <a:cubicBezTo>
                    <a:pt x="7570" y="3760"/>
                    <a:pt x="3760" y="8522"/>
                    <a:pt x="3760" y="13285"/>
                  </a:cubicBezTo>
                  <a:lnTo>
                    <a:pt x="3760" y="46622"/>
                  </a:lnTo>
                  <a:lnTo>
                    <a:pt x="203785" y="46622"/>
                  </a:lnTo>
                  <a:lnTo>
                    <a:pt x="203785" y="13285"/>
                  </a:lnTo>
                  <a:cubicBezTo>
                    <a:pt x="203785" y="7570"/>
                    <a:pt x="199022" y="3760"/>
                    <a:pt x="194260" y="3760"/>
                  </a:cubicBezTo>
                  <a:lnTo>
                    <a:pt x="171400" y="376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AEA1B02C-F709-46E4-970C-FAB26C6BBF6C}"/>
                </a:ext>
              </a:extLst>
            </p:cNvPr>
            <p:cNvSpPr/>
            <p:nvPr/>
          </p:nvSpPr>
          <p:spPr>
            <a:xfrm>
              <a:off x="2873337" y="1501700"/>
              <a:ext cx="19064" cy="38126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471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4715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67C1C6B1-AA05-4DB1-97E8-2940E21D6E5E}"/>
                </a:ext>
              </a:extLst>
            </p:cNvPr>
            <p:cNvSpPr/>
            <p:nvPr/>
          </p:nvSpPr>
          <p:spPr>
            <a:xfrm>
              <a:off x="2932435" y="1501700"/>
              <a:ext cx="19064" cy="38126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471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4715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440A5D86-EAD6-4832-8CB4-2C595E35E4FA}"/>
                </a:ext>
              </a:extLst>
            </p:cNvPr>
            <p:cNvSpPr/>
            <p:nvPr/>
          </p:nvSpPr>
          <p:spPr>
            <a:xfrm>
              <a:off x="2989627" y="1501700"/>
              <a:ext cx="19064" cy="38126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471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4715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750A7B99-89E1-474B-BD8B-B39A0ED29191}"/>
                </a:ext>
              </a:extLst>
            </p:cNvPr>
            <p:cNvSpPr/>
            <p:nvPr/>
          </p:nvSpPr>
          <p:spPr>
            <a:xfrm>
              <a:off x="3046818" y="1501700"/>
              <a:ext cx="19064" cy="38126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471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4715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0336C555-9525-4142-8C55-F6803F99D3A0}"/>
                </a:ext>
              </a:extLst>
            </p:cNvPr>
            <p:cNvSpPr/>
            <p:nvPr/>
          </p:nvSpPr>
          <p:spPr>
            <a:xfrm>
              <a:off x="2873337" y="1602736"/>
              <a:ext cx="19064" cy="38126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376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3762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72CF8678-08D8-4F47-9C11-23BB1DA1A053}"/>
                </a:ext>
              </a:extLst>
            </p:cNvPr>
            <p:cNvSpPr/>
            <p:nvPr/>
          </p:nvSpPr>
          <p:spPr>
            <a:xfrm>
              <a:off x="2932435" y="1602736"/>
              <a:ext cx="19064" cy="38126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376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3762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5F453806-8720-4A67-A92B-55E40DD66FA7}"/>
                </a:ext>
              </a:extLst>
            </p:cNvPr>
            <p:cNvSpPr/>
            <p:nvPr/>
          </p:nvSpPr>
          <p:spPr>
            <a:xfrm>
              <a:off x="2989627" y="1602736"/>
              <a:ext cx="19064" cy="38126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376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3762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4E932FDA-75D3-418D-9F55-10C28D956D43}"/>
                </a:ext>
              </a:extLst>
            </p:cNvPr>
            <p:cNvSpPr/>
            <p:nvPr/>
          </p:nvSpPr>
          <p:spPr>
            <a:xfrm>
              <a:off x="3046818" y="1602740"/>
              <a:ext cx="19064" cy="38126"/>
            </a:xfrm>
            <a:custGeom>
              <a:avLst/>
              <a:gdLst>
                <a:gd name="connsiteX0" fmla="*/ 3760 w 0"/>
                <a:gd name="connsiteY0" fmla="*/ 3760 h 19050"/>
                <a:gd name="connsiteX1" fmla="*/ 3760 w 0"/>
                <a:gd name="connsiteY1" fmla="*/ 2376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050">
                  <a:moveTo>
                    <a:pt x="3760" y="3760"/>
                  </a:moveTo>
                  <a:lnTo>
                    <a:pt x="3760" y="23762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10C78811-36A3-49AE-9982-50FDFEAACEA0}"/>
                </a:ext>
              </a:extLst>
            </p:cNvPr>
            <p:cNvSpPr/>
            <p:nvPr/>
          </p:nvSpPr>
          <p:spPr>
            <a:xfrm>
              <a:off x="2840927" y="1572243"/>
              <a:ext cx="247828" cy="19064"/>
            </a:xfrm>
            <a:custGeom>
              <a:avLst/>
              <a:gdLst>
                <a:gd name="connsiteX0" fmla="*/ 3760 w 123825"/>
                <a:gd name="connsiteY0" fmla="*/ 3760 h 0"/>
                <a:gd name="connsiteX1" fmla="*/ 122822 w 123825"/>
                <a:gd name="connsiteY1" fmla="*/ 37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825">
                  <a:moveTo>
                    <a:pt x="3760" y="3760"/>
                  </a:moveTo>
                  <a:lnTo>
                    <a:pt x="122822" y="3760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84890F68-638A-4C7C-BAF5-CA605FE19F70}"/>
                </a:ext>
              </a:extLst>
            </p:cNvPr>
            <p:cNvSpPr/>
            <p:nvPr/>
          </p:nvSpPr>
          <p:spPr>
            <a:xfrm>
              <a:off x="2892390" y="1406409"/>
              <a:ext cx="133446" cy="19064"/>
            </a:xfrm>
            <a:custGeom>
              <a:avLst/>
              <a:gdLst>
                <a:gd name="connsiteX0" fmla="*/ 72340 w 66675"/>
                <a:gd name="connsiteY0" fmla="*/ 3760 h 0"/>
                <a:gd name="connsiteX1" fmla="*/ 3760 w 66675"/>
                <a:gd name="connsiteY1" fmla="*/ 37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675">
                  <a:moveTo>
                    <a:pt x="72340" y="3760"/>
                  </a:moveTo>
                  <a:lnTo>
                    <a:pt x="3760" y="3760"/>
                  </a:lnTo>
                </a:path>
              </a:pathLst>
            </a:custGeom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sp>
        <p:nvSpPr>
          <p:cNvPr id="322" name="TextBox 321">
            <a:extLst>
              <a:ext uri="{FF2B5EF4-FFF2-40B4-BE49-F238E27FC236}">
                <a16:creationId xmlns:a16="http://schemas.microsoft.com/office/drawing/2014/main" id="{05647EFA-782E-4EF0-960D-90439378BED7}"/>
              </a:ext>
            </a:extLst>
          </p:cNvPr>
          <p:cNvSpPr txBox="1">
            <a:spLocks/>
          </p:cNvSpPr>
          <p:nvPr/>
        </p:nvSpPr>
        <p:spPr>
          <a:xfrm>
            <a:off x="882613" y="1389029"/>
            <a:ext cx="2037568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График работы УК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064D1007-B376-4CE1-9DC3-774E776DD681}"/>
              </a:ext>
            </a:extLst>
          </p:cNvPr>
          <p:cNvSpPr txBox="1">
            <a:spLocks/>
          </p:cNvSpPr>
          <p:nvPr/>
        </p:nvSpPr>
        <p:spPr>
          <a:xfrm>
            <a:off x="5277740" y="1389029"/>
            <a:ext cx="2028096" cy="38237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Управляющие компании (отделения</a:t>
            </a:r>
            <a:r>
              <a:rPr lang="en-US" sz="800" dirty="0"/>
              <a:t> </a:t>
            </a:r>
            <a:r>
              <a:rPr lang="ru-RU" sz="800" dirty="0"/>
              <a:t>ГБУ "Жилищник", коммерческие УК, ТСЖ/ЖСК и проч.)</a:t>
            </a:r>
            <a:r>
              <a:rPr lang="ru-RU" sz="800" baseline="30000" dirty="0"/>
              <a:t>2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021FB875-55AF-4419-BBD3-F5AAF5DFD441}"/>
              </a:ext>
            </a:extLst>
          </p:cNvPr>
          <p:cNvSpPr txBox="1">
            <a:spLocks/>
          </p:cNvSpPr>
          <p:nvPr/>
        </p:nvSpPr>
        <p:spPr>
          <a:xfrm>
            <a:off x="9492149" y="1389029"/>
            <a:ext cx="1105724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Ежедневно</a:t>
            </a: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2ED4B140-D122-418C-AEF6-627EBB1D85FB}"/>
              </a:ext>
            </a:extLst>
          </p:cNvPr>
          <p:cNvSpPr txBox="1">
            <a:spLocks/>
          </p:cNvSpPr>
          <p:nvPr/>
        </p:nvSpPr>
        <p:spPr>
          <a:xfrm>
            <a:off x="3064603" y="1389029"/>
            <a:ext cx="2068715" cy="127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Наполнение базы данных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B957283-A619-4B6A-A953-7DE7FBF65DC9}"/>
              </a:ext>
            </a:extLst>
          </p:cNvPr>
          <p:cNvGrpSpPr>
            <a:grpSpLocks/>
          </p:cNvGrpSpPr>
          <p:nvPr/>
        </p:nvGrpSpPr>
        <p:grpSpPr>
          <a:xfrm>
            <a:off x="558800" y="5864739"/>
            <a:ext cx="249054" cy="247766"/>
            <a:chOff x="545769" y="5028852"/>
            <a:chExt cx="542809" cy="539999"/>
          </a:xfrm>
        </p:grpSpPr>
        <p:sp>
          <p:nvSpPr>
            <p:cNvPr id="157" name="Oval 121">
              <a:extLst>
                <a:ext uri="{FF2B5EF4-FFF2-40B4-BE49-F238E27FC236}">
                  <a16:creationId xmlns:a16="http://schemas.microsoft.com/office/drawing/2014/main" id="{D33F6CC5-CCD2-4E6C-89F6-89B223C80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769" y="5028852"/>
              <a:ext cx="467002" cy="464191"/>
            </a:xfrm>
            <a:prstGeom prst="ellips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58" name="Freeform 122">
              <a:extLst>
                <a:ext uri="{FF2B5EF4-FFF2-40B4-BE49-F238E27FC236}">
                  <a16:creationId xmlns:a16="http://schemas.microsoft.com/office/drawing/2014/main" id="{719B56FF-3517-485D-9955-89B2FA814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429" y="5367640"/>
              <a:ext cx="202149" cy="201211"/>
            </a:xfrm>
            <a:custGeom>
              <a:avLst/>
              <a:gdLst>
                <a:gd name="T0" fmla="*/ 40 w 72"/>
                <a:gd name="T1" fmla="*/ 0 h 72"/>
                <a:gd name="T2" fmla="*/ 61 w 72"/>
                <a:gd name="T3" fmla="*/ 21 h 72"/>
                <a:gd name="T4" fmla="*/ 61 w 72"/>
                <a:gd name="T5" fmla="*/ 61 h 72"/>
                <a:gd name="T6" fmla="*/ 21 w 72"/>
                <a:gd name="T7" fmla="*/ 61 h 72"/>
                <a:gd name="T8" fmla="*/ 0 w 72"/>
                <a:gd name="T9" fmla="*/ 4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72">
                  <a:moveTo>
                    <a:pt x="40" y="0"/>
                  </a:moveTo>
                  <a:cubicBezTo>
                    <a:pt x="61" y="21"/>
                    <a:pt x="61" y="21"/>
                    <a:pt x="61" y="21"/>
                  </a:cubicBezTo>
                  <a:cubicBezTo>
                    <a:pt x="72" y="32"/>
                    <a:pt x="72" y="50"/>
                    <a:pt x="61" y="61"/>
                  </a:cubicBezTo>
                  <a:cubicBezTo>
                    <a:pt x="50" y="72"/>
                    <a:pt x="32" y="72"/>
                    <a:pt x="21" y="61"/>
                  </a:cubicBezTo>
                  <a:cubicBezTo>
                    <a:pt x="0" y="40"/>
                    <a:pt x="0" y="40"/>
                    <a:pt x="0" y="4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59" name="Line 123">
              <a:extLst>
                <a:ext uri="{FF2B5EF4-FFF2-40B4-BE49-F238E27FC236}">
                  <a16:creationId xmlns:a16="http://schemas.microsoft.com/office/drawing/2014/main" id="{42C84F1C-070B-43D4-957F-000D295F93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30276" y="5356409"/>
              <a:ext cx="87038" cy="39307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60" name="Line 124">
              <a:extLst>
                <a:ext uri="{FF2B5EF4-FFF2-40B4-BE49-F238E27FC236}">
                  <a16:creationId xmlns:a16="http://schemas.microsoft.com/office/drawing/2014/main" id="{0F2DC55C-3641-4C9D-BFD3-4181647C84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421" y="5356409"/>
              <a:ext cx="87973" cy="39307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61" name="Freeform 125">
              <a:extLst>
                <a:ext uri="{FF2B5EF4-FFF2-40B4-BE49-F238E27FC236}">
                  <a16:creationId xmlns:a16="http://schemas.microsoft.com/office/drawing/2014/main" id="{190C3573-3FEC-4A61-B362-4C617A0E1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809" y="5449061"/>
              <a:ext cx="19655" cy="111369"/>
            </a:xfrm>
            <a:custGeom>
              <a:avLst/>
              <a:gdLst>
                <a:gd name="T0" fmla="*/ 1 w 7"/>
                <a:gd name="T1" fmla="*/ 40 h 40"/>
                <a:gd name="T2" fmla="*/ 7 w 7"/>
                <a:gd name="T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" h="40">
                  <a:moveTo>
                    <a:pt x="1" y="40"/>
                  </a:moveTo>
                  <a:cubicBezTo>
                    <a:pt x="1" y="40"/>
                    <a:pt x="0" y="17"/>
                    <a:pt x="7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62" name="Freeform 126">
              <a:extLst>
                <a:ext uri="{FF2B5EF4-FFF2-40B4-BE49-F238E27FC236}">
                  <a16:creationId xmlns:a16="http://schemas.microsoft.com/office/drawing/2014/main" id="{384A7009-FFC6-4AF7-92D8-6516042EF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586" y="5373254"/>
              <a:ext cx="78614" cy="50538"/>
            </a:xfrm>
            <a:custGeom>
              <a:avLst/>
              <a:gdLst>
                <a:gd name="T0" fmla="*/ 24 w 28"/>
                <a:gd name="T1" fmla="*/ 0 h 18"/>
                <a:gd name="T2" fmla="*/ 28 w 28"/>
                <a:gd name="T3" fmla="*/ 18 h 18"/>
                <a:gd name="T4" fmla="*/ 0 w 28"/>
                <a:gd name="T5" fmla="*/ 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18">
                  <a:moveTo>
                    <a:pt x="24" y="0"/>
                  </a:moveTo>
                  <a:cubicBezTo>
                    <a:pt x="28" y="18"/>
                    <a:pt x="28" y="18"/>
                    <a:pt x="28" y="18"/>
                  </a:cubicBezTo>
                  <a:cubicBezTo>
                    <a:pt x="8" y="13"/>
                    <a:pt x="0" y="6"/>
                    <a:pt x="0" y="6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63" name="Freeform 127">
              <a:extLst>
                <a:ext uri="{FF2B5EF4-FFF2-40B4-BE49-F238E27FC236}">
                  <a16:creationId xmlns:a16="http://schemas.microsoft.com/office/drawing/2014/main" id="{EEF4FDDA-939D-48F8-A46F-94B89EAEA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281" y="5373254"/>
              <a:ext cx="78614" cy="50538"/>
            </a:xfrm>
            <a:custGeom>
              <a:avLst/>
              <a:gdLst>
                <a:gd name="T0" fmla="*/ 3 w 28"/>
                <a:gd name="T1" fmla="*/ 0 h 18"/>
                <a:gd name="T2" fmla="*/ 0 w 28"/>
                <a:gd name="T3" fmla="*/ 18 h 18"/>
                <a:gd name="T4" fmla="*/ 28 w 28"/>
                <a:gd name="T5" fmla="*/ 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18">
                  <a:moveTo>
                    <a:pt x="3" y="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20" y="13"/>
                    <a:pt x="28" y="6"/>
                    <a:pt x="28" y="6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64" name="Freeform 128">
              <a:extLst>
                <a:ext uri="{FF2B5EF4-FFF2-40B4-BE49-F238E27FC236}">
                  <a16:creationId xmlns:a16="http://schemas.microsoft.com/office/drawing/2014/main" id="{8470A50D-99BA-4DDC-8832-101D03598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624" y="5526737"/>
              <a:ext cx="2807" cy="33692"/>
            </a:xfrm>
            <a:custGeom>
              <a:avLst/>
              <a:gdLst>
                <a:gd name="T0" fmla="*/ 0 w 1"/>
                <a:gd name="T1" fmla="*/ 0 h 12"/>
                <a:gd name="T2" fmla="*/ 1 w 1"/>
                <a:gd name="T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">
                  <a:moveTo>
                    <a:pt x="0" y="0"/>
                  </a:moveTo>
                  <a:cubicBezTo>
                    <a:pt x="1" y="5"/>
                    <a:pt x="1" y="10"/>
                    <a:pt x="1" y="12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65" name="Freeform 129">
              <a:extLst>
                <a:ext uri="{FF2B5EF4-FFF2-40B4-BE49-F238E27FC236}">
                  <a16:creationId xmlns:a16="http://schemas.microsoft.com/office/drawing/2014/main" id="{B971F797-F3BB-40B0-9111-9B40D10D2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586" y="5390099"/>
              <a:ext cx="19655" cy="58961"/>
            </a:xfrm>
            <a:custGeom>
              <a:avLst/>
              <a:gdLst>
                <a:gd name="T0" fmla="*/ 0 w 7"/>
                <a:gd name="T1" fmla="*/ 0 h 21"/>
                <a:gd name="T2" fmla="*/ 0 w 7"/>
                <a:gd name="T3" fmla="*/ 18 h 21"/>
                <a:gd name="T4" fmla="*/ 0 w 7"/>
                <a:gd name="T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21">
                  <a:moveTo>
                    <a:pt x="0" y="0"/>
                  </a:moveTo>
                  <a:cubicBezTo>
                    <a:pt x="0" y="0"/>
                    <a:pt x="7" y="11"/>
                    <a:pt x="0" y="18"/>
                  </a:cubicBezTo>
                  <a:cubicBezTo>
                    <a:pt x="0" y="18"/>
                    <a:pt x="0" y="19"/>
                    <a:pt x="0" y="21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66" name="Freeform 130">
              <a:extLst>
                <a:ext uri="{FF2B5EF4-FFF2-40B4-BE49-F238E27FC236}">
                  <a16:creationId xmlns:a16="http://schemas.microsoft.com/office/drawing/2014/main" id="{850022AC-7E16-4353-A05B-C2D83F09B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433" y="5390099"/>
              <a:ext cx="22462" cy="58961"/>
            </a:xfrm>
            <a:custGeom>
              <a:avLst/>
              <a:gdLst>
                <a:gd name="T0" fmla="*/ 7 w 8"/>
                <a:gd name="T1" fmla="*/ 21 h 21"/>
                <a:gd name="T2" fmla="*/ 8 w 8"/>
                <a:gd name="T3" fmla="*/ 18 h 21"/>
                <a:gd name="T4" fmla="*/ 8 w 8"/>
                <a:gd name="T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21">
                  <a:moveTo>
                    <a:pt x="7" y="21"/>
                  </a:moveTo>
                  <a:cubicBezTo>
                    <a:pt x="7" y="19"/>
                    <a:pt x="8" y="18"/>
                    <a:pt x="8" y="18"/>
                  </a:cubicBezTo>
                  <a:cubicBezTo>
                    <a:pt x="0" y="11"/>
                    <a:pt x="8" y="0"/>
                    <a:pt x="8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67" name="Freeform 131">
              <a:extLst>
                <a:ext uri="{FF2B5EF4-FFF2-40B4-BE49-F238E27FC236}">
                  <a16:creationId xmlns:a16="http://schemas.microsoft.com/office/drawing/2014/main" id="{2A95573A-76E3-469C-839A-D451E62EB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241" y="5526742"/>
              <a:ext cx="5614" cy="33692"/>
            </a:xfrm>
            <a:custGeom>
              <a:avLst/>
              <a:gdLst>
                <a:gd name="T0" fmla="*/ 0 w 2"/>
                <a:gd name="T1" fmla="*/ 12 h 12"/>
                <a:gd name="T2" fmla="*/ 2 w 2"/>
                <a:gd name="T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12">
                  <a:moveTo>
                    <a:pt x="0" y="12"/>
                  </a:moveTo>
                  <a:cubicBezTo>
                    <a:pt x="0" y="10"/>
                    <a:pt x="1" y="5"/>
                    <a:pt x="2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68" name="Freeform 132">
              <a:extLst>
                <a:ext uri="{FF2B5EF4-FFF2-40B4-BE49-F238E27FC236}">
                  <a16:creationId xmlns:a16="http://schemas.microsoft.com/office/drawing/2014/main" id="{2A6FA854-165F-4C77-8502-0D3FAF229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474" y="5104667"/>
              <a:ext cx="193728" cy="223673"/>
            </a:xfrm>
            <a:custGeom>
              <a:avLst/>
              <a:gdLst>
                <a:gd name="T0" fmla="*/ 47 w 69"/>
                <a:gd name="T1" fmla="*/ 80 h 80"/>
                <a:gd name="T2" fmla="*/ 68 w 69"/>
                <a:gd name="T3" fmla="*/ 42 h 80"/>
                <a:gd name="T4" fmla="*/ 65 w 69"/>
                <a:gd name="T5" fmla="*/ 17 h 80"/>
                <a:gd name="T6" fmla="*/ 48 w 69"/>
                <a:gd name="T7" fmla="*/ 2 h 80"/>
                <a:gd name="T8" fmla="*/ 35 w 69"/>
                <a:gd name="T9" fmla="*/ 0 h 80"/>
                <a:gd name="T10" fmla="*/ 22 w 69"/>
                <a:gd name="T11" fmla="*/ 2 h 80"/>
                <a:gd name="T12" fmla="*/ 4 w 69"/>
                <a:gd name="T13" fmla="*/ 17 h 80"/>
                <a:gd name="T14" fmla="*/ 1 w 69"/>
                <a:gd name="T15" fmla="*/ 42 h 80"/>
                <a:gd name="T16" fmla="*/ 22 w 69"/>
                <a:gd name="T17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" h="80">
                  <a:moveTo>
                    <a:pt x="47" y="80"/>
                  </a:moveTo>
                  <a:cubicBezTo>
                    <a:pt x="64" y="73"/>
                    <a:pt x="66" y="57"/>
                    <a:pt x="68" y="42"/>
                  </a:cubicBezTo>
                  <a:cubicBezTo>
                    <a:pt x="69" y="33"/>
                    <a:pt x="69" y="24"/>
                    <a:pt x="65" y="17"/>
                  </a:cubicBezTo>
                  <a:cubicBezTo>
                    <a:pt x="62" y="10"/>
                    <a:pt x="55" y="5"/>
                    <a:pt x="48" y="2"/>
                  </a:cubicBezTo>
                  <a:cubicBezTo>
                    <a:pt x="44" y="1"/>
                    <a:pt x="39" y="0"/>
                    <a:pt x="35" y="0"/>
                  </a:cubicBezTo>
                  <a:cubicBezTo>
                    <a:pt x="30" y="0"/>
                    <a:pt x="26" y="1"/>
                    <a:pt x="22" y="2"/>
                  </a:cubicBezTo>
                  <a:cubicBezTo>
                    <a:pt x="14" y="5"/>
                    <a:pt x="8" y="10"/>
                    <a:pt x="4" y="17"/>
                  </a:cubicBezTo>
                  <a:cubicBezTo>
                    <a:pt x="0" y="24"/>
                    <a:pt x="0" y="33"/>
                    <a:pt x="1" y="42"/>
                  </a:cubicBezTo>
                  <a:cubicBezTo>
                    <a:pt x="3" y="57"/>
                    <a:pt x="5" y="73"/>
                    <a:pt x="22" y="8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169" name="Freeform 133">
              <a:extLst>
                <a:ext uri="{FF2B5EF4-FFF2-40B4-BE49-F238E27FC236}">
                  <a16:creationId xmlns:a16="http://schemas.microsoft.com/office/drawing/2014/main" id="{07F0B214-4CA7-4F9A-8B49-EF5EF3520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95" y="5319938"/>
              <a:ext cx="103883" cy="70190"/>
            </a:xfrm>
            <a:custGeom>
              <a:avLst/>
              <a:gdLst>
                <a:gd name="T0" fmla="*/ 37 w 37"/>
                <a:gd name="T1" fmla="*/ 0 h 25"/>
                <a:gd name="T2" fmla="*/ 37 w 37"/>
                <a:gd name="T3" fmla="*/ 6 h 25"/>
                <a:gd name="T4" fmla="*/ 19 w 37"/>
                <a:gd name="T5" fmla="*/ 25 h 25"/>
                <a:gd name="T6" fmla="*/ 19 w 37"/>
                <a:gd name="T7" fmla="*/ 25 h 25"/>
                <a:gd name="T8" fmla="*/ 0 w 37"/>
                <a:gd name="T9" fmla="*/ 6 h 25"/>
                <a:gd name="T10" fmla="*/ 0 w 37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25">
                  <a:moveTo>
                    <a:pt x="37" y="0"/>
                  </a:moveTo>
                  <a:cubicBezTo>
                    <a:pt x="37" y="6"/>
                    <a:pt x="37" y="6"/>
                    <a:pt x="37" y="6"/>
                  </a:cubicBezTo>
                  <a:cubicBezTo>
                    <a:pt x="37" y="17"/>
                    <a:pt x="29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9" y="25"/>
                    <a:pt x="0" y="17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</p:grpSp>
      <p:sp>
        <p:nvSpPr>
          <p:cNvPr id="432" name="TextBox 431">
            <a:extLst>
              <a:ext uri="{FF2B5EF4-FFF2-40B4-BE49-F238E27FC236}">
                <a16:creationId xmlns:a16="http://schemas.microsoft.com/office/drawing/2014/main" id="{A7F1DFC6-C994-4DEB-9324-96416BFC2F78}"/>
              </a:ext>
            </a:extLst>
          </p:cNvPr>
          <p:cNvSpPr txBox="1">
            <a:spLocks/>
          </p:cNvSpPr>
          <p:nvPr/>
        </p:nvSpPr>
        <p:spPr>
          <a:xfrm>
            <a:off x="7450258" y="1389029"/>
            <a:ext cx="1897469" cy="38237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Адрес, график работы (в т.ч. нерабочие дни), контактные данные, адреса обслуживания</a:t>
            </a: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5D70361B-956B-4791-984C-95AE8D8E7B70}"/>
              </a:ext>
            </a:extLst>
          </p:cNvPr>
          <p:cNvSpPr txBox="1">
            <a:spLocks/>
          </p:cNvSpPr>
          <p:nvPr/>
        </p:nvSpPr>
        <p:spPr>
          <a:xfrm>
            <a:off x="5277740" y="5864738"/>
            <a:ext cx="5320133" cy="254914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38100" rIns="381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1000" i="1">
                <a:solidFill>
                  <a:srgbClr val="000000"/>
                </a:solidFill>
                <a:latin typeface="Verdan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ru-RU" sz="800"/>
              <a:t>Не применимо</a:t>
            </a:r>
            <a:endParaRPr lang="ru-RU" sz="800" dirty="0"/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4C37EF40-07FD-4684-880D-45C1AC17B9B9}"/>
              </a:ext>
            </a:extLst>
          </p:cNvPr>
          <p:cNvSpPr txBox="1">
            <a:spLocks/>
          </p:cNvSpPr>
          <p:nvPr/>
        </p:nvSpPr>
        <p:spPr>
          <a:xfrm>
            <a:off x="882613" y="5864738"/>
            <a:ext cx="2037568" cy="2462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Запросы сотрудниками сторонних организаций по заявкам</a:t>
            </a: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8D3E8027-3B5A-4991-995B-75E667732027}"/>
              </a:ext>
            </a:extLst>
          </p:cNvPr>
          <p:cNvSpPr txBox="1">
            <a:spLocks/>
          </p:cNvSpPr>
          <p:nvPr/>
        </p:nvSpPr>
        <p:spPr>
          <a:xfrm>
            <a:off x="3064603" y="5864738"/>
            <a:ext cx="2068715" cy="25491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Предоставление доступа к информации по заявкам</a:t>
            </a: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EBCF0832-E4EA-438B-A72C-34A81ACFB89B}"/>
              </a:ext>
            </a:extLst>
          </p:cNvPr>
          <p:cNvGrpSpPr>
            <a:grpSpLocks/>
          </p:cNvGrpSpPr>
          <p:nvPr/>
        </p:nvGrpSpPr>
        <p:grpSpPr>
          <a:xfrm>
            <a:off x="575153" y="5081613"/>
            <a:ext cx="216352" cy="199016"/>
            <a:chOff x="554735" y="4886544"/>
            <a:chExt cx="272801" cy="250945"/>
          </a:xfrm>
        </p:grpSpPr>
        <p:sp>
          <p:nvSpPr>
            <p:cNvPr id="235" name="Freeform 157">
              <a:extLst>
                <a:ext uri="{FF2B5EF4-FFF2-40B4-BE49-F238E27FC236}">
                  <a16:creationId xmlns:a16="http://schemas.microsoft.com/office/drawing/2014/main" id="{39F9F175-7BB2-45E1-B2FB-B8ED7E82C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735" y="4944988"/>
              <a:ext cx="272799" cy="192501"/>
            </a:xfrm>
            <a:custGeom>
              <a:avLst/>
              <a:gdLst>
                <a:gd name="T0" fmla="*/ 190 w 190"/>
                <a:gd name="T1" fmla="*/ 0 h 133"/>
                <a:gd name="T2" fmla="*/ 190 w 190"/>
                <a:gd name="T3" fmla="*/ 120 h 133"/>
                <a:gd name="T4" fmla="*/ 178 w 190"/>
                <a:gd name="T5" fmla="*/ 133 h 133"/>
                <a:gd name="T6" fmla="*/ 12 w 190"/>
                <a:gd name="T7" fmla="*/ 133 h 133"/>
                <a:gd name="T8" fmla="*/ 0 w 190"/>
                <a:gd name="T9" fmla="*/ 120 h 133"/>
                <a:gd name="T10" fmla="*/ 0 w 190"/>
                <a:gd name="T1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0" h="133">
                  <a:moveTo>
                    <a:pt x="190" y="0"/>
                  </a:moveTo>
                  <a:cubicBezTo>
                    <a:pt x="190" y="120"/>
                    <a:pt x="190" y="120"/>
                    <a:pt x="190" y="120"/>
                  </a:cubicBezTo>
                  <a:cubicBezTo>
                    <a:pt x="190" y="127"/>
                    <a:pt x="185" y="133"/>
                    <a:pt x="178" y="133"/>
                  </a:cubicBezTo>
                  <a:cubicBezTo>
                    <a:pt x="12" y="133"/>
                    <a:pt x="12" y="133"/>
                    <a:pt x="12" y="133"/>
                  </a:cubicBezTo>
                  <a:cubicBezTo>
                    <a:pt x="5" y="133"/>
                    <a:pt x="0" y="127"/>
                    <a:pt x="0" y="12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36" name="Line 158">
              <a:extLst>
                <a:ext uri="{FF2B5EF4-FFF2-40B4-BE49-F238E27FC236}">
                  <a16:creationId xmlns:a16="http://schemas.microsoft.com/office/drawing/2014/main" id="{5BDB91CD-9339-4CEE-A44E-940B168C6C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4736" y="4928998"/>
              <a:ext cx="25575" cy="1599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37" name="Line 160">
              <a:extLst>
                <a:ext uri="{FF2B5EF4-FFF2-40B4-BE49-F238E27FC236}">
                  <a16:creationId xmlns:a16="http://schemas.microsoft.com/office/drawing/2014/main" id="{4D1A8257-52C0-4A80-9260-E9666F8107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01351" y="4928998"/>
              <a:ext cx="26184" cy="1599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38" name="Freeform 161">
              <a:extLst>
                <a:ext uri="{FF2B5EF4-FFF2-40B4-BE49-F238E27FC236}">
                  <a16:creationId xmlns:a16="http://schemas.microsoft.com/office/drawing/2014/main" id="{B4F182C6-2259-46F3-9377-FC8E16B37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737" y="5004018"/>
              <a:ext cx="272799" cy="86102"/>
            </a:xfrm>
            <a:custGeom>
              <a:avLst/>
              <a:gdLst>
                <a:gd name="T0" fmla="*/ 190 w 190"/>
                <a:gd name="T1" fmla="*/ 0 h 59"/>
                <a:gd name="T2" fmla="*/ 101 w 190"/>
                <a:gd name="T3" fmla="*/ 56 h 59"/>
                <a:gd name="T4" fmla="*/ 88 w 190"/>
                <a:gd name="T5" fmla="*/ 56 h 59"/>
                <a:gd name="T6" fmla="*/ 0 w 190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0" h="59">
                  <a:moveTo>
                    <a:pt x="190" y="0"/>
                  </a:moveTo>
                  <a:cubicBezTo>
                    <a:pt x="101" y="56"/>
                    <a:pt x="101" y="56"/>
                    <a:pt x="101" y="56"/>
                  </a:cubicBezTo>
                  <a:cubicBezTo>
                    <a:pt x="97" y="58"/>
                    <a:pt x="92" y="59"/>
                    <a:pt x="88" y="5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39" name="Freeform 162">
              <a:extLst>
                <a:ext uri="{FF2B5EF4-FFF2-40B4-BE49-F238E27FC236}">
                  <a16:creationId xmlns:a16="http://schemas.microsoft.com/office/drawing/2014/main" id="{0F32514D-DF55-4DF0-A2F3-2874D7EBF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312" y="4886544"/>
              <a:ext cx="221040" cy="107628"/>
            </a:xfrm>
            <a:custGeom>
              <a:avLst/>
              <a:gdLst>
                <a:gd name="T0" fmla="*/ 0 w 154"/>
                <a:gd name="T1" fmla="*/ 74 h 74"/>
                <a:gd name="T2" fmla="*/ 0 w 154"/>
                <a:gd name="T3" fmla="*/ 13 h 74"/>
                <a:gd name="T4" fmla="*/ 12 w 154"/>
                <a:gd name="T5" fmla="*/ 0 h 74"/>
                <a:gd name="T6" fmla="*/ 142 w 154"/>
                <a:gd name="T7" fmla="*/ 0 h 74"/>
                <a:gd name="T8" fmla="*/ 154 w 154"/>
                <a:gd name="T9" fmla="*/ 13 h 74"/>
                <a:gd name="T10" fmla="*/ 154 w 154"/>
                <a:gd name="T1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4" h="74">
                  <a:moveTo>
                    <a:pt x="0" y="74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48" y="0"/>
                    <a:pt x="154" y="6"/>
                    <a:pt x="154" y="13"/>
                  </a:cubicBezTo>
                  <a:cubicBezTo>
                    <a:pt x="154" y="74"/>
                    <a:pt x="154" y="74"/>
                    <a:pt x="154" y="74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E596B4BA-8E86-4FE3-8AB9-AA1228AFB02E}"/>
                </a:ext>
              </a:extLst>
            </p:cNvPr>
            <p:cNvGrpSpPr/>
            <p:nvPr/>
          </p:nvGrpSpPr>
          <p:grpSpPr>
            <a:xfrm>
              <a:off x="650293" y="4921086"/>
              <a:ext cx="81077" cy="112950"/>
              <a:chOff x="3943845" y="1244359"/>
              <a:chExt cx="142533" cy="198566"/>
            </a:xfrm>
          </p:grpSpPr>
          <p:sp>
            <p:nvSpPr>
              <p:cNvPr id="241" name="Line 1085">
                <a:extLst>
                  <a:ext uri="{FF2B5EF4-FFF2-40B4-BE49-F238E27FC236}">
                    <a16:creationId xmlns:a16="http://schemas.microsoft.com/office/drawing/2014/main" id="{0B2FB2CF-7818-46BC-93EE-BC181C67B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43845" y="1388523"/>
                <a:ext cx="106084" cy="0"/>
              </a:xfrm>
              <a:prstGeom prst="line">
                <a:avLst/>
              </a:prstGeom>
              <a:no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900"/>
              </a:p>
            </p:txBody>
          </p:sp>
          <p:sp>
            <p:nvSpPr>
              <p:cNvPr id="242" name="Freeform 1086">
                <a:extLst>
                  <a:ext uri="{FF2B5EF4-FFF2-40B4-BE49-F238E27FC236}">
                    <a16:creationId xmlns:a16="http://schemas.microsoft.com/office/drawing/2014/main" id="{E2AC1A54-EF21-4587-91E1-3751A61C2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3845" y="1244359"/>
                <a:ext cx="142533" cy="198566"/>
              </a:xfrm>
              <a:custGeom>
                <a:avLst/>
                <a:gdLst>
                  <a:gd name="T0" fmla="*/ 25 w 109"/>
                  <a:gd name="T1" fmla="*/ 153 h 153"/>
                  <a:gd name="T2" fmla="*/ 25 w 109"/>
                  <a:gd name="T3" fmla="*/ 0 h 153"/>
                  <a:gd name="T4" fmla="*/ 73 w 109"/>
                  <a:gd name="T5" fmla="*/ 0 h 153"/>
                  <a:gd name="T6" fmla="*/ 109 w 109"/>
                  <a:gd name="T7" fmla="*/ 36 h 153"/>
                  <a:gd name="T8" fmla="*/ 109 w 109"/>
                  <a:gd name="T9" fmla="*/ 40 h 153"/>
                  <a:gd name="T10" fmla="*/ 73 w 109"/>
                  <a:gd name="T11" fmla="*/ 76 h 153"/>
                  <a:gd name="T12" fmla="*/ 0 w 109"/>
                  <a:gd name="T13" fmla="*/ 76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9" h="153">
                    <a:moveTo>
                      <a:pt x="25" y="153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93" y="0"/>
                      <a:pt x="109" y="16"/>
                      <a:pt x="109" y="36"/>
                    </a:cubicBezTo>
                    <a:cubicBezTo>
                      <a:pt x="109" y="40"/>
                      <a:pt x="109" y="40"/>
                      <a:pt x="109" y="40"/>
                    </a:cubicBezTo>
                    <a:cubicBezTo>
                      <a:pt x="109" y="60"/>
                      <a:pt x="93" y="76"/>
                      <a:pt x="73" y="76"/>
                    </a:cubicBezTo>
                    <a:cubicBezTo>
                      <a:pt x="0" y="76"/>
                      <a:pt x="0" y="76"/>
                      <a:pt x="0" y="76"/>
                    </a:cubicBezTo>
                  </a:path>
                </a:pathLst>
              </a:custGeom>
              <a:no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900"/>
              </a:p>
            </p:txBody>
          </p:sp>
        </p:grpSp>
      </p:grpSp>
      <p:sp>
        <p:nvSpPr>
          <p:cNvPr id="338" name="TextBox 337">
            <a:extLst>
              <a:ext uri="{FF2B5EF4-FFF2-40B4-BE49-F238E27FC236}">
                <a16:creationId xmlns:a16="http://schemas.microsoft.com/office/drawing/2014/main" id="{7FB43838-7835-42D6-8D41-FEA2099A86A3}"/>
              </a:ext>
            </a:extLst>
          </p:cNvPr>
          <p:cNvSpPr txBox="1">
            <a:spLocks/>
          </p:cNvSpPr>
          <p:nvPr/>
        </p:nvSpPr>
        <p:spPr>
          <a:xfrm>
            <a:off x="882613" y="5081621"/>
            <a:ext cx="2037568" cy="25491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Услуги коммерческих организаций 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8713A505-80D0-4F92-A233-0404AFE54DFC}"/>
              </a:ext>
            </a:extLst>
          </p:cNvPr>
          <p:cNvSpPr txBox="1">
            <a:spLocks/>
          </p:cNvSpPr>
          <p:nvPr/>
        </p:nvSpPr>
        <p:spPr>
          <a:xfrm>
            <a:off x="3064603" y="5081621"/>
            <a:ext cx="2068715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Проработка процесса по стандар-тизации услуг, прозрачности цен и наличию удобных способов оплаты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CFFC0E81-F97F-4C7D-A687-C0522319AB5C}"/>
              </a:ext>
            </a:extLst>
          </p:cNvPr>
          <p:cNvSpPr txBox="1">
            <a:spLocks/>
          </p:cNvSpPr>
          <p:nvPr/>
        </p:nvSpPr>
        <p:spPr>
          <a:xfrm>
            <a:off x="5277740" y="5081621"/>
            <a:ext cx="5320133" cy="369332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" tIns="38100" rIns="381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1000" i="1">
                <a:solidFill>
                  <a:srgbClr val="000000"/>
                </a:solidFill>
                <a:latin typeface="Verdan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ru-RU" sz="800"/>
              <a:t>Не применимо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1705633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22B0A0A-AA5F-4792-B76A-D0899A03690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33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47"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22B0A0A-AA5F-4792-B76A-D0899A0369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5172825-9D13-4EAC-9274-B8329FF6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altLang="en-US" dirty="0">
                <a:effectLst/>
                <a:latin typeface="+mn-lt"/>
              </a:rPr>
              <a:t>Приложение</a:t>
            </a:r>
            <a:endParaRPr lang="ru-RU" dirty="0">
              <a:latin typeface="+mn-lt"/>
            </a:endParaRPr>
          </a:p>
        </p:txBody>
      </p:sp>
      <p:sp>
        <p:nvSpPr>
          <p:cNvPr id="14" name="Text Placeholder 4">
            <a:hlinkClick r:id="rId9" action="ppaction://hlinksldjump"/>
            <a:extLst>
              <a:ext uri="{FF2B5EF4-FFF2-40B4-BE49-F238E27FC236}">
                <a16:creationId xmlns:a16="http://schemas.microsoft.com/office/drawing/2014/main" id="{88DAF4EB-5B9D-4381-8708-3F8E2994BF2E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4017963" y="2897189"/>
            <a:ext cx="41560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71438" tIns="69850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en-US" dirty="0">
                <a:effectLst/>
              </a:rPr>
              <a:t>Приложение 1 – </a:t>
            </a:r>
            <a:r>
              <a:rPr lang="ru-RU" altLang="en-US">
                <a:effectLst/>
              </a:rPr>
              <a:t>оценка ресурсов</a:t>
            </a:r>
            <a:endParaRPr lang="ru-RU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0E0C217-DE37-4A01-A9C1-745D609D7329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4017963" y="3251200"/>
            <a:ext cx="4156075" cy="355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71438" tIns="71438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ru-RU" b="1">
                <a:solidFill>
                  <a:schemeClr val="tx2"/>
                </a:solidFill>
              </a:rPr>
              <a:t>Приложение </a:t>
            </a:r>
            <a:r>
              <a:rPr lang="ru-RU" b="1" dirty="0">
                <a:solidFill>
                  <a:schemeClr val="tx2"/>
                </a:solidFill>
              </a:rPr>
              <a:t>2</a:t>
            </a:r>
            <a:r>
              <a:rPr lang="ru-RU" b="1">
                <a:solidFill>
                  <a:schemeClr val="tx2"/>
                </a:solidFill>
              </a:rPr>
              <a:t> </a:t>
            </a:r>
            <a:r>
              <a:rPr lang="ru-RU" b="1" dirty="0">
                <a:solidFill>
                  <a:schemeClr val="tx2"/>
                </a:solidFill>
              </a:rPr>
              <a:t>– текущий процесс ЕХД</a:t>
            </a:r>
          </a:p>
        </p:txBody>
      </p:sp>
      <p:sp>
        <p:nvSpPr>
          <p:cNvPr id="18" name="Text Placeholder 4">
            <a:hlinkClick r:id="rId10" action="ppaction://hlinksldjump"/>
            <a:extLst>
              <a:ext uri="{FF2B5EF4-FFF2-40B4-BE49-F238E27FC236}">
                <a16:creationId xmlns:a16="http://schemas.microsoft.com/office/drawing/2014/main" id="{BC70FAE9-910E-4AC2-BB8D-8188ECF980B6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4017963" y="3606801"/>
            <a:ext cx="41560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71438" tIns="71438" rIns="0" bIns="6985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en-US">
                <a:effectLst/>
              </a:rPr>
              <a:t>Приложение </a:t>
            </a:r>
            <a:r>
              <a:rPr lang="ru-RU" altLang="en-US" dirty="0">
                <a:effectLst/>
              </a:rPr>
              <a:t>3</a:t>
            </a:r>
            <a:r>
              <a:rPr lang="ru-RU" altLang="en-US">
                <a:effectLst/>
              </a:rPr>
              <a:t> </a:t>
            </a:r>
            <a:r>
              <a:rPr lang="ru-RU" altLang="en-US" dirty="0">
                <a:effectLst/>
              </a:rPr>
              <a:t>–продуктовые замеры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2235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6" hidden="1">
            <a:extLst>
              <a:ext uri="{FF2B5EF4-FFF2-40B4-BE49-F238E27FC236}">
                <a16:creationId xmlns:a16="http://schemas.microsoft.com/office/drawing/2014/main" id="{F83C8F45-66B9-43B0-98FC-6AA66D2DA5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71"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10" name="Object 6" hidden="1">
                        <a:extLst>
                          <a:ext uri="{FF2B5EF4-FFF2-40B4-BE49-F238E27FC236}">
                            <a16:creationId xmlns:a16="http://schemas.microsoft.com/office/drawing/2014/main" id="{F83C8F45-66B9-43B0-98FC-6AA66D2DA5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Rectangle: Top Corners Rounded 114">
            <a:extLst>
              <a:ext uri="{FF2B5EF4-FFF2-40B4-BE49-F238E27FC236}">
                <a16:creationId xmlns:a16="http://schemas.microsoft.com/office/drawing/2014/main" id="{8DC301B0-7D7F-43C1-BB8A-92E5DFB339FE}"/>
              </a:ext>
            </a:extLst>
          </p:cNvPr>
          <p:cNvSpPr>
            <a:spLocks/>
          </p:cNvSpPr>
          <p:nvPr/>
        </p:nvSpPr>
        <p:spPr>
          <a:xfrm rot="10800000">
            <a:off x="1179415" y="2135490"/>
            <a:ext cx="1983121" cy="3784180"/>
          </a:xfrm>
          <a:prstGeom prst="round2SameRect">
            <a:avLst>
              <a:gd name="adj1" fmla="val 4848"/>
              <a:gd name="adj2" fmla="val 0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122" name="Rectangle: Top Corners Rounded 121">
            <a:extLst>
              <a:ext uri="{FF2B5EF4-FFF2-40B4-BE49-F238E27FC236}">
                <a16:creationId xmlns:a16="http://schemas.microsoft.com/office/drawing/2014/main" id="{908F2B06-9F75-405E-BCF3-5D98332F7B93}"/>
              </a:ext>
            </a:extLst>
          </p:cNvPr>
          <p:cNvSpPr>
            <a:spLocks/>
          </p:cNvSpPr>
          <p:nvPr/>
        </p:nvSpPr>
        <p:spPr>
          <a:xfrm rot="10800000">
            <a:off x="3239969" y="2135490"/>
            <a:ext cx="1983121" cy="3784180"/>
          </a:xfrm>
          <a:prstGeom prst="round2SameRect">
            <a:avLst>
              <a:gd name="adj1" fmla="val 5008"/>
              <a:gd name="adj2" fmla="val 0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123" name="Rectangle: Top Corners Rounded 122">
            <a:extLst>
              <a:ext uri="{FF2B5EF4-FFF2-40B4-BE49-F238E27FC236}">
                <a16:creationId xmlns:a16="http://schemas.microsoft.com/office/drawing/2014/main" id="{E7076EE7-D931-42A6-8459-081B941A8095}"/>
              </a:ext>
            </a:extLst>
          </p:cNvPr>
          <p:cNvSpPr>
            <a:spLocks/>
          </p:cNvSpPr>
          <p:nvPr/>
        </p:nvSpPr>
        <p:spPr>
          <a:xfrm rot="10800000">
            <a:off x="5300522" y="2135490"/>
            <a:ext cx="1983121" cy="3784180"/>
          </a:xfrm>
          <a:prstGeom prst="round2SameRect">
            <a:avLst>
              <a:gd name="adj1" fmla="val 4796"/>
              <a:gd name="adj2" fmla="val 0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124" name="Rectangle: Top Corners Rounded 123">
            <a:extLst>
              <a:ext uri="{FF2B5EF4-FFF2-40B4-BE49-F238E27FC236}">
                <a16:creationId xmlns:a16="http://schemas.microsoft.com/office/drawing/2014/main" id="{A69F95A5-D6FE-4E60-A3CD-3954FFA8FDA2}"/>
              </a:ext>
            </a:extLst>
          </p:cNvPr>
          <p:cNvSpPr>
            <a:spLocks/>
          </p:cNvSpPr>
          <p:nvPr/>
        </p:nvSpPr>
        <p:spPr>
          <a:xfrm rot="10800000">
            <a:off x="7361075" y="2135490"/>
            <a:ext cx="1983121" cy="3784180"/>
          </a:xfrm>
          <a:prstGeom prst="round2SameRect">
            <a:avLst>
              <a:gd name="adj1" fmla="val 4876"/>
              <a:gd name="adj2" fmla="val 0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125" name="Rectangle: Top Corners Rounded 124">
            <a:extLst>
              <a:ext uri="{FF2B5EF4-FFF2-40B4-BE49-F238E27FC236}">
                <a16:creationId xmlns:a16="http://schemas.microsoft.com/office/drawing/2014/main" id="{73A790B2-6CB2-45CB-8BBE-C41859DC8119}"/>
              </a:ext>
            </a:extLst>
          </p:cNvPr>
          <p:cNvSpPr>
            <a:spLocks/>
          </p:cNvSpPr>
          <p:nvPr/>
        </p:nvSpPr>
        <p:spPr>
          <a:xfrm rot="10800000">
            <a:off x="9421626" y="2135491"/>
            <a:ext cx="1983121" cy="3784180"/>
          </a:xfrm>
          <a:prstGeom prst="round2SameRect">
            <a:avLst>
              <a:gd name="adj1" fmla="val 4589"/>
              <a:gd name="adj2" fmla="val 0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88" name="Arrow: Pentagon 87">
            <a:extLst>
              <a:ext uri="{FF2B5EF4-FFF2-40B4-BE49-F238E27FC236}">
                <a16:creationId xmlns:a16="http://schemas.microsoft.com/office/drawing/2014/main" id="{34D6A5A8-498F-464E-9434-E8CEA940DAE4}"/>
              </a:ext>
            </a:extLst>
          </p:cNvPr>
          <p:cNvSpPr>
            <a:spLocks/>
          </p:cNvSpPr>
          <p:nvPr/>
        </p:nvSpPr>
        <p:spPr>
          <a:xfrm>
            <a:off x="1179416" y="1373675"/>
            <a:ext cx="2215637" cy="761818"/>
          </a:xfrm>
          <a:prstGeom prst="homePlate">
            <a:avLst>
              <a:gd name="adj" fmla="val 30356"/>
            </a:avLst>
          </a:prstGeom>
          <a:solidFill>
            <a:schemeClr val="accent6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89" name="Arrow: Chevron 88">
            <a:extLst>
              <a:ext uri="{FF2B5EF4-FFF2-40B4-BE49-F238E27FC236}">
                <a16:creationId xmlns:a16="http://schemas.microsoft.com/office/drawing/2014/main" id="{09DF78A5-8AEE-45F1-A310-6C60EB481E01}"/>
              </a:ext>
            </a:extLst>
          </p:cNvPr>
          <p:cNvSpPr>
            <a:spLocks/>
          </p:cNvSpPr>
          <p:nvPr/>
        </p:nvSpPr>
        <p:spPr>
          <a:xfrm>
            <a:off x="3239970" y="1373675"/>
            <a:ext cx="2215637" cy="761818"/>
          </a:xfrm>
          <a:prstGeom prst="chevron">
            <a:avLst>
              <a:gd name="adj" fmla="val 30772"/>
            </a:avLst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90" name="Arrow: Chevron 89">
            <a:extLst>
              <a:ext uri="{FF2B5EF4-FFF2-40B4-BE49-F238E27FC236}">
                <a16:creationId xmlns:a16="http://schemas.microsoft.com/office/drawing/2014/main" id="{D9468A61-B37D-43E9-BB7B-4D5331455AFC}"/>
              </a:ext>
            </a:extLst>
          </p:cNvPr>
          <p:cNvSpPr>
            <a:spLocks/>
          </p:cNvSpPr>
          <p:nvPr/>
        </p:nvSpPr>
        <p:spPr>
          <a:xfrm>
            <a:off x="5300523" y="1373675"/>
            <a:ext cx="2215637" cy="761818"/>
          </a:xfrm>
          <a:prstGeom prst="chevron">
            <a:avLst>
              <a:gd name="adj" fmla="val 29522"/>
            </a:avLst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91" name="Arrow: Chevron 90">
            <a:extLst>
              <a:ext uri="{FF2B5EF4-FFF2-40B4-BE49-F238E27FC236}">
                <a16:creationId xmlns:a16="http://schemas.microsoft.com/office/drawing/2014/main" id="{46168964-8D8C-47C3-A187-699A74AF120A}"/>
              </a:ext>
            </a:extLst>
          </p:cNvPr>
          <p:cNvSpPr>
            <a:spLocks/>
          </p:cNvSpPr>
          <p:nvPr/>
        </p:nvSpPr>
        <p:spPr>
          <a:xfrm>
            <a:off x="7361076" y="1373675"/>
            <a:ext cx="2215637" cy="761818"/>
          </a:xfrm>
          <a:prstGeom prst="chevron">
            <a:avLst>
              <a:gd name="adj" fmla="val 30772"/>
            </a:avLst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92" name="Arrow: Chevron 91">
            <a:extLst>
              <a:ext uri="{FF2B5EF4-FFF2-40B4-BE49-F238E27FC236}">
                <a16:creationId xmlns:a16="http://schemas.microsoft.com/office/drawing/2014/main" id="{75E0E2EE-D668-49EE-8220-564E7EE4BA06}"/>
              </a:ext>
            </a:extLst>
          </p:cNvPr>
          <p:cNvSpPr>
            <a:spLocks/>
          </p:cNvSpPr>
          <p:nvPr/>
        </p:nvSpPr>
        <p:spPr>
          <a:xfrm>
            <a:off x="9421627" y="1373675"/>
            <a:ext cx="2215637" cy="761818"/>
          </a:xfrm>
          <a:prstGeom prst="chevron">
            <a:avLst>
              <a:gd name="adj" fmla="val 29939"/>
            </a:avLst>
          </a:prstGeom>
          <a:solidFill>
            <a:schemeClr val="accent1">
              <a:lumMod val="5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25604B8B-B5DF-49B7-AC11-5CA6B1FA0D3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Процесс размещения и актуализации данных в системе "Единое хранилище данных города Москвы"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A839DC-3665-4EAE-87EA-E18B78060607}"/>
              </a:ext>
            </a:extLst>
          </p:cNvPr>
          <p:cNvSpPr txBox="1">
            <a:spLocks/>
          </p:cNvSpPr>
          <p:nvPr/>
        </p:nvSpPr>
        <p:spPr>
          <a:xfrm>
            <a:off x="9499512" y="2308653"/>
            <a:ext cx="1827352" cy="32624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1150" dirty="0"/>
              <a:t>Поставщик данных обновляет данные с </a:t>
            </a:r>
            <a:r>
              <a:rPr lang="ru-RU" sz="1150" b="1" dirty="0">
                <a:solidFill>
                  <a:schemeClr val="accent3"/>
                </a:solidFill>
              </a:rPr>
              <a:t>регулярностью, прописанной в ТЗ </a:t>
            </a:r>
            <a:r>
              <a:rPr lang="ru-RU" sz="1150" dirty="0"/>
              <a:t>и ставит электронную подпись по итогам обновления</a:t>
            </a:r>
          </a:p>
          <a:p>
            <a:pPr lvl="1"/>
            <a:r>
              <a:rPr lang="ru-RU" sz="1150" dirty="0"/>
              <a:t>После обновления ГИС ЕХД актуализирует данные в системе</a:t>
            </a:r>
          </a:p>
          <a:p>
            <a:pPr lvl="1"/>
            <a:r>
              <a:rPr lang="ru-RU" sz="1150" dirty="0"/>
              <a:t>Конечный Потребитель данных </a:t>
            </a:r>
            <a:r>
              <a:rPr lang="ru-RU" sz="1150" b="1" dirty="0">
                <a:solidFill>
                  <a:schemeClr val="tx2"/>
                </a:solidFill>
              </a:rPr>
              <a:t>получает необходимую информацию </a:t>
            </a:r>
            <a:r>
              <a:rPr lang="ru-RU" sz="1150" dirty="0"/>
              <a:t>из ГИС ЕХД</a:t>
            </a:r>
            <a:r>
              <a:rPr lang="ru-RU" sz="1150" b="1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9EB84C-A83B-4CCB-A40D-E110733FAB08}"/>
              </a:ext>
            </a:extLst>
          </p:cNvPr>
          <p:cNvSpPr txBox="1">
            <a:spLocks/>
          </p:cNvSpPr>
          <p:nvPr/>
        </p:nvSpPr>
        <p:spPr>
          <a:xfrm>
            <a:off x="7438961" y="2308653"/>
            <a:ext cx="1827352" cy="287001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1150" dirty="0"/>
              <a:t>ГИС ЕХД создает каталог для хранения данных, который заполняется </a:t>
            </a:r>
            <a:r>
              <a:rPr lang="ru-RU" sz="1150" b="1" dirty="0">
                <a:solidFill>
                  <a:schemeClr val="accent3"/>
                </a:solidFill>
              </a:rPr>
              <a:t>исполнителями со стороны Поставщика</a:t>
            </a:r>
          </a:p>
          <a:p>
            <a:pPr lvl="1"/>
            <a:r>
              <a:rPr lang="ru-RU" sz="1150" dirty="0"/>
              <a:t>После ввода, данные подписываются электронной подписью Поставщика и публикуются ГИС ЕХД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26E6F0-6587-475E-97E9-3B806E12FC8F}"/>
              </a:ext>
            </a:extLst>
          </p:cNvPr>
          <p:cNvSpPr txBox="1">
            <a:spLocks/>
          </p:cNvSpPr>
          <p:nvPr/>
        </p:nvSpPr>
        <p:spPr>
          <a:xfrm>
            <a:off x="5378407" y="2308653"/>
            <a:ext cx="1827352" cy="269304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1150" dirty="0"/>
              <a:t>ГИС ЕХД и Поставщик данных совместно </a:t>
            </a:r>
            <a:r>
              <a:rPr lang="ru-RU" sz="1150" b="1" dirty="0">
                <a:solidFill>
                  <a:schemeClr val="accent3"/>
                </a:solidFill>
              </a:rPr>
              <a:t>формируют ТЗ </a:t>
            </a:r>
            <a:r>
              <a:rPr lang="ru-RU" sz="1150" dirty="0"/>
              <a:t>на размещение данных (включающие </a:t>
            </a:r>
            <a:r>
              <a:rPr lang="ru-RU" sz="1150" b="1" dirty="0">
                <a:solidFill>
                  <a:schemeClr val="accent3"/>
                </a:solidFill>
              </a:rPr>
              <a:t>регулярность актуализации </a:t>
            </a:r>
            <a:r>
              <a:rPr lang="ru-RU" sz="1150" dirty="0"/>
              <a:t>информации Поставщиком)</a:t>
            </a:r>
          </a:p>
          <a:p>
            <a:pPr lvl="1"/>
            <a:r>
              <a:rPr lang="ru-RU" sz="1150" dirty="0"/>
              <a:t>ТЗ согласовывается со всеми участниками процесса, вкл. Потребителя данных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D3A220-1BA6-44A7-AC20-F2076ECCC771}"/>
              </a:ext>
            </a:extLst>
          </p:cNvPr>
          <p:cNvSpPr txBox="1">
            <a:spLocks/>
          </p:cNvSpPr>
          <p:nvPr/>
        </p:nvSpPr>
        <p:spPr>
          <a:xfrm>
            <a:off x="1257301" y="2308653"/>
            <a:ext cx="1827352" cy="333937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1150" b="1" dirty="0">
                <a:solidFill>
                  <a:schemeClr val="accent3"/>
                </a:solidFill>
              </a:rPr>
              <a:t>Инициаторами</a:t>
            </a:r>
            <a:r>
              <a:rPr lang="ru-RU" sz="1150" dirty="0"/>
              <a:t> размещения нового набора данных в ЕХД могут являться: </a:t>
            </a:r>
          </a:p>
          <a:p>
            <a:pPr lvl="2"/>
            <a:r>
              <a:rPr lang="ru-RU" sz="1150" b="1" dirty="0">
                <a:solidFill>
                  <a:schemeClr val="accent3"/>
                </a:solidFill>
              </a:rPr>
              <a:t>Аппарат Мэра </a:t>
            </a:r>
            <a:r>
              <a:rPr lang="ru-RU" sz="1150" dirty="0"/>
              <a:t>и Правительства Москвы</a:t>
            </a:r>
          </a:p>
          <a:p>
            <a:pPr lvl="2"/>
            <a:r>
              <a:rPr lang="ru-RU" sz="1150" b="1" dirty="0">
                <a:solidFill>
                  <a:schemeClr val="accent3"/>
                </a:solidFill>
              </a:rPr>
              <a:t>Поставщик</a:t>
            </a:r>
            <a:r>
              <a:rPr lang="ru-RU" sz="1150" dirty="0"/>
              <a:t> данных (т.е. городская система или ОИВ, напр. ДЖКХ)</a:t>
            </a:r>
            <a:endParaRPr lang="en-US" sz="1150" dirty="0"/>
          </a:p>
          <a:p>
            <a:pPr lvl="2"/>
            <a:r>
              <a:rPr lang="ru-RU" sz="1150" b="1" dirty="0">
                <a:solidFill>
                  <a:schemeClr val="accent3"/>
                </a:solidFill>
              </a:rPr>
              <a:t>Потребитель</a:t>
            </a:r>
            <a:r>
              <a:rPr lang="ru-RU" sz="1150" dirty="0"/>
              <a:t> данных (т.е. сервисы </a:t>
            </a:r>
            <a:r>
              <a:rPr lang="ru-RU" sz="1150" dirty="0" err="1"/>
              <a:t>ДИТа</a:t>
            </a:r>
            <a:r>
              <a:rPr lang="ru-RU" sz="1150" dirty="0"/>
              <a:t>, напр. "Наш город")</a:t>
            </a:r>
          </a:p>
          <a:p>
            <a:pPr lvl="2"/>
            <a:endParaRPr lang="ru-RU" sz="115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6D0BB0-AC73-487D-96E2-7923D9700118}"/>
              </a:ext>
            </a:extLst>
          </p:cNvPr>
          <p:cNvSpPr txBox="1">
            <a:spLocks/>
          </p:cNvSpPr>
          <p:nvPr/>
        </p:nvSpPr>
        <p:spPr>
          <a:xfrm>
            <a:off x="3317854" y="2308653"/>
            <a:ext cx="1827352" cy="322395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1150" dirty="0"/>
              <a:t>После решения Аппарата Мэра о размещении данных, соответствующее поручение направляется Поставщику данных и в ГИС ЕХД</a:t>
            </a:r>
          </a:p>
          <a:p>
            <a:pPr lvl="1"/>
            <a:r>
              <a:rPr lang="ru-RU" sz="1150" dirty="0"/>
              <a:t>Со стороны Поставщика </a:t>
            </a:r>
            <a:r>
              <a:rPr lang="ru-RU" sz="1150" b="1" dirty="0">
                <a:solidFill>
                  <a:schemeClr val="accent3"/>
                </a:solidFill>
              </a:rPr>
              <a:t>выделяются ответственные сотрудники</a:t>
            </a:r>
            <a:r>
              <a:rPr lang="en-US" sz="1150" b="1" dirty="0">
                <a:solidFill>
                  <a:schemeClr val="accent3"/>
                </a:solidFill>
              </a:rPr>
              <a:t> </a:t>
            </a:r>
            <a:r>
              <a:rPr lang="ru-RU" sz="1150" dirty="0"/>
              <a:t>и направляется заявка в ГИС ЕХД с описанием </a:t>
            </a:r>
            <a:r>
              <a:rPr lang="ru-RU" sz="1150" b="1" dirty="0">
                <a:solidFill>
                  <a:schemeClr val="accent3"/>
                </a:solidFill>
              </a:rPr>
              <a:t>метаданных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E1FBC2-752D-4BF1-875F-DF94DA6C9FA7}"/>
              </a:ext>
            </a:extLst>
          </p:cNvPr>
          <p:cNvSpPr txBox="1"/>
          <p:nvPr/>
        </p:nvSpPr>
        <p:spPr>
          <a:xfrm>
            <a:off x="116462" y="1588536"/>
            <a:ext cx="950581" cy="3693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</a:pPr>
            <a:r>
              <a:rPr lang="ru-RU" sz="1200" b="1" dirty="0">
                <a:solidFill>
                  <a:schemeClr val="tx2"/>
                </a:solidFill>
              </a:rPr>
              <a:t>ЭТАПЫ</a:t>
            </a:r>
            <a:br>
              <a:rPr lang="ru-RU" sz="1200" b="1" dirty="0">
                <a:solidFill>
                  <a:schemeClr val="tx2"/>
                </a:solidFill>
              </a:rPr>
            </a:br>
            <a:r>
              <a:rPr lang="ru-RU" sz="1200" b="1" dirty="0">
                <a:solidFill>
                  <a:schemeClr val="tx2"/>
                </a:solidFill>
              </a:rPr>
              <a:t>ПРОЦЕССА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EB46D01-D4E6-4DD5-9E51-631E5D6EBDF1}"/>
              </a:ext>
            </a:extLst>
          </p:cNvPr>
          <p:cNvSpPr txBox="1">
            <a:spLocks/>
          </p:cNvSpPr>
          <p:nvPr/>
        </p:nvSpPr>
        <p:spPr>
          <a:xfrm>
            <a:off x="1623605" y="1577613"/>
            <a:ext cx="1538934" cy="3539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150" b="1" dirty="0">
                <a:solidFill>
                  <a:srgbClr val="FFFFFF"/>
                </a:solidFill>
              </a:rPr>
              <a:t>Инициация размещения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596814F-E507-4F3B-9569-44D8B4B6462E}"/>
              </a:ext>
            </a:extLst>
          </p:cNvPr>
          <p:cNvSpPr txBox="1">
            <a:spLocks/>
          </p:cNvSpPr>
          <p:nvPr/>
        </p:nvSpPr>
        <p:spPr>
          <a:xfrm>
            <a:off x="3876675" y="1577613"/>
            <a:ext cx="1318795" cy="3539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  <a:buNone/>
            </a:pPr>
            <a:r>
              <a:rPr lang="ru-RU" sz="1150" b="1" dirty="0">
                <a:solidFill>
                  <a:srgbClr val="FFFFFF"/>
                </a:solidFill>
              </a:rPr>
              <a:t>Определение ответственных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1C5F7AE-7342-4B95-8B8D-398DB8D6C0E6}"/>
              </a:ext>
            </a:extLst>
          </p:cNvPr>
          <p:cNvSpPr txBox="1">
            <a:spLocks/>
          </p:cNvSpPr>
          <p:nvPr/>
        </p:nvSpPr>
        <p:spPr>
          <a:xfrm>
            <a:off x="5962781" y="1577613"/>
            <a:ext cx="1320863" cy="3539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150" b="1" dirty="0">
                <a:solidFill>
                  <a:srgbClr val="FFFFFF"/>
                </a:solidFill>
              </a:rPr>
              <a:t>Составление ТЗ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B1C03F1-ACA3-4B44-9195-B4A687580044}"/>
              </a:ext>
            </a:extLst>
          </p:cNvPr>
          <p:cNvSpPr txBox="1">
            <a:spLocks/>
          </p:cNvSpPr>
          <p:nvPr/>
        </p:nvSpPr>
        <p:spPr>
          <a:xfrm>
            <a:off x="8049873" y="1577613"/>
            <a:ext cx="1294324" cy="3539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150" b="1" dirty="0">
                <a:solidFill>
                  <a:srgbClr val="FFFFFF"/>
                </a:solidFill>
              </a:rPr>
              <a:t>Техническая реализация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54CE211-8BA3-45E5-8512-C6189AF8FF20}"/>
              </a:ext>
            </a:extLst>
          </p:cNvPr>
          <p:cNvSpPr txBox="1">
            <a:spLocks/>
          </p:cNvSpPr>
          <p:nvPr/>
        </p:nvSpPr>
        <p:spPr>
          <a:xfrm>
            <a:off x="10110424" y="1489127"/>
            <a:ext cx="1294324" cy="53091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150" b="1" dirty="0">
                <a:solidFill>
                  <a:srgbClr val="FFFFFF"/>
                </a:solidFill>
              </a:rPr>
              <a:t>Актуализация данных и их использование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E5F01F-3CF0-4DA9-9519-2B7242BED26E}"/>
              </a:ext>
            </a:extLst>
          </p:cNvPr>
          <p:cNvGrpSpPr/>
          <p:nvPr/>
        </p:nvGrpSpPr>
        <p:grpSpPr>
          <a:xfrm>
            <a:off x="8055316" y="1004762"/>
            <a:ext cx="3562712" cy="153888"/>
            <a:chOff x="8055316" y="1004762"/>
            <a:chExt cx="3562712" cy="15388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45F8BAF-1378-4063-B8D7-DD2FE40E87F3}"/>
                </a:ext>
              </a:extLst>
            </p:cNvPr>
            <p:cNvSpPr txBox="1"/>
            <p:nvPr/>
          </p:nvSpPr>
          <p:spPr>
            <a:xfrm>
              <a:off x="8367000" y="1004762"/>
              <a:ext cx="766235" cy="153888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/>
                <a:t>Подготовка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A98D233-E4AE-4544-85BA-3B5F92924CBB}"/>
                </a:ext>
              </a:extLst>
            </p:cNvPr>
            <p:cNvSpPr/>
            <p:nvPr/>
          </p:nvSpPr>
          <p:spPr>
            <a:xfrm>
              <a:off x="8055316" y="1009706"/>
              <a:ext cx="144000" cy="144000"/>
            </a:xfrm>
            <a:prstGeom prst="rect">
              <a:avLst/>
            </a:prstGeom>
            <a:solidFill>
              <a:schemeClr val="accent6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000" dirty="0" err="1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9422CE6-A4AE-4F05-9FF0-DD504A7C87D9}"/>
                </a:ext>
              </a:extLst>
            </p:cNvPr>
            <p:cNvSpPr txBox="1"/>
            <p:nvPr/>
          </p:nvSpPr>
          <p:spPr>
            <a:xfrm>
              <a:off x="9612603" y="1004762"/>
              <a:ext cx="724557" cy="153888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ru-RU" sz="1000" dirty="0"/>
                <a:t>Внедрение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1EF9C36-3F3D-4C02-9791-6F5EA212C79D}"/>
                </a:ext>
              </a:extLst>
            </p:cNvPr>
            <p:cNvSpPr/>
            <p:nvPr/>
          </p:nvSpPr>
          <p:spPr>
            <a:xfrm>
              <a:off x="9300919" y="1009706"/>
              <a:ext cx="144000" cy="144000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000" dirty="0" err="1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8054E2-2947-488F-B4A9-09362140E46A}"/>
                </a:ext>
              </a:extLst>
            </p:cNvPr>
            <p:cNvSpPr txBox="1"/>
            <p:nvPr/>
          </p:nvSpPr>
          <p:spPr>
            <a:xfrm>
              <a:off x="10871029" y="1004762"/>
              <a:ext cx="746999" cy="153888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/>
                <a:t>Поддержка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B033FF0A-BF6A-46A8-91AD-687765FF9D86}"/>
                </a:ext>
              </a:extLst>
            </p:cNvPr>
            <p:cNvSpPr/>
            <p:nvPr/>
          </p:nvSpPr>
          <p:spPr>
            <a:xfrm>
              <a:off x="10559346" y="1009706"/>
              <a:ext cx="144000" cy="144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0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4C897C4-CFB5-475F-91E2-67D7F1B744CF}"/>
              </a:ext>
            </a:extLst>
          </p:cNvPr>
          <p:cNvGrpSpPr>
            <a:grpSpLocks/>
          </p:cNvGrpSpPr>
          <p:nvPr/>
        </p:nvGrpSpPr>
        <p:grpSpPr>
          <a:xfrm>
            <a:off x="5607715" y="1607974"/>
            <a:ext cx="255210" cy="293221"/>
            <a:chOff x="4694238" y="4627563"/>
            <a:chExt cx="522287" cy="600076"/>
          </a:xfrm>
        </p:grpSpPr>
        <p:sp>
          <p:nvSpPr>
            <p:cNvPr id="85" name="Freeform 190">
              <a:extLst>
                <a:ext uri="{FF2B5EF4-FFF2-40B4-BE49-F238E27FC236}">
                  <a16:creationId xmlns:a16="http://schemas.microsoft.com/office/drawing/2014/main" id="{5752EA86-0F1E-4427-A1A6-0A4C12729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238" y="4692651"/>
              <a:ext cx="469900" cy="534988"/>
            </a:xfrm>
            <a:custGeom>
              <a:avLst/>
              <a:gdLst>
                <a:gd name="T0" fmla="*/ 144 w 144"/>
                <a:gd name="T1" fmla="*/ 112 h 164"/>
                <a:gd name="T2" fmla="*/ 144 w 144"/>
                <a:gd name="T3" fmla="*/ 156 h 164"/>
                <a:gd name="T4" fmla="*/ 136 w 144"/>
                <a:gd name="T5" fmla="*/ 164 h 164"/>
                <a:gd name="T6" fmla="*/ 8 w 144"/>
                <a:gd name="T7" fmla="*/ 164 h 164"/>
                <a:gd name="T8" fmla="*/ 0 w 144"/>
                <a:gd name="T9" fmla="*/ 156 h 164"/>
                <a:gd name="T10" fmla="*/ 0 w 144"/>
                <a:gd name="T11" fmla="*/ 8 h 164"/>
                <a:gd name="T12" fmla="*/ 8 w 144"/>
                <a:gd name="T13" fmla="*/ 0 h 164"/>
                <a:gd name="T14" fmla="*/ 24 w 144"/>
                <a:gd name="T15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4" h="164">
                  <a:moveTo>
                    <a:pt x="144" y="112"/>
                  </a:moveTo>
                  <a:cubicBezTo>
                    <a:pt x="144" y="156"/>
                    <a:pt x="144" y="156"/>
                    <a:pt x="144" y="156"/>
                  </a:cubicBezTo>
                  <a:cubicBezTo>
                    <a:pt x="144" y="160"/>
                    <a:pt x="140" y="164"/>
                    <a:pt x="136" y="164"/>
                  </a:cubicBezTo>
                  <a:cubicBezTo>
                    <a:pt x="8" y="164"/>
                    <a:pt x="8" y="164"/>
                    <a:pt x="8" y="164"/>
                  </a:cubicBezTo>
                  <a:cubicBezTo>
                    <a:pt x="4" y="164"/>
                    <a:pt x="0" y="160"/>
                    <a:pt x="0" y="15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" name="Freeform 191">
              <a:extLst>
                <a:ext uri="{FF2B5EF4-FFF2-40B4-BE49-F238E27FC236}">
                  <a16:creationId xmlns:a16="http://schemas.microsoft.com/office/drawing/2014/main" id="{43C9B5A4-C6A1-479A-87B3-0837A1679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6350" y="4692651"/>
              <a:ext cx="77788" cy="220663"/>
            </a:xfrm>
            <a:custGeom>
              <a:avLst/>
              <a:gdLst>
                <a:gd name="T0" fmla="*/ 0 w 24"/>
                <a:gd name="T1" fmla="*/ 0 h 68"/>
                <a:gd name="T2" fmla="*/ 16 w 24"/>
                <a:gd name="T3" fmla="*/ 0 h 68"/>
                <a:gd name="T4" fmla="*/ 24 w 24"/>
                <a:gd name="T5" fmla="*/ 8 h 68"/>
                <a:gd name="T6" fmla="*/ 24 w 24"/>
                <a:gd name="T7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68">
                  <a:moveTo>
                    <a:pt x="0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20" y="0"/>
                    <a:pt x="24" y="4"/>
                    <a:pt x="24" y="8"/>
                  </a:cubicBezTo>
                  <a:cubicBezTo>
                    <a:pt x="24" y="68"/>
                    <a:pt x="24" y="68"/>
                    <a:pt x="24" y="68"/>
                  </a:cubicBezTo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3" name="Freeform 192">
              <a:extLst>
                <a:ext uri="{FF2B5EF4-FFF2-40B4-BE49-F238E27FC236}">
                  <a16:creationId xmlns:a16="http://schemas.microsoft.com/office/drawing/2014/main" id="{69F6B1EE-96C7-4610-907B-33BA6740E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6625" y="4745038"/>
              <a:ext cx="365125" cy="430213"/>
            </a:xfrm>
            <a:custGeom>
              <a:avLst/>
              <a:gdLst>
                <a:gd name="T0" fmla="*/ 230 w 230"/>
                <a:gd name="T1" fmla="*/ 230 h 271"/>
                <a:gd name="T2" fmla="*/ 230 w 230"/>
                <a:gd name="T3" fmla="*/ 271 h 271"/>
                <a:gd name="T4" fmla="*/ 0 w 230"/>
                <a:gd name="T5" fmla="*/ 271 h 271"/>
                <a:gd name="T6" fmla="*/ 0 w 230"/>
                <a:gd name="T7" fmla="*/ 0 h 271"/>
                <a:gd name="T8" fmla="*/ 16 w 230"/>
                <a:gd name="T9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271">
                  <a:moveTo>
                    <a:pt x="230" y="230"/>
                  </a:moveTo>
                  <a:lnTo>
                    <a:pt x="230" y="271"/>
                  </a:lnTo>
                  <a:lnTo>
                    <a:pt x="0" y="271"/>
                  </a:lnTo>
                  <a:lnTo>
                    <a:pt x="0" y="0"/>
                  </a:lnTo>
                  <a:lnTo>
                    <a:pt x="16" y="0"/>
                  </a:lnTo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4" name="Freeform 193">
              <a:extLst>
                <a:ext uri="{FF2B5EF4-FFF2-40B4-BE49-F238E27FC236}">
                  <a16:creationId xmlns:a16="http://schemas.microsoft.com/office/drawing/2014/main" id="{B3C631F6-79E5-4D42-AB12-EF40356A5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6350" y="4745038"/>
              <a:ext cx="25400" cy="220663"/>
            </a:xfrm>
            <a:custGeom>
              <a:avLst/>
              <a:gdLst>
                <a:gd name="T0" fmla="*/ 0 w 16"/>
                <a:gd name="T1" fmla="*/ 0 h 139"/>
                <a:gd name="T2" fmla="*/ 16 w 16"/>
                <a:gd name="T3" fmla="*/ 0 h 139"/>
                <a:gd name="T4" fmla="*/ 16 w 16"/>
                <a:gd name="T5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39">
                  <a:moveTo>
                    <a:pt x="0" y="0"/>
                  </a:moveTo>
                  <a:lnTo>
                    <a:pt x="16" y="0"/>
                  </a:lnTo>
                  <a:lnTo>
                    <a:pt x="16" y="139"/>
                  </a:lnTo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5" name="Freeform 194">
              <a:extLst>
                <a:ext uri="{FF2B5EF4-FFF2-40B4-BE49-F238E27FC236}">
                  <a16:creationId xmlns:a16="http://schemas.microsoft.com/office/drawing/2014/main" id="{D31EA9D6-ACD0-43A5-AF55-F11CF8145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9013" y="4627563"/>
              <a:ext cx="260350" cy="130175"/>
            </a:xfrm>
            <a:custGeom>
              <a:avLst/>
              <a:gdLst>
                <a:gd name="T0" fmla="*/ 68 w 80"/>
                <a:gd name="T1" fmla="*/ 16 h 40"/>
                <a:gd name="T2" fmla="*/ 56 w 80"/>
                <a:gd name="T3" fmla="*/ 16 h 40"/>
                <a:gd name="T4" fmla="*/ 40 w 80"/>
                <a:gd name="T5" fmla="*/ 0 h 40"/>
                <a:gd name="T6" fmla="*/ 24 w 80"/>
                <a:gd name="T7" fmla="*/ 16 h 40"/>
                <a:gd name="T8" fmla="*/ 12 w 80"/>
                <a:gd name="T9" fmla="*/ 16 h 40"/>
                <a:gd name="T10" fmla="*/ 0 w 80"/>
                <a:gd name="T11" fmla="*/ 28 h 40"/>
                <a:gd name="T12" fmla="*/ 0 w 80"/>
                <a:gd name="T13" fmla="*/ 40 h 40"/>
                <a:gd name="T14" fmla="*/ 80 w 80"/>
                <a:gd name="T15" fmla="*/ 40 h 40"/>
                <a:gd name="T16" fmla="*/ 80 w 80"/>
                <a:gd name="T17" fmla="*/ 28 h 40"/>
                <a:gd name="T18" fmla="*/ 68 w 80"/>
                <a:gd name="T19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40">
                  <a:moveTo>
                    <a:pt x="68" y="16"/>
                  </a:moveTo>
                  <a:cubicBezTo>
                    <a:pt x="56" y="16"/>
                    <a:pt x="56" y="16"/>
                    <a:pt x="56" y="16"/>
                  </a:cubicBezTo>
                  <a:cubicBezTo>
                    <a:pt x="56" y="7"/>
                    <a:pt x="49" y="0"/>
                    <a:pt x="40" y="0"/>
                  </a:cubicBezTo>
                  <a:cubicBezTo>
                    <a:pt x="31" y="0"/>
                    <a:pt x="24" y="7"/>
                    <a:pt x="24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5" y="16"/>
                    <a:pt x="0" y="21"/>
                    <a:pt x="0" y="2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1"/>
                    <a:pt x="75" y="16"/>
                    <a:pt x="68" y="16"/>
                  </a:cubicBezTo>
                  <a:close/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6" name="Line 195">
              <a:extLst>
                <a:ext uri="{FF2B5EF4-FFF2-40B4-BE49-F238E27FC236}">
                  <a16:creationId xmlns:a16="http://schemas.microsoft.com/office/drawing/2014/main" id="{81262B69-FF9E-42AF-8814-4B44261A0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188" y="4665663"/>
              <a:ext cx="0" cy="26988"/>
            </a:xfrm>
            <a:prstGeom prst="line">
              <a:avLst/>
            </a:prstGeom>
            <a:no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7" name="Freeform 196">
              <a:extLst>
                <a:ext uri="{FF2B5EF4-FFF2-40B4-BE49-F238E27FC236}">
                  <a16:creationId xmlns:a16="http://schemas.microsoft.com/office/drawing/2014/main" id="{05A9DAC8-2847-4730-A818-E018F1C6C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975" y="4927601"/>
              <a:ext cx="209550" cy="169863"/>
            </a:xfrm>
            <a:custGeom>
              <a:avLst/>
              <a:gdLst>
                <a:gd name="T0" fmla="*/ 132 w 132"/>
                <a:gd name="T1" fmla="*/ 0 h 107"/>
                <a:gd name="T2" fmla="*/ 41 w 132"/>
                <a:gd name="T3" fmla="*/ 107 h 107"/>
                <a:gd name="T4" fmla="*/ 0 w 132"/>
                <a:gd name="T5" fmla="*/ 65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107">
                  <a:moveTo>
                    <a:pt x="132" y="0"/>
                  </a:moveTo>
                  <a:lnTo>
                    <a:pt x="41" y="107"/>
                  </a:lnTo>
                  <a:lnTo>
                    <a:pt x="0" y="65"/>
                  </a:lnTo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8" name="Rectangle 197">
              <a:extLst>
                <a:ext uri="{FF2B5EF4-FFF2-40B4-BE49-F238E27FC236}">
                  <a16:creationId xmlns:a16="http://schemas.microsoft.com/office/drawing/2014/main" id="{C961F7B8-59F3-40A3-AECA-71A62E6E3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013" y="4810126"/>
              <a:ext cx="65088" cy="65088"/>
            </a:xfrm>
            <a:prstGeom prst="rect">
              <a:avLst/>
            </a:prstGeom>
            <a:noFill/>
            <a:ln w="63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9" name="Rectangle 198">
              <a:extLst>
                <a:ext uri="{FF2B5EF4-FFF2-40B4-BE49-F238E27FC236}">
                  <a16:creationId xmlns:a16="http://schemas.microsoft.com/office/drawing/2014/main" id="{CA5AAF37-4206-4ACB-B03B-F6FD234A5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013" y="4927601"/>
              <a:ext cx="65088" cy="65088"/>
            </a:xfrm>
            <a:prstGeom prst="rect">
              <a:avLst/>
            </a:prstGeom>
            <a:noFill/>
            <a:ln w="63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0" name="Rectangle 199">
              <a:extLst>
                <a:ext uri="{FF2B5EF4-FFF2-40B4-BE49-F238E27FC236}">
                  <a16:creationId xmlns:a16="http://schemas.microsoft.com/office/drawing/2014/main" id="{A1BD58BF-2380-46CF-AB2F-C87FB9640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013" y="5045076"/>
              <a:ext cx="65088" cy="65088"/>
            </a:xfrm>
            <a:prstGeom prst="rect">
              <a:avLst/>
            </a:prstGeom>
            <a:noFill/>
            <a:ln w="63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1" name="Line 200">
              <a:extLst>
                <a:ext uri="{FF2B5EF4-FFF2-40B4-BE49-F238E27FC236}">
                  <a16:creationId xmlns:a16="http://schemas.microsoft.com/office/drawing/2014/main" id="{1733DD0F-2A15-483E-964E-FCF1EAF953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6488" y="4822826"/>
              <a:ext cx="130175" cy="0"/>
            </a:xfrm>
            <a:prstGeom prst="line">
              <a:avLst/>
            </a:prstGeom>
            <a:noFill/>
            <a:ln w="63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2" name="Line 201">
              <a:extLst>
                <a:ext uri="{FF2B5EF4-FFF2-40B4-BE49-F238E27FC236}">
                  <a16:creationId xmlns:a16="http://schemas.microsoft.com/office/drawing/2014/main" id="{E862BBD7-7D73-4A24-8683-B3CE1EB0EC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6488" y="4875213"/>
              <a:ext cx="77788" cy="0"/>
            </a:xfrm>
            <a:prstGeom prst="line">
              <a:avLst/>
            </a:prstGeom>
            <a:noFill/>
            <a:ln w="63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" name="Line 202">
              <a:extLst>
                <a:ext uri="{FF2B5EF4-FFF2-40B4-BE49-F238E27FC236}">
                  <a16:creationId xmlns:a16="http://schemas.microsoft.com/office/drawing/2014/main" id="{0C211ED6-28B4-4942-B36F-765E0F61B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6488" y="4927601"/>
              <a:ext cx="130175" cy="0"/>
            </a:xfrm>
            <a:prstGeom prst="line">
              <a:avLst/>
            </a:prstGeom>
            <a:noFill/>
            <a:ln w="63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" name="Line 203">
              <a:extLst>
                <a:ext uri="{FF2B5EF4-FFF2-40B4-BE49-F238E27FC236}">
                  <a16:creationId xmlns:a16="http://schemas.microsoft.com/office/drawing/2014/main" id="{D4ACF5E3-00C6-470B-BAB3-3567740198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6488" y="4979988"/>
              <a:ext cx="77788" cy="0"/>
            </a:xfrm>
            <a:prstGeom prst="line">
              <a:avLst/>
            </a:prstGeom>
            <a:noFill/>
            <a:ln w="63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" name="Line 204">
              <a:extLst>
                <a:ext uri="{FF2B5EF4-FFF2-40B4-BE49-F238E27FC236}">
                  <a16:creationId xmlns:a16="http://schemas.microsoft.com/office/drawing/2014/main" id="{2C92D729-D3CE-4146-955B-8B1A1D661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6488" y="5045076"/>
              <a:ext cx="38100" cy="0"/>
            </a:xfrm>
            <a:prstGeom prst="line">
              <a:avLst/>
            </a:prstGeom>
            <a:noFill/>
            <a:ln w="63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" name="Line 206">
              <a:extLst>
                <a:ext uri="{FF2B5EF4-FFF2-40B4-BE49-F238E27FC236}">
                  <a16:creationId xmlns:a16="http://schemas.microsoft.com/office/drawing/2014/main" id="{B151E37F-CAB4-4E29-B4DF-2AC1A2AB8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6488" y="5097463"/>
              <a:ext cx="77788" cy="0"/>
            </a:xfrm>
            <a:prstGeom prst="line">
              <a:avLst/>
            </a:prstGeom>
            <a:noFill/>
            <a:ln w="63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5B73F45-6602-4BA5-A523-1FD499CA2290}"/>
              </a:ext>
            </a:extLst>
          </p:cNvPr>
          <p:cNvGrpSpPr/>
          <p:nvPr/>
        </p:nvGrpSpPr>
        <p:grpSpPr>
          <a:xfrm>
            <a:off x="1269807" y="1571359"/>
            <a:ext cx="242672" cy="366451"/>
            <a:chOff x="1938338" y="5219700"/>
            <a:chExt cx="473075" cy="714375"/>
          </a:xfrm>
        </p:grpSpPr>
        <p:sp>
          <p:nvSpPr>
            <p:cNvPr id="108" name="Line 72">
              <a:extLst>
                <a:ext uri="{FF2B5EF4-FFF2-40B4-BE49-F238E27FC236}">
                  <a16:creationId xmlns:a16="http://schemas.microsoft.com/office/drawing/2014/main" id="{D67E5E59-699B-4D9B-9FF7-D73272D88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4875" y="5738813"/>
              <a:ext cx="0" cy="95250"/>
            </a:xfrm>
            <a:prstGeom prst="line">
              <a:avLst/>
            </a:prstGeom>
            <a:noFill/>
            <a:ln w="6350" cap="rnd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9" name="Freeform 73">
              <a:extLst>
                <a:ext uri="{FF2B5EF4-FFF2-40B4-BE49-F238E27FC236}">
                  <a16:creationId xmlns:a16="http://schemas.microsoft.com/office/drawing/2014/main" id="{39C3A532-9D43-4E5A-AFCE-A80173ECD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3588" y="5303838"/>
              <a:ext cx="284163" cy="320675"/>
            </a:xfrm>
            <a:custGeom>
              <a:avLst/>
              <a:gdLst>
                <a:gd name="T0" fmla="*/ 56 w 113"/>
                <a:gd name="T1" fmla="*/ 0 h 128"/>
                <a:gd name="T2" fmla="*/ 0 w 113"/>
                <a:gd name="T3" fmla="*/ 58 h 128"/>
                <a:gd name="T4" fmla="*/ 10 w 113"/>
                <a:gd name="T5" fmla="*/ 91 h 128"/>
                <a:gd name="T6" fmla="*/ 33 w 113"/>
                <a:gd name="T7" fmla="*/ 128 h 128"/>
                <a:gd name="T8" fmla="*/ 56 w 113"/>
                <a:gd name="T9" fmla="*/ 128 h 128"/>
                <a:gd name="T10" fmla="*/ 79 w 113"/>
                <a:gd name="T11" fmla="*/ 128 h 128"/>
                <a:gd name="T12" fmla="*/ 102 w 113"/>
                <a:gd name="T13" fmla="*/ 91 h 128"/>
                <a:gd name="T14" fmla="*/ 113 w 113"/>
                <a:gd name="T15" fmla="*/ 58 h 128"/>
                <a:gd name="T16" fmla="*/ 56 w 113"/>
                <a:gd name="T17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" h="128">
                  <a:moveTo>
                    <a:pt x="56" y="0"/>
                  </a:moveTo>
                  <a:cubicBezTo>
                    <a:pt x="25" y="0"/>
                    <a:pt x="0" y="26"/>
                    <a:pt x="0" y="58"/>
                  </a:cubicBezTo>
                  <a:cubicBezTo>
                    <a:pt x="0" y="73"/>
                    <a:pt x="4" y="83"/>
                    <a:pt x="10" y="91"/>
                  </a:cubicBezTo>
                  <a:cubicBezTo>
                    <a:pt x="21" y="103"/>
                    <a:pt x="31" y="108"/>
                    <a:pt x="33" y="128"/>
                  </a:cubicBezTo>
                  <a:cubicBezTo>
                    <a:pt x="56" y="128"/>
                    <a:pt x="56" y="128"/>
                    <a:pt x="56" y="12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81" y="108"/>
                    <a:pt x="92" y="103"/>
                    <a:pt x="102" y="91"/>
                  </a:cubicBezTo>
                  <a:cubicBezTo>
                    <a:pt x="109" y="82"/>
                    <a:pt x="113" y="73"/>
                    <a:pt x="113" y="58"/>
                  </a:cubicBezTo>
                  <a:cubicBezTo>
                    <a:pt x="113" y="26"/>
                    <a:pt x="87" y="0"/>
                    <a:pt x="56" y="0"/>
                  </a:cubicBezTo>
                  <a:close/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0" name="Line 74">
              <a:extLst>
                <a:ext uri="{FF2B5EF4-FFF2-40B4-BE49-F238E27FC236}">
                  <a16:creationId xmlns:a16="http://schemas.microsoft.com/office/drawing/2014/main" id="{FB5CB37F-6B68-4734-91B9-2E701ED2B7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1700" y="5219700"/>
              <a:ext cx="0" cy="30162"/>
            </a:xfrm>
            <a:prstGeom prst="line">
              <a:avLst/>
            </a:pr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" name="Line 75">
              <a:extLst>
                <a:ext uri="{FF2B5EF4-FFF2-40B4-BE49-F238E27FC236}">
                  <a16:creationId xmlns:a16="http://schemas.microsoft.com/office/drawing/2014/main" id="{69E572EC-4288-48DD-A135-F9C6CB7A9F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01838" y="5295900"/>
              <a:ext cx="20638" cy="22225"/>
            </a:xfrm>
            <a:prstGeom prst="line">
              <a:avLst/>
            </a:pr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" name="Line 76">
              <a:extLst>
                <a:ext uri="{FF2B5EF4-FFF2-40B4-BE49-F238E27FC236}">
                  <a16:creationId xmlns:a16="http://schemas.microsoft.com/office/drawing/2014/main" id="{093367BF-3B36-4EDB-AE9B-54E6E09061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5688" y="5295900"/>
              <a:ext cx="25400" cy="22225"/>
            </a:xfrm>
            <a:prstGeom prst="line">
              <a:avLst/>
            </a:pr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" name="Line 77">
              <a:extLst>
                <a:ext uri="{FF2B5EF4-FFF2-40B4-BE49-F238E27FC236}">
                  <a16:creationId xmlns:a16="http://schemas.microsoft.com/office/drawing/2014/main" id="{11C908BB-8EE5-4408-BCEA-AD3CDF179F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4875" y="5487988"/>
              <a:ext cx="0" cy="120650"/>
            </a:xfrm>
            <a:prstGeom prst="line">
              <a:avLst/>
            </a:pr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" name="Line 78">
              <a:extLst>
                <a:ext uri="{FF2B5EF4-FFF2-40B4-BE49-F238E27FC236}">
                  <a16:creationId xmlns:a16="http://schemas.microsoft.com/office/drawing/2014/main" id="{81338E18-CB4D-4B1D-BA96-27278277DA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39950" y="5453063"/>
              <a:ext cx="34925" cy="34925"/>
            </a:xfrm>
            <a:prstGeom prst="line">
              <a:avLst/>
            </a:pr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" name="Line 79">
              <a:extLst>
                <a:ext uri="{FF2B5EF4-FFF2-40B4-BE49-F238E27FC236}">
                  <a16:creationId xmlns:a16="http://schemas.microsoft.com/office/drawing/2014/main" id="{B9B9A717-72D4-45CC-BEEF-BC09505C65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4875" y="5453063"/>
              <a:ext cx="38100" cy="34925"/>
            </a:xfrm>
            <a:prstGeom prst="line">
              <a:avLst/>
            </a:pr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" name="Line 80">
              <a:extLst>
                <a:ext uri="{FF2B5EF4-FFF2-40B4-BE49-F238E27FC236}">
                  <a16:creationId xmlns:a16="http://schemas.microsoft.com/office/drawing/2014/main" id="{28E5B9CD-3865-4174-9EAB-06DC793110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775" y="5664200"/>
              <a:ext cx="77788" cy="0"/>
            </a:xfrm>
            <a:prstGeom prst="line">
              <a:avLst/>
            </a:pr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" name="Freeform 81">
              <a:extLst>
                <a:ext uri="{FF2B5EF4-FFF2-40B4-BE49-F238E27FC236}">
                  <a16:creationId xmlns:a16="http://schemas.microsoft.com/office/drawing/2014/main" id="{A82C5E9C-36F1-4CB2-A3D7-82B8C4CC4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213" y="5786438"/>
              <a:ext cx="444500" cy="47625"/>
            </a:xfrm>
            <a:custGeom>
              <a:avLst/>
              <a:gdLst>
                <a:gd name="T0" fmla="*/ 280 w 280"/>
                <a:gd name="T1" fmla="*/ 30 h 30"/>
                <a:gd name="T2" fmla="*/ 280 w 280"/>
                <a:gd name="T3" fmla="*/ 0 h 30"/>
                <a:gd name="T4" fmla="*/ 0 w 280"/>
                <a:gd name="T5" fmla="*/ 0 h 30"/>
                <a:gd name="T6" fmla="*/ 0 w 280"/>
                <a:gd name="T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0" h="30">
                  <a:moveTo>
                    <a:pt x="280" y="30"/>
                  </a:moveTo>
                  <a:lnTo>
                    <a:pt x="280" y="0"/>
                  </a:lnTo>
                  <a:lnTo>
                    <a:pt x="0" y="0"/>
                  </a:lnTo>
                  <a:lnTo>
                    <a:pt x="0" y="30"/>
                  </a:lnTo>
                </a:path>
              </a:pathLst>
            </a:cu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" name="Oval 82">
              <a:extLst>
                <a:ext uri="{FF2B5EF4-FFF2-40B4-BE49-F238E27FC236}">
                  <a16:creationId xmlns:a16="http://schemas.microsoft.com/office/drawing/2014/main" id="{685D635D-EE72-4455-AB1B-3F33E428C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5905500"/>
              <a:ext cx="30163" cy="28575"/>
            </a:xfrm>
            <a:prstGeom prst="ellipse">
              <a:avLst/>
            </a:prstGeom>
            <a:no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8" name="Oval 83">
              <a:extLst>
                <a:ext uri="{FF2B5EF4-FFF2-40B4-BE49-F238E27FC236}">
                  <a16:creationId xmlns:a16="http://schemas.microsoft.com/office/drawing/2014/main" id="{B36FBF80-CFD8-4954-80A6-E6BCE65EE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588" y="5905500"/>
              <a:ext cx="30163" cy="28575"/>
            </a:xfrm>
            <a:prstGeom prst="ellipse">
              <a:avLst/>
            </a:prstGeom>
            <a:no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9" name="Oval 84">
              <a:extLst>
                <a:ext uri="{FF2B5EF4-FFF2-40B4-BE49-F238E27FC236}">
                  <a16:creationId xmlns:a16="http://schemas.microsoft.com/office/drawing/2014/main" id="{7F83713C-DAD0-43B0-A690-41493C5C9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838" y="5905500"/>
              <a:ext cx="28575" cy="28575"/>
            </a:xfrm>
            <a:prstGeom prst="ellipse">
              <a:avLst/>
            </a:prstGeom>
            <a:no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3ECF2FF0-B254-4E83-82E0-D78A5FE7F5C6}"/>
              </a:ext>
            </a:extLst>
          </p:cNvPr>
          <p:cNvSpPr>
            <a:spLocks/>
          </p:cNvSpPr>
          <p:nvPr/>
        </p:nvSpPr>
        <p:spPr>
          <a:xfrm>
            <a:off x="1257301" y="5988518"/>
            <a:ext cx="10069563" cy="443320"/>
          </a:xfrm>
          <a:prstGeom prst="roundRect">
            <a:avLst>
              <a:gd name="adj" fmla="val 19032"/>
            </a:avLst>
          </a:prstGeom>
          <a:solidFill>
            <a:schemeClr val="tx2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SzPct val="100000"/>
            </a:pPr>
            <a:r>
              <a:rPr lang="ru-RU" sz="1200" b="1" dirty="0">
                <a:solidFill>
                  <a:schemeClr val="bg1"/>
                </a:solidFill>
                <a:cs typeface="Arial" panose="020B0604020202020204" pitchFamily="34" charset="0"/>
              </a:rPr>
              <a:t>Сроки выполнения задач для всех участников регламентированы распоряжением </a:t>
            </a:r>
            <a:r>
              <a:rPr lang="ru-RU" sz="1200" b="1" dirty="0" err="1">
                <a:solidFill>
                  <a:schemeClr val="bg1"/>
                </a:solidFill>
                <a:cs typeface="Arial" panose="020B0604020202020204" pitchFamily="34" charset="0"/>
              </a:rPr>
              <a:t>ДИТа</a:t>
            </a:r>
            <a:endParaRPr lang="en-US" sz="1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7" name="5. Source">
            <a:extLst>
              <a:ext uri="{FF2B5EF4-FFF2-40B4-BE49-F238E27FC236}">
                <a16:creationId xmlns:a16="http://schemas.microsoft.com/office/drawing/2014/main" id="{866B1DF0-4410-4750-A8B2-E6B35B6E8BD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Источник:</a:t>
            </a:r>
            <a:r>
              <a:rPr lang="en-US" dirty="0">
                <a:latin typeface="+mn-lt"/>
                <a:ea typeface="+mn-ea"/>
                <a:cs typeface="+mn-cs"/>
                <a:sym typeface="+mn-lt"/>
              </a:rPr>
              <a:t> </a:t>
            </a:r>
            <a:r>
              <a:rPr lang="ru-RU" dirty="0">
                <a:latin typeface="+mn-lt"/>
                <a:ea typeface="+mn-ea"/>
                <a:cs typeface="+mn-cs"/>
                <a:sym typeface="+mn-lt"/>
              </a:rPr>
              <a:t>Распоряжение Департамента информационных технологий города Москвы от 9 июня 2021 года № 64-16-226/21 "Об утверждении Регламента размещения, раскрытия и актуализации данных в городской информационной системе "Единое хранилище данных города Москвы" и Регламента обработки сообщений, поступающих с портала открытых данных"</a:t>
            </a:r>
          </a:p>
        </p:txBody>
      </p:sp>
      <p:pic>
        <p:nvPicPr>
          <p:cNvPr id="21" name="CustomIcon">
            <a:extLst>
              <a:ext uri="{FF2B5EF4-FFF2-40B4-BE49-F238E27FC236}">
                <a16:creationId xmlns:a16="http://schemas.microsoft.com/office/drawing/2014/main" id="{B79EE6DC-3D1C-4476-ABA7-C005608D1834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50303" y="1607974"/>
            <a:ext cx="255210" cy="293221"/>
          </a:xfrm>
          <a:prstGeom prst="rect">
            <a:avLst/>
          </a:prstGeom>
        </p:spPr>
      </p:pic>
      <p:pic>
        <p:nvPicPr>
          <p:cNvPr id="23" name="CustomIcon">
            <a:extLst>
              <a:ext uri="{FF2B5EF4-FFF2-40B4-BE49-F238E27FC236}">
                <a16:creationId xmlns:a16="http://schemas.microsoft.com/office/drawing/2014/main" id="{FC8F71F5-6318-46B1-A83E-81EA84E07630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19496" y="1607974"/>
            <a:ext cx="255210" cy="293221"/>
          </a:xfrm>
          <a:prstGeom prst="rect">
            <a:avLst/>
          </a:prstGeom>
        </p:spPr>
      </p:pic>
      <p:pic>
        <p:nvPicPr>
          <p:cNvPr id="26" name="CustomIcon">
            <a:extLst>
              <a:ext uri="{FF2B5EF4-FFF2-40B4-BE49-F238E27FC236}">
                <a16:creationId xmlns:a16="http://schemas.microsoft.com/office/drawing/2014/main" id="{68122DED-80F2-4DDA-BA96-815DA421974B}"/>
              </a:ext>
            </a:extLst>
          </p:cNvPr>
          <p:cNvPicPr>
            <a:picLocks/>
          </p:cNvPicPr>
          <p:nvPr>
            <p:custDataLst>
              <p:tags r:id="rId7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69466" y="1607974"/>
            <a:ext cx="255210" cy="29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611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22B0A0A-AA5F-4792-B76A-D0899A03690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559880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95"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22B0A0A-AA5F-4792-B76A-D0899A0369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5172825-9D13-4EAC-9274-B8329FF6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altLang="en-US" dirty="0">
                <a:effectLst/>
                <a:latin typeface="+mn-lt"/>
              </a:rPr>
              <a:t>Приложение</a:t>
            </a:r>
            <a:endParaRPr lang="ru-RU" dirty="0">
              <a:latin typeface="+mn-lt"/>
            </a:endParaRPr>
          </a:p>
        </p:txBody>
      </p:sp>
      <p:sp>
        <p:nvSpPr>
          <p:cNvPr id="14" name="Text Placeholder 4">
            <a:hlinkClick r:id="rId9" action="ppaction://hlinksldjump"/>
            <a:extLst>
              <a:ext uri="{FF2B5EF4-FFF2-40B4-BE49-F238E27FC236}">
                <a16:creationId xmlns:a16="http://schemas.microsoft.com/office/drawing/2014/main" id="{B343A26B-8C42-446B-86A4-00FDA61C3035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4017963" y="2897189"/>
            <a:ext cx="41560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71438" tIns="69850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en-US" dirty="0">
                <a:effectLst/>
              </a:rPr>
              <a:t>Приложение 1 – </a:t>
            </a:r>
            <a:r>
              <a:rPr lang="ru-RU" altLang="en-US">
                <a:effectLst/>
              </a:rPr>
              <a:t>оценка ресурсов</a:t>
            </a:r>
            <a:endParaRPr lang="ru-RU" dirty="0"/>
          </a:p>
        </p:txBody>
      </p:sp>
      <p:sp>
        <p:nvSpPr>
          <p:cNvPr id="16" name="Text Placeholder 4">
            <a:hlinkClick r:id="rId10" action="ppaction://hlinksldjump"/>
            <a:extLst>
              <a:ext uri="{FF2B5EF4-FFF2-40B4-BE49-F238E27FC236}">
                <a16:creationId xmlns:a16="http://schemas.microsoft.com/office/drawing/2014/main" id="{314F0FEC-FC21-4191-A89F-725241A471FE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4017963" y="3251200"/>
            <a:ext cx="415607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71438" tIns="71438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ru-RU"/>
              <a:t>Приложение </a:t>
            </a:r>
            <a:r>
              <a:rPr lang="ru-RU" dirty="0"/>
              <a:t>2</a:t>
            </a:r>
            <a:r>
              <a:rPr lang="ru-RU"/>
              <a:t> </a:t>
            </a:r>
            <a:r>
              <a:rPr lang="ru-RU" dirty="0"/>
              <a:t>– текущий процесс ЕХД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4A3F1D-5379-4659-AB1C-C7F1BDD31F25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4017963" y="3606801"/>
            <a:ext cx="4156075" cy="3540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71438" tIns="71438" rIns="0" bIns="6985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en-US" b="1">
                <a:solidFill>
                  <a:schemeClr val="tx2"/>
                </a:solidFill>
                <a:effectLst/>
              </a:rPr>
              <a:t>Приложение </a:t>
            </a:r>
            <a:r>
              <a:rPr lang="ru-RU" altLang="en-US" b="1" dirty="0">
                <a:solidFill>
                  <a:schemeClr val="tx2"/>
                </a:solidFill>
                <a:effectLst/>
              </a:rPr>
              <a:t>3</a:t>
            </a:r>
            <a:r>
              <a:rPr lang="ru-RU" altLang="en-US" b="1">
                <a:solidFill>
                  <a:schemeClr val="tx2"/>
                </a:solidFill>
                <a:effectLst/>
              </a:rPr>
              <a:t> </a:t>
            </a:r>
            <a:r>
              <a:rPr lang="ru-RU" altLang="en-US" b="1" dirty="0">
                <a:solidFill>
                  <a:schemeClr val="tx2"/>
                </a:solidFill>
                <a:effectLst/>
              </a:rPr>
              <a:t>–продуктовые замеры</a:t>
            </a:r>
            <a:endParaRPr lang="ru-R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687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8CCFA3CB-F19E-424E-B61A-E41F45A38EE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19"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8CCFA3CB-F19E-424E-B61A-E41F45A38E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EEEC350D-7C9E-4444-BE92-5BAEF3C74B2A}"/>
              </a:ext>
            </a:extLst>
          </p:cNvPr>
          <p:cNvSpPr/>
          <p:nvPr/>
        </p:nvSpPr>
        <p:spPr>
          <a:xfrm>
            <a:off x="4334917" y="5024088"/>
            <a:ext cx="3522161" cy="1023651"/>
          </a:xfrm>
          <a:prstGeom prst="roundRect">
            <a:avLst>
              <a:gd name="adj" fmla="val 10463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300" dirty="0" err="1">
              <a:solidFill>
                <a:schemeClr val="bg1"/>
              </a:solidFill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6FC3C799-3FD9-47ED-B333-39E690069C46}"/>
              </a:ext>
            </a:extLst>
          </p:cNvPr>
          <p:cNvSpPr/>
          <p:nvPr/>
        </p:nvSpPr>
        <p:spPr>
          <a:xfrm>
            <a:off x="8115101" y="5024088"/>
            <a:ext cx="3522161" cy="1023651"/>
          </a:xfrm>
          <a:prstGeom prst="roundRect">
            <a:avLst>
              <a:gd name="adj" fmla="val 11183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300" dirty="0" err="1">
              <a:solidFill>
                <a:schemeClr val="bg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26BA5A6-CFBE-4524-87DD-DB11516A9194}"/>
              </a:ext>
            </a:extLst>
          </p:cNvPr>
          <p:cNvSpPr>
            <a:spLocks/>
          </p:cNvSpPr>
          <p:nvPr/>
        </p:nvSpPr>
        <p:spPr>
          <a:xfrm>
            <a:off x="-1" y="4404565"/>
            <a:ext cx="12191999" cy="379835"/>
          </a:xfrm>
          <a:prstGeom prst="rect">
            <a:avLst/>
          </a:prstGeom>
          <a:solidFill>
            <a:schemeClr val="tx2">
              <a:lumMod val="20000"/>
              <a:lumOff val="80000"/>
              <a:alpha val="7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5CD8AF-7071-4B11-A2F6-08F73655491E}"/>
              </a:ext>
            </a:extLst>
          </p:cNvPr>
          <p:cNvSpPr/>
          <p:nvPr/>
        </p:nvSpPr>
        <p:spPr>
          <a:xfrm>
            <a:off x="554732" y="5024088"/>
            <a:ext cx="3522161" cy="1023651"/>
          </a:xfrm>
          <a:prstGeom prst="roundRect">
            <a:avLst>
              <a:gd name="adj" fmla="val 11184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300" dirty="0" err="1">
              <a:solidFill>
                <a:schemeClr val="bg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9906B38E-4AE0-4BE8-A74E-23B57D521231}"/>
              </a:ext>
            </a:extLst>
          </p:cNvPr>
          <p:cNvSpPr>
            <a:spLocks/>
          </p:cNvSpPr>
          <p:nvPr/>
        </p:nvSpPr>
        <p:spPr>
          <a:xfrm>
            <a:off x="554732" y="1265531"/>
            <a:ext cx="3522163" cy="3920804"/>
          </a:xfrm>
          <a:prstGeom prst="roundRect">
            <a:avLst>
              <a:gd name="adj" fmla="val 2551"/>
            </a:avLst>
          </a:prstGeom>
          <a:solidFill>
            <a:schemeClr val="bg1"/>
          </a:solidFill>
          <a:effectLst>
            <a:outerShdw blurRad="1016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36000" tIns="180000" rIns="36000" bIns="1188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100" b="1" dirty="0" err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298A7395-2548-4A48-A7E7-DB73F70253AA}"/>
              </a:ext>
            </a:extLst>
          </p:cNvPr>
          <p:cNvSpPr>
            <a:spLocks/>
          </p:cNvSpPr>
          <p:nvPr/>
        </p:nvSpPr>
        <p:spPr>
          <a:xfrm>
            <a:off x="4334915" y="1265531"/>
            <a:ext cx="3522163" cy="3920804"/>
          </a:xfrm>
          <a:prstGeom prst="roundRect">
            <a:avLst>
              <a:gd name="adj" fmla="val 2551"/>
            </a:avLst>
          </a:prstGeom>
          <a:solidFill>
            <a:schemeClr val="bg1"/>
          </a:solidFill>
          <a:effectLst>
            <a:outerShdw blurRad="1016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36000" tIns="180000" rIns="36000" bIns="1188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100" b="1" dirty="0" err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32FE884-8871-415A-9A20-B57C507B3CE3}"/>
              </a:ext>
            </a:extLst>
          </p:cNvPr>
          <p:cNvSpPr>
            <a:spLocks/>
          </p:cNvSpPr>
          <p:nvPr/>
        </p:nvSpPr>
        <p:spPr>
          <a:xfrm>
            <a:off x="8115099" y="1265531"/>
            <a:ext cx="3522163" cy="3920804"/>
          </a:xfrm>
          <a:prstGeom prst="roundRect">
            <a:avLst>
              <a:gd name="adj" fmla="val 2551"/>
            </a:avLst>
          </a:prstGeom>
          <a:solidFill>
            <a:schemeClr val="bg1"/>
          </a:solidFill>
          <a:effectLst>
            <a:outerShdw blurRad="1016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36000" tIns="180000" rIns="36000" bIns="118800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100" b="1" dirty="0" err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50DF21F-8A15-4F37-B812-CEF615D3B2EB}"/>
              </a:ext>
            </a:extLst>
          </p:cNvPr>
          <p:cNvSpPr>
            <a:spLocks/>
          </p:cNvSpPr>
          <p:nvPr/>
        </p:nvSpPr>
        <p:spPr>
          <a:xfrm>
            <a:off x="554732" y="4404565"/>
            <a:ext cx="3522163" cy="379835"/>
          </a:xfrm>
          <a:prstGeom prst="rect">
            <a:avLst/>
          </a:prstGeom>
          <a:solidFill>
            <a:schemeClr val="tx2">
              <a:lumMod val="20000"/>
              <a:lumOff val="80000"/>
              <a:alpha val="7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24A1B41-FFB3-4B95-ADAD-A8EDDCDB6EAD}"/>
              </a:ext>
            </a:extLst>
          </p:cNvPr>
          <p:cNvSpPr>
            <a:spLocks/>
          </p:cNvSpPr>
          <p:nvPr/>
        </p:nvSpPr>
        <p:spPr>
          <a:xfrm>
            <a:off x="4334915" y="4404565"/>
            <a:ext cx="3522163" cy="379835"/>
          </a:xfrm>
          <a:prstGeom prst="rect">
            <a:avLst/>
          </a:prstGeom>
          <a:solidFill>
            <a:schemeClr val="tx2">
              <a:lumMod val="20000"/>
              <a:lumOff val="80000"/>
              <a:alpha val="7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D4EC57-1F6F-4914-9916-EA2B00CF24D5}"/>
              </a:ext>
            </a:extLst>
          </p:cNvPr>
          <p:cNvSpPr>
            <a:spLocks/>
          </p:cNvSpPr>
          <p:nvPr/>
        </p:nvSpPr>
        <p:spPr>
          <a:xfrm>
            <a:off x="8115099" y="4404565"/>
            <a:ext cx="3522163" cy="379835"/>
          </a:xfrm>
          <a:prstGeom prst="rect">
            <a:avLst/>
          </a:prstGeom>
          <a:solidFill>
            <a:schemeClr val="tx2">
              <a:lumMod val="20000"/>
              <a:lumOff val="80000"/>
              <a:alpha val="7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E241D324-4FE4-4F13-A993-BF3275567A3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ru-RU" dirty="0"/>
              <a:t>Показатели удовлетворенности по ключевым сервисам </a:t>
            </a:r>
            <a:r>
              <a:rPr lang="ru-RU" dirty="0" err="1"/>
              <a:t>ДИТа</a:t>
            </a:r>
            <a:r>
              <a:rPr lang="ru-RU" dirty="0"/>
              <a:t> за 2ой квартал 2021 года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D3B394-CAB2-49DA-99A6-4AA90F010EA7}"/>
              </a:ext>
            </a:extLst>
          </p:cNvPr>
          <p:cNvSpPr txBox="1">
            <a:spLocks/>
          </p:cNvSpPr>
          <p:nvPr/>
        </p:nvSpPr>
        <p:spPr>
          <a:xfrm>
            <a:off x="0" y="1265531"/>
            <a:ext cx="12192000" cy="476726"/>
          </a:xfrm>
          <a:prstGeom prst="round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76200" tIns="76200" rIns="76200" bIns="7620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endParaRPr lang="ru-RU" sz="1800" b="1" dirty="0">
              <a:solidFill>
                <a:srgbClr val="FFFFFF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971B14-EBBE-47AA-8791-98558F08D72F}"/>
              </a:ext>
            </a:extLst>
          </p:cNvPr>
          <p:cNvSpPr txBox="1">
            <a:spLocks/>
          </p:cNvSpPr>
          <p:nvPr/>
        </p:nvSpPr>
        <p:spPr>
          <a:xfrm>
            <a:off x="8295956" y="1350006"/>
            <a:ext cx="3160449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r>
              <a:rPr 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CSI</a:t>
            </a:r>
            <a:r>
              <a:rPr lang="ru-RU" sz="2000" b="1" baseline="30000" dirty="0">
                <a:solidFill>
                  <a:srgbClr val="FFFFFF"/>
                </a:solidFill>
                <a:cs typeface="Arial" panose="020B0604020202020204" pitchFamily="34" charset="0"/>
              </a:rPr>
              <a:t>2</a:t>
            </a:r>
            <a:r>
              <a:rPr lang="ru-RU" sz="2000" b="1" dirty="0">
                <a:solidFill>
                  <a:srgbClr val="FFFFFF"/>
                </a:solidFill>
                <a:cs typeface="Arial" panose="020B0604020202020204" pitchFamily="34" charset="0"/>
              </a:rPr>
              <a:t> </a:t>
            </a:r>
            <a:endParaRPr lang="en-US" sz="20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1219E8-DD9B-48FF-8980-895E3AB263CD}"/>
              </a:ext>
            </a:extLst>
          </p:cNvPr>
          <p:cNvSpPr txBox="1">
            <a:spLocks/>
          </p:cNvSpPr>
          <p:nvPr/>
        </p:nvSpPr>
        <p:spPr>
          <a:xfrm>
            <a:off x="4515772" y="1350006"/>
            <a:ext cx="3160449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r>
              <a:rPr 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NPS</a:t>
            </a:r>
            <a:r>
              <a:rPr lang="ru-RU" sz="2000" b="1" baseline="30000" dirty="0">
                <a:solidFill>
                  <a:srgbClr val="FFFFFF"/>
                </a:solidFill>
                <a:cs typeface="Arial" panose="020B0604020202020204" pitchFamily="34" charset="0"/>
              </a:rPr>
              <a:t>1</a:t>
            </a:r>
            <a:r>
              <a:rPr 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4E3618-B42B-48ED-9A06-4068F2A1623C}"/>
              </a:ext>
            </a:extLst>
          </p:cNvPr>
          <p:cNvSpPr txBox="1">
            <a:spLocks/>
          </p:cNvSpPr>
          <p:nvPr/>
        </p:nvSpPr>
        <p:spPr>
          <a:xfrm>
            <a:off x="735589" y="1350006"/>
            <a:ext cx="3160449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  <a:buNone/>
            </a:pPr>
            <a:r>
              <a:rPr lang="ru-RU" sz="2000" b="1" dirty="0">
                <a:solidFill>
                  <a:srgbClr val="FFFFFF"/>
                </a:solidFill>
                <a:cs typeface="Arial" panose="020B0604020202020204" pitchFamily="34" charset="0"/>
              </a:rPr>
              <a:t>Сервис</a:t>
            </a:r>
            <a:endParaRPr lang="en-US" sz="20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14F51C-CA9C-493C-9ECB-98F3D7B405A3}"/>
              </a:ext>
            </a:extLst>
          </p:cNvPr>
          <p:cNvSpPr txBox="1">
            <a:spLocks/>
          </p:cNvSpPr>
          <p:nvPr/>
        </p:nvSpPr>
        <p:spPr>
          <a:xfrm>
            <a:off x="735589" y="1835610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Проект "Активный гражданин"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98FA0F-98ED-48CD-9C50-83DCF163900E}"/>
              </a:ext>
            </a:extLst>
          </p:cNvPr>
          <p:cNvSpPr txBox="1">
            <a:spLocks/>
          </p:cNvSpPr>
          <p:nvPr/>
        </p:nvSpPr>
        <p:spPr>
          <a:xfrm>
            <a:off x="735589" y="2215445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Проект "Наш город"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99BB87-2839-49B7-8FE0-EF5ED505502A}"/>
              </a:ext>
            </a:extLst>
          </p:cNvPr>
          <p:cNvSpPr txBox="1">
            <a:spLocks/>
          </p:cNvSpPr>
          <p:nvPr/>
        </p:nvSpPr>
        <p:spPr>
          <a:xfrm>
            <a:off x="735589" y="2595280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/>
              <a:t>Личный кабинет на mos.ru</a:t>
            </a:r>
            <a:endParaRPr lang="ru-RU" sz="13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F8C1B4-F9D0-4455-9B31-35DDF09A5CAB}"/>
              </a:ext>
            </a:extLst>
          </p:cNvPr>
          <p:cNvSpPr txBox="1">
            <a:spLocks/>
          </p:cNvSpPr>
          <p:nvPr/>
        </p:nvSpPr>
        <p:spPr>
          <a:xfrm>
            <a:off x="735589" y="2975115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Приложение "Госуслуги Москвы"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DB14D5-8F1D-4D7C-9091-2199590A1668}"/>
              </a:ext>
            </a:extLst>
          </p:cNvPr>
          <p:cNvSpPr txBox="1">
            <a:spLocks/>
          </p:cNvSpPr>
          <p:nvPr/>
        </p:nvSpPr>
        <p:spPr>
          <a:xfrm>
            <a:off x="735589" y="3354950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Раздел "Услуги" на mos.ru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5BF59A-6822-47C3-BAC3-E87B7CD76B6B}"/>
              </a:ext>
            </a:extLst>
          </p:cNvPr>
          <p:cNvSpPr txBox="1">
            <a:spLocks/>
          </p:cNvSpPr>
          <p:nvPr/>
        </p:nvSpPr>
        <p:spPr>
          <a:xfrm>
            <a:off x="735589" y="3734785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Приложение "Моя Москва"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667334-0C06-496F-BE0D-80AF4157177F}"/>
              </a:ext>
            </a:extLst>
          </p:cNvPr>
          <p:cNvSpPr txBox="1">
            <a:spLocks/>
          </p:cNvSpPr>
          <p:nvPr/>
        </p:nvSpPr>
        <p:spPr>
          <a:xfrm>
            <a:off x="735589" y="4114620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Приложение "Электронный дом"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79D09E-3560-49E2-BDB6-CBD60344032A}"/>
              </a:ext>
            </a:extLst>
          </p:cNvPr>
          <p:cNvSpPr txBox="1">
            <a:spLocks/>
          </p:cNvSpPr>
          <p:nvPr/>
        </p:nvSpPr>
        <p:spPr>
          <a:xfrm>
            <a:off x="735589" y="4494455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b="1" dirty="0">
                <a:solidFill>
                  <a:schemeClr val="tx2"/>
                </a:solidFill>
              </a:rPr>
              <a:t>Единый диспетчерский центр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997C9A-39BD-419F-9886-1C4D29CE99CB}"/>
              </a:ext>
            </a:extLst>
          </p:cNvPr>
          <p:cNvSpPr txBox="1">
            <a:spLocks/>
          </p:cNvSpPr>
          <p:nvPr/>
        </p:nvSpPr>
        <p:spPr>
          <a:xfrm>
            <a:off x="735589" y="4874295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Сервис "Мои платежи" на mos.ru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BB7F59-CC49-4FD7-AA86-694F1014148B}"/>
              </a:ext>
            </a:extLst>
          </p:cNvPr>
          <p:cNvSpPr txBox="1">
            <a:spLocks/>
          </p:cNvSpPr>
          <p:nvPr/>
        </p:nvSpPr>
        <p:spPr>
          <a:xfrm>
            <a:off x="4515772" y="1835610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 dirty="0"/>
              <a:t>68 (1)</a:t>
            </a:r>
            <a:endParaRPr lang="ru-RU" sz="13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99B8DB-499F-4036-AF4C-A5E6F2EA2512}"/>
              </a:ext>
            </a:extLst>
          </p:cNvPr>
          <p:cNvSpPr txBox="1">
            <a:spLocks/>
          </p:cNvSpPr>
          <p:nvPr/>
        </p:nvSpPr>
        <p:spPr>
          <a:xfrm>
            <a:off x="4515772" y="2215445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/>
              <a:t>66 (2)</a:t>
            </a:r>
            <a:endParaRPr lang="ru-RU" sz="13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7B489D-4FF6-4F3A-8EE5-63DA2D208C57}"/>
              </a:ext>
            </a:extLst>
          </p:cNvPr>
          <p:cNvSpPr txBox="1">
            <a:spLocks/>
          </p:cNvSpPr>
          <p:nvPr/>
        </p:nvSpPr>
        <p:spPr>
          <a:xfrm>
            <a:off x="4515772" y="2595280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/>
              <a:t>60 (3)</a:t>
            </a:r>
            <a:endParaRPr lang="ru-RU" sz="13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2821CB-5C59-42ED-B09F-415D85F9E2CF}"/>
              </a:ext>
            </a:extLst>
          </p:cNvPr>
          <p:cNvSpPr txBox="1">
            <a:spLocks/>
          </p:cNvSpPr>
          <p:nvPr/>
        </p:nvSpPr>
        <p:spPr>
          <a:xfrm>
            <a:off x="4515772" y="2975115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 dirty="0"/>
              <a:t>58 (4)</a:t>
            </a:r>
            <a:endParaRPr lang="ru-RU" sz="13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229939-5130-4A14-9DEA-40CF651F57E5}"/>
              </a:ext>
            </a:extLst>
          </p:cNvPr>
          <p:cNvSpPr txBox="1">
            <a:spLocks/>
          </p:cNvSpPr>
          <p:nvPr/>
        </p:nvSpPr>
        <p:spPr>
          <a:xfrm>
            <a:off x="4515772" y="3354950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/>
              <a:t>55 (5)</a:t>
            </a:r>
            <a:endParaRPr lang="ru-RU" sz="13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36B7DB-82D2-4A0F-8FC0-BBD7845DFC65}"/>
              </a:ext>
            </a:extLst>
          </p:cNvPr>
          <p:cNvSpPr txBox="1">
            <a:spLocks/>
          </p:cNvSpPr>
          <p:nvPr/>
        </p:nvSpPr>
        <p:spPr>
          <a:xfrm>
            <a:off x="4515772" y="3734785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/>
              <a:t>51 (6)</a:t>
            </a:r>
            <a:endParaRPr lang="ru-RU" sz="13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4FC2BB-A46F-4544-B92D-94717AB9FBFB}"/>
              </a:ext>
            </a:extLst>
          </p:cNvPr>
          <p:cNvSpPr txBox="1">
            <a:spLocks/>
          </p:cNvSpPr>
          <p:nvPr/>
        </p:nvSpPr>
        <p:spPr>
          <a:xfrm>
            <a:off x="4515772" y="4114620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/>
              <a:t>49 (7)</a:t>
            </a:r>
            <a:endParaRPr lang="ru-RU" sz="13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ADA99C-E332-4FA0-8FEA-56C949AFE9C6}"/>
              </a:ext>
            </a:extLst>
          </p:cNvPr>
          <p:cNvSpPr txBox="1">
            <a:spLocks/>
          </p:cNvSpPr>
          <p:nvPr/>
        </p:nvSpPr>
        <p:spPr>
          <a:xfrm>
            <a:off x="4515772" y="4494455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 b="1">
                <a:solidFill>
                  <a:schemeClr val="tx2"/>
                </a:solidFill>
              </a:rPr>
              <a:t>40 (8)</a:t>
            </a:r>
            <a:endParaRPr lang="ru-RU" sz="1300" b="1" dirty="0">
              <a:solidFill>
                <a:schemeClr val="tx2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70C0D99-B133-44EE-8A48-0E6800E27CB3}"/>
              </a:ext>
            </a:extLst>
          </p:cNvPr>
          <p:cNvSpPr txBox="1">
            <a:spLocks/>
          </p:cNvSpPr>
          <p:nvPr/>
        </p:nvSpPr>
        <p:spPr>
          <a:xfrm>
            <a:off x="4515772" y="4874295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 dirty="0"/>
              <a:t>34 (9)</a:t>
            </a:r>
            <a:endParaRPr lang="ru-RU" sz="13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9D3E74-8770-4E5C-AD4E-D01D2680EA1B}"/>
              </a:ext>
            </a:extLst>
          </p:cNvPr>
          <p:cNvSpPr txBox="1">
            <a:spLocks/>
          </p:cNvSpPr>
          <p:nvPr/>
        </p:nvSpPr>
        <p:spPr>
          <a:xfrm>
            <a:off x="8295956" y="1835610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/>
              <a:t>9,1 (1)</a:t>
            </a:r>
            <a:endParaRPr lang="ru-RU" sz="13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37B719-5607-428A-ACD7-F9006C510973}"/>
              </a:ext>
            </a:extLst>
          </p:cNvPr>
          <p:cNvSpPr txBox="1">
            <a:spLocks/>
          </p:cNvSpPr>
          <p:nvPr/>
        </p:nvSpPr>
        <p:spPr>
          <a:xfrm>
            <a:off x="8295956" y="2215445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/>
              <a:t>7,5 (9)</a:t>
            </a:r>
            <a:endParaRPr lang="ru-RU" sz="13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00FDDB-E1CE-42DB-9C22-FEF567BB6FC8}"/>
              </a:ext>
            </a:extLst>
          </p:cNvPr>
          <p:cNvSpPr txBox="1">
            <a:spLocks/>
          </p:cNvSpPr>
          <p:nvPr/>
        </p:nvSpPr>
        <p:spPr>
          <a:xfrm>
            <a:off x="8295956" y="2595280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/>
              <a:t>8,1 (5)</a:t>
            </a:r>
            <a:endParaRPr lang="ru-RU" sz="13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BC66E2-6F23-48E8-8BFE-6358F78F4DBA}"/>
              </a:ext>
            </a:extLst>
          </p:cNvPr>
          <p:cNvSpPr txBox="1">
            <a:spLocks/>
          </p:cNvSpPr>
          <p:nvPr/>
        </p:nvSpPr>
        <p:spPr>
          <a:xfrm>
            <a:off x="8295956" y="2975115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/>
              <a:t>8,4 (2)</a:t>
            </a:r>
            <a:endParaRPr lang="ru-RU" sz="13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4CC8981-8E73-4FC0-A339-85F225DBC77D}"/>
              </a:ext>
            </a:extLst>
          </p:cNvPr>
          <p:cNvSpPr txBox="1">
            <a:spLocks/>
          </p:cNvSpPr>
          <p:nvPr/>
        </p:nvSpPr>
        <p:spPr>
          <a:xfrm>
            <a:off x="8295956" y="3354950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/>
              <a:t>8,3 (3)</a:t>
            </a:r>
            <a:endParaRPr lang="ru-RU" sz="13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9542F9-C4F8-4F5B-AD82-2759EFC7AC5D}"/>
              </a:ext>
            </a:extLst>
          </p:cNvPr>
          <p:cNvSpPr txBox="1">
            <a:spLocks/>
          </p:cNvSpPr>
          <p:nvPr/>
        </p:nvSpPr>
        <p:spPr>
          <a:xfrm>
            <a:off x="8295956" y="3734785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/>
              <a:t>8,1 (6)</a:t>
            </a:r>
            <a:endParaRPr lang="ru-RU" sz="13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2D95D27-D612-465D-8A38-BE973383E390}"/>
              </a:ext>
            </a:extLst>
          </p:cNvPr>
          <p:cNvSpPr txBox="1">
            <a:spLocks/>
          </p:cNvSpPr>
          <p:nvPr/>
        </p:nvSpPr>
        <p:spPr>
          <a:xfrm>
            <a:off x="8295956" y="4114620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/>
              <a:t>7,9 (7)</a:t>
            </a:r>
            <a:endParaRPr lang="ru-RU" sz="13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ECD896-1C12-422B-9716-6078B9044CC0}"/>
              </a:ext>
            </a:extLst>
          </p:cNvPr>
          <p:cNvSpPr txBox="1">
            <a:spLocks/>
          </p:cNvSpPr>
          <p:nvPr/>
        </p:nvSpPr>
        <p:spPr>
          <a:xfrm>
            <a:off x="8295956" y="4494455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 b="1" dirty="0">
                <a:solidFill>
                  <a:schemeClr val="tx2"/>
                </a:solidFill>
              </a:rPr>
              <a:t>7,6 (8)</a:t>
            </a:r>
            <a:endParaRPr lang="ru-RU" sz="1300" b="1" dirty="0">
              <a:solidFill>
                <a:schemeClr val="tx2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8ADFFC-B207-49A5-862C-5644F18C3167}"/>
              </a:ext>
            </a:extLst>
          </p:cNvPr>
          <p:cNvSpPr txBox="1">
            <a:spLocks/>
          </p:cNvSpPr>
          <p:nvPr/>
        </p:nvSpPr>
        <p:spPr>
          <a:xfrm>
            <a:off x="8295956" y="4874295"/>
            <a:ext cx="3160449" cy="200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300"/>
              <a:t>8,3 (4)</a:t>
            </a:r>
            <a:endParaRPr lang="ru-RU" sz="1300" dirty="0"/>
          </a:p>
        </p:txBody>
      </p:sp>
      <p:sp>
        <p:nvSpPr>
          <p:cNvPr id="62" name="4. Footnote">
            <a:extLst>
              <a:ext uri="{FF2B5EF4-FFF2-40B4-BE49-F238E27FC236}">
                <a16:creationId xmlns:a16="http://schemas.microsoft.com/office/drawing/2014/main" id="{B3B63D07-5EB3-4804-9F00-E47130B8E235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6" y="6238460"/>
            <a:ext cx="11082528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marL="0" lvl="0" indent="0">
              <a:buAutoNum type="arabicPeriod"/>
            </a:pPr>
            <a:r>
              <a:rPr lang="ru-RU" sz="700" dirty="0" err="1">
                <a:ea typeface="+mn-ea"/>
                <a:cs typeface="+mn-cs"/>
                <a:sym typeface="+mn-lt"/>
              </a:rPr>
              <a:t>Net</a:t>
            </a:r>
            <a:r>
              <a:rPr lang="ru-RU" sz="700" dirty="0">
                <a:ea typeface="+mn-ea"/>
                <a:cs typeface="+mn-cs"/>
                <a:sym typeface="+mn-lt"/>
              </a:rPr>
              <a:t> </a:t>
            </a:r>
            <a:r>
              <a:rPr lang="ru-RU" sz="700" dirty="0" err="1">
                <a:ea typeface="+mn-ea"/>
                <a:cs typeface="+mn-cs"/>
                <a:sym typeface="+mn-lt"/>
              </a:rPr>
              <a:t>Promoter</a:t>
            </a:r>
            <a:r>
              <a:rPr lang="ru-RU" sz="700" dirty="0">
                <a:ea typeface="+mn-ea"/>
                <a:cs typeface="+mn-cs"/>
                <a:sym typeface="+mn-lt"/>
              </a:rPr>
              <a:t> </a:t>
            </a:r>
            <a:r>
              <a:rPr lang="ru-RU" sz="700" dirty="0" err="1">
                <a:ea typeface="+mn-ea"/>
                <a:cs typeface="+mn-cs"/>
                <a:sym typeface="+mn-lt"/>
              </a:rPr>
              <a:t>Score</a:t>
            </a:r>
            <a:r>
              <a:rPr lang="ru-RU" sz="700" dirty="0">
                <a:ea typeface="+mn-ea"/>
                <a:cs typeface="+mn-cs"/>
                <a:sym typeface="+mn-lt"/>
              </a:rPr>
              <a:t> - индекс лояльности к сервису, рассчитывается на основе ответов на вопрос на вопрос "Насколько Вы готовы рекомендовать сервис Вашим дурьям, знакомым, коллегам по десятибалльной шкале"?</a:t>
            </a:r>
          </a:p>
          <a:p>
            <a:pPr marL="0" indent="0">
              <a:buFontTx/>
              <a:buAutoNum type="arabicPeriod"/>
            </a:pPr>
            <a:r>
              <a:rPr lang="ru-RU" sz="700" dirty="0" err="1">
                <a:ea typeface="+mn-ea"/>
                <a:cs typeface="+mn-cs"/>
                <a:sym typeface="+mn-lt"/>
              </a:rPr>
              <a:t>Customer</a:t>
            </a:r>
            <a:r>
              <a:rPr lang="ru-RU" sz="700" dirty="0">
                <a:ea typeface="+mn-ea"/>
                <a:cs typeface="+mn-cs"/>
                <a:sym typeface="+mn-lt"/>
              </a:rPr>
              <a:t> </a:t>
            </a:r>
            <a:r>
              <a:rPr lang="ru-RU" sz="700" dirty="0" err="1">
                <a:ea typeface="+mn-ea"/>
                <a:cs typeface="+mn-cs"/>
                <a:sym typeface="+mn-lt"/>
              </a:rPr>
              <a:t>Satisfaction</a:t>
            </a:r>
            <a:r>
              <a:rPr lang="ru-RU" sz="700" dirty="0">
                <a:ea typeface="+mn-ea"/>
                <a:cs typeface="+mn-cs"/>
                <a:sym typeface="+mn-lt"/>
              </a:rPr>
              <a:t> </a:t>
            </a:r>
            <a:r>
              <a:rPr lang="ru-RU" sz="700" dirty="0" err="1">
                <a:ea typeface="+mn-ea"/>
                <a:cs typeface="+mn-cs"/>
                <a:sym typeface="+mn-lt"/>
              </a:rPr>
              <a:t>Index</a:t>
            </a:r>
            <a:r>
              <a:rPr lang="ru-RU" sz="700" dirty="0">
                <a:ea typeface="+mn-ea"/>
                <a:cs typeface="+mn-cs"/>
                <a:sym typeface="+mn-lt"/>
              </a:rPr>
              <a:t> - индекс удовлетворенности сервисом, рассчитывается на основе ответов на вопрос на вопрос "Насколько Вы в целом удовлетворены работой сервиса по десятибалльной шкале"?</a:t>
            </a:r>
          </a:p>
        </p:txBody>
      </p:sp>
      <p:sp>
        <p:nvSpPr>
          <p:cNvPr id="63" name="5. Source">
            <a:extLst>
              <a:ext uri="{FF2B5EF4-FFF2-40B4-BE49-F238E27FC236}">
                <a16:creationId xmlns:a16="http://schemas.microsoft.com/office/drawing/2014/main" id="{9098D09E-35B1-49C8-8FCB-A6AC304824D2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ea typeface="+mn-ea"/>
                <a:cs typeface="+mn-cs"/>
                <a:sym typeface="+mn-lt"/>
              </a:rPr>
              <a:t>Источник: Замеры индексов удовлетворенности и лояльности москвичей по ключевым проектам ДИТ (Управление персональных коммуникаций)</a:t>
            </a:r>
            <a:r>
              <a:rPr lang="en-US" dirty="0">
                <a:ea typeface="+mn-ea"/>
                <a:cs typeface="+mn-cs"/>
                <a:sym typeface="+mn-lt"/>
              </a:rPr>
              <a:t> </a:t>
            </a:r>
            <a:r>
              <a:rPr lang="ru-RU" dirty="0">
                <a:ea typeface="+mn-ea"/>
                <a:cs typeface="+mn-cs"/>
                <a:sym typeface="+mn-lt"/>
              </a:rPr>
              <a:t>на 2 кв. 2021 года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29FED8-2574-4989-900D-A9708ECEDBD3}"/>
              </a:ext>
            </a:extLst>
          </p:cNvPr>
          <p:cNvGrpSpPr/>
          <p:nvPr/>
        </p:nvGrpSpPr>
        <p:grpSpPr>
          <a:xfrm>
            <a:off x="7397755" y="1038789"/>
            <a:ext cx="4239507" cy="123111"/>
            <a:chOff x="7397755" y="969117"/>
            <a:chExt cx="4239507" cy="12311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7308FBD-0686-4F5F-B92B-605792CE2E8A}"/>
                </a:ext>
              </a:extLst>
            </p:cNvPr>
            <p:cNvSpPr txBox="1"/>
            <p:nvPr/>
          </p:nvSpPr>
          <p:spPr>
            <a:xfrm>
              <a:off x="7397755" y="969117"/>
              <a:ext cx="1434688" cy="123111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 err="1"/>
                <a:t>хх</a:t>
              </a:r>
              <a:r>
                <a:rPr lang="ru-RU" sz="800" dirty="0"/>
                <a:t> – значение показателя 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737AAE0-A30E-44F0-9CB6-624D55293398}"/>
                </a:ext>
              </a:extLst>
            </p:cNvPr>
            <p:cNvSpPr txBox="1"/>
            <p:nvPr/>
          </p:nvSpPr>
          <p:spPr>
            <a:xfrm>
              <a:off x="8960247" y="969117"/>
              <a:ext cx="2677015" cy="123111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(хх) – позиция относительно остальных сервисов</a:t>
              </a:r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E65F2860-209A-45E0-B3E9-A9575675F88E}"/>
              </a:ext>
            </a:extLst>
          </p:cNvPr>
          <p:cNvSpPr/>
          <p:nvPr/>
        </p:nvSpPr>
        <p:spPr>
          <a:xfrm rot="5400000">
            <a:off x="214768" y="1402293"/>
            <a:ext cx="476726" cy="203202"/>
          </a:xfrm>
          <a:prstGeom prst="rect">
            <a:avLst/>
          </a:prstGeom>
          <a:gradFill flip="none" rotWithShape="1">
            <a:gsLst>
              <a:gs pos="0">
                <a:srgbClr val="AB201D"/>
              </a:gs>
              <a:gs pos="100000">
                <a:schemeClr val="tx2"/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79613C3-6190-4D07-8E89-B260ABB0CA30}"/>
              </a:ext>
            </a:extLst>
          </p:cNvPr>
          <p:cNvSpPr>
            <a:spLocks/>
          </p:cNvSpPr>
          <p:nvPr/>
        </p:nvSpPr>
        <p:spPr>
          <a:xfrm rot="16200000" flipH="1">
            <a:off x="11500500" y="1402293"/>
            <a:ext cx="476726" cy="203202"/>
          </a:xfrm>
          <a:prstGeom prst="rect">
            <a:avLst/>
          </a:prstGeom>
          <a:gradFill flip="none" rotWithShape="1">
            <a:gsLst>
              <a:gs pos="0">
                <a:srgbClr val="AB201D"/>
              </a:gs>
              <a:gs pos="100000">
                <a:schemeClr val="tx2"/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440DDF-8290-4805-8618-2591189DA707}"/>
              </a:ext>
            </a:extLst>
          </p:cNvPr>
          <p:cNvSpPr txBox="1">
            <a:spLocks/>
          </p:cNvSpPr>
          <p:nvPr/>
        </p:nvSpPr>
        <p:spPr>
          <a:xfrm>
            <a:off x="735589" y="5425328"/>
            <a:ext cx="3160449" cy="40011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Aft>
                <a:spcPts val="0"/>
              </a:spcAft>
            </a:pPr>
            <a:r>
              <a:rPr lang="ru-RU" sz="1300" dirty="0"/>
              <a:t>Типовые значения для коммерческих сервисов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4C6656-9A9A-4EED-9F02-8AC77A9060AB}"/>
              </a:ext>
            </a:extLst>
          </p:cNvPr>
          <p:cNvSpPr txBox="1">
            <a:spLocks/>
          </p:cNvSpPr>
          <p:nvPr/>
        </p:nvSpPr>
        <p:spPr>
          <a:xfrm>
            <a:off x="4515772" y="5286829"/>
            <a:ext cx="3160449" cy="67710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Aft>
                <a:spcPts val="0"/>
              </a:spcAft>
            </a:pPr>
            <a:r>
              <a:rPr lang="ru-RU" sz="1300" dirty="0"/>
              <a:t>Высокие значения </a:t>
            </a:r>
            <a:r>
              <a:rPr lang="ru-RU" sz="1300" b="1" dirty="0">
                <a:solidFill>
                  <a:schemeClr val="accent1">
                    <a:lumMod val="50000"/>
                  </a:schemeClr>
                </a:solidFill>
              </a:rPr>
              <a:t>&gt;80</a:t>
            </a:r>
          </a:p>
          <a:p>
            <a:pPr>
              <a:spcAft>
                <a:spcPts val="0"/>
              </a:spcAft>
            </a:pPr>
            <a:r>
              <a:rPr lang="ru-RU" sz="1300" dirty="0"/>
              <a:t>Приемлемые значения </a:t>
            </a:r>
            <a:r>
              <a:rPr lang="ru-RU" sz="1300" b="1" dirty="0">
                <a:solidFill>
                  <a:schemeClr val="accent1">
                    <a:lumMod val="50000"/>
                  </a:schemeClr>
                </a:solidFill>
              </a:rPr>
              <a:t>50-80</a:t>
            </a:r>
          </a:p>
          <a:p>
            <a:pPr>
              <a:spcAft>
                <a:spcPts val="0"/>
              </a:spcAft>
            </a:pPr>
            <a:r>
              <a:rPr lang="ru-RU" sz="1300" dirty="0"/>
              <a:t>Низкие значения </a:t>
            </a:r>
            <a:r>
              <a:rPr lang="ru-RU" sz="1300" b="1" dirty="0">
                <a:solidFill>
                  <a:schemeClr val="accent1">
                    <a:lumMod val="50000"/>
                  </a:schemeClr>
                </a:solidFill>
              </a:rPr>
              <a:t>&lt;50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EBF84E-CD61-451D-953F-6D14104A2F26}"/>
              </a:ext>
            </a:extLst>
          </p:cNvPr>
          <p:cNvSpPr txBox="1">
            <a:spLocks/>
          </p:cNvSpPr>
          <p:nvPr/>
        </p:nvSpPr>
        <p:spPr>
          <a:xfrm>
            <a:off x="8295956" y="5286829"/>
            <a:ext cx="3160449" cy="67710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Aft>
                <a:spcPts val="0"/>
              </a:spcAft>
            </a:pPr>
            <a:r>
              <a:rPr lang="ru-RU" sz="1300" dirty="0"/>
              <a:t>Высокие значения </a:t>
            </a:r>
            <a:r>
              <a:rPr lang="ru-RU" sz="1300" b="1" dirty="0">
                <a:solidFill>
                  <a:schemeClr val="accent1">
                    <a:lumMod val="50000"/>
                  </a:schemeClr>
                </a:solidFill>
              </a:rPr>
              <a:t>&gt;8</a:t>
            </a:r>
          </a:p>
          <a:p>
            <a:pPr>
              <a:spcAft>
                <a:spcPts val="0"/>
              </a:spcAft>
            </a:pPr>
            <a:r>
              <a:rPr lang="ru-RU" sz="1300" dirty="0"/>
              <a:t>Приемлемые значения </a:t>
            </a:r>
            <a:r>
              <a:rPr lang="ru-RU" sz="1300" b="1" dirty="0">
                <a:solidFill>
                  <a:schemeClr val="accent1">
                    <a:lumMod val="50000"/>
                  </a:schemeClr>
                </a:solidFill>
              </a:rPr>
              <a:t>7-8</a:t>
            </a:r>
          </a:p>
          <a:p>
            <a:pPr>
              <a:spcAft>
                <a:spcPts val="0"/>
              </a:spcAft>
            </a:pPr>
            <a:r>
              <a:rPr lang="ru-RU" sz="1300" dirty="0"/>
              <a:t>Низкие значения </a:t>
            </a:r>
            <a:r>
              <a:rPr lang="ru-RU" sz="1300" b="1" dirty="0">
                <a:solidFill>
                  <a:schemeClr val="accent1">
                    <a:lumMod val="50000"/>
                  </a:schemeClr>
                </a:solidFill>
              </a:rPr>
              <a:t>&lt;7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885BD3D-ADE5-4FC9-A1DA-9DC4D1BB0019}"/>
              </a:ext>
            </a:extLst>
          </p:cNvPr>
          <p:cNvCxnSpPr>
            <a:cxnSpLocks/>
          </p:cNvCxnSpPr>
          <p:nvPr/>
        </p:nvCxnSpPr>
        <p:spPr>
          <a:xfrm>
            <a:off x="735589" y="2125555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B1FD457-2491-4FD0-85C6-5937C5C1BA16}"/>
              </a:ext>
            </a:extLst>
          </p:cNvPr>
          <p:cNvCxnSpPr>
            <a:cxnSpLocks/>
          </p:cNvCxnSpPr>
          <p:nvPr/>
        </p:nvCxnSpPr>
        <p:spPr>
          <a:xfrm>
            <a:off x="735589" y="2505390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DC2A1DE-7FAD-4CA5-A9E6-A650CA0C1127}"/>
              </a:ext>
            </a:extLst>
          </p:cNvPr>
          <p:cNvCxnSpPr>
            <a:cxnSpLocks/>
          </p:cNvCxnSpPr>
          <p:nvPr/>
        </p:nvCxnSpPr>
        <p:spPr>
          <a:xfrm>
            <a:off x="735589" y="2885225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FE6BD6F-7C9B-447A-97D2-989F4A54FA94}"/>
              </a:ext>
            </a:extLst>
          </p:cNvPr>
          <p:cNvCxnSpPr>
            <a:cxnSpLocks/>
          </p:cNvCxnSpPr>
          <p:nvPr/>
        </p:nvCxnSpPr>
        <p:spPr>
          <a:xfrm>
            <a:off x="735589" y="3265060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0BF6872-8FBE-4755-8BF1-D001E58ABDC2}"/>
              </a:ext>
            </a:extLst>
          </p:cNvPr>
          <p:cNvCxnSpPr>
            <a:cxnSpLocks/>
          </p:cNvCxnSpPr>
          <p:nvPr/>
        </p:nvCxnSpPr>
        <p:spPr>
          <a:xfrm>
            <a:off x="735589" y="3644895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6C81BE8-A2AD-44D2-8F61-F185F21BCA57}"/>
              </a:ext>
            </a:extLst>
          </p:cNvPr>
          <p:cNvCxnSpPr>
            <a:cxnSpLocks/>
          </p:cNvCxnSpPr>
          <p:nvPr/>
        </p:nvCxnSpPr>
        <p:spPr>
          <a:xfrm>
            <a:off x="735589" y="4024730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E3A0106-6587-4DBD-B19F-7B472B0B2F53}"/>
              </a:ext>
            </a:extLst>
          </p:cNvPr>
          <p:cNvCxnSpPr>
            <a:cxnSpLocks/>
          </p:cNvCxnSpPr>
          <p:nvPr/>
        </p:nvCxnSpPr>
        <p:spPr>
          <a:xfrm>
            <a:off x="4515772" y="2125555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447E045-D6EE-4152-ABAD-A8C26D81CB03}"/>
              </a:ext>
            </a:extLst>
          </p:cNvPr>
          <p:cNvCxnSpPr>
            <a:cxnSpLocks/>
          </p:cNvCxnSpPr>
          <p:nvPr/>
        </p:nvCxnSpPr>
        <p:spPr>
          <a:xfrm>
            <a:off x="4515772" y="2505390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6876F6C-D8ED-422C-9E59-F489DB129F77}"/>
              </a:ext>
            </a:extLst>
          </p:cNvPr>
          <p:cNvCxnSpPr>
            <a:cxnSpLocks/>
          </p:cNvCxnSpPr>
          <p:nvPr/>
        </p:nvCxnSpPr>
        <p:spPr>
          <a:xfrm>
            <a:off x="4515772" y="2885225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1732FCB-5968-4D0C-AE65-17ACD71D9D97}"/>
              </a:ext>
            </a:extLst>
          </p:cNvPr>
          <p:cNvCxnSpPr>
            <a:cxnSpLocks/>
          </p:cNvCxnSpPr>
          <p:nvPr/>
        </p:nvCxnSpPr>
        <p:spPr>
          <a:xfrm>
            <a:off x="4515772" y="3265060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F640AE9-DDCE-4497-A510-6C22E5DBEAF7}"/>
              </a:ext>
            </a:extLst>
          </p:cNvPr>
          <p:cNvCxnSpPr>
            <a:cxnSpLocks/>
          </p:cNvCxnSpPr>
          <p:nvPr/>
        </p:nvCxnSpPr>
        <p:spPr>
          <a:xfrm>
            <a:off x="4515772" y="3644895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2E6081B-3F74-4495-B16B-00C5E830DC63}"/>
              </a:ext>
            </a:extLst>
          </p:cNvPr>
          <p:cNvCxnSpPr>
            <a:cxnSpLocks/>
          </p:cNvCxnSpPr>
          <p:nvPr/>
        </p:nvCxnSpPr>
        <p:spPr>
          <a:xfrm>
            <a:off x="4515772" y="4024730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8AD646B-4F4A-4461-ABE5-A9E64CBA6BE2}"/>
              </a:ext>
            </a:extLst>
          </p:cNvPr>
          <p:cNvCxnSpPr>
            <a:cxnSpLocks/>
          </p:cNvCxnSpPr>
          <p:nvPr/>
        </p:nvCxnSpPr>
        <p:spPr>
          <a:xfrm>
            <a:off x="8295956" y="2125555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7D213F18-F62E-4D59-97F0-20B83C65830A}"/>
              </a:ext>
            </a:extLst>
          </p:cNvPr>
          <p:cNvCxnSpPr>
            <a:cxnSpLocks/>
          </p:cNvCxnSpPr>
          <p:nvPr/>
        </p:nvCxnSpPr>
        <p:spPr>
          <a:xfrm>
            <a:off x="8295956" y="2505390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88D37C8-E959-487B-9CC8-445996F8FA9E}"/>
              </a:ext>
            </a:extLst>
          </p:cNvPr>
          <p:cNvCxnSpPr>
            <a:cxnSpLocks/>
          </p:cNvCxnSpPr>
          <p:nvPr/>
        </p:nvCxnSpPr>
        <p:spPr>
          <a:xfrm>
            <a:off x="8295956" y="2885225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2AE492D-B4E8-44A8-8E47-3E6AF20A5F90}"/>
              </a:ext>
            </a:extLst>
          </p:cNvPr>
          <p:cNvCxnSpPr>
            <a:cxnSpLocks/>
          </p:cNvCxnSpPr>
          <p:nvPr/>
        </p:nvCxnSpPr>
        <p:spPr>
          <a:xfrm>
            <a:off x="8295956" y="3265060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1222123-F778-43A2-B86C-012EBEFA7DEC}"/>
              </a:ext>
            </a:extLst>
          </p:cNvPr>
          <p:cNvCxnSpPr>
            <a:cxnSpLocks/>
          </p:cNvCxnSpPr>
          <p:nvPr/>
        </p:nvCxnSpPr>
        <p:spPr>
          <a:xfrm>
            <a:off x="8295956" y="3644895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EF959A5-AA7C-4080-8C26-02F9C4ABAC64}"/>
              </a:ext>
            </a:extLst>
          </p:cNvPr>
          <p:cNvCxnSpPr>
            <a:cxnSpLocks/>
          </p:cNvCxnSpPr>
          <p:nvPr/>
        </p:nvCxnSpPr>
        <p:spPr>
          <a:xfrm>
            <a:off x="8295956" y="4024730"/>
            <a:ext cx="3160449" cy="0"/>
          </a:xfrm>
          <a:prstGeom prst="line">
            <a:avLst/>
          </a:prstGeom>
          <a:noFill/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611648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DE3D0FE8-4E40-4ECA-B120-4DADA247901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3" name="think-cell Slide" r:id="rId39" imgW="395" imgH="396" progId="TCLayout.ActiveDocument.1">
                  <p:embed/>
                </p:oleObj>
              </mc:Choice>
              <mc:Fallback>
                <p:oleObj name="think-cell Slide" r:id="rId39" imgW="395" imgH="396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DE3D0FE8-4E40-4ECA-B120-4DADA24790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ECCB0C56-5263-4F32-9C0F-160901FFDEE5}"/>
              </a:ext>
            </a:extLst>
          </p:cNvPr>
          <p:cNvSpPr txBox="1">
            <a:spLocks/>
          </p:cNvSpPr>
          <p:nvPr/>
        </p:nvSpPr>
        <p:spPr>
          <a:xfrm>
            <a:off x="0" y="1420460"/>
            <a:ext cx="12192000" cy="846489"/>
          </a:xfrm>
          <a:prstGeom prst="round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76200" tIns="76200" rIns="76200" bIns="7620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endParaRPr lang="ru-RU" sz="1800" b="1" dirty="0">
              <a:solidFill>
                <a:srgbClr val="FFFFFF"/>
              </a:solidFill>
            </a:endParaRP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171B0188-C7FC-4B38-915D-B34855BBD6E1}"/>
              </a:ext>
            </a:extLst>
          </p:cNvPr>
          <p:cNvSpPr>
            <a:spLocks/>
          </p:cNvSpPr>
          <p:nvPr/>
        </p:nvSpPr>
        <p:spPr>
          <a:xfrm>
            <a:off x="0" y="5041506"/>
            <a:ext cx="12192000" cy="98527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99" name="ACET">
            <a:extLst>
              <a:ext uri="{FF2B5EF4-FFF2-40B4-BE49-F238E27FC236}">
                <a16:creationId xmlns:a16="http://schemas.microsoft.com/office/drawing/2014/main" id="{FCF4A0C7-CCB4-42A6-BD66-A856B8821AD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4" y="1563513"/>
            <a:ext cx="9236075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>
              <a:buClr>
                <a:srgbClr val="FFFFFF"/>
              </a:buClr>
            </a:pPr>
            <a:r>
              <a:rPr lang="ru-RU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Показатель </a:t>
            </a:r>
            <a:r>
              <a:rPr lang="en-US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Customer Satisfaction Index (CSI) </a:t>
            </a:r>
            <a:r>
              <a:rPr lang="ru-RU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сервиса ЕДЦ</a:t>
            </a:r>
            <a:r>
              <a:rPr lang="en-US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, </a:t>
            </a:r>
            <a:r>
              <a:rPr lang="ru-RU" b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баллов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DE112B54-6F9A-43AD-9BBE-3263BBC05803}"/>
              </a:ext>
            </a:extLst>
          </p:cNvPr>
          <p:cNvSpPr>
            <a:spLocks/>
          </p:cNvSpPr>
          <p:nvPr/>
        </p:nvSpPr>
        <p:spPr>
          <a:xfrm>
            <a:off x="554732" y="1944078"/>
            <a:ext cx="11082528" cy="3298482"/>
          </a:xfrm>
          <a:prstGeom prst="roundRect">
            <a:avLst>
              <a:gd name="adj" fmla="val 4646"/>
            </a:avLst>
          </a:prstGeom>
          <a:solidFill>
            <a:schemeClr val="bg1"/>
          </a:solidFill>
          <a:effectLst>
            <a:outerShdw blurRad="1016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36000" tIns="180000" rIns="36000" bIns="1188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100" b="1" dirty="0" err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7178BFD8-6151-4FAD-8704-96CF39C5C5DB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2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ru-RU" dirty="0"/>
              <a:t>Динамика удовлетворенности жителей сервисом ЕДЦ</a:t>
            </a:r>
          </a:p>
        </p:txBody>
      </p:sp>
      <p:graphicFrame>
        <p:nvGraphicFramePr>
          <p:cNvPr id="67" name="Chart 66">
            <a:extLst>
              <a:ext uri="{FF2B5EF4-FFF2-40B4-BE49-F238E27FC236}">
                <a16:creationId xmlns:a16="http://schemas.microsoft.com/office/drawing/2014/main" id="{FFF9D7D5-3080-43FD-9EA5-6A38A1460C8F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471488" y="3178175"/>
          <a:ext cx="11249025" cy="1658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"/>
          </a:graphicData>
        </a:graphic>
      </p:graphicFrame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3631443-0C50-4E3C-9902-7DB0627DF046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4457700" y="4287838"/>
            <a:ext cx="1428751" cy="441326"/>
          </a:xfrm>
          <a:custGeom>
            <a:avLst/>
            <a:gdLst/>
            <a:ahLst/>
            <a:cxnLst/>
            <a:rect l="0" t="0" r="0" b="0"/>
            <a:pathLst>
              <a:path w="1428751" h="441326">
                <a:moveTo>
                  <a:pt x="0" y="384175"/>
                </a:moveTo>
                <a:lnTo>
                  <a:pt x="1428750" y="0"/>
                </a:lnTo>
                <a:lnTo>
                  <a:pt x="1428750" y="57150"/>
                </a:lnTo>
                <a:lnTo>
                  <a:pt x="0" y="441325"/>
                </a:lnTo>
                <a:close/>
              </a:path>
            </a:pathLst>
          </a:custGeom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 useBgFill="1">
        <p:nvSpPr>
          <p:cNvPr id="7" name="Freeform: Shape 6">
            <a:extLst>
              <a:ext uri="{FF2B5EF4-FFF2-40B4-BE49-F238E27FC236}">
                <a16:creationId xmlns:a16="http://schemas.microsoft.com/office/drawing/2014/main" id="{2A1FD672-972C-4F32-A18B-8344F3B010B4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763588" y="4287838"/>
            <a:ext cx="1428751" cy="441326"/>
          </a:xfrm>
          <a:custGeom>
            <a:avLst/>
            <a:gdLst/>
            <a:ahLst/>
            <a:cxnLst/>
            <a:rect l="0" t="0" r="0" b="0"/>
            <a:pathLst>
              <a:path w="1428751" h="441326">
                <a:moveTo>
                  <a:pt x="0" y="384175"/>
                </a:moveTo>
                <a:lnTo>
                  <a:pt x="1428750" y="0"/>
                </a:lnTo>
                <a:lnTo>
                  <a:pt x="1428750" y="57150"/>
                </a:lnTo>
                <a:lnTo>
                  <a:pt x="0" y="441325"/>
                </a:lnTo>
                <a:close/>
              </a:path>
            </a:pathLst>
          </a:custGeom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2CB95622-D4AF-4967-94A9-87AFA1E23BF5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9999663" y="4287838"/>
            <a:ext cx="1428751" cy="441326"/>
          </a:xfrm>
          <a:custGeom>
            <a:avLst/>
            <a:gdLst/>
            <a:ahLst/>
            <a:cxnLst/>
            <a:rect l="0" t="0" r="0" b="0"/>
            <a:pathLst>
              <a:path w="1428751" h="441326">
                <a:moveTo>
                  <a:pt x="0" y="384175"/>
                </a:moveTo>
                <a:lnTo>
                  <a:pt x="1428750" y="0"/>
                </a:lnTo>
                <a:lnTo>
                  <a:pt x="1428750" y="57150"/>
                </a:lnTo>
                <a:lnTo>
                  <a:pt x="0" y="441325"/>
                </a:lnTo>
                <a:close/>
              </a:path>
            </a:pathLst>
          </a:custGeom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EC6F7722-E139-4562-B462-AC811DBD54B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305550" y="4287838"/>
            <a:ext cx="1428751" cy="441326"/>
          </a:xfrm>
          <a:custGeom>
            <a:avLst/>
            <a:gdLst/>
            <a:ahLst/>
            <a:cxnLst/>
            <a:rect l="0" t="0" r="0" b="0"/>
            <a:pathLst>
              <a:path w="1428751" h="441326">
                <a:moveTo>
                  <a:pt x="0" y="384175"/>
                </a:moveTo>
                <a:lnTo>
                  <a:pt x="1428750" y="0"/>
                </a:lnTo>
                <a:lnTo>
                  <a:pt x="1428750" y="57150"/>
                </a:lnTo>
                <a:lnTo>
                  <a:pt x="0" y="441325"/>
                </a:lnTo>
                <a:close/>
              </a:path>
            </a:pathLst>
          </a:custGeom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8ECC465-4AB3-45C3-921C-1F0E46A29066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2611438" y="4287838"/>
            <a:ext cx="1427163" cy="441326"/>
          </a:xfrm>
          <a:custGeom>
            <a:avLst/>
            <a:gdLst/>
            <a:ahLst/>
            <a:cxnLst/>
            <a:rect l="0" t="0" r="0" b="0"/>
            <a:pathLst>
              <a:path w="1427163" h="441326">
                <a:moveTo>
                  <a:pt x="0" y="384175"/>
                </a:moveTo>
                <a:lnTo>
                  <a:pt x="1427162" y="0"/>
                </a:lnTo>
                <a:lnTo>
                  <a:pt x="1427162" y="57150"/>
                </a:lnTo>
                <a:lnTo>
                  <a:pt x="0" y="441325"/>
                </a:lnTo>
                <a:close/>
              </a:path>
            </a:pathLst>
          </a:custGeom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12A71374-6912-4D25-86E6-F3F2375454C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153400" y="4287838"/>
            <a:ext cx="1427164" cy="441326"/>
          </a:xfrm>
          <a:custGeom>
            <a:avLst/>
            <a:gdLst/>
            <a:ahLst/>
            <a:cxnLst/>
            <a:rect l="0" t="0" r="0" b="0"/>
            <a:pathLst>
              <a:path w="1427164" h="441326">
                <a:moveTo>
                  <a:pt x="0" y="384175"/>
                </a:moveTo>
                <a:lnTo>
                  <a:pt x="1427163" y="0"/>
                </a:lnTo>
                <a:lnTo>
                  <a:pt x="1427163" y="57150"/>
                </a:lnTo>
                <a:lnTo>
                  <a:pt x="0" y="441325"/>
                </a:lnTo>
                <a:close/>
              </a:path>
            </a:pathLst>
          </a:custGeom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632660-6E45-4B88-8FA6-E46C542A90F3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2611438" y="4344988"/>
            <a:ext cx="1427163" cy="384176"/>
          </a:xfrm>
          <a:custGeom>
            <a:avLst/>
            <a:gdLst/>
            <a:ahLst/>
            <a:cxnLst/>
            <a:rect l="0" t="0" r="0" b="0"/>
            <a:pathLst>
              <a:path w="1427163" h="384176">
                <a:moveTo>
                  <a:pt x="0" y="384175"/>
                </a:moveTo>
                <a:lnTo>
                  <a:pt x="1427162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DBA4B5-7D26-448B-9A45-BDB4D3C63772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4457700" y="4344988"/>
            <a:ext cx="1428751" cy="384176"/>
          </a:xfrm>
          <a:custGeom>
            <a:avLst/>
            <a:gdLst/>
            <a:ahLst/>
            <a:cxnLst/>
            <a:rect l="0" t="0" r="0" b="0"/>
            <a:pathLst>
              <a:path w="1428751" h="384176">
                <a:moveTo>
                  <a:pt x="0" y="384175"/>
                </a:moveTo>
                <a:lnTo>
                  <a:pt x="142875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71E5AAF-7B4D-48E2-BDEF-B49F4E638929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2611438" y="4287838"/>
            <a:ext cx="1427163" cy="384176"/>
          </a:xfrm>
          <a:custGeom>
            <a:avLst/>
            <a:gdLst/>
            <a:ahLst/>
            <a:cxnLst/>
            <a:rect l="0" t="0" r="0" b="0"/>
            <a:pathLst>
              <a:path w="1427163" h="384176">
                <a:moveTo>
                  <a:pt x="0" y="384175"/>
                </a:moveTo>
                <a:lnTo>
                  <a:pt x="1427162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E3BDA70-AAE1-4CCB-830F-94599FEAE335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999663" y="4344988"/>
            <a:ext cx="1428751" cy="384176"/>
          </a:xfrm>
          <a:custGeom>
            <a:avLst/>
            <a:gdLst/>
            <a:ahLst/>
            <a:cxnLst/>
            <a:rect l="0" t="0" r="0" b="0"/>
            <a:pathLst>
              <a:path w="1428751" h="384176">
                <a:moveTo>
                  <a:pt x="0" y="384175"/>
                </a:moveTo>
                <a:lnTo>
                  <a:pt x="142875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F3DDD69-F019-4556-9A5F-179ECE86E093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999663" y="4287838"/>
            <a:ext cx="1428751" cy="384176"/>
          </a:xfrm>
          <a:custGeom>
            <a:avLst/>
            <a:gdLst/>
            <a:ahLst/>
            <a:cxnLst/>
            <a:rect l="0" t="0" r="0" b="0"/>
            <a:pathLst>
              <a:path w="1428751" h="384176">
                <a:moveTo>
                  <a:pt x="0" y="384175"/>
                </a:moveTo>
                <a:lnTo>
                  <a:pt x="142875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4E72431-AA38-40A5-9212-18FEF12C12CD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305550" y="4344988"/>
            <a:ext cx="1428751" cy="384176"/>
          </a:xfrm>
          <a:custGeom>
            <a:avLst/>
            <a:gdLst/>
            <a:ahLst/>
            <a:cxnLst/>
            <a:rect l="0" t="0" r="0" b="0"/>
            <a:pathLst>
              <a:path w="1428751" h="384176">
                <a:moveTo>
                  <a:pt x="0" y="384175"/>
                </a:moveTo>
                <a:lnTo>
                  <a:pt x="142875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A416CD9-9624-46B8-97FA-2A356583FF25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763588" y="4287838"/>
            <a:ext cx="1428751" cy="384176"/>
          </a:xfrm>
          <a:custGeom>
            <a:avLst/>
            <a:gdLst/>
            <a:ahLst/>
            <a:cxnLst/>
            <a:rect l="0" t="0" r="0" b="0"/>
            <a:pathLst>
              <a:path w="1428751" h="384176">
                <a:moveTo>
                  <a:pt x="0" y="384175"/>
                </a:moveTo>
                <a:lnTo>
                  <a:pt x="142875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EB15542-8940-45C2-85E3-E067C9549495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763588" y="4344988"/>
            <a:ext cx="1428751" cy="384176"/>
          </a:xfrm>
          <a:custGeom>
            <a:avLst/>
            <a:gdLst/>
            <a:ahLst/>
            <a:cxnLst/>
            <a:rect l="0" t="0" r="0" b="0"/>
            <a:pathLst>
              <a:path w="1428751" h="384176">
                <a:moveTo>
                  <a:pt x="0" y="384175"/>
                </a:moveTo>
                <a:lnTo>
                  <a:pt x="142875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36F685-C926-46AD-8844-8A57AB3CD652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4457700" y="4287838"/>
            <a:ext cx="1428751" cy="384176"/>
          </a:xfrm>
          <a:custGeom>
            <a:avLst/>
            <a:gdLst/>
            <a:ahLst/>
            <a:cxnLst/>
            <a:rect l="0" t="0" r="0" b="0"/>
            <a:pathLst>
              <a:path w="1428751" h="384176">
                <a:moveTo>
                  <a:pt x="0" y="384175"/>
                </a:moveTo>
                <a:lnTo>
                  <a:pt x="142875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74B186-3882-4821-9981-4431F22E9503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6305550" y="4287838"/>
            <a:ext cx="1428751" cy="384176"/>
          </a:xfrm>
          <a:custGeom>
            <a:avLst/>
            <a:gdLst/>
            <a:ahLst/>
            <a:cxnLst/>
            <a:rect l="0" t="0" r="0" b="0"/>
            <a:pathLst>
              <a:path w="1428751" h="384176">
                <a:moveTo>
                  <a:pt x="0" y="384175"/>
                </a:moveTo>
                <a:lnTo>
                  <a:pt x="142875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25A966D-AABC-4764-851A-5822C29CD9D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8153400" y="4287838"/>
            <a:ext cx="1427164" cy="384176"/>
          </a:xfrm>
          <a:custGeom>
            <a:avLst/>
            <a:gdLst/>
            <a:ahLst/>
            <a:cxnLst/>
            <a:rect l="0" t="0" r="0" b="0"/>
            <a:pathLst>
              <a:path w="1427164" h="384176">
                <a:moveTo>
                  <a:pt x="0" y="384175"/>
                </a:moveTo>
                <a:lnTo>
                  <a:pt x="1427163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92DD94-061F-4241-ABC0-198148CAF6D4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8153400" y="4344988"/>
            <a:ext cx="1427164" cy="384176"/>
          </a:xfrm>
          <a:custGeom>
            <a:avLst/>
            <a:gdLst/>
            <a:ahLst/>
            <a:cxnLst/>
            <a:rect l="0" t="0" r="0" b="0"/>
            <a:pathLst>
              <a:path w="1427164" h="384176">
                <a:moveTo>
                  <a:pt x="0" y="384175"/>
                </a:moveTo>
                <a:lnTo>
                  <a:pt x="1427163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1EE3E0D2-2D8F-463A-881A-613F31BCC82B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8442325" y="4813300"/>
            <a:ext cx="8493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93A7F009-0C2D-4C22-B0F5-48C989B7C7C6}" type="datetime'''''''1кв'''''''''''''''''''' ''''''''''''''20''''2''''1'''''">
              <a:rPr lang="ru-RU" altLang="en-US" smtClean="0"/>
              <a:pPr/>
              <a:t>1кв 2021</a:t>
            </a:fld>
            <a:endParaRPr lang="ru-RU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1054100" y="4813300"/>
            <a:ext cx="8493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22BD433-56E5-4B03-9F5E-10D88E329619}" type="datetime'''1''''''кв'''''''''''' ''''''''''''''''''''2''02''0'''''''''">
              <a:rPr lang="ru-RU" altLang="en-US" smtClean="0"/>
              <a:pPr/>
              <a:t>1кв 2020</a:t>
            </a:fld>
            <a:endParaRPr lang="ru-RU" dirty="0"/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3BC82BEB-2BDE-4CF9-ADFF-B3976F4F694C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auto">
          <a:xfrm>
            <a:off x="2900363" y="4813300"/>
            <a:ext cx="8493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D03C3ED8-60B0-410C-B2A3-153E6E200398}" type="datetime'2''''к''''''''''в ''''2''''02''''''''0'''">
              <a:rPr lang="ru-RU" altLang="en-US" smtClean="0"/>
              <a:pPr/>
              <a:t>2кв 2020</a:t>
            </a:fld>
            <a:endParaRPr lang="ru-RU" dirty="0"/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B3116CF6-180A-45C4-94B5-76FD36A642F4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4748213" y="4813300"/>
            <a:ext cx="8493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A0A77FA3-8746-4ECE-9B66-BB275C700E9D}" type="datetime'3''''''к''''''''''''''''в'' ''2''0''''''''2''0'''''''''''''">
              <a:rPr lang="ru-RU" altLang="en-US" smtClean="0"/>
              <a:pPr/>
              <a:t>3кв 2020</a:t>
            </a:fld>
            <a:endParaRPr lang="ru-RU" dirty="0"/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24AB993E-6856-4D3E-B5AD-EF7959B757A5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6596063" y="4813300"/>
            <a:ext cx="8493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373DD155-E57D-45BB-8C28-BA225B1658CA}" type="datetime'4''''''''''кв'''''''''''''''''' ''2''''''''''''''020'''">
              <a:rPr lang="ru-RU" altLang="en-US" smtClean="0"/>
              <a:pPr/>
              <a:t>4кв 2020</a:t>
            </a:fld>
            <a:endParaRPr lang="ru-RU" dirty="0"/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7F880D27-CF4A-4D80-A06A-3B3066E5DA5C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10290175" y="4813300"/>
            <a:ext cx="8493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E7E04893-0323-4F5F-923B-177647E738F3}" type="datetime'''''2''к''''''''''в'' 20''''''''''''''''''''''2''1'">
              <a:rPr lang="ru-RU" altLang="en-US" smtClean="0"/>
              <a:pPr/>
              <a:t>2кв 2021</a:t>
            </a:fld>
            <a:endParaRPr lang="ru-RU" dirty="0"/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gray">
          <a:xfrm>
            <a:off x="1241425" y="2960688"/>
            <a:ext cx="4730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33338" tIns="0" rIns="33338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ACBD6E9-C955-439D-A091-3F934AA6BAD3}" type="datetime'''''8'',''''''''''''''''''''2'''''''''''''">
              <a:rPr lang="ru-RU" altLang="en-US" sz="1800" b="1" smtClean="0"/>
              <a:pPr/>
              <a:t>8,2</a:t>
            </a:fld>
            <a:endParaRPr lang="ru-RU" sz="1800" b="1" dirty="0"/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gray">
          <a:xfrm>
            <a:off x="3087688" y="3127375"/>
            <a:ext cx="4730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33338" tIns="0" rIns="33338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8A146AA4-C890-4AF0-86C0-0D2FFD53B911}" type="datetime'''8'''''''''''''''''''''',''''''1'''''''''''''''''''''''''">
              <a:rPr lang="ru-RU" altLang="en-US" sz="1800" b="1" smtClean="0"/>
              <a:pPr/>
              <a:t>8,1</a:t>
            </a:fld>
            <a:endParaRPr lang="ru-RU" sz="1800" b="1" dirty="0"/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32"/>
            </p:custDataLst>
          </p:nvPr>
        </p:nvSpPr>
        <p:spPr bwMode="gray">
          <a:xfrm>
            <a:off x="4935538" y="3127375"/>
            <a:ext cx="4730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33338" tIns="0" rIns="33338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B4FF706B-EFE8-4771-9CC1-4A96320AC3D3}" type="datetime'''''''''''''''''''''''8'',1'''''''''''''''''''''''''">
              <a:rPr lang="ru-RU" altLang="en-US" sz="1800" b="1" smtClean="0"/>
              <a:pPr/>
              <a:t>8,1</a:t>
            </a:fld>
            <a:endParaRPr lang="ru-RU" sz="1800" b="1" dirty="0"/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33"/>
            </p:custDataLst>
          </p:nvPr>
        </p:nvSpPr>
        <p:spPr bwMode="gray">
          <a:xfrm>
            <a:off x="6783388" y="3460750"/>
            <a:ext cx="4730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33338" tIns="0" rIns="33338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9575CAD-9C12-4389-9D3C-7A0CD1FD5C14}" type="datetime'7'''''''''',''''9'''''''''''''''''''">
              <a:rPr lang="ru-RU" altLang="en-US" sz="1800" b="1" smtClean="0"/>
              <a:pPr/>
              <a:t>7,9</a:t>
            </a:fld>
            <a:endParaRPr lang="ru-RU" sz="1800" b="1" dirty="0"/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34"/>
            </p:custDataLst>
          </p:nvPr>
        </p:nvSpPr>
        <p:spPr bwMode="gray">
          <a:xfrm>
            <a:off x="8629650" y="3629025"/>
            <a:ext cx="4730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33338" tIns="0" rIns="33338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56942EF9-A1BF-4C32-BA96-DB7DC7735FAA}" type="datetime'''''''''7'''''''''''''',''''''8'''''''''''''''''''''''">
              <a:rPr lang="ru-RU" altLang="en-US" sz="1800" b="1" smtClean="0"/>
              <a:pPr/>
              <a:t>7,8</a:t>
            </a:fld>
            <a:endParaRPr lang="ru-RU" sz="1800" b="1" dirty="0"/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35"/>
            </p:custDataLst>
          </p:nvPr>
        </p:nvSpPr>
        <p:spPr bwMode="gray">
          <a:xfrm>
            <a:off x="10477500" y="3962400"/>
            <a:ext cx="4730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33338" tIns="0" rIns="33338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997D776-89E4-4E23-BA7E-733141D71116}" type="datetime'''7'''',''''''''''''''''6'''''''''''''''''''">
              <a:rPr lang="ru-RU" altLang="en-US" sz="1800" b="1" smtClean="0"/>
              <a:pPr/>
              <a:t>7,6</a:t>
            </a:fld>
            <a:endParaRPr lang="ru-RU" sz="18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93CFA5A-482B-4DA5-A87A-3895392E0364}"/>
              </a:ext>
            </a:extLst>
          </p:cNvPr>
          <p:cNvSpPr txBox="1"/>
          <p:nvPr/>
        </p:nvSpPr>
        <p:spPr>
          <a:xfrm>
            <a:off x="554735" y="5398634"/>
            <a:ext cx="11082527" cy="4924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600" dirty="0"/>
              <a:t>Среднее изменение CSI по всем ключевым цифровым сервисам ДИТа</a:t>
            </a:r>
            <a:r>
              <a:rPr lang="ru-RU" sz="1600" baseline="30000" dirty="0"/>
              <a:t>1</a:t>
            </a:r>
            <a:r>
              <a:rPr lang="ru-RU" sz="1600" dirty="0"/>
              <a:t> составляет </a:t>
            </a:r>
            <a:r>
              <a:rPr lang="ru-RU" sz="1600" b="1" dirty="0">
                <a:solidFill>
                  <a:schemeClr val="accent3"/>
                </a:solidFill>
              </a:rPr>
              <a:t>-2%</a:t>
            </a:r>
            <a:r>
              <a:rPr lang="ru-RU" sz="1600" dirty="0">
                <a:solidFill>
                  <a:schemeClr val="tx2"/>
                </a:solidFill>
              </a:rPr>
              <a:t>,</a:t>
            </a:r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sz="1600" dirty="0"/>
              <a:t>падение показателя ЕДЦ является </a:t>
            </a:r>
            <a:r>
              <a:rPr lang="ru-RU" sz="1600" b="1" dirty="0">
                <a:solidFill>
                  <a:schemeClr val="accent3"/>
                </a:solidFill>
              </a:rPr>
              <a:t>наиболее значительным 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94400D2-E0EF-409E-9A7B-8A2C331C4B10}"/>
              </a:ext>
            </a:extLst>
          </p:cNvPr>
          <p:cNvSpPr/>
          <p:nvPr/>
        </p:nvSpPr>
        <p:spPr>
          <a:xfrm>
            <a:off x="1477699" y="2443163"/>
            <a:ext cx="361723" cy="361950"/>
          </a:xfrm>
          <a:custGeom>
            <a:avLst/>
            <a:gdLst>
              <a:gd name="connsiteX0" fmla="*/ 0 w 968985"/>
              <a:gd name="connsiteY0" fmla="*/ 484493 h 968985"/>
              <a:gd name="connsiteX1" fmla="*/ 484493 w 968985"/>
              <a:gd name="connsiteY1" fmla="*/ 0 h 968985"/>
              <a:gd name="connsiteX2" fmla="*/ 968986 w 968985"/>
              <a:gd name="connsiteY2" fmla="*/ 484493 h 968985"/>
              <a:gd name="connsiteX3" fmla="*/ 484493 w 968985"/>
              <a:gd name="connsiteY3" fmla="*/ 968986 h 968985"/>
              <a:gd name="connsiteX4" fmla="*/ 0 w 968985"/>
              <a:gd name="connsiteY4" fmla="*/ 484493 h 968985"/>
              <a:gd name="connsiteX0" fmla="*/ 968986 w 1060426"/>
              <a:gd name="connsiteY0" fmla="*/ 484493 h 968986"/>
              <a:gd name="connsiteX1" fmla="*/ 484493 w 1060426"/>
              <a:gd name="connsiteY1" fmla="*/ 968986 h 968986"/>
              <a:gd name="connsiteX2" fmla="*/ 0 w 1060426"/>
              <a:gd name="connsiteY2" fmla="*/ 484493 h 968986"/>
              <a:gd name="connsiteX3" fmla="*/ 484493 w 1060426"/>
              <a:gd name="connsiteY3" fmla="*/ 0 h 968986"/>
              <a:gd name="connsiteX4" fmla="*/ 1060426 w 1060426"/>
              <a:gd name="connsiteY4" fmla="*/ 575933 h 968986"/>
              <a:gd name="connsiteX0" fmla="*/ 968986 w 968986"/>
              <a:gd name="connsiteY0" fmla="*/ 484493 h 968986"/>
              <a:gd name="connsiteX1" fmla="*/ 484493 w 968986"/>
              <a:gd name="connsiteY1" fmla="*/ 968986 h 968986"/>
              <a:gd name="connsiteX2" fmla="*/ 0 w 968986"/>
              <a:gd name="connsiteY2" fmla="*/ 484493 h 968986"/>
              <a:gd name="connsiteX3" fmla="*/ 484493 w 968986"/>
              <a:gd name="connsiteY3" fmla="*/ 0 h 968986"/>
              <a:gd name="connsiteX0" fmla="*/ 484493 w 484493"/>
              <a:gd name="connsiteY0" fmla="*/ 968986 h 968986"/>
              <a:gd name="connsiteX1" fmla="*/ 0 w 484493"/>
              <a:gd name="connsiteY1" fmla="*/ 484493 h 968986"/>
              <a:gd name="connsiteX2" fmla="*/ 484493 w 484493"/>
              <a:gd name="connsiteY2" fmla="*/ 0 h 968986"/>
              <a:gd name="connsiteX0" fmla="*/ 0 w 484493"/>
              <a:gd name="connsiteY0" fmla="*/ 484493 h 484493"/>
              <a:gd name="connsiteX1" fmla="*/ 484493 w 484493"/>
              <a:gd name="connsiteY1" fmla="*/ 0 h 484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4493" h="484493">
                <a:moveTo>
                  <a:pt x="0" y="484493"/>
                </a:moveTo>
                <a:cubicBezTo>
                  <a:pt x="0" y="216915"/>
                  <a:pt x="216915" y="0"/>
                  <a:pt x="484493" y="0"/>
                </a:cubicBezTo>
              </a:path>
            </a:pathLst>
          </a:custGeom>
          <a:noFill/>
          <a:ln w="1270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86" name="Oval 79">
            <a:extLst>
              <a:ext uri="{FF2B5EF4-FFF2-40B4-BE49-F238E27FC236}">
                <a16:creationId xmlns:a16="http://schemas.microsoft.com/office/drawing/2014/main" id="{70313BFD-E075-4012-B016-B6080C8BAD40}"/>
              </a:ext>
            </a:extLst>
          </p:cNvPr>
          <p:cNvSpPr/>
          <p:nvPr/>
        </p:nvSpPr>
        <p:spPr>
          <a:xfrm flipH="1">
            <a:off x="10375394" y="2443163"/>
            <a:ext cx="361723" cy="361950"/>
          </a:xfrm>
          <a:custGeom>
            <a:avLst/>
            <a:gdLst>
              <a:gd name="connsiteX0" fmla="*/ 0 w 968985"/>
              <a:gd name="connsiteY0" fmla="*/ 484493 h 968985"/>
              <a:gd name="connsiteX1" fmla="*/ 484493 w 968985"/>
              <a:gd name="connsiteY1" fmla="*/ 0 h 968985"/>
              <a:gd name="connsiteX2" fmla="*/ 968986 w 968985"/>
              <a:gd name="connsiteY2" fmla="*/ 484493 h 968985"/>
              <a:gd name="connsiteX3" fmla="*/ 484493 w 968985"/>
              <a:gd name="connsiteY3" fmla="*/ 968986 h 968985"/>
              <a:gd name="connsiteX4" fmla="*/ 0 w 968985"/>
              <a:gd name="connsiteY4" fmla="*/ 484493 h 968985"/>
              <a:gd name="connsiteX0" fmla="*/ 968986 w 1060426"/>
              <a:gd name="connsiteY0" fmla="*/ 484493 h 968986"/>
              <a:gd name="connsiteX1" fmla="*/ 484493 w 1060426"/>
              <a:gd name="connsiteY1" fmla="*/ 968986 h 968986"/>
              <a:gd name="connsiteX2" fmla="*/ 0 w 1060426"/>
              <a:gd name="connsiteY2" fmla="*/ 484493 h 968986"/>
              <a:gd name="connsiteX3" fmla="*/ 484493 w 1060426"/>
              <a:gd name="connsiteY3" fmla="*/ 0 h 968986"/>
              <a:gd name="connsiteX4" fmla="*/ 1060426 w 1060426"/>
              <a:gd name="connsiteY4" fmla="*/ 575933 h 968986"/>
              <a:gd name="connsiteX0" fmla="*/ 968986 w 968986"/>
              <a:gd name="connsiteY0" fmla="*/ 484493 h 968986"/>
              <a:gd name="connsiteX1" fmla="*/ 484493 w 968986"/>
              <a:gd name="connsiteY1" fmla="*/ 968986 h 968986"/>
              <a:gd name="connsiteX2" fmla="*/ 0 w 968986"/>
              <a:gd name="connsiteY2" fmla="*/ 484493 h 968986"/>
              <a:gd name="connsiteX3" fmla="*/ 484493 w 968986"/>
              <a:gd name="connsiteY3" fmla="*/ 0 h 968986"/>
              <a:gd name="connsiteX0" fmla="*/ 484493 w 484493"/>
              <a:gd name="connsiteY0" fmla="*/ 968986 h 968986"/>
              <a:gd name="connsiteX1" fmla="*/ 0 w 484493"/>
              <a:gd name="connsiteY1" fmla="*/ 484493 h 968986"/>
              <a:gd name="connsiteX2" fmla="*/ 484493 w 484493"/>
              <a:gd name="connsiteY2" fmla="*/ 0 h 968986"/>
              <a:gd name="connsiteX0" fmla="*/ 0 w 484493"/>
              <a:gd name="connsiteY0" fmla="*/ 484493 h 484493"/>
              <a:gd name="connsiteX1" fmla="*/ 484493 w 484493"/>
              <a:gd name="connsiteY1" fmla="*/ 0 h 484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4493" h="484493">
                <a:moveTo>
                  <a:pt x="0" y="484493"/>
                </a:moveTo>
                <a:cubicBezTo>
                  <a:pt x="0" y="216915"/>
                  <a:pt x="216915" y="0"/>
                  <a:pt x="484493" y="0"/>
                </a:cubicBezTo>
              </a:path>
            </a:pathLst>
          </a:custGeom>
          <a:noFill/>
          <a:ln w="1270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6FDD24C-0294-45DB-830A-848698008CC6}"/>
              </a:ext>
            </a:extLst>
          </p:cNvPr>
          <p:cNvCxnSpPr>
            <a:cxnSpLocks/>
            <a:stCxn id="80" idx="1"/>
            <a:endCxn id="186" idx="1"/>
          </p:cNvCxnSpPr>
          <p:nvPr/>
        </p:nvCxnSpPr>
        <p:spPr>
          <a:xfrm>
            <a:off x="1839422" y="2443163"/>
            <a:ext cx="8535972" cy="0"/>
          </a:xfrm>
          <a:prstGeom prst="line">
            <a:avLst/>
          </a:prstGeom>
          <a:ln w="12700" cap="sq">
            <a:solidFill>
              <a:schemeClr val="tx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34801584-4577-4361-991D-595B96AA50BB}"/>
              </a:ext>
            </a:extLst>
          </p:cNvPr>
          <p:cNvCxnSpPr>
            <a:cxnSpLocks/>
            <a:endCxn id="186" idx="0"/>
          </p:cNvCxnSpPr>
          <p:nvPr/>
        </p:nvCxnSpPr>
        <p:spPr>
          <a:xfrm flipV="1">
            <a:off x="10737117" y="2805113"/>
            <a:ext cx="0" cy="993778"/>
          </a:xfrm>
          <a:prstGeom prst="line">
            <a:avLst/>
          </a:prstGeom>
          <a:ln w="12700" cap="sq">
            <a:solidFill>
              <a:schemeClr val="tx2"/>
            </a:solidFill>
            <a:miter lim="800000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CE5195A7-6436-45B8-B3C9-709368217B11}"/>
              </a:ext>
            </a:extLst>
          </p:cNvPr>
          <p:cNvSpPr/>
          <p:nvPr/>
        </p:nvSpPr>
        <p:spPr>
          <a:xfrm>
            <a:off x="5347659" y="2219325"/>
            <a:ext cx="1373916" cy="4587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  <a:effectLst/>
        </p:spPr>
        <p:txBody>
          <a:bodyPr vert="horz" wrap="square" lIns="36000" tIns="36000" rIns="36000" bIns="3600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r>
              <a:rPr lang="ru-RU" sz="2000" b="1" dirty="0">
                <a:solidFill>
                  <a:schemeClr val="tx2"/>
                </a:solidFill>
                <a:cs typeface="Arial" panose="020B0604020202020204" pitchFamily="34" charset="0"/>
              </a:rPr>
              <a:t>- 7,3%</a:t>
            </a:r>
          </a:p>
        </p:txBody>
      </p:sp>
      <p:sp>
        <p:nvSpPr>
          <p:cNvPr id="75" name="5. Source">
            <a:extLst>
              <a:ext uri="{FF2B5EF4-FFF2-40B4-BE49-F238E27FC236}">
                <a16:creationId xmlns:a16="http://schemas.microsoft.com/office/drawing/2014/main" id="{BB4513C7-BE51-4BD6-BE07-7ED811B7BA8E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ea typeface="+mn-ea"/>
                <a:cs typeface="+mn-cs"/>
                <a:sym typeface="+mn-lt"/>
              </a:rPr>
              <a:t>Источник: Замеры индексов удовлетворенности и лояльности москвичей по ключевым проектам ДИТ (Управление персональных коммуникаций)</a:t>
            </a:r>
          </a:p>
        </p:txBody>
      </p:sp>
      <p:sp>
        <p:nvSpPr>
          <p:cNvPr id="46" name="4. Footnote">
            <a:extLst>
              <a:ext uri="{FF2B5EF4-FFF2-40B4-BE49-F238E27FC236}">
                <a16:creationId xmlns:a16="http://schemas.microsoft.com/office/drawing/2014/main" id="{C5483783-F10F-47DF-B460-989AB7F0D65F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1.	"Активный гражданин", </a:t>
            </a:r>
            <a:r>
              <a:rPr lang="ru-RU" dirty="0">
                <a:cs typeface="+mn-cs"/>
                <a:sym typeface="+mn-lt"/>
              </a:rPr>
              <a:t>"</a:t>
            </a:r>
            <a:r>
              <a:rPr lang="ru-RU" dirty="0">
                <a:latin typeface="+mn-lt"/>
                <a:ea typeface="+mn-ea"/>
                <a:cs typeface="+mn-cs"/>
                <a:sym typeface="+mn-lt"/>
              </a:rPr>
              <a:t>Наш город", портал mos.ru, Госуслуги Москвы, "Моя Москва", "Электронный дом"</a:t>
            </a:r>
          </a:p>
        </p:txBody>
      </p:sp>
    </p:spTree>
    <p:extLst>
      <p:ext uri="{BB962C8B-B14F-4D97-AF65-F5344CB8AC3E}">
        <p14:creationId xmlns:p14="http://schemas.microsoft.com/office/powerpoint/2010/main" val="3485524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985ED136-AC86-433A-86AE-B2A8F76E44A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581052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67" name="think-cell Slide" r:id="rId99" imgW="395" imgH="396" progId="TCLayout.ActiveDocument.1">
                  <p:embed/>
                </p:oleObj>
              </mc:Choice>
              <mc:Fallback>
                <p:oleObj name="think-cell Slide" r:id="rId99" imgW="395" imgH="396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985ED136-AC86-433A-86AE-B2A8F76E44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1" name="Freeform: Shape 570">
            <a:extLst>
              <a:ext uri="{FF2B5EF4-FFF2-40B4-BE49-F238E27FC236}">
                <a16:creationId xmlns:a16="http://schemas.microsoft.com/office/drawing/2014/main" id="{6CFABB44-E030-4F07-9041-ABD11D340A00}"/>
              </a:ext>
            </a:extLst>
          </p:cNvPr>
          <p:cNvSpPr/>
          <p:nvPr/>
        </p:nvSpPr>
        <p:spPr>
          <a:xfrm>
            <a:off x="7785100" y="4531519"/>
            <a:ext cx="3562350" cy="848810"/>
          </a:xfrm>
          <a:custGeom>
            <a:avLst/>
            <a:gdLst>
              <a:gd name="connsiteX0" fmla="*/ 0 w 3562350"/>
              <a:gd name="connsiteY0" fmla="*/ 228600 h 749300"/>
              <a:gd name="connsiteX1" fmla="*/ 393700 w 3562350"/>
              <a:gd name="connsiteY1" fmla="*/ 0 h 749300"/>
              <a:gd name="connsiteX2" fmla="*/ 800100 w 3562350"/>
              <a:gd name="connsiteY2" fmla="*/ 749300 h 749300"/>
              <a:gd name="connsiteX3" fmla="*/ 1187450 w 3562350"/>
              <a:gd name="connsiteY3" fmla="*/ 88900 h 749300"/>
              <a:gd name="connsiteX4" fmla="*/ 1593850 w 3562350"/>
              <a:gd name="connsiteY4" fmla="*/ 355600 h 749300"/>
              <a:gd name="connsiteX5" fmla="*/ 1981200 w 3562350"/>
              <a:gd name="connsiteY5" fmla="*/ 171450 h 749300"/>
              <a:gd name="connsiteX6" fmla="*/ 2387600 w 3562350"/>
              <a:gd name="connsiteY6" fmla="*/ 184150 h 749300"/>
              <a:gd name="connsiteX7" fmla="*/ 2781300 w 3562350"/>
              <a:gd name="connsiteY7" fmla="*/ 50800 h 749300"/>
              <a:gd name="connsiteX8" fmla="*/ 3149600 w 3562350"/>
              <a:gd name="connsiteY8" fmla="*/ 50800 h 749300"/>
              <a:gd name="connsiteX9" fmla="*/ 3562350 w 3562350"/>
              <a:gd name="connsiteY9" fmla="*/ 228600 h 74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62350" h="749300">
                <a:moveTo>
                  <a:pt x="0" y="228600"/>
                </a:moveTo>
                <a:lnTo>
                  <a:pt x="393700" y="0"/>
                </a:lnTo>
                <a:lnTo>
                  <a:pt x="800100" y="749300"/>
                </a:lnTo>
                <a:lnTo>
                  <a:pt x="1187450" y="88900"/>
                </a:lnTo>
                <a:lnTo>
                  <a:pt x="1593850" y="355600"/>
                </a:lnTo>
                <a:lnTo>
                  <a:pt x="1981200" y="171450"/>
                </a:lnTo>
                <a:lnTo>
                  <a:pt x="2387600" y="184150"/>
                </a:lnTo>
                <a:lnTo>
                  <a:pt x="2781300" y="50800"/>
                </a:lnTo>
                <a:lnTo>
                  <a:pt x="3149600" y="50800"/>
                </a:lnTo>
                <a:lnTo>
                  <a:pt x="3562350" y="228600"/>
                </a:lnTo>
              </a:path>
            </a:pathLst>
          </a:custGeom>
          <a:noFill/>
          <a:ln w="190500" cap="rnd">
            <a:solidFill>
              <a:srgbClr val="EBEFF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0F3544E9-1C3A-4D26-BE19-4148BFF4B1E1}"/>
              </a:ext>
            </a:extLst>
          </p:cNvPr>
          <p:cNvCxnSpPr/>
          <p:nvPr>
            <p:custDataLst>
              <p:tags r:id="rId3"/>
            </p:custDataLst>
          </p:nvPr>
        </p:nvCxnSpPr>
        <p:spPr bwMode="gray">
          <a:xfrm>
            <a:off x="7791450" y="5541963"/>
            <a:ext cx="3554413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A421348F-4A66-4712-A8B9-FEFBC0BA5C5C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>
            <a:off x="7791450" y="3005138"/>
            <a:ext cx="3554413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4" name="Straight Connector 533">
            <a:extLst>
              <a:ext uri="{FF2B5EF4-FFF2-40B4-BE49-F238E27FC236}">
                <a16:creationId xmlns:a16="http://schemas.microsoft.com/office/drawing/2014/main" id="{F57539A7-0F46-4F35-8CF3-25C18ED829C1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7791450" y="3513138"/>
            <a:ext cx="3554413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88960DED-2F6B-4AAC-BD98-5347E0C5BBF2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7791450" y="5287963"/>
            <a:ext cx="3554413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2" name="Straight Connector 531">
            <a:extLst>
              <a:ext uri="{FF2B5EF4-FFF2-40B4-BE49-F238E27FC236}">
                <a16:creationId xmlns:a16="http://schemas.microsoft.com/office/drawing/2014/main" id="{7C169D36-DF59-4E23-9CF1-815A5587F8F9}"/>
              </a:ext>
            </a:extLst>
          </p:cNvPr>
          <p:cNvCxnSpPr/>
          <p:nvPr>
            <p:custDataLst>
              <p:tags r:id="rId7"/>
            </p:custDataLst>
          </p:nvPr>
        </p:nvCxnSpPr>
        <p:spPr bwMode="gray">
          <a:xfrm>
            <a:off x="7791450" y="4019550"/>
            <a:ext cx="3554413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7A0B2603-09BB-4EA4-A6F6-20EB7E3F6B37}"/>
              </a:ext>
            </a:extLst>
          </p:cNvPr>
          <p:cNvCxnSpPr/>
          <p:nvPr>
            <p:custDataLst>
              <p:tags r:id="rId8"/>
            </p:custDataLst>
          </p:nvPr>
        </p:nvCxnSpPr>
        <p:spPr bwMode="gray">
          <a:xfrm>
            <a:off x="7791450" y="4273550"/>
            <a:ext cx="3554413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F5BB6D8B-9820-4F1C-95DB-0A07D2EC7FCE}"/>
              </a:ext>
            </a:extLst>
          </p:cNvPr>
          <p:cNvCxnSpPr/>
          <p:nvPr>
            <p:custDataLst>
              <p:tags r:id="rId9"/>
            </p:custDataLst>
          </p:nvPr>
        </p:nvCxnSpPr>
        <p:spPr bwMode="gray">
          <a:xfrm>
            <a:off x="7791450" y="3765550"/>
            <a:ext cx="3554413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B09CFCD6-6CFB-40B7-8139-198374D7E0BB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>
            <a:off x="7791450" y="4527550"/>
            <a:ext cx="3554413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5" name="Straight Connector 534">
            <a:extLst>
              <a:ext uri="{FF2B5EF4-FFF2-40B4-BE49-F238E27FC236}">
                <a16:creationId xmlns:a16="http://schemas.microsoft.com/office/drawing/2014/main" id="{E09CDCB9-A432-444D-9F60-793A241E771D}"/>
              </a:ext>
            </a:extLst>
          </p:cNvPr>
          <p:cNvCxnSpPr/>
          <p:nvPr>
            <p:custDataLst>
              <p:tags r:id="rId11"/>
            </p:custDataLst>
          </p:nvPr>
        </p:nvCxnSpPr>
        <p:spPr bwMode="gray">
          <a:xfrm>
            <a:off x="7791450" y="3259138"/>
            <a:ext cx="3554413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Straight Connector 528">
            <a:extLst>
              <a:ext uri="{FF2B5EF4-FFF2-40B4-BE49-F238E27FC236}">
                <a16:creationId xmlns:a16="http://schemas.microsoft.com/office/drawing/2014/main" id="{686FF6E1-9C90-407A-9BFD-5678633358E9}"/>
              </a:ext>
            </a:extLst>
          </p:cNvPr>
          <p:cNvCxnSpPr/>
          <p:nvPr>
            <p:custDataLst>
              <p:tags r:id="rId12"/>
            </p:custDataLst>
          </p:nvPr>
        </p:nvCxnSpPr>
        <p:spPr bwMode="gray">
          <a:xfrm>
            <a:off x="7791450" y="4781550"/>
            <a:ext cx="3554413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66E775FA-0183-46B5-B9F0-32F3EFD04EF0}"/>
              </a:ext>
            </a:extLst>
          </p:cNvPr>
          <p:cNvCxnSpPr/>
          <p:nvPr>
            <p:custDataLst>
              <p:tags r:id="rId13"/>
            </p:custDataLst>
          </p:nvPr>
        </p:nvCxnSpPr>
        <p:spPr bwMode="gray">
          <a:xfrm>
            <a:off x="7791450" y="5033963"/>
            <a:ext cx="3554413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0" name="Chart 149">
            <a:extLst>
              <a:ext uri="{FF2B5EF4-FFF2-40B4-BE49-F238E27FC236}">
                <a16:creationId xmlns:a16="http://schemas.microsoft.com/office/drawing/2014/main" id="{8D8DF4A5-F8A6-4DA6-9813-F94E41960DB7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36352885"/>
              </p:ext>
            </p:extLst>
          </p:nvPr>
        </p:nvGraphicFramePr>
        <p:xfrm>
          <a:off x="7708900" y="2922588"/>
          <a:ext cx="3719513" cy="298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1"/>
          </a:graphicData>
        </a:graphic>
      </p:graphicFrame>
      <p:sp>
        <p:nvSpPr>
          <p:cNvPr id="51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gray">
          <a:xfrm>
            <a:off x="7543800" y="4957763"/>
            <a:ext cx="1619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9C57F9BF-AEB0-4D11-A491-E1AF94C6D465}" type="datetime'''''''''''''''''''''3''''''''''''''''''''''''''5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ru-RU" sz="1000" dirty="0"/>
          </a:p>
        </p:txBody>
      </p:sp>
      <p:sp>
        <p:nvSpPr>
          <p:cNvPr id="514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gray">
          <a:xfrm>
            <a:off x="7543800" y="5211763"/>
            <a:ext cx="1619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2CCD57EA-1801-4108-83C6-13B361E1D621}" type="datetime'''''''''''''''''''''''''''''''''''''''''''''''30''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ru-RU" sz="1000" dirty="0"/>
          </a:p>
        </p:txBody>
      </p:sp>
      <p:sp>
        <p:nvSpPr>
          <p:cNvPr id="513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gray">
          <a:xfrm>
            <a:off x="7543800" y="5465763"/>
            <a:ext cx="1619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3A41A39F-762E-4910-9803-9E7293CC19BB}" type="datetime'2''''''''''''''''''''''''5''''''''''''''''''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ru-RU" sz="1000" dirty="0"/>
          </a:p>
        </p:txBody>
      </p:sp>
      <p:sp>
        <p:nvSpPr>
          <p:cNvPr id="517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gray">
          <a:xfrm>
            <a:off x="7543800" y="4451350"/>
            <a:ext cx="1619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AABAE10B-B5A2-48C0-A8AC-1B22744181E7}" type="datetime'4''''''''''''''''''''''''''''''''''''5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ru-RU" sz="1000" dirty="0"/>
          </a:p>
        </p:txBody>
      </p:sp>
      <p:sp>
        <p:nvSpPr>
          <p:cNvPr id="522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gray">
          <a:xfrm>
            <a:off x="7543800" y="3182938"/>
            <a:ext cx="1619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83CC5A86-030A-4688-851B-5C146AE6F8CA}" type="datetime'''''''''''''''''7''''''''''''''''''''''''''''''0''''''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70</a:t>
            </a:fld>
            <a:endParaRPr lang="ru-RU" sz="1000" dirty="0"/>
          </a:p>
        </p:txBody>
      </p:sp>
      <p:sp>
        <p:nvSpPr>
          <p:cNvPr id="518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gray">
          <a:xfrm>
            <a:off x="7543800" y="4197350"/>
            <a:ext cx="1619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4F6DE9BA-084A-4EEB-AC86-66F02205E2BE}" type="datetime'''''''''''''''''''''''''''''''''''''''5''''''''''''''0''''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ru-RU" sz="1000" dirty="0"/>
          </a:p>
        </p:txBody>
      </p:sp>
      <p:sp>
        <p:nvSpPr>
          <p:cNvPr id="516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gray">
          <a:xfrm>
            <a:off x="7543800" y="4705350"/>
            <a:ext cx="1619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9D993CFC-C755-497F-A619-2EB14BDEAF8D}" type="datetime'''''''''''''''''''''''''4''''''''0''''''''''''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ru-RU" sz="1000" dirty="0"/>
          </a:p>
        </p:txBody>
      </p:sp>
      <p:sp>
        <p:nvSpPr>
          <p:cNvPr id="427" name="Text Placeholder 4">
            <a:extLst>
              <a:ext uri="{FF2B5EF4-FFF2-40B4-BE49-F238E27FC236}">
                <a16:creationId xmlns:a16="http://schemas.microsoft.com/office/drawing/2014/main" id="{B26B2AA8-C183-4991-8B13-67C12EA5478F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gray">
          <a:xfrm>
            <a:off x="7624763" y="5748338"/>
            <a:ext cx="80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05C1A5BC-4F07-4F2B-AE49-E69E0480AF2B}" type="datetime'''''''''0'''''''''''''">
              <a:rPr lang="ru-RU" altLang="en-US" sz="1000" smtClean="0"/>
              <a:pPr/>
              <a:t>0</a:t>
            </a:fld>
            <a:endParaRPr lang="ru-RU" sz="1000" dirty="0"/>
          </a:p>
        </p:txBody>
      </p:sp>
      <p:sp>
        <p:nvSpPr>
          <p:cNvPr id="520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gray">
          <a:xfrm>
            <a:off x="7543800" y="3689350"/>
            <a:ext cx="1619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F217ACB9-E02D-47FC-A91D-DE5027D55DCC}" type="datetime'''''''''6''0''''''''''''''''''''''''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60</a:t>
            </a:fld>
            <a:endParaRPr lang="ru-RU" sz="1000" dirty="0"/>
          </a:p>
        </p:txBody>
      </p:sp>
      <p:sp>
        <p:nvSpPr>
          <p:cNvPr id="521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gray">
          <a:xfrm>
            <a:off x="7543800" y="3436938"/>
            <a:ext cx="1619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A61FEA4F-E7B6-47D4-960E-DF02193DE365}" type="datetime'''''''''''''''''6''''''''''''''5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65</a:t>
            </a:fld>
            <a:endParaRPr lang="ru-RU" sz="1000" dirty="0"/>
          </a:p>
        </p:txBody>
      </p:sp>
      <p:sp>
        <p:nvSpPr>
          <p:cNvPr id="523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gray">
          <a:xfrm>
            <a:off x="7543800" y="2928938"/>
            <a:ext cx="1619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B9178C24-1A79-4E01-ABEB-D127B790CCBE}" type="datetime'''''''''''''''''7''''''''''''''''''''''''''''''''''''''''5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75</a:t>
            </a:fld>
            <a:endParaRPr lang="ru-RU" sz="1000" dirty="0"/>
          </a:p>
        </p:txBody>
      </p:sp>
      <p:sp>
        <p:nvSpPr>
          <p:cNvPr id="519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gray">
          <a:xfrm>
            <a:off x="7543800" y="3943350"/>
            <a:ext cx="1619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2C1EC2FB-0D2D-48E2-B663-13DA2B30C66D}" type="datetime'''''''''''5''''''''5''''''''''''''''''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55</a:t>
            </a:fld>
            <a:endParaRPr lang="ru-RU" sz="1000" dirty="0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67CD3C-851A-43DE-B2D8-8D3630E3D761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7718425" y="5711825"/>
            <a:ext cx="146051" cy="96839"/>
          </a:xfrm>
          <a:custGeom>
            <a:avLst/>
            <a:gdLst/>
            <a:ahLst/>
            <a:cxnLst/>
            <a:rect l="0" t="0" r="0" b="0"/>
            <a:pathLst>
              <a:path w="146051" h="96839">
                <a:moveTo>
                  <a:pt x="0" y="39688"/>
                </a:moveTo>
                <a:lnTo>
                  <a:pt x="146050" y="0"/>
                </a:lnTo>
                <a:lnTo>
                  <a:pt x="146050" y="57150"/>
                </a:lnTo>
                <a:lnTo>
                  <a:pt x="0" y="96838"/>
                </a:lnTo>
                <a:close/>
              </a:path>
            </a:pathLst>
          </a:custGeom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 useBgFill="1">
        <p:nvSpPr>
          <p:cNvPr id="46" name="Freeform: Shape 45">
            <a:extLst>
              <a:ext uri="{FF2B5EF4-FFF2-40B4-BE49-F238E27FC236}">
                <a16:creationId xmlns:a16="http://schemas.microsoft.com/office/drawing/2014/main" id="{C19DEBB0-349F-4110-AB81-FD575406DD78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10525125" y="5719763"/>
            <a:ext cx="412751" cy="79376"/>
          </a:xfrm>
          <a:custGeom>
            <a:avLst/>
            <a:gdLst/>
            <a:ahLst/>
            <a:cxnLst/>
            <a:rect l="0" t="0" r="0" b="0"/>
            <a:pathLst>
              <a:path w="412751" h="7937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330200" y="22225"/>
                </a:lnTo>
                <a:lnTo>
                  <a:pt x="412750" y="0"/>
                </a:lnTo>
                <a:lnTo>
                  <a:pt x="412750" y="57150"/>
                </a:lnTo>
                <a:lnTo>
                  <a:pt x="330200" y="79375"/>
                </a:lnTo>
                <a:lnTo>
                  <a:pt x="247650" y="57150"/>
                </a:lnTo>
                <a:lnTo>
                  <a:pt x="165100" y="79375"/>
                </a:lnTo>
                <a:lnTo>
                  <a:pt x="82550" y="57150"/>
                </a:lnTo>
                <a:lnTo>
                  <a:pt x="0" y="79375"/>
                </a:lnTo>
                <a:close/>
              </a:path>
            </a:pathLst>
          </a:custGeom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A483D878-7441-45B3-BFF7-58E6D5EDFA34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9658350" y="5719763"/>
            <a:ext cx="247651" cy="79376"/>
          </a:xfrm>
          <a:custGeom>
            <a:avLst/>
            <a:gdLst/>
            <a:ahLst/>
            <a:cxnLst/>
            <a:rect l="0" t="0" r="0" b="0"/>
            <a:pathLst>
              <a:path w="247651" h="7937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247650" y="57150"/>
                </a:lnTo>
                <a:lnTo>
                  <a:pt x="165100" y="79375"/>
                </a:lnTo>
                <a:lnTo>
                  <a:pt x="82550" y="57150"/>
                </a:lnTo>
                <a:lnTo>
                  <a:pt x="0" y="79375"/>
                </a:lnTo>
                <a:close/>
              </a:path>
            </a:pathLst>
          </a:custGeom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6C520DE-2C76-45D5-92E4-1297D95B3BAD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9658350" y="5719763"/>
            <a:ext cx="247651" cy="22226"/>
          </a:xfrm>
          <a:custGeom>
            <a:avLst/>
            <a:gdLst/>
            <a:ahLst/>
            <a:cxnLst/>
            <a:rect l="0" t="0" r="0" b="0"/>
            <a:pathLst>
              <a:path w="247651" h="2222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</a:path>
            </a:pathLst>
          </a:custGeom>
          <a:noFill/>
          <a:ln w="9525" cap="sq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10A1F8E-6EC3-4F08-8778-72E6D40044FA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718425" y="5711825"/>
            <a:ext cx="146051" cy="39689"/>
          </a:xfrm>
          <a:custGeom>
            <a:avLst/>
            <a:gdLst/>
            <a:ahLst/>
            <a:cxnLst/>
            <a:rect l="0" t="0" r="0" b="0"/>
            <a:pathLst>
              <a:path w="146051" h="39689">
                <a:moveTo>
                  <a:pt x="0" y="39688"/>
                </a:moveTo>
                <a:lnTo>
                  <a:pt x="14605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7EED04E-79D9-4E02-9AD3-5903656FB93E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7718425" y="5768975"/>
            <a:ext cx="146051" cy="39689"/>
          </a:xfrm>
          <a:custGeom>
            <a:avLst/>
            <a:gdLst/>
            <a:ahLst/>
            <a:cxnLst/>
            <a:rect l="0" t="0" r="0" b="0"/>
            <a:pathLst>
              <a:path w="146051" h="39689">
                <a:moveTo>
                  <a:pt x="0" y="39688"/>
                </a:moveTo>
                <a:lnTo>
                  <a:pt x="14605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46F1D61-E3CC-4287-AAB6-AC9E32219C54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9658350" y="5776913"/>
            <a:ext cx="247651" cy="22226"/>
          </a:xfrm>
          <a:custGeom>
            <a:avLst/>
            <a:gdLst/>
            <a:ahLst/>
            <a:cxnLst/>
            <a:rect l="0" t="0" r="0" b="0"/>
            <a:pathLst>
              <a:path w="247651" h="2222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</a:path>
            </a:pathLst>
          </a:custGeom>
          <a:noFill/>
          <a:ln w="9525" cap="sq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10D7D038-5D30-4136-93B0-275DE78600D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10525125" y="5719763"/>
            <a:ext cx="412751" cy="22226"/>
          </a:xfrm>
          <a:custGeom>
            <a:avLst/>
            <a:gdLst/>
            <a:ahLst/>
            <a:cxnLst/>
            <a:rect l="0" t="0" r="0" b="0"/>
            <a:pathLst>
              <a:path w="412751" h="2222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330200" y="22225"/>
                </a:lnTo>
                <a:lnTo>
                  <a:pt x="412750" y="0"/>
                </a:lnTo>
              </a:path>
            </a:pathLst>
          </a:custGeom>
          <a:noFill/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D9E50FB-50A7-4BCF-AC73-D6D93725615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10525125" y="5776913"/>
            <a:ext cx="412751" cy="22226"/>
          </a:xfrm>
          <a:custGeom>
            <a:avLst/>
            <a:gdLst/>
            <a:ahLst/>
            <a:cxnLst/>
            <a:rect l="0" t="0" r="0" b="0"/>
            <a:pathLst>
              <a:path w="412751" h="2222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330200" y="22225"/>
                </a:lnTo>
                <a:lnTo>
                  <a:pt x="412750" y="0"/>
                </a:lnTo>
              </a:path>
            </a:pathLst>
          </a:custGeom>
          <a:noFill/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1" name="Text Placeholder 4">
            <a:extLst>
              <a:ext uri="{FF2B5EF4-FFF2-40B4-BE49-F238E27FC236}">
                <a16:creationId xmlns:a16="http://schemas.microsoft.com/office/drawing/2014/main" id="{6890255D-288C-4E77-A8F5-55F837FB9E0D}"/>
              </a:ext>
            </a:extLst>
          </p:cNvPr>
          <p:cNvSpPr>
            <a:spLocks noGrp="1"/>
          </p:cNvSpPr>
          <p:nvPr>
            <p:custDataLst>
              <p:tags r:id="rId36"/>
            </p:custDataLst>
          </p:nvPr>
        </p:nvSpPr>
        <p:spPr bwMode="auto">
          <a:xfrm>
            <a:off x="8415338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ECE8A74-EBBE-48C0-9160-A4203E22D2D9}" type="datetime'''''''''''''''''''''''''''3'''''''''''' ''к''в''''''''.'''">
              <a:rPr lang="ru-RU" altLang="en-US" sz="1000" smtClean="0"/>
              <a:pPr/>
              <a:t>3 кв.</a:t>
            </a:fld>
            <a:endParaRPr lang="ru-RU" sz="1000" dirty="0"/>
          </a:p>
        </p:txBody>
      </p:sp>
      <p:sp>
        <p:nvSpPr>
          <p:cNvPr id="443" name="Text Placeholder 4">
            <a:extLst>
              <a:ext uri="{FF2B5EF4-FFF2-40B4-BE49-F238E27FC236}">
                <a16:creationId xmlns:a16="http://schemas.microsoft.com/office/drawing/2014/main" id="{FEE208BD-44DF-43B4-B77C-9ED779572D69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auto">
          <a:xfrm>
            <a:off x="8809038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D1A7BF8-7DAA-444A-84DE-4A706FFA8B41}" type="datetime'''''''''''''''''''''''''4'''''' ''''''''''''''к''''''в.'''">
              <a:rPr lang="ru-RU" altLang="en-US" sz="1000" smtClean="0"/>
              <a:pPr/>
              <a:t>4 кв.</a:t>
            </a:fld>
            <a:endParaRPr lang="ru-RU" sz="1000" dirty="0"/>
          </a:p>
        </p:txBody>
      </p:sp>
      <p:sp>
        <p:nvSpPr>
          <p:cNvPr id="446" name="Text Placeholder 4">
            <a:extLst>
              <a:ext uri="{FF2B5EF4-FFF2-40B4-BE49-F238E27FC236}">
                <a16:creationId xmlns:a16="http://schemas.microsoft.com/office/drawing/2014/main" id="{99F88518-60FA-4063-AA4E-083F75E48BF6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auto">
          <a:xfrm>
            <a:off x="9599613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58B9DB2-F02C-4A8E-85D1-26447ED79D20}" type="datetime'''2'' ''''''''''''''к''''''''''''''''''''в.'''''''''''''''''''">
              <a:rPr lang="ru-RU" altLang="en-US" sz="1000" smtClean="0"/>
              <a:pPr/>
              <a:t>2 кв.</a:t>
            </a:fld>
            <a:endParaRPr lang="ru-RU" sz="1000" dirty="0"/>
          </a:p>
        </p:txBody>
      </p:sp>
      <p:sp>
        <p:nvSpPr>
          <p:cNvPr id="447" name="Text Placeholder 4">
            <a:extLst>
              <a:ext uri="{FF2B5EF4-FFF2-40B4-BE49-F238E27FC236}">
                <a16:creationId xmlns:a16="http://schemas.microsoft.com/office/drawing/2014/main" id="{87C16F59-3140-4BCB-8DD4-E5E866A58503}"/>
              </a:ext>
            </a:extLst>
          </p:cNvPr>
          <p:cNvSpPr>
            <a:spLocks noGrp="1"/>
          </p:cNvSpPr>
          <p:nvPr>
            <p:custDataLst>
              <p:tags r:id="rId39"/>
            </p:custDataLst>
          </p:nvPr>
        </p:nvSpPr>
        <p:spPr bwMode="auto">
          <a:xfrm>
            <a:off x="9994900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A84381C-AEBA-41D6-B0EB-A6E88BCD3298}" type="datetime'''''''3'' кв''''''.'''''''''''''''''''">
              <a:rPr lang="ru-RU" altLang="en-US" sz="1000" smtClean="0"/>
              <a:pPr/>
              <a:t>3 кв.</a:t>
            </a:fld>
            <a:endParaRPr lang="ru-RU" sz="1000" dirty="0"/>
          </a:p>
        </p:txBody>
      </p:sp>
      <p:sp>
        <p:nvSpPr>
          <p:cNvPr id="445" name="Text Placeholder 4">
            <a:extLst>
              <a:ext uri="{FF2B5EF4-FFF2-40B4-BE49-F238E27FC236}">
                <a16:creationId xmlns:a16="http://schemas.microsoft.com/office/drawing/2014/main" id="{72CC69E1-40FF-4194-8896-9E0D386A9153}"/>
              </a:ext>
            </a:extLst>
          </p:cNvPr>
          <p:cNvSpPr>
            <a:spLocks noGrp="1"/>
          </p:cNvSpPr>
          <p:nvPr>
            <p:custDataLst>
              <p:tags r:id="rId40"/>
            </p:custDataLst>
          </p:nvPr>
        </p:nvSpPr>
        <p:spPr bwMode="auto">
          <a:xfrm>
            <a:off x="8020050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1F06260-07FA-4D4A-B5B3-A028C077EC6D}" type="datetime'''''2'''''''' ''''''''''''''''''к''в''''''''''.'''''">
              <a:rPr lang="ru-RU" altLang="en-US" sz="1000" smtClean="0"/>
              <a:pPr/>
              <a:t>2 кв.</a:t>
            </a:fld>
            <a:endParaRPr lang="ru-RU" sz="1000" dirty="0"/>
          </a:p>
        </p:txBody>
      </p:sp>
      <p:sp>
        <p:nvSpPr>
          <p:cNvPr id="449" name="Text Placeholder 4">
            <a:extLst>
              <a:ext uri="{FF2B5EF4-FFF2-40B4-BE49-F238E27FC236}">
                <a16:creationId xmlns:a16="http://schemas.microsoft.com/office/drawing/2014/main" id="{EADB17DD-5DB1-4B9F-9AFE-6C74646FA68C}"/>
              </a:ext>
            </a:extLst>
          </p:cNvPr>
          <p:cNvSpPr>
            <a:spLocks noGrp="1"/>
          </p:cNvSpPr>
          <p:nvPr>
            <p:custDataLst>
              <p:tags r:id="rId41"/>
            </p:custDataLst>
          </p:nvPr>
        </p:nvSpPr>
        <p:spPr bwMode="auto">
          <a:xfrm>
            <a:off x="10783888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FEE4B66-EACC-4DEB-928C-B8D3374FD30E}" type="datetime'1'''''' кв''''''''''''''''''''''.'''''''''''''''''''''''''''''">
              <a:rPr lang="ru-RU" altLang="en-US" sz="1000" smtClean="0"/>
              <a:pPr/>
              <a:t>1 кв.</a:t>
            </a:fld>
            <a:endParaRPr lang="ru-RU" sz="1000" dirty="0"/>
          </a:p>
        </p:txBody>
      </p:sp>
      <p:sp>
        <p:nvSpPr>
          <p:cNvPr id="444" name="Text Placeholder 4">
            <a:extLst>
              <a:ext uri="{FF2B5EF4-FFF2-40B4-BE49-F238E27FC236}">
                <a16:creationId xmlns:a16="http://schemas.microsoft.com/office/drawing/2014/main" id="{15BE7DB5-FC4F-4A59-83EF-878B39B039C1}"/>
              </a:ext>
            </a:extLst>
          </p:cNvPr>
          <p:cNvSpPr>
            <a:spLocks noGrp="1"/>
          </p:cNvSpPr>
          <p:nvPr>
            <p:custDataLst>
              <p:tags r:id="rId42"/>
            </p:custDataLst>
          </p:nvPr>
        </p:nvSpPr>
        <p:spPr bwMode="auto">
          <a:xfrm>
            <a:off x="7624763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71BE4DA-D1D1-43B5-BF61-5E21CD513EC9}" type="datetime'''1'''' ''''''''''''''''''''''''''''''к''''в''''''''''.'''">
              <a:rPr lang="ru-RU" altLang="en-US" sz="1000" smtClean="0"/>
              <a:pPr/>
              <a:t>1 кв.</a:t>
            </a:fld>
            <a:endParaRPr lang="ru-RU" sz="1000" dirty="0"/>
          </a:p>
        </p:txBody>
      </p:sp>
      <p:sp>
        <p:nvSpPr>
          <p:cNvPr id="448" name="Text Placeholder 4">
            <a:extLst>
              <a:ext uri="{FF2B5EF4-FFF2-40B4-BE49-F238E27FC236}">
                <a16:creationId xmlns:a16="http://schemas.microsoft.com/office/drawing/2014/main" id="{913A929D-8431-4EA4-BFF4-C5B83CD55707}"/>
              </a:ext>
            </a:extLst>
          </p:cNvPr>
          <p:cNvSpPr>
            <a:spLocks noGrp="1"/>
          </p:cNvSpPr>
          <p:nvPr>
            <p:custDataLst>
              <p:tags r:id="rId43"/>
            </p:custDataLst>
          </p:nvPr>
        </p:nvSpPr>
        <p:spPr bwMode="auto">
          <a:xfrm>
            <a:off x="10388600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C6BAA6B-7E8E-412E-A997-BEE41AAA4E83}" type="datetime'''''4 ''''''к''''''''''''''''''''в''''''''''''.'''''''''''''">
              <a:rPr lang="ru-RU" altLang="en-US" sz="1000" smtClean="0"/>
              <a:pPr/>
              <a:t>4 кв.</a:t>
            </a:fld>
            <a:endParaRPr lang="ru-RU" sz="1000" dirty="0"/>
          </a:p>
        </p:txBody>
      </p:sp>
      <p:sp>
        <p:nvSpPr>
          <p:cNvPr id="442" name="Text Placeholder 4">
            <a:extLst>
              <a:ext uri="{FF2B5EF4-FFF2-40B4-BE49-F238E27FC236}">
                <a16:creationId xmlns:a16="http://schemas.microsoft.com/office/drawing/2014/main" id="{76B32F2E-ADE2-4D6D-A94A-69B7025C6F3A}"/>
              </a:ext>
            </a:extLst>
          </p:cNvPr>
          <p:cNvSpPr>
            <a:spLocks noGrp="1"/>
          </p:cNvSpPr>
          <p:nvPr>
            <p:custDataLst>
              <p:tags r:id="rId44"/>
            </p:custDataLst>
          </p:nvPr>
        </p:nvSpPr>
        <p:spPr bwMode="auto">
          <a:xfrm>
            <a:off x="9204325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8FD7E9A-41EF-4BED-B2E0-C53FEA816FDE}" type="datetime'''1'''''''' ''''''''''''к''''''в''.'''''''''''''''''''''''''''">
              <a:rPr lang="ru-RU" altLang="en-US" sz="1000" smtClean="0"/>
              <a:pPr/>
              <a:t>1 кв.</a:t>
            </a:fld>
            <a:endParaRPr lang="ru-RU" sz="1000" dirty="0"/>
          </a:p>
        </p:txBody>
      </p:sp>
      <p:sp>
        <p:nvSpPr>
          <p:cNvPr id="450" name="Text Placeholder 4">
            <a:extLst>
              <a:ext uri="{FF2B5EF4-FFF2-40B4-BE49-F238E27FC236}">
                <a16:creationId xmlns:a16="http://schemas.microsoft.com/office/drawing/2014/main" id="{C29ADD73-CE59-4F8D-85EE-08762BFBBA70}"/>
              </a:ext>
            </a:extLst>
          </p:cNvPr>
          <p:cNvSpPr>
            <a:spLocks noGrp="1"/>
          </p:cNvSpPr>
          <p:nvPr>
            <p:custDataLst>
              <p:tags r:id="rId45"/>
            </p:custDataLst>
          </p:nvPr>
        </p:nvSpPr>
        <p:spPr bwMode="auto">
          <a:xfrm>
            <a:off x="11179175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F050599-3B91-4A1E-AA31-C5FBECB9D698}" type="datetime'2'''''''''''''''''' ''к''''''''''''в''.'''''''">
              <a:rPr lang="ru-RU" altLang="en-US" sz="1000" smtClean="0"/>
              <a:pPr/>
              <a:t>2 кв.</a:t>
            </a:fld>
            <a:endParaRPr lang="ru-RU" sz="1000" dirty="0"/>
          </a:p>
        </p:txBody>
      </p:sp>
      <p:sp>
        <p:nvSpPr>
          <p:cNvPr id="567" name="Freeform: Shape 566">
            <a:extLst>
              <a:ext uri="{FF2B5EF4-FFF2-40B4-BE49-F238E27FC236}">
                <a16:creationId xmlns:a16="http://schemas.microsoft.com/office/drawing/2014/main" id="{925B24C7-4B47-4C71-B2CD-D5D1809F8E67}"/>
              </a:ext>
            </a:extLst>
          </p:cNvPr>
          <p:cNvSpPr/>
          <p:nvPr/>
        </p:nvSpPr>
        <p:spPr>
          <a:xfrm>
            <a:off x="996950" y="4218279"/>
            <a:ext cx="3568700" cy="1162050"/>
          </a:xfrm>
          <a:custGeom>
            <a:avLst/>
            <a:gdLst>
              <a:gd name="connsiteX0" fmla="*/ 0 w 3568700"/>
              <a:gd name="connsiteY0" fmla="*/ 0 h 1162050"/>
              <a:gd name="connsiteX1" fmla="*/ 406400 w 3568700"/>
              <a:gd name="connsiteY1" fmla="*/ 273050 h 1162050"/>
              <a:gd name="connsiteX2" fmla="*/ 800100 w 3568700"/>
              <a:gd name="connsiteY2" fmla="*/ 1162050 h 1162050"/>
              <a:gd name="connsiteX3" fmla="*/ 1193800 w 3568700"/>
              <a:gd name="connsiteY3" fmla="*/ 393700 h 1162050"/>
              <a:gd name="connsiteX4" fmla="*/ 1593850 w 3568700"/>
              <a:gd name="connsiteY4" fmla="*/ 133350 h 1162050"/>
              <a:gd name="connsiteX5" fmla="*/ 1987550 w 3568700"/>
              <a:gd name="connsiteY5" fmla="*/ 260350 h 1162050"/>
              <a:gd name="connsiteX6" fmla="*/ 2374900 w 3568700"/>
              <a:gd name="connsiteY6" fmla="*/ 260350 h 1162050"/>
              <a:gd name="connsiteX7" fmla="*/ 2781300 w 3568700"/>
              <a:gd name="connsiteY7" fmla="*/ 520700 h 1162050"/>
              <a:gd name="connsiteX8" fmla="*/ 3175000 w 3568700"/>
              <a:gd name="connsiteY8" fmla="*/ 641350 h 1162050"/>
              <a:gd name="connsiteX9" fmla="*/ 3568700 w 3568700"/>
              <a:gd name="connsiteY9" fmla="*/ 908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68700" h="1162050">
                <a:moveTo>
                  <a:pt x="0" y="0"/>
                </a:moveTo>
                <a:lnTo>
                  <a:pt x="406400" y="273050"/>
                </a:lnTo>
                <a:lnTo>
                  <a:pt x="800100" y="1162050"/>
                </a:lnTo>
                <a:lnTo>
                  <a:pt x="1193800" y="393700"/>
                </a:lnTo>
                <a:lnTo>
                  <a:pt x="1593850" y="133350"/>
                </a:lnTo>
                <a:lnTo>
                  <a:pt x="1987550" y="260350"/>
                </a:lnTo>
                <a:lnTo>
                  <a:pt x="2374900" y="260350"/>
                </a:lnTo>
                <a:lnTo>
                  <a:pt x="2781300" y="520700"/>
                </a:lnTo>
                <a:lnTo>
                  <a:pt x="3175000" y="641350"/>
                </a:lnTo>
                <a:lnTo>
                  <a:pt x="3568700" y="908050"/>
                </a:lnTo>
              </a:path>
            </a:pathLst>
          </a:custGeom>
          <a:noFill/>
          <a:ln w="190500" cap="rnd">
            <a:solidFill>
              <a:srgbClr val="EBEFF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A784E865-431C-4414-863F-61AC6DA76A5A}"/>
              </a:ext>
            </a:extLst>
          </p:cNvPr>
          <p:cNvCxnSpPr/>
          <p:nvPr>
            <p:custDataLst>
              <p:tags r:id="rId46"/>
            </p:custDataLst>
          </p:nvPr>
        </p:nvCxnSpPr>
        <p:spPr bwMode="gray">
          <a:xfrm>
            <a:off x="1008063" y="4887913"/>
            <a:ext cx="3554412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EAB3AF23-FB95-464B-A6F2-9049148A8ECD}"/>
              </a:ext>
            </a:extLst>
          </p:cNvPr>
          <p:cNvCxnSpPr/>
          <p:nvPr>
            <p:custDataLst>
              <p:tags r:id="rId47"/>
            </p:custDataLst>
          </p:nvPr>
        </p:nvCxnSpPr>
        <p:spPr bwMode="gray">
          <a:xfrm>
            <a:off x="1008063" y="4081463"/>
            <a:ext cx="3554412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6FEBBDF3-0DD9-4AF9-AB46-348DFC81B612}"/>
              </a:ext>
            </a:extLst>
          </p:cNvPr>
          <p:cNvCxnSpPr/>
          <p:nvPr>
            <p:custDataLst>
              <p:tags r:id="rId48"/>
            </p:custDataLst>
          </p:nvPr>
        </p:nvCxnSpPr>
        <p:spPr bwMode="gray">
          <a:xfrm>
            <a:off x="1008063" y="4349750"/>
            <a:ext cx="3554412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379A3DC4-16A9-4495-BEA5-53384831E77E}"/>
              </a:ext>
            </a:extLst>
          </p:cNvPr>
          <p:cNvCxnSpPr/>
          <p:nvPr>
            <p:custDataLst>
              <p:tags r:id="rId49"/>
            </p:custDataLst>
          </p:nvPr>
        </p:nvCxnSpPr>
        <p:spPr bwMode="gray">
          <a:xfrm>
            <a:off x="1008063" y="3543300"/>
            <a:ext cx="3554412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3AC9083E-482D-4955-8659-CF530445AAC3}"/>
              </a:ext>
            </a:extLst>
          </p:cNvPr>
          <p:cNvCxnSpPr/>
          <p:nvPr>
            <p:custDataLst>
              <p:tags r:id="rId50"/>
            </p:custDataLst>
          </p:nvPr>
        </p:nvCxnSpPr>
        <p:spPr bwMode="gray">
          <a:xfrm>
            <a:off x="1008063" y="4618038"/>
            <a:ext cx="3554412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C73E051C-7DF3-4C32-9E77-882EFF5A06D0}"/>
              </a:ext>
            </a:extLst>
          </p:cNvPr>
          <p:cNvCxnSpPr/>
          <p:nvPr>
            <p:custDataLst>
              <p:tags r:id="rId51"/>
            </p:custDataLst>
          </p:nvPr>
        </p:nvCxnSpPr>
        <p:spPr bwMode="gray">
          <a:xfrm>
            <a:off x="1008063" y="3811588"/>
            <a:ext cx="3554412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41243346-BB77-408E-B874-52D80C00152F}"/>
              </a:ext>
            </a:extLst>
          </p:cNvPr>
          <p:cNvCxnSpPr/>
          <p:nvPr>
            <p:custDataLst>
              <p:tags r:id="rId52"/>
            </p:custDataLst>
          </p:nvPr>
        </p:nvCxnSpPr>
        <p:spPr bwMode="gray">
          <a:xfrm>
            <a:off x="1008063" y="3005138"/>
            <a:ext cx="3554412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D3FAB3ED-832A-41B8-BA5B-0401992A344F}"/>
              </a:ext>
            </a:extLst>
          </p:cNvPr>
          <p:cNvCxnSpPr/>
          <p:nvPr>
            <p:custDataLst>
              <p:tags r:id="rId53"/>
            </p:custDataLst>
          </p:nvPr>
        </p:nvCxnSpPr>
        <p:spPr bwMode="gray">
          <a:xfrm>
            <a:off x="1008063" y="5426075"/>
            <a:ext cx="3554412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EEE3A4A4-B1A1-400A-87F1-73DC2A357158}"/>
              </a:ext>
            </a:extLst>
          </p:cNvPr>
          <p:cNvCxnSpPr/>
          <p:nvPr>
            <p:custDataLst>
              <p:tags r:id="rId54"/>
            </p:custDataLst>
          </p:nvPr>
        </p:nvCxnSpPr>
        <p:spPr bwMode="gray">
          <a:xfrm>
            <a:off x="1008063" y="3273425"/>
            <a:ext cx="3554412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FA1334EC-CE24-433F-A270-BC6AD89B879D}"/>
              </a:ext>
            </a:extLst>
          </p:cNvPr>
          <p:cNvCxnSpPr/>
          <p:nvPr>
            <p:custDataLst>
              <p:tags r:id="rId55"/>
            </p:custDataLst>
          </p:nvPr>
        </p:nvCxnSpPr>
        <p:spPr bwMode="gray">
          <a:xfrm>
            <a:off x="1008063" y="5156200"/>
            <a:ext cx="3554412" cy="0"/>
          </a:xfrm>
          <a:prstGeom prst="line">
            <a:avLst/>
          </a:prstGeom>
          <a:ln w="3175" cap="flat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0" name="Chart 159">
            <a:extLst>
              <a:ext uri="{FF2B5EF4-FFF2-40B4-BE49-F238E27FC236}">
                <a16:creationId xmlns:a16="http://schemas.microsoft.com/office/drawing/2014/main" id="{A7B05D12-3F4B-4265-87F5-69897702F366}"/>
              </a:ext>
            </a:extLst>
          </p:cNvPr>
          <p:cNvGraphicFramePr/>
          <p:nvPr>
            <p:custDataLst>
              <p:tags r:id="rId56"/>
            </p:custDataLst>
            <p:extLst>
              <p:ext uri="{D42A27DB-BD31-4B8C-83A1-F6EECF244321}">
                <p14:modId xmlns:p14="http://schemas.microsoft.com/office/powerpoint/2010/main" val="1977020517"/>
              </p:ext>
            </p:extLst>
          </p:nvPr>
        </p:nvGraphicFramePr>
        <p:xfrm>
          <a:off x="925513" y="2922588"/>
          <a:ext cx="3719512" cy="298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2"/>
          </a:graphicData>
        </a:graphic>
      </p:graphicFrame>
      <p:sp>
        <p:nvSpPr>
          <p:cNvPr id="264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57"/>
            </p:custDataLst>
          </p:nvPr>
        </p:nvSpPr>
        <p:spPr bwMode="gray">
          <a:xfrm>
            <a:off x="714375" y="5080000"/>
            <a:ext cx="207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270AD2E6-66BA-47F4-8042-99C9B0EE2D74}" type="datetime'''7,''6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7,6</a:t>
            </a:fld>
            <a:endParaRPr lang="ru-RU" sz="1000" dirty="0"/>
          </a:p>
        </p:txBody>
      </p:sp>
      <p:sp>
        <p:nvSpPr>
          <p:cNvPr id="273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58"/>
            </p:custDataLst>
          </p:nvPr>
        </p:nvSpPr>
        <p:spPr bwMode="gray">
          <a:xfrm>
            <a:off x="714375" y="2928938"/>
            <a:ext cx="207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FDE2182B-15DD-4846-AC7C-703235F8B945}" type="datetime'''''''''9'''''''''''''''''''''''''''''''''',''''2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9,2</a:t>
            </a:fld>
            <a:endParaRPr lang="ru-RU" sz="1000" dirty="0"/>
          </a:p>
        </p:txBody>
      </p:sp>
      <p:sp>
        <p:nvSpPr>
          <p:cNvPr id="269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59"/>
            </p:custDataLst>
          </p:nvPr>
        </p:nvSpPr>
        <p:spPr bwMode="gray">
          <a:xfrm>
            <a:off x="714375" y="3735388"/>
            <a:ext cx="207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7B43ABCC-C9D3-4291-9225-4991BF4EAFA9}" type="datetime'''''''8'''',''''6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000" dirty="0"/>
          </a:p>
        </p:txBody>
      </p:sp>
      <p:sp>
        <p:nvSpPr>
          <p:cNvPr id="261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60"/>
            </p:custDataLst>
          </p:nvPr>
        </p:nvSpPr>
        <p:spPr bwMode="gray">
          <a:xfrm>
            <a:off x="841375" y="5748338"/>
            <a:ext cx="80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5FF5817-7098-4DBE-931B-CA88B49C1240}" type="datetime'''''''''''''''''0''''''''''''''''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ru-RU" sz="1000" dirty="0"/>
          </a:p>
        </p:txBody>
      </p:sp>
      <p:sp>
        <p:nvSpPr>
          <p:cNvPr id="266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61"/>
            </p:custDataLst>
          </p:nvPr>
        </p:nvSpPr>
        <p:spPr bwMode="gray">
          <a:xfrm>
            <a:off x="714375" y="4541838"/>
            <a:ext cx="207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88B44D64-44E4-4B6E-B515-3C66C14FF2F5}" type="datetime'''''''''''''''''''''''''''''''8'''',''''''''''''''0''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000" dirty="0"/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62"/>
            </p:custDataLst>
          </p:nvPr>
        </p:nvSpPr>
        <p:spPr bwMode="gray">
          <a:xfrm>
            <a:off x="714375" y="4273550"/>
            <a:ext cx="207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5402F47B-3EA4-4190-98A8-C5E5FF369E0D}" type="datetime'''''''''8'''''',''''''''''''''''''''''''''''''2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8,2</a:t>
            </a:fld>
            <a:endParaRPr lang="ru-RU" sz="1000" dirty="0"/>
          </a:p>
        </p:txBody>
      </p:sp>
      <p:sp>
        <p:nvSpPr>
          <p:cNvPr id="268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63"/>
            </p:custDataLst>
          </p:nvPr>
        </p:nvSpPr>
        <p:spPr bwMode="gray">
          <a:xfrm>
            <a:off x="714375" y="4005263"/>
            <a:ext cx="207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E91A33AF-C1A5-4ECE-9571-274CAD4F6526}" type="datetime'''''''''''''''''8'''''''''',''''''''4''''''''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8,4</a:t>
            </a:fld>
            <a:endParaRPr lang="ru-RU" sz="1000" dirty="0"/>
          </a:p>
        </p:txBody>
      </p:sp>
      <p:sp>
        <p:nvSpPr>
          <p:cNvPr id="26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64"/>
            </p:custDataLst>
          </p:nvPr>
        </p:nvSpPr>
        <p:spPr bwMode="gray">
          <a:xfrm>
            <a:off x="714375" y="4811713"/>
            <a:ext cx="207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6D805420-D9D0-4A4E-A7CA-CBB9B5445AE8}" type="datetime'''''''''7'''''''''''''''''''''',''''''''''''''8''''''''''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7,8</a:t>
            </a:fld>
            <a:endParaRPr lang="ru-RU" sz="1000" dirty="0"/>
          </a:p>
        </p:txBody>
      </p:sp>
      <p:sp>
        <p:nvSpPr>
          <p:cNvPr id="270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65"/>
            </p:custDataLst>
          </p:nvPr>
        </p:nvSpPr>
        <p:spPr bwMode="gray">
          <a:xfrm>
            <a:off x="714375" y="3467100"/>
            <a:ext cx="207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6D6BFC41-03E3-4789-B3DE-0F1EC9FD8423}" type="datetime'''''8,''''''''''''''''''''''8''''''''''''''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8,8</a:t>
            </a:fld>
            <a:endParaRPr lang="ru-RU" sz="1000" dirty="0"/>
          </a:p>
        </p:txBody>
      </p:sp>
      <p:sp>
        <p:nvSpPr>
          <p:cNvPr id="271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66"/>
            </p:custDataLst>
          </p:nvPr>
        </p:nvSpPr>
        <p:spPr bwMode="gray">
          <a:xfrm>
            <a:off x="714375" y="3197225"/>
            <a:ext cx="207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8DBA6AAB-2BB9-4DA9-BB41-1FE2380094C8}" type="datetime'''''9'''''''''''''''''''''',0''''''''''''''''''''''''''''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9,0</a:t>
            </a:fld>
            <a:endParaRPr lang="ru-RU" sz="1000" dirty="0"/>
          </a:p>
        </p:txBody>
      </p:sp>
      <p:sp>
        <p:nvSpPr>
          <p:cNvPr id="263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67"/>
            </p:custDataLst>
          </p:nvPr>
        </p:nvSpPr>
        <p:spPr bwMode="gray">
          <a:xfrm>
            <a:off x="714375" y="5349875"/>
            <a:ext cx="207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D35A84D8-EA9E-4D2F-8C15-E5955CE8DB08}" type="datetime'7'''''''',''4'''''''''''''''''''''">
              <a:rPr lang="ru-RU" altLang="en-US" sz="10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7,4</a:t>
            </a:fld>
            <a:endParaRPr lang="ru-RU" sz="1000" dirty="0"/>
          </a:p>
        </p:txBody>
      </p:sp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FA706C32-6570-4741-A182-C3F0CE8EDD1A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935038" y="5711825"/>
            <a:ext cx="146051" cy="96839"/>
          </a:xfrm>
          <a:custGeom>
            <a:avLst/>
            <a:gdLst/>
            <a:ahLst/>
            <a:cxnLst/>
            <a:rect l="0" t="0" r="0" b="0"/>
            <a:pathLst>
              <a:path w="146051" h="96839">
                <a:moveTo>
                  <a:pt x="0" y="39688"/>
                </a:moveTo>
                <a:lnTo>
                  <a:pt x="146050" y="0"/>
                </a:lnTo>
                <a:lnTo>
                  <a:pt x="146050" y="57150"/>
                </a:lnTo>
                <a:lnTo>
                  <a:pt x="0" y="96838"/>
                </a:lnTo>
                <a:close/>
              </a:path>
            </a:pathLst>
          </a:custGeom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 useBgFill="1">
        <p:nvSpPr>
          <p:cNvPr id="52" name="Freeform: Shape 51">
            <a:extLst>
              <a:ext uri="{FF2B5EF4-FFF2-40B4-BE49-F238E27FC236}">
                <a16:creationId xmlns:a16="http://schemas.microsoft.com/office/drawing/2014/main" id="{2AD5D85C-CCF7-4542-816A-93FA82BA6E78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2878138" y="5719763"/>
            <a:ext cx="247651" cy="79376"/>
          </a:xfrm>
          <a:custGeom>
            <a:avLst/>
            <a:gdLst/>
            <a:ahLst/>
            <a:cxnLst/>
            <a:rect l="0" t="0" r="0" b="0"/>
            <a:pathLst>
              <a:path w="247651" h="7937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247650" y="57150"/>
                </a:lnTo>
                <a:lnTo>
                  <a:pt x="165100" y="79375"/>
                </a:lnTo>
                <a:lnTo>
                  <a:pt x="82550" y="57150"/>
                </a:lnTo>
                <a:lnTo>
                  <a:pt x="0" y="79375"/>
                </a:lnTo>
                <a:close/>
              </a:path>
            </a:pathLst>
          </a:custGeom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 useBgFill="1">
        <p:nvSpPr>
          <p:cNvPr id="55" name="Freeform: Shape 54">
            <a:extLst>
              <a:ext uri="{FF2B5EF4-FFF2-40B4-BE49-F238E27FC236}">
                <a16:creationId xmlns:a16="http://schemas.microsoft.com/office/drawing/2014/main" id="{88B5CCC1-74A2-4F3C-89A5-3F28010D0896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3675063" y="5719763"/>
            <a:ext cx="495301" cy="79376"/>
          </a:xfrm>
          <a:custGeom>
            <a:avLst/>
            <a:gdLst/>
            <a:ahLst/>
            <a:cxnLst/>
            <a:rect l="0" t="0" r="0" b="0"/>
            <a:pathLst>
              <a:path w="495301" h="7937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330200" y="22225"/>
                </a:lnTo>
                <a:lnTo>
                  <a:pt x="412750" y="0"/>
                </a:lnTo>
                <a:lnTo>
                  <a:pt x="495300" y="22225"/>
                </a:lnTo>
                <a:lnTo>
                  <a:pt x="495300" y="79375"/>
                </a:lnTo>
                <a:lnTo>
                  <a:pt x="412750" y="57150"/>
                </a:lnTo>
                <a:lnTo>
                  <a:pt x="330200" y="79375"/>
                </a:lnTo>
                <a:lnTo>
                  <a:pt x="247650" y="57150"/>
                </a:lnTo>
                <a:lnTo>
                  <a:pt x="165100" y="79375"/>
                </a:lnTo>
                <a:lnTo>
                  <a:pt x="82550" y="57150"/>
                </a:lnTo>
                <a:lnTo>
                  <a:pt x="0" y="79375"/>
                </a:lnTo>
                <a:close/>
              </a:path>
            </a:pathLst>
          </a:custGeom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9FCB9E9-EDCE-4841-9F3E-D65E5F926267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3675063" y="5719763"/>
            <a:ext cx="495301" cy="22226"/>
          </a:xfrm>
          <a:custGeom>
            <a:avLst/>
            <a:gdLst/>
            <a:ahLst/>
            <a:cxnLst/>
            <a:rect l="0" t="0" r="0" b="0"/>
            <a:pathLst>
              <a:path w="495301" h="2222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330200" y="22225"/>
                </a:lnTo>
                <a:lnTo>
                  <a:pt x="412750" y="0"/>
                </a:lnTo>
                <a:lnTo>
                  <a:pt x="495300" y="22225"/>
                </a:lnTo>
              </a:path>
            </a:pathLst>
          </a:custGeom>
          <a:noFill/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981484A6-BF54-457F-B26B-16A25B9ADCA2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2878138" y="5719763"/>
            <a:ext cx="247651" cy="22226"/>
          </a:xfrm>
          <a:custGeom>
            <a:avLst/>
            <a:gdLst/>
            <a:ahLst/>
            <a:cxnLst/>
            <a:rect l="0" t="0" r="0" b="0"/>
            <a:pathLst>
              <a:path w="247651" h="2222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</a:path>
            </a:pathLst>
          </a:custGeom>
          <a:noFill/>
          <a:ln w="9525" cap="sq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CF81B5B-CEA6-4F62-9AC0-0631D5155D32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935038" y="5711825"/>
            <a:ext cx="146051" cy="39689"/>
          </a:xfrm>
          <a:custGeom>
            <a:avLst/>
            <a:gdLst/>
            <a:ahLst/>
            <a:cxnLst/>
            <a:rect l="0" t="0" r="0" b="0"/>
            <a:pathLst>
              <a:path w="146051" h="39689">
                <a:moveTo>
                  <a:pt x="0" y="39688"/>
                </a:moveTo>
                <a:lnTo>
                  <a:pt x="14605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A9376A8-A720-4BDC-9954-63756637FBF2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935038" y="5768975"/>
            <a:ext cx="146051" cy="39689"/>
          </a:xfrm>
          <a:custGeom>
            <a:avLst/>
            <a:gdLst/>
            <a:ahLst/>
            <a:cxnLst/>
            <a:rect l="0" t="0" r="0" b="0"/>
            <a:pathLst>
              <a:path w="146051" h="39689">
                <a:moveTo>
                  <a:pt x="0" y="39688"/>
                </a:moveTo>
                <a:lnTo>
                  <a:pt x="14605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C3442D0E-C0AD-4A72-99A1-40426F188CF7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2878138" y="5776913"/>
            <a:ext cx="247651" cy="22226"/>
          </a:xfrm>
          <a:custGeom>
            <a:avLst/>
            <a:gdLst/>
            <a:ahLst/>
            <a:cxnLst/>
            <a:rect l="0" t="0" r="0" b="0"/>
            <a:pathLst>
              <a:path w="247651" h="2222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</a:path>
            </a:pathLst>
          </a:custGeom>
          <a:noFill/>
          <a:ln w="9525" cap="sq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9158A3CB-CE5E-4018-B17A-97869F8D72D6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3675063" y="5776913"/>
            <a:ext cx="495301" cy="22226"/>
          </a:xfrm>
          <a:custGeom>
            <a:avLst/>
            <a:gdLst/>
            <a:ahLst/>
            <a:cxnLst/>
            <a:rect l="0" t="0" r="0" b="0"/>
            <a:pathLst>
              <a:path w="495301" h="2222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330200" y="22225"/>
                </a:lnTo>
                <a:lnTo>
                  <a:pt x="412750" y="0"/>
                </a:lnTo>
                <a:lnTo>
                  <a:pt x="495300" y="22225"/>
                </a:lnTo>
              </a:path>
            </a:pathLst>
          </a:custGeom>
          <a:noFill/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9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77"/>
            </p:custDataLst>
          </p:nvPr>
        </p:nvSpPr>
        <p:spPr bwMode="auto">
          <a:xfrm>
            <a:off x="1236664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8C007B7-8EC8-4B68-8978-F069BD8C5873}" type="datetime'''''''''''''''''2'''''''' ''''к''''''в''''''''''''''''.'''">
              <a:rPr lang="ru-RU" altLang="en-US" sz="10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 кв.</a:t>
            </a:fld>
            <a:endParaRPr lang="ru-RU" sz="1000" dirty="0"/>
          </a:p>
        </p:txBody>
      </p:sp>
      <p:sp>
        <p:nvSpPr>
          <p:cNvPr id="183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78"/>
            </p:custDataLst>
          </p:nvPr>
        </p:nvSpPr>
        <p:spPr bwMode="auto">
          <a:xfrm>
            <a:off x="2816226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147DDCE-638D-4D41-B97A-1930D7CB5646}" type="datetime'''''''2'' ''к''''''''''''''в''''''''''.'''''''''''''''''">
              <a:rPr lang="ru-RU" altLang="en-US" sz="10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 кв.</a:t>
            </a:fld>
            <a:endParaRPr lang="ru-RU" sz="1000" dirty="0"/>
          </a:p>
        </p:txBody>
      </p:sp>
      <p:sp>
        <p:nvSpPr>
          <p:cNvPr id="178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79"/>
            </p:custDataLst>
          </p:nvPr>
        </p:nvSpPr>
        <p:spPr bwMode="auto">
          <a:xfrm>
            <a:off x="841376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8561A76-5801-4C9A-8578-25413FC9673F}" type="datetime'''''''''''1'''''''' ''''''''''к''''''в''''''''''''''.'''''''">
              <a:rPr lang="ru-RU" altLang="en-US" sz="10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 кв.</a:t>
            </a:fld>
            <a:endParaRPr lang="ru-RU" sz="1000" dirty="0"/>
          </a:p>
        </p:txBody>
      </p:sp>
      <p:sp>
        <p:nvSpPr>
          <p:cNvPr id="180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80"/>
            </p:custDataLst>
          </p:nvPr>
        </p:nvSpPr>
        <p:spPr bwMode="auto">
          <a:xfrm>
            <a:off x="1631951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C72E170-7A05-4696-8EC8-587D71CE2A01}" type="datetime'3'''''''''' ''к''''''''''''''''''''''в.'''''''">
              <a:rPr lang="ru-RU" altLang="en-US" sz="10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 кв.</a:t>
            </a:fld>
            <a:endParaRPr lang="ru-RU" sz="1000" dirty="0"/>
          </a:p>
        </p:txBody>
      </p:sp>
      <p:sp>
        <p:nvSpPr>
          <p:cNvPr id="181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81"/>
            </p:custDataLst>
          </p:nvPr>
        </p:nvSpPr>
        <p:spPr bwMode="auto">
          <a:xfrm>
            <a:off x="2025651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FB45A58-FAD7-4493-A6C9-0E9583AF413E}" type="datetime'''''''''''''4'''''''''''' ''к''''''''в''''''''''''.'''''''''''">
              <a:rPr lang="ru-RU" altLang="en-US" sz="10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 кв.</a:t>
            </a:fld>
            <a:endParaRPr lang="ru-RU" sz="1000" dirty="0"/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82"/>
            </p:custDataLst>
          </p:nvPr>
        </p:nvSpPr>
        <p:spPr bwMode="auto">
          <a:xfrm>
            <a:off x="2420939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5526D89-E9D5-4113-9EC5-6C4792CD548C}" type="datetime'1'''''''''''' ''''''''к''''''в''''''''''''''''''''.'''''''''">
              <a:rPr lang="ru-RU" altLang="en-US" sz="10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 кв.</a:t>
            </a:fld>
            <a:endParaRPr lang="ru-RU" sz="1000" dirty="0"/>
          </a:p>
        </p:txBody>
      </p:sp>
      <p:sp>
        <p:nvSpPr>
          <p:cNvPr id="184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83"/>
            </p:custDataLst>
          </p:nvPr>
        </p:nvSpPr>
        <p:spPr bwMode="auto">
          <a:xfrm>
            <a:off x="3211514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E7EE81C-1D2B-463A-A618-21E6EB498708}" type="datetime'''''''3'''''' ''''''к''''''''''''''в''''''''''''''''''''.'''''">
              <a:rPr lang="ru-RU" altLang="en-US" sz="10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 кв.</a:t>
            </a:fld>
            <a:endParaRPr lang="ru-RU" sz="1000" dirty="0"/>
          </a:p>
        </p:txBody>
      </p:sp>
      <p:sp>
        <p:nvSpPr>
          <p:cNvPr id="18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84"/>
            </p:custDataLst>
          </p:nvPr>
        </p:nvSpPr>
        <p:spPr bwMode="auto">
          <a:xfrm>
            <a:off x="3605214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A243E41-CBA2-4F9B-970A-5A4207F4F800}" type="datetime'''''4'''''''''' ''''к''''в''''''''''''''''''.'">
              <a:rPr lang="ru-RU" altLang="en-US" sz="10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 кв.</a:t>
            </a:fld>
            <a:endParaRPr lang="ru-RU" sz="1000" dirty="0"/>
          </a:p>
        </p:txBody>
      </p:sp>
      <p:sp>
        <p:nvSpPr>
          <p:cNvPr id="186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85"/>
            </p:custDataLst>
          </p:nvPr>
        </p:nvSpPr>
        <p:spPr bwMode="auto">
          <a:xfrm>
            <a:off x="4000501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5FAED6F-9FDC-43AA-8994-633C05173CB8}" type="datetime'''''''''''''''''1'''' ''''''''''''''''''''''''к''''''в''.'''''">
              <a:rPr lang="ru-RU" altLang="en-US" sz="10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 кв.</a:t>
            </a:fld>
            <a:endParaRPr lang="ru-RU" sz="1000" dirty="0"/>
          </a:p>
        </p:txBody>
      </p:sp>
      <p:sp>
        <p:nvSpPr>
          <p:cNvPr id="187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86"/>
            </p:custDataLst>
          </p:nvPr>
        </p:nvSpPr>
        <p:spPr bwMode="auto">
          <a:xfrm>
            <a:off x="4395789" y="5867400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14A023A-E588-4199-B884-2098E0CD325B}" type="datetime'2'''''''' ''''кв''''''''''''''''''''''.'''''''''''''''''''">
              <a:rPr lang="ru-RU" altLang="en-US" sz="10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 кв.</a:t>
            </a:fld>
            <a:endParaRPr lang="ru-RU" sz="1000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D409D69-1BAF-40A3-86E9-2E6546A2471A}"/>
              </a:ext>
            </a:extLst>
          </p:cNvPr>
          <p:cNvCxnSpPr>
            <a:cxnSpLocks/>
          </p:cNvCxnSpPr>
          <p:nvPr/>
        </p:nvCxnSpPr>
        <p:spPr>
          <a:xfrm>
            <a:off x="2401471" y="3005137"/>
            <a:ext cx="1588" cy="2819400"/>
          </a:xfrm>
          <a:prstGeom prst="line">
            <a:avLst/>
          </a:prstGeom>
          <a:ln w="6350" cap="sq">
            <a:solidFill>
              <a:srgbClr val="E6E6E6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0B59580-7208-4634-AEF8-DD1283883F05}"/>
              </a:ext>
            </a:extLst>
          </p:cNvPr>
          <p:cNvCxnSpPr>
            <a:cxnSpLocks/>
          </p:cNvCxnSpPr>
          <p:nvPr/>
        </p:nvCxnSpPr>
        <p:spPr>
          <a:xfrm>
            <a:off x="3960812" y="3005137"/>
            <a:ext cx="1588" cy="2819400"/>
          </a:xfrm>
          <a:prstGeom prst="line">
            <a:avLst/>
          </a:prstGeom>
          <a:ln w="6350" cap="sq">
            <a:solidFill>
              <a:srgbClr val="E6E6E6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253DD905-4334-4C4B-A13A-8DE76B25CDB4}"/>
              </a:ext>
            </a:extLst>
          </p:cNvPr>
          <p:cNvCxnSpPr>
            <a:cxnSpLocks/>
          </p:cNvCxnSpPr>
          <p:nvPr/>
        </p:nvCxnSpPr>
        <p:spPr>
          <a:xfrm>
            <a:off x="4560888" y="3005137"/>
            <a:ext cx="1588" cy="2819400"/>
          </a:xfrm>
          <a:prstGeom prst="line">
            <a:avLst/>
          </a:prstGeom>
          <a:ln w="6350" cap="sq">
            <a:solidFill>
              <a:srgbClr val="E6E6E6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DEDB2201-D2CF-4A87-BA95-6B1D7E6F1159}"/>
              </a:ext>
            </a:extLst>
          </p:cNvPr>
          <p:cNvSpPr txBox="1">
            <a:spLocks/>
          </p:cNvSpPr>
          <p:nvPr/>
        </p:nvSpPr>
        <p:spPr>
          <a:xfrm>
            <a:off x="554735" y="1534316"/>
            <a:ext cx="11082527" cy="476726"/>
          </a:xfrm>
          <a:prstGeom prst="roundRect">
            <a:avLst>
              <a:gd name="adj" fmla="val 26162"/>
            </a:avLst>
          </a:prstGeom>
          <a:solidFill>
            <a:schemeClr val="tx2"/>
          </a:solidFill>
        </p:spPr>
        <p:txBody>
          <a:bodyPr vert="horz" wrap="square" lIns="76200" tIns="76200" rIns="76200" bIns="7620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endParaRPr lang="ru-RU" sz="1800" b="1" dirty="0">
              <a:solidFill>
                <a:srgbClr val="FFFFFF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CABB24F-1E44-4950-9FC6-C79AFCB9CA5F}"/>
              </a:ext>
            </a:extLst>
          </p:cNvPr>
          <p:cNvSpPr>
            <a:spLocks/>
          </p:cNvSpPr>
          <p:nvPr/>
        </p:nvSpPr>
        <p:spPr>
          <a:xfrm>
            <a:off x="4840582" y="1371353"/>
            <a:ext cx="2510832" cy="4640148"/>
          </a:xfrm>
          <a:prstGeom prst="roundRect">
            <a:avLst>
              <a:gd name="adj" fmla="val 3791"/>
            </a:avLst>
          </a:prstGeom>
          <a:solidFill>
            <a:schemeClr val="bg1"/>
          </a:solidFill>
          <a:effectLst>
            <a:outerShdw blurRad="1016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36000" tIns="180000" rIns="36000" bIns="1188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100" b="1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F4129833-9DDD-422C-A475-4BE54B78DFBD}"/>
              </a:ext>
            </a:extLst>
          </p:cNvPr>
          <p:cNvSpPr>
            <a:spLocks noGrp="1"/>
          </p:cNvSpPr>
          <p:nvPr>
            <p:ph type="title"/>
            <p:custDataLst>
              <p:tags r:id="rId87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Динамика показателей удовлетворенности по ключевым сервисам </a:t>
            </a:r>
            <a:r>
              <a:rPr lang="ru-RU" dirty="0" err="1"/>
              <a:t>ДИТа</a:t>
            </a:r>
            <a:r>
              <a:rPr lang="ru-RU" dirty="0"/>
              <a:t>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B3FF4D-9A0B-40A5-BB0A-C2D373D92683}"/>
              </a:ext>
            </a:extLst>
          </p:cNvPr>
          <p:cNvSpPr txBox="1">
            <a:spLocks/>
          </p:cNvSpPr>
          <p:nvPr/>
        </p:nvSpPr>
        <p:spPr>
          <a:xfrm>
            <a:off x="715223" y="2070911"/>
            <a:ext cx="3980504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>
                <a:cs typeface="Arial" panose="020B0604020202020204" pitchFamily="34" charset="0"/>
              </a:rPr>
              <a:t>Customer Satisfaction Index </a:t>
            </a:r>
            <a:r>
              <a:rPr lang="ru-RU" sz="1000" dirty="0">
                <a:cs typeface="Arial" panose="020B0604020202020204" pitchFamily="34" charset="0"/>
              </a:rPr>
              <a:t>–</a:t>
            </a:r>
            <a:r>
              <a:rPr lang="en-US" sz="1000" dirty="0">
                <a:cs typeface="Arial" panose="020B0604020202020204" pitchFamily="34" charset="0"/>
              </a:rPr>
              <a:t> </a:t>
            </a:r>
            <a:r>
              <a:rPr lang="ru-RU" sz="1000" dirty="0">
                <a:cs typeface="Arial" panose="020B0604020202020204" pitchFamily="34" charset="0"/>
              </a:rPr>
              <a:t>индекс </a:t>
            </a:r>
            <a:r>
              <a:rPr lang="ru-RU" sz="1000" b="1" dirty="0">
                <a:solidFill>
                  <a:schemeClr val="tx2"/>
                </a:solidFill>
                <a:cs typeface="Arial" panose="020B0604020202020204" pitchFamily="34" charset="0"/>
              </a:rPr>
              <a:t>удовлетворенности сервисом</a:t>
            </a:r>
            <a:r>
              <a:rPr lang="ru-RU" sz="1000" dirty="0">
                <a:cs typeface="Arial" panose="020B0604020202020204" pitchFamily="34" charset="0"/>
              </a:rPr>
              <a:t>, рассчитывается на основе ответов на вопрос на вопрос "Насколько Вы в целом удовлетворены работой сервиса по </a:t>
            </a:r>
            <a:r>
              <a:rPr lang="ru-RU" sz="1000" dirty="0" err="1">
                <a:cs typeface="Arial" panose="020B0604020202020204" pitchFamily="34" charset="0"/>
              </a:rPr>
              <a:t>десятибальной</a:t>
            </a:r>
            <a:r>
              <a:rPr lang="ru-RU" sz="1000" dirty="0">
                <a:cs typeface="Arial" panose="020B0604020202020204" pitchFamily="34" charset="0"/>
              </a:rPr>
              <a:t> шкале"?</a:t>
            </a:r>
            <a:endParaRPr lang="en-US" sz="1000" dirty="0"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74ADFF-8AA1-48D6-B434-7AED63EC1E10}"/>
              </a:ext>
            </a:extLst>
          </p:cNvPr>
          <p:cNvSpPr txBox="1">
            <a:spLocks/>
          </p:cNvSpPr>
          <p:nvPr/>
        </p:nvSpPr>
        <p:spPr>
          <a:xfrm>
            <a:off x="7496269" y="2070911"/>
            <a:ext cx="3980504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>
                <a:cs typeface="Arial" panose="020B0604020202020204" pitchFamily="34" charset="0"/>
              </a:rPr>
              <a:t>Net Promoter Score </a:t>
            </a:r>
            <a:r>
              <a:rPr lang="ru-RU" sz="1000" dirty="0">
                <a:cs typeface="Arial" panose="020B0604020202020204" pitchFamily="34" charset="0"/>
              </a:rPr>
              <a:t>–</a:t>
            </a:r>
            <a:r>
              <a:rPr lang="en-US" sz="1000" dirty="0">
                <a:cs typeface="Arial" panose="020B0604020202020204" pitchFamily="34" charset="0"/>
              </a:rPr>
              <a:t> </a:t>
            </a:r>
            <a:r>
              <a:rPr lang="ru-RU" sz="1000" dirty="0">
                <a:cs typeface="Arial" panose="020B0604020202020204" pitchFamily="34" charset="0"/>
              </a:rPr>
              <a:t>индекс </a:t>
            </a:r>
            <a:r>
              <a:rPr lang="ru-RU" sz="1000" b="1" dirty="0">
                <a:solidFill>
                  <a:schemeClr val="tx2"/>
                </a:solidFill>
                <a:cs typeface="Arial" panose="020B0604020202020204" pitchFamily="34" charset="0"/>
              </a:rPr>
              <a:t>лояльности к сервису</a:t>
            </a:r>
            <a:r>
              <a:rPr lang="ru-RU" sz="1000" dirty="0">
                <a:cs typeface="Arial" panose="020B0604020202020204" pitchFamily="34" charset="0"/>
              </a:rPr>
              <a:t>, рассчитывается на основе ответов на вопрос на вопрос "Насколько Вы готовы рекомендовать сервис Вашим дурьям, знакомым, коллегам по </a:t>
            </a:r>
            <a:r>
              <a:rPr lang="ru-RU" sz="1000" dirty="0" err="1">
                <a:cs typeface="Arial" panose="020B0604020202020204" pitchFamily="34" charset="0"/>
              </a:rPr>
              <a:t>десятибальной</a:t>
            </a:r>
            <a:r>
              <a:rPr lang="ru-RU" sz="1000" dirty="0">
                <a:cs typeface="Arial" panose="020B0604020202020204" pitchFamily="34" charset="0"/>
              </a:rPr>
              <a:t> шкале"?</a:t>
            </a:r>
            <a:endParaRPr lang="en-US" sz="1000" dirty="0"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1E3834-0077-4C6B-A7C9-D4451BF21F25}"/>
              </a:ext>
            </a:extLst>
          </p:cNvPr>
          <p:cNvSpPr txBox="1">
            <a:spLocks/>
          </p:cNvSpPr>
          <p:nvPr/>
        </p:nvSpPr>
        <p:spPr>
          <a:xfrm>
            <a:off x="715223" y="1618791"/>
            <a:ext cx="3980504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r>
              <a:rPr 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CSI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7D044B-653D-48B0-A78D-1D0DB5BC2A67}"/>
              </a:ext>
            </a:extLst>
          </p:cNvPr>
          <p:cNvSpPr txBox="1">
            <a:spLocks/>
          </p:cNvSpPr>
          <p:nvPr/>
        </p:nvSpPr>
        <p:spPr>
          <a:xfrm>
            <a:off x="7496269" y="1618791"/>
            <a:ext cx="3980504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r>
              <a:rPr 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NPS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229CE14-C6AD-44C6-9E74-EB441603DF51}"/>
              </a:ext>
            </a:extLst>
          </p:cNvPr>
          <p:cNvSpPr txBox="1">
            <a:spLocks/>
          </p:cNvSpPr>
          <p:nvPr/>
        </p:nvSpPr>
        <p:spPr>
          <a:xfrm>
            <a:off x="1008063" y="2763838"/>
            <a:ext cx="1394995" cy="1539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000" b="1" dirty="0">
                <a:cs typeface="Arial" panose="020B0604020202020204" pitchFamily="34" charset="0"/>
              </a:rPr>
              <a:t>2019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93CE365B-72E9-4C58-B644-F3F7C03FDA5C}"/>
              </a:ext>
            </a:extLst>
          </p:cNvPr>
          <p:cNvSpPr txBox="1">
            <a:spLocks/>
          </p:cNvSpPr>
          <p:nvPr/>
        </p:nvSpPr>
        <p:spPr>
          <a:xfrm>
            <a:off x="2484438" y="2763838"/>
            <a:ext cx="1394995" cy="1539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b="1" dirty="0">
                <a:cs typeface="Arial" panose="020B0604020202020204" pitchFamily="34" charset="0"/>
              </a:rPr>
              <a:t>2020</a:t>
            </a:r>
            <a:endParaRPr lang="en-US" sz="1000" b="1" dirty="0">
              <a:cs typeface="Arial" panose="020B060402020202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CBF6306D-CE5F-4CD0-82AC-B41D7AB9904C}"/>
              </a:ext>
            </a:extLst>
          </p:cNvPr>
          <p:cNvSpPr txBox="1">
            <a:spLocks/>
          </p:cNvSpPr>
          <p:nvPr/>
        </p:nvSpPr>
        <p:spPr>
          <a:xfrm>
            <a:off x="3989263" y="2763838"/>
            <a:ext cx="573213" cy="1539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b="1" dirty="0">
                <a:cs typeface="Arial" panose="020B0604020202020204" pitchFamily="34" charset="0"/>
              </a:rPr>
              <a:t>2021</a:t>
            </a:r>
            <a:endParaRPr lang="en-US" sz="1000" b="1" dirty="0">
              <a:cs typeface="Arial" panose="020B0604020202020204" pitchFamily="34" charset="0"/>
            </a:endParaRPr>
          </a:p>
        </p:txBody>
      </p: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8A917AC3-460C-4CC2-BD37-27615B68DDA5}"/>
              </a:ext>
            </a:extLst>
          </p:cNvPr>
          <p:cNvCxnSpPr>
            <a:cxnSpLocks/>
          </p:cNvCxnSpPr>
          <p:nvPr/>
        </p:nvCxnSpPr>
        <p:spPr>
          <a:xfrm>
            <a:off x="9185275" y="3005138"/>
            <a:ext cx="1588" cy="2819400"/>
          </a:xfrm>
          <a:prstGeom prst="line">
            <a:avLst/>
          </a:prstGeom>
          <a:ln w="6350" cap="sq">
            <a:solidFill>
              <a:srgbClr val="E6E6E6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9C464B6C-DCF8-4396-89B9-BE711C1EFDEF}"/>
              </a:ext>
            </a:extLst>
          </p:cNvPr>
          <p:cNvCxnSpPr>
            <a:cxnSpLocks/>
          </p:cNvCxnSpPr>
          <p:nvPr/>
        </p:nvCxnSpPr>
        <p:spPr>
          <a:xfrm>
            <a:off x="10744200" y="3005138"/>
            <a:ext cx="1588" cy="2819400"/>
          </a:xfrm>
          <a:prstGeom prst="line">
            <a:avLst/>
          </a:prstGeom>
          <a:ln w="6350" cap="sq">
            <a:solidFill>
              <a:srgbClr val="E6E6E6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A703C76C-88A0-4FC2-AEF0-43D1A19BFA11}"/>
              </a:ext>
            </a:extLst>
          </p:cNvPr>
          <p:cNvCxnSpPr>
            <a:cxnSpLocks/>
          </p:cNvCxnSpPr>
          <p:nvPr/>
        </p:nvCxnSpPr>
        <p:spPr>
          <a:xfrm>
            <a:off x="11344275" y="3005138"/>
            <a:ext cx="1588" cy="2819400"/>
          </a:xfrm>
          <a:prstGeom prst="line">
            <a:avLst/>
          </a:prstGeom>
          <a:ln w="6350" cap="sq">
            <a:solidFill>
              <a:srgbClr val="E6E6E6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" name="TextBox 450">
            <a:extLst>
              <a:ext uri="{FF2B5EF4-FFF2-40B4-BE49-F238E27FC236}">
                <a16:creationId xmlns:a16="http://schemas.microsoft.com/office/drawing/2014/main" id="{FA005719-198C-4BC5-83A4-354279A60F1E}"/>
              </a:ext>
            </a:extLst>
          </p:cNvPr>
          <p:cNvSpPr txBox="1">
            <a:spLocks/>
          </p:cNvSpPr>
          <p:nvPr/>
        </p:nvSpPr>
        <p:spPr>
          <a:xfrm>
            <a:off x="7791450" y="2763838"/>
            <a:ext cx="1395413" cy="1539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000" b="1" dirty="0">
                <a:cs typeface="Arial" panose="020B0604020202020204" pitchFamily="34" charset="0"/>
              </a:rPr>
              <a:t>2019</a:t>
            </a: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D0879245-5EE5-45A1-9AF1-859E9B137911}"/>
              </a:ext>
            </a:extLst>
          </p:cNvPr>
          <p:cNvSpPr txBox="1">
            <a:spLocks/>
          </p:cNvSpPr>
          <p:nvPr/>
        </p:nvSpPr>
        <p:spPr>
          <a:xfrm>
            <a:off x="9267825" y="2763838"/>
            <a:ext cx="1395413" cy="1539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b="1" dirty="0">
                <a:cs typeface="Arial" panose="020B0604020202020204" pitchFamily="34" charset="0"/>
              </a:rPr>
              <a:t>2020</a:t>
            </a:r>
            <a:endParaRPr lang="en-US" sz="1000" b="1" dirty="0">
              <a:cs typeface="Arial" panose="020B0604020202020204" pitchFamily="34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2883C4E8-6C96-403D-B056-37588B6114FA}"/>
              </a:ext>
            </a:extLst>
          </p:cNvPr>
          <p:cNvSpPr txBox="1">
            <a:spLocks/>
          </p:cNvSpPr>
          <p:nvPr/>
        </p:nvSpPr>
        <p:spPr>
          <a:xfrm>
            <a:off x="10772775" y="2763838"/>
            <a:ext cx="573088" cy="1539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b="1" dirty="0">
                <a:cs typeface="Arial" panose="020B0604020202020204" pitchFamily="34" charset="0"/>
              </a:rPr>
              <a:t>2021</a:t>
            </a:r>
            <a:endParaRPr lang="en-US" sz="1000" b="1" dirty="0">
              <a:cs typeface="Arial" panose="020B0604020202020204" pitchFamily="34" charset="0"/>
            </a:endParaRPr>
          </a:p>
        </p:txBody>
      </p: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AC351B73-D13A-46B4-A09B-EA145BDC6135}"/>
              </a:ext>
            </a:extLst>
          </p:cNvPr>
          <p:cNvGrpSpPr/>
          <p:nvPr/>
        </p:nvGrpSpPr>
        <p:grpSpPr>
          <a:xfrm>
            <a:off x="4952323" y="5586406"/>
            <a:ext cx="2287350" cy="153888"/>
            <a:chOff x="4952323" y="5328007"/>
            <a:chExt cx="2287350" cy="153888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D18538A-870A-49B3-A69F-4D01E06A88D5}"/>
                </a:ext>
              </a:extLst>
            </p:cNvPr>
            <p:cNvSpPr txBox="1">
              <a:spLocks/>
            </p:cNvSpPr>
            <p:nvPr/>
          </p:nvSpPr>
          <p:spPr>
            <a:xfrm>
              <a:off x="5262551" y="5328007"/>
              <a:ext cx="1977122" cy="153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ru-RU" sz="900" dirty="0">
                  <a:solidFill>
                    <a:srgbClr val="000000"/>
                  </a:solidFill>
                  <a:latin typeface="Verdana" panose="020B0604030504040204" pitchFamily="34" charset="0"/>
                  <a:cs typeface="Arial" panose="020B0604020202020204" pitchFamily="34" charset="0"/>
                </a:rPr>
                <a:t>Город идей (</a:t>
              </a:r>
              <a:r>
                <a:rPr lang="en-US" sz="900" dirty="0">
                  <a:solidFill>
                    <a:srgbClr val="000000"/>
                  </a:solidFill>
                  <a:latin typeface="Verdana" panose="020B0604030504040204" pitchFamily="34" charset="0"/>
                  <a:cs typeface="Arial" panose="020B0604020202020204" pitchFamily="34" charset="0"/>
                </a:rPr>
                <a:t>crowd.mos.ru)</a:t>
              </a:r>
              <a:endParaRPr lang="ru-RU" sz="900" dirty="0">
                <a:solidFill>
                  <a:srgbClr val="000000"/>
                </a:solidFill>
                <a:latin typeface="Verdana" panose="020B060403050404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434F0156-D108-4E82-ABF6-0DC660C2335F}"/>
                </a:ext>
              </a:extLst>
            </p:cNvPr>
            <p:cNvCxnSpPr>
              <a:cxnSpLocks/>
            </p:cNvCxnSpPr>
            <p:nvPr>
              <p:custDataLst>
                <p:tags r:id="rId97"/>
              </p:custDataLst>
            </p:nvPr>
          </p:nvCxnSpPr>
          <p:spPr bwMode="gray">
            <a:xfrm>
              <a:off x="4952323" y="5404951"/>
              <a:ext cx="184322" cy="0"/>
            </a:xfrm>
            <a:prstGeom prst="line">
              <a:avLst/>
            </a:prstGeom>
            <a:ln w="38100" cap="rnd" cmpd="sng" algn="ctr">
              <a:solidFill>
                <a:srgbClr val="5A789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AEE288A4-80EE-46B8-B9B5-EC58F695E5A9}"/>
              </a:ext>
            </a:extLst>
          </p:cNvPr>
          <p:cNvGrpSpPr/>
          <p:nvPr/>
        </p:nvGrpSpPr>
        <p:grpSpPr>
          <a:xfrm>
            <a:off x="4952323" y="1637476"/>
            <a:ext cx="2287350" cy="153888"/>
            <a:chOff x="4952323" y="1558252"/>
            <a:chExt cx="2287350" cy="15388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596B9E6-48C0-4266-9787-45C423D38A0D}"/>
                </a:ext>
              </a:extLst>
            </p:cNvPr>
            <p:cNvSpPr txBox="1">
              <a:spLocks/>
            </p:cNvSpPr>
            <p:nvPr/>
          </p:nvSpPr>
          <p:spPr>
            <a:xfrm>
              <a:off x="5262551" y="1558252"/>
              <a:ext cx="1977122" cy="153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ru-RU" sz="900" dirty="0">
                  <a:solidFill>
                    <a:srgbClr val="000000"/>
                  </a:solidFill>
                  <a:latin typeface="Verdana" panose="020B0604030504040204" pitchFamily="34" charset="0"/>
                  <a:cs typeface="Arial" panose="020B0604020202020204" pitchFamily="34" charset="0"/>
                </a:rPr>
                <a:t>Проект "Активный гражданин" </a:t>
              </a:r>
            </a:p>
          </p:txBody>
        </p: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4721B33B-F8BB-484C-866F-D1773DA432AD}"/>
                </a:ext>
              </a:extLst>
            </p:cNvPr>
            <p:cNvCxnSpPr>
              <a:cxnSpLocks/>
            </p:cNvCxnSpPr>
            <p:nvPr>
              <p:custDataLst>
                <p:tags r:id="rId96"/>
              </p:custDataLst>
            </p:nvPr>
          </p:nvCxnSpPr>
          <p:spPr bwMode="gray">
            <a:xfrm>
              <a:off x="4952323" y="1635196"/>
              <a:ext cx="184322" cy="0"/>
            </a:xfrm>
            <a:prstGeom prst="line">
              <a:avLst/>
            </a:prstGeom>
            <a:ln w="38100" cap="rnd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9143F98A-D115-4994-9601-C92414FA148D}"/>
              </a:ext>
            </a:extLst>
          </p:cNvPr>
          <p:cNvGrpSpPr/>
          <p:nvPr/>
        </p:nvGrpSpPr>
        <p:grpSpPr>
          <a:xfrm>
            <a:off x="4958237" y="2062567"/>
            <a:ext cx="2281436" cy="153888"/>
            <a:chOff x="4958237" y="1900957"/>
            <a:chExt cx="2281436" cy="15388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E40FE9A-9D27-41BE-BD73-CFCBD9A271E0}"/>
                </a:ext>
              </a:extLst>
            </p:cNvPr>
            <p:cNvSpPr txBox="1">
              <a:spLocks/>
            </p:cNvSpPr>
            <p:nvPr/>
          </p:nvSpPr>
          <p:spPr>
            <a:xfrm>
              <a:off x="5262551" y="1900957"/>
              <a:ext cx="1977122" cy="153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ru-RU" sz="900" dirty="0">
                  <a:solidFill>
                    <a:srgbClr val="000000"/>
                  </a:solidFill>
                  <a:latin typeface="Verdana" panose="020B0604030504040204" pitchFamily="34" charset="0"/>
                  <a:cs typeface="Arial" panose="020B0604020202020204" pitchFamily="34" charset="0"/>
                </a:rPr>
                <a:t>Проект "Наш город"</a:t>
              </a:r>
            </a:p>
          </p:txBody>
        </p: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06C3FBDF-A887-4954-A532-EDFB051C137F}"/>
                </a:ext>
              </a:extLst>
            </p:cNvPr>
            <p:cNvCxnSpPr>
              <a:cxnSpLocks/>
            </p:cNvCxnSpPr>
            <p:nvPr>
              <p:custDataLst>
                <p:tags r:id="rId95"/>
              </p:custDataLst>
            </p:nvPr>
          </p:nvCxnSpPr>
          <p:spPr bwMode="gray">
            <a:xfrm>
              <a:off x="4958237" y="1977901"/>
              <a:ext cx="184322" cy="0"/>
            </a:xfrm>
            <a:prstGeom prst="line">
              <a:avLst/>
            </a:prstGeom>
            <a:ln w="38100" cap="rnd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C7158438-CE91-49A9-BBB8-3147DDF5551B}"/>
              </a:ext>
            </a:extLst>
          </p:cNvPr>
          <p:cNvGrpSpPr/>
          <p:nvPr/>
        </p:nvGrpSpPr>
        <p:grpSpPr>
          <a:xfrm>
            <a:off x="4952323" y="2912749"/>
            <a:ext cx="2287350" cy="153888"/>
            <a:chOff x="4952323" y="2929072"/>
            <a:chExt cx="2287350" cy="15388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124DC8-6DA5-46B2-8ACD-F13521821105}"/>
                </a:ext>
              </a:extLst>
            </p:cNvPr>
            <p:cNvSpPr txBox="1">
              <a:spLocks/>
            </p:cNvSpPr>
            <p:nvPr/>
          </p:nvSpPr>
          <p:spPr>
            <a:xfrm>
              <a:off x="5262551" y="2929072"/>
              <a:ext cx="1977122" cy="153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ru-RU" sz="900" dirty="0">
                  <a:solidFill>
                    <a:srgbClr val="000000"/>
                  </a:solidFill>
                  <a:latin typeface="Verdana" panose="020B0604030504040204" pitchFamily="34" charset="0"/>
                  <a:cs typeface="Arial" panose="020B0604020202020204" pitchFamily="34" charset="0"/>
                </a:rPr>
                <a:t>Приложение "Госуслуги Москвы"</a:t>
              </a:r>
            </a:p>
          </p:txBody>
        </p: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4415B070-9262-4CD5-9CD5-7A595B485349}"/>
                </a:ext>
              </a:extLst>
            </p:cNvPr>
            <p:cNvCxnSpPr>
              <a:cxnSpLocks/>
            </p:cNvCxnSpPr>
            <p:nvPr>
              <p:custDataLst>
                <p:tags r:id="rId94"/>
              </p:custDataLst>
            </p:nvPr>
          </p:nvCxnSpPr>
          <p:spPr bwMode="gray">
            <a:xfrm>
              <a:off x="4952323" y="3006016"/>
              <a:ext cx="184322" cy="0"/>
            </a:xfrm>
            <a:prstGeom prst="line">
              <a:avLst/>
            </a:prstGeom>
            <a:ln w="38100" cap="rnd" cmpd="sng" algn="ctr">
              <a:solidFill>
                <a:srgbClr val="E7767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AFC1DD54-5E1F-4B8D-B4FB-15B7BF10A411}"/>
              </a:ext>
            </a:extLst>
          </p:cNvPr>
          <p:cNvGrpSpPr/>
          <p:nvPr/>
        </p:nvGrpSpPr>
        <p:grpSpPr>
          <a:xfrm>
            <a:off x="4952323" y="2487658"/>
            <a:ext cx="2287350" cy="153888"/>
            <a:chOff x="4952323" y="2586367"/>
            <a:chExt cx="2287350" cy="1538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A77BE4B-5DBB-423D-83C1-293E609A6F8B}"/>
                </a:ext>
              </a:extLst>
            </p:cNvPr>
            <p:cNvSpPr txBox="1">
              <a:spLocks/>
            </p:cNvSpPr>
            <p:nvPr/>
          </p:nvSpPr>
          <p:spPr>
            <a:xfrm>
              <a:off x="5262551" y="2586367"/>
              <a:ext cx="1977122" cy="153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ru-RU" sz="900" dirty="0">
                  <a:solidFill>
                    <a:srgbClr val="000000"/>
                  </a:solidFill>
                  <a:latin typeface="Verdana" panose="020B0604030504040204" pitchFamily="34" charset="0"/>
                  <a:cs typeface="Arial" panose="020B0604020202020204" pitchFamily="34" charset="0"/>
                </a:rPr>
                <a:t>Личный кабинет </a:t>
              </a:r>
              <a:r>
                <a:rPr lang="en-US" sz="900" dirty="0">
                  <a:solidFill>
                    <a:srgbClr val="000000"/>
                  </a:solidFill>
                  <a:latin typeface="Verdana" panose="020B0604030504040204" pitchFamily="34" charset="0"/>
                  <a:cs typeface="Arial" panose="020B0604020202020204" pitchFamily="34" charset="0"/>
                </a:rPr>
                <a:t>mos.ru</a:t>
              </a:r>
              <a:endParaRPr lang="ru-RU" sz="900" dirty="0">
                <a:solidFill>
                  <a:srgbClr val="000000"/>
                </a:solidFill>
                <a:latin typeface="Verdana" panose="020B060403050404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051B8FC4-BD0E-4AF6-B6E3-D9D7D1AE0767}"/>
                </a:ext>
              </a:extLst>
            </p:cNvPr>
            <p:cNvCxnSpPr>
              <a:cxnSpLocks/>
            </p:cNvCxnSpPr>
            <p:nvPr>
              <p:custDataLst>
                <p:tags r:id="rId93"/>
              </p:custDataLst>
            </p:nvPr>
          </p:nvCxnSpPr>
          <p:spPr bwMode="gray">
            <a:xfrm>
              <a:off x="4952323" y="2663311"/>
              <a:ext cx="184322" cy="0"/>
            </a:xfrm>
            <a:prstGeom prst="line">
              <a:avLst/>
            </a:prstGeom>
            <a:ln w="38100" cap="rnd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61A7EE03-A8CA-48E0-BDF4-AD3CB1EA237B}"/>
              </a:ext>
            </a:extLst>
          </p:cNvPr>
          <p:cNvGrpSpPr/>
          <p:nvPr/>
        </p:nvGrpSpPr>
        <p:grpSpPr>
          <a:xfrm>
            <a:off x="4952323" y="3337840"/>
            <a:ext cx="2287350" cy="153888"/>
            <a:chOff x="4952323" y="3271777"/>
            <a:chExt cx="2287350" cy="15388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FD5F063-1328-425C-B89B-36BFAFD6A5B2}"/>
                </a:ext>
              </a:extLst>
            </p:cNvPr>
            <p:cNvSpPr txBox="1">
              <a:spLocks/>
            </p:cNvSpPr>
            <p:nvPr/>
          </p:nvSpPr>
          <p:spPr>
            <a:xfrm>
              <a:off x="5262551" y="3271777"/>
              <a:ext cx="1977122" cy="153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ru-RU" sz="900" dirty="0">
                  <a:solidFill>
                    <a:srgbClr val="000000"/>
                  </a:solidFill>
                  <a:latin typeface="Verdana" panose="020B0604030504040204" pitchFamily="34" charset="0"/>
                  <a:cs typeface="Arial" panose="020B0604020202020204" pitchFamily="34" charset="0"/>
                </a:rPr>
                <a:t>Раздел "Услуги" на сайте mos.ru</a:t>
              </a:r>
            </a:p>
          </p:txBody>
        </p: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4E6A49F3-CA9E-4D35-94D3-27B0F6E22CDB}"/>
                </a:ext>
              </a:extLst>
            </p:cNvPr>
            <p:cNvCxnSpPr>
              <a:cxnSpLocks/>
            </p:cNvCxnSpPr>
            <p:nvPr>
              <p:custDataLst>
                <p:tags r:id="rId92"/>
              </p:custDataLst>
            </p:nvPr>
          </p:nvCxnSpPr>
          <p:spPr bwMode="gray">
            <a:xfrm>
              <a:off x="4952323" y="3348721"/>
              <a:ext cx="184322" cy="0"/>
            </a:xfrm>
            <a:prstGeom prst="line">
              <a:avLst/>
            </a:prstGeom>
            <a:ln w="38100" cap="rnd" cmpd="sng" algn="ctr">
              <a:solidFill>
                <a:srgbClr val="F7D1D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F057E020-C046-48EA-87B7-BA03ACA12E39}"/>
              </a:ext>
            </a:extLst>
          </p:cNvPr>
          <p:cNvGrpSpPr/>
          <p:nvPr/>
        </p:nvGrpSpPr>
        <p:grpSpPr>
          <a:xfrm>
            <a:off x="4952323" y="3762931"/>
            <a:ext cx="2287350" cy="153888"/>
            <a:chOff x="4952323" y="3957187"/>
            <a:chExt cx="2287350" cy="15388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9051D04-1107-41AC-B5C9-A2E688EF01A5}"/>
                </a:ext>
              </a:extLst>
            </p:cNvPr>
            <p:cNvSpPr txBox="1">
              <a:spLocks/>
            </p:cNvSpPr>
            <p:nvPr/>
          </p:nvSpPr>
          <p:spPr>
            <a:xfrm>
              <a:off x="5262551" y="3957187"/>
              <a:ext cx="1977122" cy="153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ru-RU" sz="900" dirty="0">
                  <a:solidFill>
                    <a:srgbClr val="000000"/>
                  </a:solidFill>
                  <a:latin typeface="Verdana" panose="020B0604030504040204" pitchFamily="34" charset="0"/>
                  <a:cs typeface="Arial" panose="020B0604020202020204" pitchFamily="34" charset="0"/>
                </a:rPr>
                <a:t>Приложение "Моя Москва"</a:t>
              </a:r>
            </a:p>
          </p:txBody>
        </p: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51C21156-53C0-41B2-A61F-4573073F6025}"/>
                </a:ext>
              </a:extLst>
            </p:cNvPr>
            <p:cNvCxnSpPr>
              <a:cxnSpLocks/>
            </p:cNvCxnSpPr>
            <p:nvPr>
              <p:custDataLst>
                <p:tags r:id="rId91"/>
              </p:custDataLst>
            </p:nvPr>
          </p:nvCxnSpPr>
          <p:spPr bwMode="gray">
            <a:xfrm>
              <a:off x="4952323" y="4034131"/>
              <a:ext cx="184322" cy="0"/>
            </a:xfrm>
            <a:prstGeom prst="line">
              <a:avLst/>
            </a:prstGeom>
            <a:ln w="38100" cap="rnd" cmpd="sng" algn="ctr">
              <a:solidFill>
                <a:srgbClr val="E6E6E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3" name="Group 492">
            <a:extLst>
              <a:ext uri="{FF2B5EF4-FFF2-40B4-BE49-F238E27FC236}">
                <a16:creationId xmlns:a16="http://schemas.microsoft.com/office/drawing/2014/main" id="{F1F14092-DAF9-452E-8A8E-7677535DCC46}"/>
              </a:ext>
            </a:extLst>
          </p:cNvPr>
          <p:cNvGrpSpPr/>
          <p:nvPr/>
        </p:nvGrpSpPr>
        <p:grpSpPr>
          <a:xfrm>
            <a:off x="4952323" y="4188022"/>
            <a:ext cx="2287350" cy="153888"/>
            <a:chOff x="4952323" y="4299892"/>
            <a:chExt cx="2287350" cy="1538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0E9A4C0-4907-436C-997A-0ECB97FFFE9A}"/>
                </a:ext>
              </a:extLst>
            </p:cNvPr>
            <p:cNvSpPr txBox="1">
              <a:spLocks/>
            </p:cNvSpPr>
            <p:nvPr/>
          </p:nvSpPr>
          <p:spPr>
            <a:xfrm>
              <a:off x="5262551" y="4299892"/>
              <a:ext cx="1977122" cy="153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ru-RU" sz="900" dirty="0">
                  <a:solidFill>
                    <a:srgbClr val="000000"/>
                  </a:solidFill>
                  <a:latin typeface="Verdana" panose="020B0604030504040204" pitchFamily="34" charset="0"/>
                  <a:cs typeface="Arial" panose="020B0604020202020204" pitchFamily="34" charset="0"/>
                </a:rPr>
                <a:t>Приложение "Электронный дом"</a:t>
              </a:r>
            </a:p>
          </p:txBody>
        </p: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F1CABBF5-4D1C-49C4-AECF-8693B541AADC}"/>
                </a:ext>
              </a:extLst>
            </p:cNvPr>
            <p:cNvCxnSpPr>
              <a:cxnSpLocks/>
            </p:cNvCxnSpPr>
            <p:nvPr>
              <p:custDataLst>
                <p:tags r:id="rId90"/>
              </p:custDataLst>
            </p:nvPr>
          </p:nvCxnSpPr>
          <p:spPr bwMode="gray">
            <a:xfrm>
              <a:off x="4952323" y="4376836"/>
              <a:ext cx="184322" cy="0"/>
            </a:xfrm>
            <a:prstGeom prst="line">
              <a:avLst/>
            </a:prstGeom>
            <a:ln w="38100" cap="rnd" cmpd="sng" algn="ctr">
              <a:solidFill>
                <a:srgbClr val="80B5B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90EA20C-A790-4DBD-8BFA-7C86F275DA2A}"/>
              </a:ext>
            </a:extLst>
          </p:cNvPr>
          <p:cNvSpPr>
            <a:spLocks/>
          </p:cNvSpPr>
          <p:nvPr/>
        </p:nvSpPr>
        <p:spPr>
          <a:xfrm>
            <a:off x="4840582" y="4512806"/>
            <a:ext cx="2510832" cy="3628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553" name="Group 552">
            <a:extLst>
              <a:ext uri="{FF2B5EF4-FFF2-40B4-BE49-F238E27FC236}">
                <a16:creationId xmlns:a16="http://schemas.microsoft.com/office/drawing/2014/main" id="{74C9522D-A632-48A7-8A7C-73043B25D41B}"/>
              </a:ext>
            </a:extLst>
          </p:cNvPr>
          <p:cNvGrpSpPr/>
          <p:nvPr/>
        </p:nvGrpSpPr>
        <p:grpSpPr>
          <a:xfrm>
            <a:off x="4958237" y="4613113"/>
            <a:ext cx="2281436" cy="153888"/>
            <a:chOff x="4958237" y="4547383"/>
            <a:chExt cx="2281436" cy="15388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D676B50-0C61-4A17-A091-79EAC97ACFCD}"/>
                </a:ext>
              </a:extLst>
            </p:cNvPr>
            <p:cNvSpPr txBox="1">
              <a:spLocks/>
            </p:cNvSpPr>
            <p:nvPr/>
          </p:nvSpPr>
          <p:spPr>
            <a:xfrm>
              <a:off x="5262551" y="4547383"/>
              <a:ext cx="1977122" cy="153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ru-RU" sz="1200" b="1" dirty="0">
                  <a:solidFill>
                    <a:schemeClr val="tx2"/>
                  </a:solidFill>
                  <a:latin typeface="Verdana" panose="020B0604030504040204" pitchFamily="34" charset="0"/>
                  <a:cs typeface="Arial" panose="020B0604020202020204" pitchFamily="34" charset="0"/>
                </a:rPr>
                <a:t>ЕДЦ ЖКХ</a:t>
              </a:r>
            </a:p>
          </p:txBody>
        </p: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F81A3009-1A29-45FB-8F01-701803D94290}"/>
                </a:ext>
              </a:extLst>
            </p:cNvPr>
            <p:cNvCxnSpPr>
              <a:cxnSpLocks/>
            </p:cNvCxnSpPr>
            <p:nvPr>
              <p:custDataLst>
                <p:tags r:id="rId89"/>
              </p:custDataLst>
            </p:nvPr>
          </p:nvCxnSpPr>
          <p:spPr bwMode="gray">
            <a:xfrm>
              <a:off x="4958237" y="4624327"/>
              <a:ext cx="184322" cy="0"/>
            </a:xfrm>
            <a:prstGeom prst="line">
              <a:avLst/>
            </a:prstGeom>
            <a:ln w="38100" cap="rnd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2E4486F4-C77C-48AA-A15A-0FD36971AA45}"/>
              </a:ext>
            </a:extLst>
          </p:cNvPr>
          <p:cNvGrpSpPr/>
          <p:nvPr/>
        </p:nvGrpSpPr>
        <p:grpSpPr>
          <a:xfrm>
            <a:off x="4952323" y="5038204"/>
            <a:ext cx="2287350" cy="276999"/>
            <a:chOff x="4952323" y="4923747"/>
            <a:chExt cx="2287350" cy="27699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8214B6E-3063-4877-BE14-468BB3BD02DD}"/>
                </a:ext>
              </a:extLst>
            </p:cNvPr>
            <p:cNvSpPr txBox="1">
              <a:spLocks/>
            </p:cNvSpPr>
            <p:nvPr/>
          </p:nvSpPr>
          <p:spPr>
            <a:xfrm>
              <a:off x="5262551" y="4923747"/>
              <a:ext cx="1977122" cy="276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ru-RU" sz="900" dirty="0">
                  <a:solidFill>
                    <a:srgbClr val="000000"/>
                  </a:solidFill>
                  <a:latin typeface="Verdana" panose="020B0604030504040204" pitchFamily="34" charset="0"/>
                  <a:cs typeface="Arial" panose="020B0604020202020204" pitchFamily="34" charset="0"/>
                </a:rPr>
                <a:t>Сервис "Мои платежи"</a:t>
              </a:r>
              <a:br>
                <a:rPr lang="ru-RU" sz="900" dirty="0">
                  <a:solidFill>
                    <a:srgbClr val="000000"/>
                  </a:solidFill>
                  <a:latin typeface="Verdana" panose="020B0604030504040204" pitchFamily="34" charset="0"/>
                  <a:cs typeface="Arial" panose="020B0604020202020204" pitchFamily="34" charset="0"/>
                </a:rPr>
              </a:br>
              <a:r>
                <a:rPr lang="ru-RU" sz="900" dirty="0">
                  <a:solidFill>
                    <a:srgbClr val="000000"/>
                  </a:solidFill>
                  <a:latin typeface="Verdana" panose="020B0604030504040204" pitchFamily="34" charset="0"/>
                  <a:cs typeface="Arial" panose="020B0604020202020204" pitchFamily="34" charset="0"/>
                </a:rPr>
                <a:t>на портале mos.ru</a:t>
              </a:r>
            </a:p>
          </p:txBody>
        </p: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92ED2CAC-9D16-41BC-A53C-62267FA5EDD9}"/>
                </a:ext>
              </a:extLst>
            </p:cNvPr>
            <p:cNvCxnSpPr>
              <a:cxnSpLocks/>
            </p:cNvCxnSpPr>
            <p:nvPr>
              <p:custDataLst>
                <p:tags r:id="rId88"/>
              </p:custDataLst>
            </p:nvPr>
          </p:nvCxnSpPr>
          <p:spPr bwMode="gray">
            <a:xfrm>
              <a:off x="4952323" y="5062246"/>
              <a:ext cx="184322" cy="0"/>
            </a:xfrm>
            <a:prstGeom prst="line">
              <a:avLst/>
            </a:prstGeom>
            <a:ln w="38100" cap="rnd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0501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HINKCELLPRESENTATIONDONOTDELETE" val="&lt;?xml version=&quot;1.0&quot; encoding=&quot;UTF-16&quot; standalone=&quot;yes&quot;?&gt;&lt;root reqver=&quot;25060&quot;&gt;&lt;version val=&quot;2840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d&lt;/m_strFormatTime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EMPLATELASTEDITED" val="2021-02-20 12:57 "/>
  <p:tag name="ICONFILLBACKGROUND" val="Color [A=255, R=201, G=39, B=35]"/>
  <p:tag name="ICONFILLBACKGROUNDTHEME" val="Text 2"/>
  <p:tag name="ICONENCLOSURE" val="False"/>
  <p:tag name="ICONLINEFILL" val="Color [A=255, R=255, G=255, B=255]"/>
  <p:tag name="ICONLINEFILLTHEME" val="Background 1"/>
  <p:tag name="MTBTACCENT" val="Accent3ColorBoldText"/>
  <p:tag name="THINKCELLUNDODONOTDELETE" val="0"/>
  <p:tag name="TSCLIENT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X"/>
  <p:tag name="NAME" val="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NAME" val="CheckmarkDash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White"/>
  <p:tag name="NAME" val="CheckmarkDashWhi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Blue"/>
  <p:tag name="NAME" val="CheckmarkDashBl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Blue"/>
  <p:tag name="NAME" val="LineArrowBl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NAME" val="DoubleArro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NAME" val="Filt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White"/>
  <p:tag name="NAME" val="FilterWhi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Blue"/>
  <p:tag name="NAME" val="FilterBl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White"/>
  <p:tag name="NAME" val="ChevronWhi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Blue"/>
  <p:tag name="NAME" val="ChevronBl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White"/>
  <p:tag name="NAME" val="LineArrowWhi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NAME" val="Asterisk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White"/>
  <p:tag name="NAME" val="AsteriskWhi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Blue"/>
  <p:tag name="NAME" val="AsteriskBl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NAME" val="LineArro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White"/>
  <p:tag name="NAME" val="DoubleArrowWhi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Blue"/>
  <p:tag name="NAME" val="DoubleArrowBl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KeyTakeawayOF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allou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rongCallout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FLAT" val="True"/>
  <p:tag name="NAME" val="SplitFlo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Sha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Tex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Shap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Text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Shap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Tex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EzJCcUE3Pm1UOXcKBMp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hZAfPhTweig.amX88Ba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COJjL603IMyYzwfamd1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E0v2WGOtAzJAMAaTjTS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vhHH6kiADtUtmH_8M1e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q4HVfxJQnl_kY62ngvrq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83rbR3nyx_xdzJCLmXrK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PmUa3ceFGzYj6MPYl9O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wrzDJXj4OgzgXwQ1nFj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5kJK9AxNv1Wst18.bid7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fEmDZdTAzc9EEwbC0WS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_p6_rFGjKqDFAmNITcOD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qXzTcYT5FVJKd0YzRJ6t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X"/>
  <p:tag name="NAME" val="X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NAME" val="CheckmarkDash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White"/>
  <p:tag name="NAME" val="CheckmarkDashWhi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Blue"/>
  <p:tag name="NAME" val="CheckmarkDashBl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Blue"/>
  <p:tag name="NAME" val="LineArrowBl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NAME" val="DoubleArro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NAME" val="Filt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White"/>
  <p:tag name="NAME" val="FilterWhi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Blue"/>
  <p:tag name="NAME" val="FilterBl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White"/>
  <p:tag name="NAME" val="ChevronWhi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Blue"/>
  <p:tag name="NAME" val="ChevronBl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White"/>
  <p:tag name="NAME" val="LineArrowWhi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NAME" val="Asteris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White"/>
  <p:tag name="NAME" val="AsteriskWhi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Blue"/>
  <p:tag name="NAME" val="AsteriskBl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NAME" val="LineArro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White"/>
  <p:tag name="NAME" val="DoubleArrowWhit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Blue"/>
  <p:tag name="NAME" val="DoubleArrowBl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KeyTakeawayOF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allout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rongCallout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FLAT" val="True"/>
  <p:tag name="NAME" val="SplitFlow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Shap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Text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Shap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Text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Shap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EzJCcUE3Pm1UOXcKBMpA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hZAfPhTweig.amX88BaQ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COJjL603IMyYzwfamd1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E0v2WGOtAzJAMAaTjTSQ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vhHH6kiADtUtmH_8M1eQ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q4HVfxJQnl_kY62ngvrqQ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83rbR3nyx_xdzJCLmXrKw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PmUa3ceFGzYj6MPYl9OQ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wrzDJXj4OgzgXwQ1nFjg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5kJK9AxNv1Wst18.bid7w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fEmDZdTAzc9EEwbC0WSg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_p6_rFGjKqDFAmNITcODA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qXzTcYT5FVJKd0YzRJ6tA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X"/>
  <p:tag name="NAME" val="X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NAME" val="CheckmarkDash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White"/>
  <p:tag name="NAME" val="CheckmarkDashWhit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Blue"/>
  <p:tag name="NAME" val="CheckmarkDashBlu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Blue"/>
  <p:tag name="NAME" val="LineArrowBlu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NAME" val="DoubleArrow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NAME" val="Filter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White"/>
  <p:tag name="NAME" val="FilterWhit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Blue"/>
  <p:tag name="NAME" val="FilterBl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White"/>
  <p:tag name="NAME" val="ChevronWhit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Blue"/>
  <p:tag name="NAME" val="ChevronBlu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White"/>
  <p:tag name="NAME" val="LineArrowWhit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NAME" val="Asterisk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White"/>
  <p:tag name="NAME" val="AsteriskWhit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Blue"/>
  <p:tag name="NAME" val="AsteriskBlu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NAME" val="LineArrow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White"/>
  <p:tag name="NAME" val="DoubleArrowWhit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Blue"/>
  <p:tag name="NAME" val="DoubleArrowBl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KeyTakeawayOF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allout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rongCallout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FLAT" val="True"/>
  <p:tag name="NAME" val="SplitFlow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Shap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Text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Shap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Text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Shap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Text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EzJCcUE3Pm1UOXcKBMpA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hZAfPhTweig.amX88BaQ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COJjL603IMyYzwfamd1Q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E0v2WGOtAzJAMAaTjTSQ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vhHH6kiADtUtmH_8M1eQ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q4HVfxJQnl_kY62ngvrqQ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83rbR3nyx_xdzJCLmXrKw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PmUa3ceFGzYj6MPYl9OQ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wrzDJXj4OgzgXwQ1nFjg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5kJK9AxNv1Wst18.bid7w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fEmDZdTAzc9EEwbC0WSg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_p6_rFGjKqDFAmNITcODA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ZRM2IoFORdGrAWO3EUfA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KnuucLjr2fQ.KMpXBGAA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ahHse3g5hXwGq08QSpLQ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77E2nQJ1_UjQWXDWhkZw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KnuucLjr2fQ.KMpXBGAA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ahHse3g5hXwGq08QSpLQ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VsNvUtzMaG2yqb4YA_DNQ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rNpPTQtUimlJRpxeF80Q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noVTpeV2zeltFghqTIDw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98vD1VnieZp1eg7X46Rw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LO_NJiyp9ebomg.s5Mwcg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2EAD1PTNHJfRalU7YSzTA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dGCwWYIS7gyBYF2rIr8Q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lfMo5_nOLXBgAzNmhFZGQ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RRoxsOfuNrCKbmNAoE7Dg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eicxYRN.t7wh2EDoFetw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r4izxzR6w3wUr5dYNz1w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NRoklmqF3yZfjMHJBWgA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IshgYdSEzdLuDdb013eDg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8vaNCkhfZR2gVEKosOHOA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HzJtS47_PQJG_WerzoQQ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mRlgyZ4LMKgx1RuOv3V4w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lsg7igsOpXzY.lqYp677w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ANHeauWkGVL2RHllDWlA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OURO_l5ix75153iNsp2Xg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uKlBGGMZFn8TLI1qcWGg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vG3qV9oX9YvaznvJEIeA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QHBZcBWqCDija1_2AHxtg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XGWTKllhCsfz5wJfYEGw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WBN5.Fp.4YivEBlQcxYA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0a_B2v3HNosCvGTQp_fzw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SO7aWHrTHSJOpcu9mC5Gw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BcHCPrtX2_fNysfuOfcQ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qF.QX91wrmn3baZb8ylA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Z8hYJF0b99G0.G10RmyA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qysQytm1XZHjY_2PlpUg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bpxRHi3v5CWhGNFvYoVqw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MLt1MuTTF7A7V6Wy3VXg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9BTMJY.XsXXH6W4lrg.Q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z64XkN3NcDjRc63KDnXQ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ZXDc8ak0ZNvDHy81j4iMw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0CQblr1v7Y7k3dATg_2lQ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stPWZV5imwJTdVMT.IJA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WNMXJm6exkfEaLQMUvhw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F7rYMv.Xt4NqattoNuSRA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zE.kYjEuAt6drNXi_IYA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vCSU5L9xxC7PHlYDDvyHQ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DLMpuc3kKqS6Tv6J.boGg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AovyRvJfbuCSpbuODVpQ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Y8xxLOz3s6OXpjJ6AfyJQ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Qf9RZpGzN5v8D9CP04LQ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leZ3GImDjnR5GIuBfS9w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IDp1jkAKhxXwRiALXt0g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ZlBRZHZeF9CSYlJC1_cEw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nZ62EDWOX9WzGuUeqoPQ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MWfaXZSyLhXLKdJCOurw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FkPyfyTcflOyiIkaWEPyw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aMSpTudPlONz17p5iJE.w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5XpvZt2XfVJxHMX2fsrdA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6aF9Iv3AD0p_MufweKbCQ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EKLWIJOMz_LbWBRkLSw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VV7UOeKeLlVaEQsgfi1og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TWrOPQsTbsrtCcFgxts9A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dUSs4urE_8DHu.enOMBQ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Cyb5_WRSBDh35pVX0bZg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aR.ZQofoPplS5xzgGzWyQ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fVdlEA3aqguzQmgdOHAw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jB5necD0j65HlQxW3NiA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uQA3HfkySy.XZ1dvxCUA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.WqifciNnFm1KIsLw8hyg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dE57_1ZpRWfN_QIufqAiw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zPEprAPmT1wKt30.gwRQ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SSDhwjRXr6Xbxkk_EHdw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rvlzgZjIMyI9N_lHxvjQ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S3iN.yQklORKLn.RgXgg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xRBqMxKVbzzmYQQyFpLEw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1ZLh.Bnwx7ufOoi8D0t4w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n_7WiKhdQinVtvBCK8Pw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O4qQjZ_UeEMrvZlBGjkBw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eWewb3uGlfj__ltMMaSQ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9HueL3dNvHpB4IOy5_gQ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I7vSR4CX7OsFBFzmsDcQ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AM9eh5IuPoBAQqFFJQvw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LlH5EG_UdYMhFypTj2Ig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8JlO19jToCiUJsLY6g1TA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07pCpmgYZeczItQjc5dQ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pD2R5mOuXLlLxWdWXiaQ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Hm4mbK8kPaYd3cpD3rfmw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d7X_s0zTCwiHh.M58xvA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5Ws4m40F76o2TNin.g4g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3LKhNjk.YJPjYtuRBF2Q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h6GjTgecB5owe0ewQ4xQ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3UaIbVtrX6HFRPDWvHunQ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1cXNxLvPzPDxNbneIv3DQ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IXv1B3lRpKMsysChUnw0w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57ANEhQE88u1lmOsw6kw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1mhqKRZbfPiIMFz5BcI6w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8jxXN.Oph_XMEWGwQPdA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WwYeCcFvVFOVjkr4ZrCA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_wSVAZ0LuE24PsqlpLsJw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lrYhwW1dfpoanLhvtchkQ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JjALRuH699l58jjiem.A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Tl3f0AwiCrinbQB2eQYw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05_531Yuj4mvV7G_T_Q0g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YGdi.lWf7YyJedsgYEHg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ZHLr5k7jDIUdvyrW3KDHg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AQv8Ygqd5e4lzj.K.M7A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.FIan5Vbfo_6Nx5bCzQQ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7BeOC1LL96Pjy0kf6UpPg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U0_PsUdq2a7AMOZyKJ_yg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B1iMF0xfnjY3wgWpgwoA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Scfuie.nCrzGaBL9oxb8w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CZdAo27LQp7mL1Vu9Spw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bT9JJSfTqVV6HeI1Xopg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RD9_WPgnbIK1hXSFl9gw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WN9MFvh7ynM.VSvVP6mNw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uIwpv4pi6BnGG.bpvTRQ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3XbvbIPdm1NdSGR4Blaw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ta_w95zBfrIBO7joFMTJw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yyNqcZmQjV4QjhJ2.RnQ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0aBICUT7nl78ZqDZuzrg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FfSw7SWtjwqs4mFUGS3Q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LZTG3RFcN5NChSvYqwLg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NV3Z.11ojJnrdsNz69H4Q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InzqyPTMpq0ZDYytHZBw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LGcYM1QBNXT3Bzv28dEA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7z52QI.bBmc4vMCAaOZEw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SmOPb00mKtazKp4fffkw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J8nWFlX0EEVrdGf806XA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.uQdUzY4H27buBKZPdtQ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tcjZRw5roMBhBQueHciQ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cPFugYL9rzG9fEUH7dCTA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hLgm6WH6kYnsXEj_NGknQ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YZMPiL9TV6.s9KNILnxg"/>
</p:tagLst>
</file>

<file path=ppt/theme/theme1.xml><?xml version="1.0" encoding="utf-8"?>
<a:theme xmlns:a="http://schemas.openxmlformats.org/drawingml/2006/main" name="Mos.ru_Мос.ру_NVI_16x9_(2021)">
  <a:themeElements>
    <a:clrScheme name="Custom">
      <a:dk1>
        <a:srgbClr val="000000"/>
      </a:dk1>
      <a:lt1>
        <a:srgbClr val="FFFFFF"/>
      </a:lt1>
      <a:dk2>
        <a:srgbClr val="C92723"/>
      </a:dk2>
      <a:lt2>
        <a:srgbClr val="FFFFFF"/>
      </a:lt2>
      <a:accent1>
        <a:srgbClr val="EBEFF3"/>
      </a:accent1>
      <a:accent2>
        <a:srgbClr val="B2B2B2"/>
      </a:accent2>
      <a:accent3>
        <a:srgbClr val="C92723"/>
      </a:accent3>
      <a:accent4>
        <a:srgbClr val="5E5E5E"/>
      </a:accent4>
      <a:accent5>
        <a:srgbClr val="191919"/>
      </a:accent5>
      <a:accent6>
        <a:srgbClr val="808080"/>
      </a:accent6>
      <a:hlink>
        <a:srgbClr val="4B8FD2"/>
      </a:hlink>
      <a:folHlink>
        <a:srgbClr val="B6869E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ustom">
        <a:dk1>
          <a:srgbClr val="000000"/>
        </a:dk1>
        <a:lt1>
          <a:srgbClr val="FFFFFF"/>
        </a:lt1>
        <a:dk2>
          <a:srgbClr val="C92723"/>
        </a:dk2>
        <a:lt2>
          <a:srgbClr val="FFFFFF"/>
        </a:lt2>
        <a:accent1>
          <a:srgbClr val="EBEFF3"/>
        </a:accent1>
        <a:accent2>
          <a:srgbClr val="B2B2B2"/>
        </a:accent2>
        <a:accent3>
          <a:srgbClr val="C92723"/>
        </a:accent3>
        <a:accent4>
          <a:srgbClr val="5E5E5E"/>
        </a:accent4>
        <a:accent5>
          <a:srgbClr val="191919"/>
        </a:accent5>
        <a:accent6>
          <a:srgbClr val="808080"/>
        </a:accent6>
        <a:hlink>
          <a:srgbClr val="4B8FD2"/>
        </a:hlink>
        <a:folHlink>
          <a:srgbClr val="B6869E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</a:custClrLst>
  <a:extLst>
    <a:ext uri="{05A4C25C-085E-4340-85A3-A5531E510DB2}">
      <thm15:themeFamily xmlns:thm15="http://schemas.microsoft.com/office/thememl/2012/main" name="Шаблон_Mos.ru_16x9_(2021).potx" id="{3AB5C5D3-8122-4508-9236-E0068C230508}" vid="{483768F2-768B-41A4-907E-96208CF3BE95}"/>
    </a:ext>
  </a:extLst>
</a:theme>
</file>

<file path=ppt/theme/theme2.xml><?xml version="1.0" encoding="utf-8"?>
<a:theme xmlns:a="http://schemas.openxmlformats.org/drawingml/2006/main" name="1_Mos.ru_Мос.ру_NVI_16x9_(2021)">
  <a:themeElements>
    <a:clrScheme name="Custom 4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374C2"/>
      </a:accent1>
      <a:accent2>
        <a:srgbClr val="EBEFF3"/>
      </a:accent2>
      <a:accent3>
        <a:srgbClr val="002777"/>
      </a:accent3>
      <a:accent4>
        <a:srgbClr val="C92723"/>
      </a:accent4>
      <a:accent5>
        <a:srgbClr val="F9ACAA"/>
      </a:accent5>
      <a:accent6>
        <a:srgbClr val="9EA4AC"/>
      </a:accent6>
      <a:hlink>
        <a:srgbClr val="4374C2"/>
      </a:hlink>
      <a:folHlink>
        <a:srgbClr val="B2B2B2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ustom">
        <a:dk1>
          <a:srgbClr val="000000"/>
        </a:dk1>
        <a:lt1>
          <a:srgbClr val="FFFFFF"/>
        </a:lt1>
        <a:dk2>
          <a:srgbClr val="C92723"/>
        </a:dk2>
        <a:lt2>
          <a:srgbClr val="FFFFFF"/>
        </a:lt2>
        <a:accent1>
          <a:srgbClr val="EBEFF3"/>
        </a:accent1>
        <a:accent2>
          <a:srgbClr val="B2B2B2"/>
        </a:accent2>
        <a:accent3>
          <a:srgbClr val="C92723"/>
        </a:accent3>
        <a:accent4>
          <a:srgbClr val="5E5E5E"/>
        </a:accent4>
        <a:accent5>
          <a:srgbClr val="191919"/>
        </a:accent5>
        <a:accent6>
          <a:srgbClr val="808080"/>
        </a:accent6>
        <a:hlink>
          <a:srgbClr val="4B8FD2"/>
        </a:hlink>
        <a:folHlink>
          <a:srgbClr val="B6869E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</a:custClrLst>
  <a:extLst>
    <a:ext uri="{05A4C25C-085E-4340-85A3-A5531E510DB2}">
      <thm15:themeFamily xmlns:thm15="http://schemas.microsoft.com/office/thememl/2012/main" name="210210_Темплейт. Цифровые продукты.pptx.potx" id="{2C6FDF97-678F-4CA8-B297-3D9325F2A165}" vid="{4C63F2AC-DD40-49A0-83DC-C5B26AAE25E4}"/>
    </a:ext>
  </a:extLst>
</a:theme>
</file>

<file path=ppt/theme/theme3.xml><?xml version="1.0" encoding="utf-8"?>
<a:theme xmlns:a="http://schemas.openxmlformats.org/drawingml/2006/main" name="2_Mos.ru_Мос.ру_NVI_16x9_(2021)">
  <a:themeElements>
    <a:clrScheme name="Custom 4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374C2"/>
      </a:accent1>
      <a:accent2>
        <a:srgbClr val="EBEFF3"/>
      </a:accent2>
      <a:accent3>
        <a:srgbClr val="002777"/>
      </a:accent3>
      <a:accent4>
        <a:srgbClr val="C92723"/>
      </a:accent4>
      <a:accent5>
        <a:srgbClr val="F9ACAA"/>
      </a:accent5>
      <a:accent6>
        <a:srgbClr val="9EA4AC"/>
      </a:accent6>
      <a:hlink>
        <a:srgbClr val="4374C2"/>
      </a:hlink>
      <a:folHlink>
        <a:srgbClr val="B2B2B2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ustom">
        <a:dk1>
          <a:srgbClr val="000000"/>
        </a:dk1>
        <a:lt1>
          <a:srgbClr val="FFFFFF"/>
        </a:lt1>
        <a:dk2>
          <a:srgbClr val="C92723"/>
        </a:dk2>
        <a:lt2>
          <a:srgbClr val="FFFFFF"/>
        </a:lt2>
        <a:accent1>
          <a:srgbClr val="EBEFF3"/>
        </a:accent1>
        <a:accent2>
          <a:srgbClr val="B2B2B2"/>
        </a:accent2>
        <a:accent3>
          <a:srgbClr val="C92723"/>
        </a:accent3>
        <a:accent4>
          <a:srgbClr val="5E5E5E"/>
        </a:accent4>
        <a:accent5>
          <a:srgbClr val="191919"/>
        </a:accent5>
        <a:accent6>
          <a:srgbClr val="808080"/>
        </a:accent6>
        <a:hlink>
          <a:srgbClr val="4B8FD2"/>
        </a:hlink>
        <a:folHlink>
          <a:srgbClr val="B6869E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</a:custClrLst>
  <a:extLst>
    <a:ext uri="{05A4C25C-085E-4340-85A3-A5531E510DB2}">
      <thm15:themeFamily xmlns:thm15="http://schemas.microsoft.com/office/thememl/2012/main" name="210210_Темплейт. Цифровые продукты.pptx.potx" id="{2C6FDF97-678F-4CA8-B297-3D9325F2A165}" vid="{4C63F2AC-DD40-49A0-83DC-C5B26AAE25E4}"/>
    </a:ext>
  </a:extLst>
</a:theme>
</file>

<file path=ppt/theme/theme4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Задачи Умный Дом</Template>
  <TotalTime>6737</TotalTime>
  <Words>2771</Words>
  <Application>Microsoft Office PowerPoint</Application>
  <PresentationFormat>Widescreen</PresentationFormat>
  <Paragraphs>452</Paragraphs>
  <Slides>19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Segoe UI</vt:lpstr>
      <vt:lpstr>Verdana</vt:lpstr>
      <vt:lpstr>Wingdings</vt:lpstr>
      <vt:lpstr>Mos.ru_Мос.ру_NVI_16x9_(2021)</vt:lpstr>
      <vt:lpstr>1_Mos.ru_Мос.ру_NVI_16x9_(2021)</vt:lpstr>
      <vt:lpstr>2_Mos.ru_Мос.ру_NVI_16x9_(2021)</vt:lpstr>
      <vt:lpstr>think-cell Slide</vt:lpstr>
      <vt:lpstr>Концепция Единого центра информирования</vt:lpstr>
      <vt:lpstr>Отсутствие информации и эффективного взаимодействия между ОИВами приводят к негативному клиентскому опыту при обращениях жителей по вопросам ЖКУ</vt:lpstr>
      <vt:lpstr>Наиболее проблемными категориями являются вопросы, связанные с работой УК и сторонних организаций</vt:lpstr>
      <vt:lpstr>Обработка обращений по графику работы УК</vt:lpstr>
      <vt:lpstr>Обработка обращений по графику работы УК</vt:lpstr>
      <vt:lpstr>Обработка обращений по графику работы УК</vt:lpstr>
      <vt:lpstr>Обработка обращений по обслуживанию телеантенн</vt:lpstr>
      <vt:lpstr>Обработка обращений по обслуживанию телеантенн</vt:lpstr>
      <vt:lpstr>Обработка обращений по обслуживанию телеантенн</vt:lpstr>
      <vt:lpstr>Дальнейшие шаги для улучшения клиентского опыта при обращениях по вопросам по ЖКУ </vt:lpstr>
      <vt:lpstr>Реализация концепции требует выделение дополнительных ресурсов только для сбора данных </vt:lpstr>
      <vt:lpstr>Приложение</vt:lpstr>
      <vt:lpstr>Требуется оценка требуемых ресурсов</vt:lpstr>
      <vt:lpstr>Приложение</vt:lpstr>
      <vt:lpstr>Процесс размещения и актуализации данных в системе "Единое хранилище данных города Москвы"</vt:lpstr>
      <vt:lpstr>Приложение</vt:lpstr>
      <vt:lpstr>Показатели удовлетворенности по ключевым сервисам ДИТа за 2ой квартал 2021 года</vt:lpstr>
      <vt:lpstr>Динамика удовлетворенности жителей сервисом ЕДЦ</vt:lpstr>
      <vt:lpstr>Динамика показателей удовлетворенности по ключевым сервисам ДИТа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документа  (Verdana 38 pt)</dc:title>
  <dc:subject/>
  <dc:creator>Sergey Puchkov</dc:creator>
  <cp:keywords/>
  <dc:description/>
  <cp:lastModifiedBy>Sergey Puchkov</cp:lastModifiedBy>
  <cp:revision>2737</cp:revision>
  <cp:lastPrinted>2021-08-20T11:03:15Z</cp:lastPrinted>
  <dcterms:created xsi:type="dcterms:W3CDTF">2021-08-17T10:38:35Z</dcterms:created>
  <dcterms:modified xsi:type="dcterms:W3CDTF">2021-12-24T08:27:23Z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2021-02-20 12:57 </vt:lpwstr>
  </property>
  <property fmtid="{D5CDD505-2E9C-101B-9397-08002B2CF9AE}" pid="8" name="TemplateCreated">
    <vt:lpwstr>2019-02-27 01:18 PM</vt:lpwstr>
  </property>
</Properties>
</file>